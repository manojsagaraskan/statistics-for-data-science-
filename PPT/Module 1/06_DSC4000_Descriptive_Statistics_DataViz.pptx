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5" autoAdjust="0"/>
    <p:restoredTop sz="89065" autoAdjust="0"/>
  </p:normalViewPr>
  <p:slideViewPr>
    <p:cSldViewPr snapToGrid="0" snapToObjects="1">
      <p:cViewPr>
        <p:scale>
          <a:sx n="81" d="100"/>
          <a:sy n="81" d="100"/>
        </p:scale>
        <p:origin x="571"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62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reminder of the course context — this is core to every data science workflow you’ll build going forward. Before fitting a model to any dataset, the first thing a good data scientist does is look at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move through three major chart types today — histograms, boxplots, and scatterplots — and for each one you’ll learn how to read the story it’s telling. Keep these in mind; we return to all of them in the quiz.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Q1 and let students guess "bell-shaped." Q2 usually gets blank stares — perfect setup for boxplots. Q3 primes correlation thinking. For Q4, let it hang: "Yes, and today you’ll see a famous example of exactly that" (sets up Anscombe’s Quartet).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table of a thousand numbers tells you almost nothing at a glance — a histogram of those same numbers tells you shape, center, spread, and outliers in one look. This is why EDA is always step one, before any model gets built.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how to calculate mean, median, spread. Today’s charts are visual containers for the same concepts — a histogram shows spread and shape at once; a boxplot draws the median and spread for you; a scatterplot shows the relationship between two variables.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map for today. One variable, full shape? Histogram. One variable, quick summary and outlier check? Boxplot. Two variables, relationship? Scatterplot. Let’s take each in turn.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histogram chops a range of numbers into equal-width bins, then counts data points per bin. The key difference from a bar chart: bars touch, because the x-axis is continuous — there’s no gap between "60–65" and "65–70."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 width genuinely changes the story. Too few bins and you might miss that your data is two overlapping groups. Too many and random noise looks like meaningful structure. The √n rule is a good start — always sanity-check by eye.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counting live: which of these 16 scores fall in each bin? Notice the shape — clustering in 60–80 with a slight tail higher. This is exactly the shape insight a table of 16 numbers would never show at a glance.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right-skewed histogram of income tells you most people earn a moderate amount, but a few high earners stretch the tail. A bimodal histogram often signals two different populations mixed together, like heights of children and adults combined.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our icebreaker. A boxplot is a compact five-number summary drawn as a picture. The box — Q1 to Q3 — is the interquartile range (IQR). Whiskers reach the rest of the "normal" data; beyond that gets flagged separately.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1.5×IQR rule is the industry-standard definition of a statistical outlier — chosen so that for roughly normal data, only a small percentage of points get flagged. Write this formula down; it appears constantly in real EDA work and interviews.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dataset as the histogram example — the boxplot gives a more compact summary but loses the shape detail. This is the fundamental trade-off: boxplots are great for comparison and outlier-spotting, histograms are better for full shape.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comparing four histograms stacked on top of each other — it gets messy fast. Four boxplots side by side let you instantly see which section had the highest median, most spread, and any unusual outliers, all in one glance.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our icebreaker. Every student becomes one dot — study hours on x, score on y. The overall pattern the dots form tells you whether there’s a relationship, and what kind.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tells you how two variables move together; tightness tells you how strongly. A tight upward cloud is a strong positive correlation — think study hours and exam scores. A scattered cloud with no trend means little or no relationship.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warnings in statistics. Seeing a strong correlation is tempting to explain as cause and effect, but correlation alone never proves causation — there’s often a hidden third variable driving both.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 scatterplot is direction, strength, outliers. That one outlier — studied a lot but scored low, or studied little but scored high — is often the most interesting part of the chart, a prompt to investigate, not an error to ignore.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our icebreaker about identical averages looking different. Anscombe’s Quartet is the single best argument for why "always visualize your data" is rule number one in any data science workflow.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decision checklist for any new dataset. The question you’re asking should drive the chart — not personal preference or which chart looks fanciest. Get comfortable running through this automatically every time you open a dataset.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the kind of analysis a data science team runs constantly. A histogram informs finance about typical order size. A boxplot flags which shipping region needs attention. A scatterplot tells marketing whether ad spend correlates with sales.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histogram-vs-bar-chart mix-up is extremely common — bar charts have gaps because categories are separate; histogram bars touch because the x-axis is one continuous number line. The correlation-causation myth is the most dangerous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tests the decision-tree logic from Slide 21. The first part (age vs. spending) is a scatterplot question; the second (age distribution alone) is a histogram question. Ask a pair to justify their reasoning out loud.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you’ll use, from Excel to Python to R, builds these three chart types in with one line of code or a couple of clicks. The conceptual understanding you built today is the hard part; the syntax is quick to pick up.</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from summary statistics you already knew, into three ways of seeing those ideas as pictures, and finished with the golden rule: always plot your data. Check each objective from Slide 3 — any questions before the quiz?</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about 5 minutes. Q1/Q3/Q6 test core chart recognition, Q2/Q5 test boxplot construction, Q4 is a trick (False), Q7 is open-ended — should point to Anscombe’s Quartet or the e-commerce example.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Q4 and Q5 live. For Q5, make sure students remember it’s Q3 plus 1.5 times IQR, not minus — that’s the lower fence, a common mix-up. If many missed Q4, spend another minute on the ice cream/drowning example.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work today. Next class we move from describing data to inferring conclusions from it — hypothesis testing builds directly on today’s shape and spread concepts. For homework, genuinely try building all three charts. See you next class!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2761"/>
          </a:solidFill>
          <a:ln/>
        </p:spPr>
      </p:sp>
      <p:sp>
        <p:nvSpPr>
          <p:cNvPr id="3" name="Shape 1"/>
          <p:cNvSpPr/>
          <p:nvPr/>
        </p:nvSpPr>
        <p:spPr>
          <a:xfrm>
            <a:off x="9326880" y="-1828800"/>
            <a:ext cx="5486400" cy="5486400"/>
          </a:xfrm>
          <a:prstGeom prst="ellipse">
            <a:avLst/>
          </a:prstGeom>
          <a:solidFill>
            <a:srgbClr val="141A45"/>
          </a:solidFill>
          <a:ln/>
        </p:spPr>
      </p:sp>
      <p:sp>
        <p:nvSpPr>
          <p:cNvPr id="4" name="Shape 2"/>
          <p:cNvSpPr/>
          <p:nvPr/>
        </p:nvSpPr>
        <p:spPr>
          <a:xfrm>
            <a:off x="-2194560" y="4206240"/>
            <a:ext cx="4572000" cy="4572000"/>
          </a:xfrm>
          <a:prstGeom prst="ellipse">
            <a:avLst/>
          </a:prstGeom>
          <a:solidFill>
            <a:srgbClr val="141A45"/>
          </a:solidFill>
          <a:ln/>
        </p:spPr>
      </p:sp>
      <p:sp>
        <p:nvSpPr>
          <p:cNvPr id="5" name="Text 3"/>
          <p:cNvSpPr txBox="1"/>
          <p:nvPr/>
        </p:nvSpPr>
        <p:spPr>
          <a:xfrm>
            <a:off x="822960" y="640080"/>
            <a:ext cx="10515600" cy="457200"/>
          </a:xfrm>
          <a:prstGeom prst="rect">
            <a:avLst/>
          </a:prstGeom>
          <a:noFill/>
          <a:ln/>
        </p:spPr>
        <p:txBody>
          <a:bodyPr wrap="square" lIns="0" tIns="0" rIns="0" bIns="0" rtlCol="0" anchor="ctr"/>
          <a:lstStyle/>
          <a:p>
            <a:pPr marL="0" indent="0">
              <a:buNone/>
            </a:pPr>
            <a:r>
              <a:rPr lang="en-US" sz="2000" b="1" kern="0" spc="200" dirty="0">
                <a:solidFill>
                  <a:srgbClr val="D4AF37"/>
                </a:solidFill>
                <a:latin typeface="Calibri" pitchFamily="34" charset="0"/>
                <a:ea typeface="Calibri" pitchFamily="34" charset="-122"/>
                <a:cs typeface="Calibri" pitchFamily="34" charset="-120"/>
              </a:rPr>
              <a:t>PRESIDENCY UNIVERSITY, BENGALURU</a:t>
            </a:r>
            <a:endParaRPr lang="en-US" sz="2000" dirty="0"/>
          </a:p>
        </p:txBody>
      </p:sp>
      <p:sp>
        <p:nvSpPr>
          <p:cNvPr id="6" name="Text 4"/>
          <p:cNvSpPr txBox="1"/>
          <p:nvPr/>
        </p:nvSpPr>
        <p:spPr>
          <a:xfrm>
            <a:off x="822960" y="1078992"/>
            <a:ext cx="1051560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School of Artificial Intelligence and Advanced Computing  |  Department of AI &amp; Robotics</a:t>
            </a:r>
            <a:endParaRPr lang="en-US" sz="2000" dirty="0"/>
          </a:p>
        </p:txBody>
      </p:sp>
      <p:sp>
        <p:nvSpPr>
          <p:cNvPr id="7" name="Shape 5"/>
          <p:cNvSpPr/>
          <p:nvPr/>
        </p:nvSpPr>
        <p:spPr>
          <a:xfrm>
            <a:off x="868680" y="1874520"/>
            <a:ext cx="2926080" cy="0"/>
          </a:xfrm>
          <a:prstGeom prst="line">
            <a:avLst/>
          </a:prstGeom>
          <a:noFill/>
          <a:ln w="25400">
            <a:solidFill>
              <a:srgbClr val="D4AF37"/>
            </a:solidFill>
            <a:prstDash val="solid"/>
          </a:ln>
        </p:spPr>
      </p:sp>
      <p:sp>
        <p:nvSpPr>
          <p:cNvPr id="8" name="Text 6"/>
          <p:cNvSpPr txBox="1"/>
          <p:nvPr/>
        </p:nvSpPr>
        <p:spPr>
          <a:xfrm>
            <a:off x="822960" y="2194560"/>
            <a:ext cx="10515600" cy="2011680"/>
          </a:xfrm>
          <a:prstGeom prst="rect">
            <a:avLst/>
          </a:prstGeom>
          <a:noFill/>
          <a:ln/>
        </p:spPr>
        <p:txBody>
          <a:bodyPr wrap="square" lIns="0" tIns="0" rIns="0" bIns="0" rtlCol="0" anchor="t"/>
          <a:lstStyle/>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Descriptive Statistics and Data Visualization:</a:t>
            </a:r>
            <a:endParaRPr lang="en-US" sz="4400" dirty="0"/>
          </a:p>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Histograms, Boxplots, Scatterplots</a:t>
            </a:r>
            <a:endParaRPr lang="en-US" sz="4400" dirty="0"/>
          </a:p>
        </p:txBody>
      </p:sp>
      <p:sp>
        <p:nvSpPr>
          <p:cNvPr id="9" name="Text 7"/>
          <p:cNvSpPr txBox="1"/>
          <p:nvPr/>
        </p:nvSpPr>
        <p:spPr>
          <a:xfrm>
            <a:off x="822960" y="4343400"/>
            <a:ext cx="10515600" cy="457200"/>
          </a:xfrm>
          <a:prstGeom prst="rect">
            <a:avLst/>
          </a:prstGeom>
          <a:noFill/>
          <a:ln/>
        </p:spPr>
        <p:txBody>
          <a:bodyPr wrap="square" lIns="0" tIns="0" rIns="0" bIns="0" rtlCol="0" anchor="ctr"/>
          <a:lstStyle/>
          <a:p>
            <a:pPr marL="0" indent="0">
              <a:buNone/>
            </a:pPr>
            <a:r>
              <a:rPr lang="en-US" sz="2400" dirty="0">
                <a:solidFill>
                  <a:srgbClr val="CADCFC"/>
                </a:solidFill>
                <a:latin typeface="Calibri" pitchFamily="34" charset="0"/>
                <a:ea typeface="Calibri" pitchFamily="34" charset="-122"/>
                <a:cs typeface="Calibri" pitchFamily="34" charset="-120"/>
              </a:rPr>
              <a:t>Statistics for Data Science  •  DSC4000</a:t>
            </a:r>
            <a:endParaRPr lang="en-US" sz="2400" dirty="0"/>
          </a:p>
        </p:txBody>
      </p:sp>
      <p:pic>
        <p:nvPicPr>
          <p:cNvPr id="10" name="Image 0" descr="preencoded.png"/>
          <p:cNvPicPr>
            <a:picLocks noChangeAspect="1"/>
          </p:cNvPicPr>
          <p:nvPr/>
        </p:nvPicPr>
        <p:blipFill>
          <a:blip r:embed="rId3"/>
          <a:stretch>
            <a:fillRect/>
          </a:stretch>
        </p:blipFill>
        <p:spPr>
          <a:xfrm>
            <a:off x="10241280" y="5120640"/>
            <a:ext cx="1188720" cy="1188720"/>
          </a:xfrm>
          <a:prstGeom prst="rect">
            <a:avLst/>
          </a:prstGeom>
        </p:spPr>
      </p:pic>
      <p:sp>
        <p:nvSpPr>
          <p:cNvPr id="11" name="Text 8"/>
          <p:cNvSpPr txBox="1"/>
          <p:nvPr/>
        </p:nvSpPr>
        <p:spPr>
          <a:xfrm>
            <a:off x="822960" y="5806440"/>
            <a:ext cx="59436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Faculty: Mr. Manoj Sagar</a:t>
            </a:r>
            <a:endParaRPr lang="en-US" sz="2000" dirty="0"/>
          </a:p>
        </p:txBody>
      </p:sp>
      <p:sp>
        <p:nvSpPr>
          <p:cNvPr id="12" name="Text 9"/>
          <p:cNvSpPr txBox="1"/>
          <p:nvPr/>
        </p:nvSpPr>
        <p:spPr>
          <a:xfrm>
            <a:off x="822960" y="6236208"/>
            <a:ext cx="5943600" cy="36576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Semester — | Academic Year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STATISTICS FOR DATA SCIENCE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Institute &amp; Department</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Presidency University, Bengaluru</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School of Artificial Intelligence and Advanced Computing</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Department of Artificial Intelligence &amp; Robotics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Course: DSC4000 — Statistics for Data Science</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TODAY'S ROADMAP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Learning Objectives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Recall the role of descriptive statistics in summarizing data</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Construct and interpret a histogram, including bin width choice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Construct and interpret a boxplot using the five-number summary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Identify outliers using the IQR rule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Construct and interpret a scatterplot, including correlation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Choose the right visualization for a given data question</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ICEBREAKER</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Guess the Shape</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If you plotted everyone’s height in this class, what shape would it make?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Ever seen a "box with whiskers" chart? What did you think it showed?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Study hours vs. exam score for the class — what pattern would you expect?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Can two datasets share the exact same average but look totally different?</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4</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MOTIVATION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Why This Topic Matters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Summary statistics alone can be misleading — visuals reveal what numbers hide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Every data science project starts with exploratory data analysis (EDA)</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Employers expect you to read and build these charts fluently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These three charts alone answer 80% of "what does my data look like?"</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5</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RECAP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Descriptive Statistics Basics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Measures of center: mean, median, mode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Measures of spread: range, variance, standard deviation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These are single numbers that summarize a whole dataset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Today: how to see these same ideas as pictures</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OVERVIEW</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The Big Three</a:t>
            </a:r>
            <a:endParaRPr lang="en-US" sz="3600" dirty="0"/>
          </a:p>
        </p:txBody>
      </p:sp>
      <p:sp>
        <p:nvSpPr>
          <p:cNvPr id="4" name="Shape 2"/>
          <p:cNvSpPr/>
          <p:nvPr/>
        </p:nvSpPr>
        <p:spPr>
          <a:xfrm>
            <a:off x="548640" y="1737360"/>
            <a:ext cx="3444240" cy="1737360"/>
          </a:xfrm>
          <a:prstGeom prst="roundRect">
            <a:avLst>
              <a:gd name="adj" fmla="val 5263"/>
            </a:avLst>
          </a:prstGeom>
          <a:solidFill>
            <a:srgbClr val="E7EEFC"/>
          </a:solidFill>
          <a:ln/>
        </p:spPr>
      </p:sp>
      <p:sp>
        <p:nvSpPr>
          <p:cNvPr id="5" name="Shape 3"/>
          <p:cNvSpPr/>
          <p:nvPr/>
        </p:nvSpPr>
        <p:spPr>
          <a:xfrm>
            <a:off x="18135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1932432" y="2057400"/>
            <a:ext cx="676656" cy="676656"/>
          </a:xfrm>
          <a:prstGeom prst="rect">
            <a:avLst/>
          </a:prstGeom>
        </p:spPr>
      </p:pic>
      <p:sp>
        <p:nvSpPr>
          <p:cNvPr id="7" name="Text 4"/>
          <p:cNvSpPr txBox="1"/>
          <p:nvPr/>
        </p:nvSpPr>
        <p:spPr>
          <a:xfrm>
            <a:off x="64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Histogram — shape of ONE variable</a:t>
            </a:r>
            <a:endParaRPr lang="en-US" sz="2000" dirty="0"/>
          </a:p>
        </p:txBody>
      </p:sp>
      <p:sp>
        <p:nvSpPr>
          <p:cNvPr id="8" name="Shape 5"/>
          <p:cNvSpPr/>
          <p:nvPr/>
        </p:nvSpPr>
        <p:spPr>
          <a:xfrm>
            <a:off x="4358640" y="1737360"/>
            <a:ext cx="3444240" cy="1737360"/>
          </a:xfrm>
          <a:prstGeom prst="roundRect">
            <a:avLst>
              <a:gd name="adj" fmla="val 5263"/>
            </a:avLst>
          </a:prstGeom>
          <a:solidFill>
            <a:srgbClr val="E7EEFC"/>
          </a:solidFill>
          <a:ln/>
        </p:spPr>
      </p:sp>
      <p:sp>
        <p:nvSpPr>
          <p:cNvPr id="9" name="Shape 6"/>
          <p:cNvSpPr/>
          <p:nvPr/>
        </p:nvSpPr>
        <p:spPr>
          <a:xfrm>
            <a:off x="56235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5742432" y="2057400"/>
            <a:ext cx="676656" cy="676656"/>
          </a:xfrm>
          <a:prstGeom prst="rect">
            <a:avLst/>
          </a:prstGeom>
        </p:spPr>
      </p:pic>
      <p:sp>
        <p:nvSpPr>
          <p:cNvPr id="11" name="Text 7"/>
          <p:cNvSpPr txBox="1"/>
          <p:nvPr/>
        </p:nvSpPr>
        <p:spPr>
          <a:xfrm>
            <a:off x="445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Boxplot — summary of ONE variable</a:t>
            </a:r>
            <a:endParaRPr lang="en-US" sz="2000" dirty="0"/>
          </a:p>
        </p:txBody>
      </p:sp>
      <p:sp>
        <p:nvSpPr>
          <p:cNvPr id="12" name="Shape 8"/>
          <p:cNvSpPr/>
          <p:nvPr/>
        </p:nvSpPr>
        <p:spPr>
          <a:xfrm>
            <a:off x="8168640" y="1737360"/>
            <a:ext cx="3444240" cy="1737360"/>
          </a:xfrm>
          <a:prstGeom prst="roundRect">
            <a:avLst>
              <a:gd name="adj" fmla="val 5263"/>
            </a:avLst>
          </a:prstGeom>
          <a:solidFill>
            <a:srgbClr val="E7EEFC"/>
          </a:solidFill>
          <a:ln/>
        </p:spPr>
      </p:sp>
      <p:sp>
        <p:nvSpPr>
          <p:cNvPr id="13" name="Shape 9"/>
          <p:cNvSpPr/>
          <p:nvPr/>
        </p:nvSpPr>
        <p:spPr>
          <a:xfrm>
            <a:off x="9433560" y="1938528"/>
            <a:ext cx="914400" cy="914400"/>
          </a:xfrm>
          <a:prstGeom prst="ellipse">
            <a:avLst/>
          </a:prstGeom>
          <a:solidFill>
            <a:srgbClr val="D4AF37"/>
          </a:solidFill>
          <a:ln/>
        </p:spPr>
      </p:sp>
      <p:pic>
        <p:nvPicPr>
          <p:cNvPr id="14" name="Image 2" descr="preencoded.png"/>
          <p:cNvPicPr>
            <a:picLocks noChangeAspect="1"/>
          </p:cNvPicPr>
          <p:nvPr/>
        </p:nvPicPr>
        <p:blipFill>
          <a:blip r:embed="rId5"/>
          <a:stretch>
            <a:fillRect/>
          </a:stretch>
        </p:blipFill>
        <p:spPr>
          <a:xfrm>
            <a:off x="9552432" y="2057400"/>
            <a:ext cx="676656" cy="676656"/>
          </a:xfrm>
          <a:prstGeom prst="rect">
            <a:avLst/>
          </a:prstGeom>
        </p:spPr>
      </p:pic>
      <p:sp>
        <p:nvSpPr>
          <p:cNvPr id="15" name="Text 10"/>
          <p:cNvSpPr txBox="1"/>
          <p:nvPr/>
        </p:nvSpPr>
        <p:spPr>
          <a:xfrm>
            <a:off x="826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Scatterplot — relation of TWO variables</a:t>
            </a:r>
            <a:endParaRPr lang="en-US" sz="2000" dirty="0"/>
          </a:p>
        </p:txBody>
      </p:sp>
      <p:sp>
        <p:nvSpPr>
          <p:cNvPr id="16" name="Shape 11"/>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7" name="Text 12"/>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Choosing the right chart depends on your question, not your preference</a:t>
            </a:r>
            <a:endParaRPr lang="en-US" sz="1900" dirty="0"/>
          </a:p>
        </p:txBody>
      </p:sp>
      <p:sp>
        <p:nvSpPr>
          <p:cNvPr id="18"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19"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7</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CONCEPT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Histograms — The Concept</a:t>
            </a:r>
            <a:endParaRPr lang="en-US" sz="3600" dirty="0"/>
          </a:p>
        </p:txBody>
      </p:sp>
      <p:sp>
        <p:nvSpPr>
          <p:cNvPr id="4" name="Shape 2"/>
          <p:cNvSpPr/>
          <p:nvPr/>
        </p:nvSpPr>
        <p:spPr>
          <a:xfrm>
            <a:off x="548640" y="1783080"/>
            <a:ext cx="11064240" cy="2377440"/>
          </a:xfrm>
          <a:prstGeom prst="roundRect">
            <a:avLst>
              <a:gd name="adj" fmla="val 2308"/>
            </a:avLst>
          </a:prstGeom>
          <a:solidFill>
            <a:srgbClr val="E7EEFC"/>
          </a:solidFill>
          <a:ln w="12700">
            <a:solidFill>
              <a:srgbClr val="CADCFC"/>
            </a:solidFill>
            <a:prstDash val="solid"/>
          </a:ln>
        </p:spPr>
      </p:sp>
      <p:sp>
        <p:nvSpPr>
          <p:cNvPr id="5" name="Shape 3"/>
          <p:cNvSpPr/>
          <p:nvPr/>
        </p:nvSpPr>
        <p:spPr>
          <a:xfrm>
            <a:off x="835918" y="3392424"/>
            <a:ext cx="1288207" cy="493776"/>
          </a:xfrm>
          <a:prstGeom prst="rect">
            <a:avLst/>
          </a:prstGeom>
          <a:solidFill>
            <a:srgbClr val="1E2761"/>
          </a:solidFill>
          <a:ln/>
        </p:spPr>
      </p:sp>
      <p:sp>
        <p:nvSpPr>
          <p:cNvPr id="6" name="Shape 4"/>
          <p:cNvSpPr/>
          <p:nvPr/>
        </p:nvSpPr>
        <p:spPr>
          <a:xfrm>
            <a:off x="2369498" y="2799893"/>
            <a:ext cx="1288207" cy="1086307"/>
          </a:xfrm>
          <a:prstGeom prst="rect">
            <a:avLst/>
          </a:prstGeom>
          <a:solidFill>
            <a:srgbClr val="1E2761"/>
          </a:solidFill>
          <a:ln/>
        </p:spPr>
      </p:sp>
      <p:sp>
        <p:nvSpPr>
          <p:cNvPr id="7" name="Shape 5"/>
          <p:cNvSpPr/>
          <p:nvPr/>
        </p:nvSpPr>
        <p:spPr>
          <a:xfrm>
            <a:off x="3903077" y="2207362"/>
            <a:ext cx="1288207" cy="1678838"/>
          </a:xfrm>
          <a:prstGeom prst="rect">
            <a:avLst/>
          </a:prstGeom>
          <a:solidFill>
            <a:srgbClr val="1E2761"/>
          </a:solidFill>
          <a:ln/>
        </p:spPr>
      </p:sp>
      <p:sp>
        <p:nvSpPr>
          <p:cNvPr id="8" name="Shape 6"/>
          <p:cNvSpPr/>
          <p:nvPr/>
        </p:nvSpPr>
        <p:spPr>
          <a:xfrm>
            <a:off x="5436657" y="2009851"/>
            <a:ext cx="1288207" cy="1876349"/>
          </a:xfrm>
          <a:prstGeom prst="rect">
            <a:avLst/>
          </a:prstGeom>
          <a:solidFill>
            <a:srgbClr val="1E2761"/>
          </a:solidFill>
          <a:ln/>
        </p:spPr>
      </p:sp>
      <p:sp>
        <p:nvSpPr>
          <p:cNvPr id="9" name="Shape 7"/>
          <p:cNvSpPr/>
          <p:nvPr/>
        </p:nvSpPr>
        <p:spPr>
          <a:xfrm>
            <a:off x="6970236" y="2503627"/>
            <a:ext cx="1288207" cy="1382573"/>
          </a:xfrm>
          <a:prstGeom prst="rect">
            <a:avLst/>
          </a:prstGeom>
          <a:solidFill>
            <a:srgbClr val="1E2761"/>
          </a:solidFill>
          <a:ln/>
        </p:spPr>
      </p:sp>
      <p:sp>
        <p:nvSpPr>
          <p:cNvPr id="10" name="Shape 8"/>
          <p:cNvSpPr/>
          <p:nvPr/>
        </p:nvSpPr>
        <p:spPr>
          <a:xfrm>
            <a:off x="8503815" y="3096158"/>
            <a:ext cx="1288207" cy="790042"/>
          </a:xfrm>
          <a:prstGeom prst="rect">
            <a:avLst/>
          </a:prstGeom>
          <a:solidFill>
            <a:srgbClr val="1E2761"/>
          </a:solidFill>
          <a:ln/>
        </p:spPr>
      </p:sp>
      <p:sp>
        <p:nvSpPr>
          <p:cNvPr id="11" name="Shape 9"/>
          <p:cNvSpPr/>
          <p:nvPr/>
        </p:nvSpPr>
        <p:spPr>
          <a:xfrm>
            <a:off x="10037395" y="3491179"/>
            <a:ext cx="1288207" cy="395021"/>
          </a:xfrm>
          <a:prstGeom prst="rect">
            <a:avLst/>
          </a:prstGeom>
          <a:solidFill>
            <a:srgbClr val="1E2761"/>
          </a:solidFill>
          <a:ln/>
        </p:spPr>
      </p:sp>
      <p:sp>
        <p:nvSpPr>
          <p:cNvPr id="12" name="Shape 10"/>
          <p:cNvSpPr/>
          <p:nvPr/>
        </p:nvSpPr>
        <p:spPr>
          <a:xfrm>
            <a:off x="713232" y="3886200"/>
            <a:ext cx="10735056" cy="0"/>
          </a:xfrm>
          <a:prstGeom prst="line">
            <a:avLst/>
          </a:prstGeom>
          <a:noFill/>
          <a:ln w="19050">
            <a:solidFill>
              <a:srgbClr val="1E2761"/>
            </a:solidFill>
            <a:prstDash val="solid"/>
          </a:ln>
        </p:spPr>
      </p:sp>
      <p:sp>
        <p:nvSpPr>
          <p:cNvPr id="13" name="Text 11"/>
          <p:cNvSpPr txBox="1"/>
          <p:nvPr/>
        </p:nvSpPr>
        <p:spPr>
          <a:xfrm>
            <a:off x="548640" y="4215384"/>
            <a:ext cx="1106424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Frequency by bin</a:t>
            </a:r>
            <a:endParaRPr lang="en-US" sz="2000" dirty="0"/>
          </a:p>
        </p:txBody>
      </p:sp>
      <p:sp>
        <p:nvSpPr>
          <p:cNvPr id="14" name="Text 12"/>
          <p:cNvSpPr txBox="1"/>
          <p:nvPr/>
        </p:nvSpPr>
        <p:spPr>
          <a:xfrm>
            <a:off x="640080" y="4663440"/>
            <a:ext cx="10881360" cy="13258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Groups numeric data into bins (intervals)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Bar height = frequency (count) of data points in that bin</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Unlike a bar chart, bins are continuous and touch each other</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Reveals: shape, center, spread, skewness, and gaps</a:t>
            </a:r>
            <a:endParaRPr lang="en-US" sz="2000" dirty="0"/>
          </a:p>
        </p:txBody>
      </p:sp>
      <p:sp>
        <p:nvSpPr>
          <p:cNvPr id="15"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16"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JUDGMENT CALL</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Choosing Bin Width</a:t>
            </a:r>
            <a:endParaRPr lang="en-US" sz="3600" dirty="0"/>
          </a:p>
        </p:txBody>
      </p:sp>
      <p:sp>
        <p:nvSpPr>
          <p:cNvPr id="4" name="Shape 2"/>
          <p:cNvSpPr/>
          <p:nvPr/>
        </p:nvSpPr>
        <p:spPr>
          <a:xfrm>
            <a:off x="548640" y="1783080"/>
            <a:ext cx="3474720" cy="2011680"/>
          </a:xfrm>
          <a:prstGeom prst="roundRect">
            <a:avLst>
              <a:gd name="adj" fmla="val 2727"/>
            </a:avLst>
          </a:prstGeom>
          <a:solidFill>
            <a:srgbClr val="E7EEFC"/>
          </a:solidFill>
          <a:ln w="12700">
            <a:solidFill>
              <a:srgbClr val="CADCFC"/>
            </a:solidFill>
            <a:prstDash val="solid"/>
          </a:ln>
        </p:spPr>
      </p:sp>
      <p:sp>
        <p:nvSpPr>
          <p:cNvPr id="5" name="Shape 3"/>
          <p:cNvSpPr/>
          <p:nvPr/>
        </p:nvSpPr>
        <p:spPr>
          <a:xfrm>
            <a:off x="839053" y="2715768"/>
            <a:ext cx="1321125" cy="804672"/>
          </a:xfrm>
          <a:prstGeom prst="rect">
            <a:avLst/>
          </a:prstGeom>
          <a:solidFill>
            <a:srgbClr val="1E2761"/>
          </a:solidFill>
          <a:ln/>
        </p:spPr>
      </p:sp>
      <p:sp>
        <p:nvSpPr>
          <p:cNvPr id="6" name="Shape 4"/>
          <p:cNvSpPr/>
          <p:nvPr/>
        </p:nvSpPr>
        <p:spPr>
          <a:xfrm>
            <a:off x="2411821" y="1991563"/>
            <a:ext cx="1321125" cy="1528877"/>
          </a:xfrm>
          <a:prstGeom prst="rect">
            <a:avLst/>
          </a:prstGeom>
          <a:solidFill>
            <a:srgbClr val="1E2761"/>
          </a:solidFill>
          <a:ln/>
        </p:spPr>
      </p:sp>
      <p:sp>
        <p:nvSpPr>
          <p:cNvPr id="7" name="Shape 5"/>
          <p:cNvSpPr/>
          <p:nvPr/>
        </p:nvSpPr>
        <p:spPr>
          <a:xfrm>
            <a:off x="713232" y="3520440"/>
            <a:ext cx="3145536" cy="0"/>
          </a:xfrm>
          <a:prstGeom prst="line">
            <a:avLst/>
          </a:prstGeom>
          <a:noFill/>
          <a:ln w="19050">
            <a:solidFill>
              <a:srgbClr val="1E2761"/>
            </a:solidFill>
            <a:prstDash val="solid"/>
          </a:ln>
        </p:spPr>
      </p:sp>
      <p:sp>
        <p:nvSpPr>
          <p:cNvPr id="8" name="Text 6"/>
          <p:cNvSpPr txBox="1"/>
          <p:nvPr/>
        </p:nvSpPr>
        <p:spPr>
          <a:xfrm>
            <a:off x="548640" y="3849624"/>
            <a:ext cx="34747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Too few bins</a:t>
            </a:r>
            <a:endParaRPr lang="en-US" sz="2000" dirty="0"/>
          </a:p>
        </p:txBody>
      </p:sp>
      <p:sp>
        <p:nvSpPr>
          <p:cNvPr id="9" name="Shape 7"/>
          <p:cNvSpPr/>
          <p:nvPr/>
        </p:nvSpPr>
        <p:spPr>
          <a:xfrm>
            <a:off x="4343400" y="1783080"/>
            <a:ext cx="3474720" cy="2011680"/>
          </a:xfrm>
          <a:prstGeom prst="roundRect">
            <a:avLst>
              <a:gd name="adj" fmla="val 2727"/>
            </a:avLst>
          </a:prstGeom>
          <a:solidFill>
            <a:srgbClr val="E7EEFC"/>
          </a:solidFill>
          <a:ln w="12700">
            <a:solidFill>
              <a:srgbClr val="CADCFC"/>
            </a:solidFill>
            <a:prstDash val="solid"/>
          </a:ln>
        </p:spPr>
      </p:sp>
      <p:sp>
        <p:nvSpPr>
          <p:cNvPr id="10" name="Shape 8"/>
          <p:cNvSpPr/>
          <p:nvPr/>
        </p:nvSpPr>
        <p:spPr>
          <a:xfrm>
            <a:off x="4528962" y="3037637"/>
            <a:ext cx="220188" cy="482803"/>
          </a:xfrm>
          <a:prstGeom prst="rect">
            <a:avLst/>
          </a:prstGeom>
          <a:solidFill>
            <a:srgbClr val="1E2761"/>
          </a:solidFill>
          <a:ln/>
        </p:spPr>
      </p:sp>
      <p:sp>
        <p:nvSpPr>
          <p:cNvPr id="11" name="Shape 9"/>
          <p:cNvSpPr/>
          <p:nvPr/>
        </p:nvSpPr>
        <p:spPr>
          <a:xfrm>
            <a:off x="4791090" y="2554834"/>
            <a:ext cx="220188" cy="965606"/>
          </a:xfrm>
          <a:prstGeom prst="rect">
            <a:avLst/>
          </a:prstGeom>
          <a:solidFill>
            <a:srgbClr val="1E2761"/>
          </a:solidFill>
          <a:ln/>
        </p:spPr>
      </p:sp>
      <p:sp>
        <p:nvSpPr>
          <p:cNvPr id="12" name="Shape 10"/>
          <p:cNvSpPr/>
          <p:nvPr/>
        </p:nvSpPr>
        <p:spPr>
          <a:xfrm>
            <a:off x="5053218" y="2957170"/>
            <a:ext cx="220188" cy="563270"/>
          </a:xfrm>
          <a:prstGeom prst="rect">
            <a:avLst/>
          </a:prstGeom>
          <a:solidFill>
            <a:srgbClr val="1E2761"/>
          </a:solidFill>
          <a:ln/>
        </p:spPr>
      </p:sp>
      <p:sp>
        <p:nvSpPr>
          <p:cNvPr id="13" name="Shape 11"/>
          <p:cNvSpPr/>
          <p:nvPr/>
        </p:nvSpPr>
        <p:spPr>
          <a:xfrm>
            <a:off x="5315346" y="2232965"/>
            <a:ext cx="220188" cy="1287475"/>
          </a:xfrm>
          <a:prstGeom prst="rect">
            <a:avLst/>
          </a:prstGeom>
          <a:solidFill>
            <a:srgbClr val="1E2761"/>
          </a:solidFill>
          <a:ln/>
        </p:spPr>
      </p:sp>
      <p:sp>
        <p:nvSpPr>
          <p:cNvPr id="14" name="Shape 12"/>
          <p:cNvSpPr/>
          <p:nvPr/>
        </p:nvSpPr>
        <p:spPr>
          <a:xfrm>
            <a:off x="5577474" y="2876702"/>
            <a:ext cx="220188" cy="643738"/>
          </a:xfrm>
          <a:prstGeom prst="rect">
            <a:avLst/>
          </a:prstGeom>
          <a:solidFill>
            <a:srgbClr val="1E2761"/>
          </a:solidFill>
          <a:ln/>
        </p:spPr>
      </p:sp>
      <p:sp>
        <p:nvSpPr>
          <p:cNvPr id="15" name="Shape 13"/>
          <p:cNvSpPr/>
          <p:nvPr/>
        </p:nvSpPr>
        <p:spPr>
          <a:xfrm>
            <a:off x="5839602" y="2635301"/>
            <a:ext cx="220188" cy="885139"/>
          </a:xfrm>
          <a:prstGeom prst="rect">
            <a:avLst/>
          </a:prstGeom>
          <a:solidFill>
            <a:srgbClr val="1E2761"/>
          </a:solidFill>
          <a:ln/>
        </p:spPr>
      </p:sp>
      <p:sp>
        <p:nvSpPr>
          <p:cNvPr id="16" name="Shape 14"/>
          <p:cNvSpPr/>
          <p:nvPr/>
        </p:nvSpPr>
        <p:spPr>
          <a:xfrm>
            <a:off x="6101730" y="2072030"/>
            <a:ext cx="220188" cy="1448410"/>
          </a:xfrm>
          <a:prstGeom prst="rect">
            <a:avLst/>
          </a:prstGeom>
          <a:solidFill>
            <a:srgbClr val="1E2761"/>
          </a:solidFill>
          <a:ln/>
        </p:spPr>
      </p:sp>
      <p:sp>
        <p:nvSpPr>
          <p:cNvPr id="17" name="Shape 15"/>
          <p:cNvSpPr/>
          <p:nvPr/>
        </p:nvSpPr>
        <p:spPr>
          <a:xfrm>
            <a:off x="6363858" y="3037637"/>
            <a:ext cx="220188" cy="482803"/>
          </a:xfrm>
          <a:prstGeom prst="rect">
            <a:avLst/>
          </a:prstGeom>
          <a:solidFill>
            <a:srgbClr val="1E2761"/>
          </a:solidFill>
          <a:ln/>
        </p:spPr>
      </p:sp>
      <p:sp>
        <p:nvSpPr>
          <p:cNvPr id="18" name="Shape 16"/>
          <p:cNvSpPr/>
          <p:nvPr/>
        </p:nvSpPr>
        <p:spPr>
          <a:xfrm>
            <a:off x="6625986" y="2474366"/>
            <a:ext cx="220188" cy="1046074"/>
          </a:xfrm>
          <a:prstGeom prst="rect">
            <a:avLst/>
          </a:prstGeom>
          <a:solidFill>
            <a:srgbClr val="1E2761"/>
          </a:solidFill>
          <a:ln/>
        </p:spPr>
      </p:sp>
      <p:sp>
        <p:nvSpPr>
          <p:cNvPr id="19" name="Shape 17"/>
          <p:cNvSpPr/>
          <p:nvPr/>
        </p:nvSpPr>
        <p:spPr>
          <a:xfrm>
            <a:off x="6888114" y="2796235"/>
            <a:ext cx="220188" cy="724205"/>
          </a:xfrm>
          <a:prstGeom prst="rect">
            <a:avLst/>
          </a:prstGeom>
          <a:solidFill>
            <a:srgbClr val="1E2761"/>
          </a:solidFill>
          <a:ln/>
        </p:spPr>
      </p:sp>
      <p:sp>
        <p:nvSpPr>
          <p:cNvPr id="20" name="Shape 18"/>
          <p:cNvSpPr/>
          <p:nvPr/>
        </p:nvSpPr>
        <p:spPr>
          <a:xfrm>
            <a:off x="7150242" y="2393899"/>
            <a:ext cx="220188" cy="1126541"/>
          </a:xfrm>
          <a:prstGeom prst="rect">
            <a:avLst/>
          </a:prstGeom>
          <a:solidFill>
            <a:srgbClr val="1E2761"/>
          </a:solidFill>
          <a:ln/>
        </p:spPr>
      </p:sp>
      <p:sp>
        <p:nvSpPr>
          <p:cNvPr id="21" name="Shape 19"/>
          <p:cNvSpPr/>
          <p:nvPr/>
        </p:nvSpPr>
        <p:spPr>
          <a:xfrm>
            <a:off x="7412370" y="2957170"/>
            <a:ext cx="220188" cy="563270"/>
          </a:xfrm>
          <a:prstGeom prst="rect">
            <a:avLst/>
          </a:prstGeom>
          <a:solidFill>
            <a:srgbClr val="1E2761"/>
          </a:solidFill>
          <a:ln/>
        </p:spPr>
      </p:sp>
      <p:sp>
        <p:nvSpPr>
          <p:cNvPr id="22" name="Shape 20"/>
          <p:cNvSpPr/>
          <p:nvPr/>
        </p:nvSpPr>
        <p:spPr>
          <a:xfrm>
            <a:off x="4507992" y="3520440"/>
            <a:ext cx="3145536" cy="0"/>
          </a:xfrm>
          <a:prstGeom prst="line">
            <a:avLst/>
          </a:prstGeom>
          <a:noFill/>
          <a:ln w="19050">
            <a:solidFill>
              <a:srgbClr val="1E2761"/>
            </a:solidFill>
            <a:prstDash val="solid"/>
          </a:ln>
        </p:spPr>
      </p:sp>
      <p:sp>
        <p:nvSpPr>
          <p:cNvPr id="23" name="Text 21"/>
          <p:cNvSpPr txBox="1"/>
          <p:nvPr/>
        </p:nvSpPr>
        <p:spPr>
          <a:xfrm>
            <a:off x="4343400" y="3849624"/>
            <a:ext cx="34747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Too many bins</a:t>
            </a:r>
            <a:endParaRPr lang="en-US" sz="2000" dirty="0"/>
          </a:p>
        </p:txBody>
      </p:sp>
      <p:sp>
        <p:nvSpPr>
          <p:cNvPr id="24" name="Shape 22"/>
          <p:cNvSpPr/>
          <p:nvPr/>
        </p:nvSpPr>
        <p:spPr>
          <a:xfrm>
            <a:off x="8138160" y="1783080"/>
            <a:ext cx="3474720" cy="2011680"/>
          </a:xfrm>
          <a:prstGeom prst="roundRect">
            <a:avLst>
              <a:gd name="adj" fmla="val 2727"/>
            </a:avLst>
          </a:prstGeom>
          <a:solidFill>
            <a:srgbClr val="E7EEFC"/>
          </a:solidFill>
          <a:ln w="12700">
            <a:solidFill>
              <a:srgbClr val="CADCFC"/>
            </a:solidFill>
            <a:prstDash val="solid"/>
          </a:ln>
        </p:spPr>
      </p:sp>
      <p:sp>
        <p:nvSpPr>
          <p:cNvPr id="25" name="Shape 23"/>
          <p:cNvSpPr/>
          <p:nvPr/>
        </p:nvSpPr>
        <p:spPr>
          <a:xfrm>
            <a:off x="8344692" y="3198571"/>
            <a:ext cx="440375" cy="321869"/>
          </a:xfrm>
          <a:prstGeom prst="rect">
            <a:avLst/>
          </a:prstGeom>
          <a:solidFill>
            <a:srgbClr val="1E2761"/>
          </a:solidFill>
          <a:ln/>
        </p:spPr>
      </p:sp>
      <p:sp>
        <p:nvSpPr>
          <p:cNvPr id="26" name="Shape 24"/>
          <p:cNvSpPr/>
          <p:nvPr/>
        </p:nvSpPr>
        <p:spPr>
          <a:xfrm>
            <a:off x="8868948" y="2715768"/>
            <a:ext cx="440375" cy="804672"/>
          </a:xfrm>
          <a:prstGeom prst="rect">
            <a:avLst/>
          </a:prstGeom>
          <a:solidFill>
            <a:srgbClr val="1E2761"/>
          </a:solidFill>
          <a:ln/>
        </p:spPr>
      </p:sp>
      <p:sp>
        <p:nvSpPr>
          <p:cNvPr id="27" name="Shape 25"/>
          <p:cNvSpPr/>
          <p:nvPr/>
        </p:nvSpPr>
        <p:spPr>
          <a:xfrm>
            <a:off x="9393204" y="2152498"/>
            <a:ext cx="440375" cy="1367942"/>
          </a:xfrm>
          <a:prstGeom prst="rect">
            <a:avLst/>
          </a:prstGeom>
          <a:solidFill>
            <a:srgbClr val="1E2761"/>
          </a:solidFill>
          <a:ln/>
        </p:spPr>
      </p:sp>
      <p:sp>
        <p:nvSpPr>
          <p:cNvPr id="28" name="Shape 26"/>
          <p:cNvSpPr/>
          <p:nvPr/>
        </p:nvSpPr>
        <p:spPr>
          <a:xfrm>
            <a:off x="9917460" y="2072030"/>
            <a:ext cx="440375" cy="1448410"/>
          </a:xfrm>
          <a:prstGeom prst="rect">
            <a:avLst/>
          </a:prstGeom>
          <a:solidFill>
            <a:srgbClr val="1E2761"/>
          </a:solidFill>
          <a:ln/>
        </p:spPr>
      </p:sp>
      <p:sp>
        <p:nvSpPr>
          <p:cNvPr id="29" name="Shape 27"/>
          <p:cNvSpPr/>
          <p:nvPr/>
        </p:nvSpPr>
        <p:spPr>
          <a:xfrm>
            <a:off x="10441716" y="2635301"/>
            <a:ext cx="440375" cy="885139"/>
          </a:xfrm>
          <a:prstGeom prst="rect">
            <a:avLst/>
          </a:prstGeom>
          <a:solidFill>
            <a:srgbClr val="1E2761"/>
          </a:solidFill>
          <a:ln/>
        </p:spPr>
      </p:sp>
      <p:sp>
        <p:nvSpPr>
          <p:cNvPr id="30" name="Shape 28"/>
          <p:cNvSpPr/>
          <p:nvPr/>
        </p:nvSpPr>
        <p:spPr>
          <a:xfrm>
            <a:off x="10965972" y="3118104"/>
            <a:ext cx="440375" cy="402336"/>
          </a:xfrm>
          <a:prstGeom prst="rect">
            <a:avLst/>
          </a:prstGeom>
          <a:solidFill>
            <a:srgbClr val="1E2761"/>
          </a:solidFill>
          <a:ln/>
        </p:spPr>
      </p:sp>
      <p:sp>
        <p:nvSpPr>
          <p:cNvPr id="31" name="Shape 29"/>
          <p:cNvSpPr/>
          <p:nvPr/>
        </p:nvSpPr>
        <p:spPr>
          <a:xfrm>
            <a:off x="8302752" y="3520440"/>
            <a:ext cx="3145536" cy="0"/>
          </a:xfrm>
          <a:prstGeom prst="line">
            <a:avLst/>
          </a:prstGeom>
          <a:noFill/>
          <a:ln w="19050">
            <a:solidFill>
              <a:srgbClr val="1E2761"/>
            </a:solidFill>
            <a:prstDash val="solid"/>
          </a:ln>
        </p:spPr>
      </p:sp>
      <p:sp>
        <p:nvSpPr>
          <p:cNvPr id="32" name="Text 30"/>
          <p:cNvSpPr txBox="1"/>
          <p:nvPr/>
        </p:nvSpPr>
        <p:spPr>
          <a:xfrm>
            <a:off x="8138160" y="3849624"/>
            <a:ext cx="34747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Just right</a:t>
            </a:r>
            <a:endParaRPr lang="en-US" sz="2000" dirty="0"/>
          </a:p>
        </p:txBody>
      </p:sp>
      <p:sp>
        <p:nvSpPr>
          <p:cNvPr id="33" name="Text 31"/>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Too few bins → shape hidden, chart looks blocky</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Too many bins → noisy, spiky, hard to read</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Rule of thumb: number of bins ≈ √n (n = data points)</a:t>
            </a:r>
            <a:endParaRPr lang="en-US" sz="2000" dirty="0"/>
          </a:p>
        </p:txBody>
      </p:sp>
      <p:sp>
        <p:nvSpPr>
          <p:cNvPr id="34" name="Text 32"/>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35" name="Text 33"/>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9</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Building a Histogram</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16 exam scores: 55,58,61,63,65,67,68,70,72,74,75,78,80,83,88,92</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bins of width 10 → [50-60), [60-70), [70-80), [80-90), [90-100)</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Count per bin: 2, 5, 5, 3, 1</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Draw bars at those heights across bins</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Shape: roughly bell-shaped, slight right skew</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most scores cluster 60–80, with a slight tail toward higher scores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10</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SHAPE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Reading Histogram Shapes</a:t>
            </a:r>
            <a:endParaRPr lang="en-US" sz="3600" dirty="0"/>
          </a:p>
        </p:txBody>
      </p:sp>
      <p:sp>
        <p:nvSpPr>
          <p:cNvPr id="4" name="Shape 2"/>
          <p:cNvSpPr/>
          <p:nvPr/>
        </p:nvSpPr>
        <p:spPr>
          <a:xfrm>
            <a:off x="548640" y="1783080"/>
            <a:ext cx="2526030" cy="2011680"/>
          </a:xfrm>
          <a:prstGeom prst="roundRect">
            <a:avLst>
              <a:gd name="adj" fmla="val 2727"/>
            </a:avLst>
          </a:prstGeom>
          <a:solidFill>
            <a:srgbClr val="E7EEFC"/>
          </a:solidFill>
          <a:ln w="12700">
            <a:solidFill>
              <a:srgbClr val="CADCFC"/>
            </a:solidFill>
            <a:prstDash val="solid"/>
          </a:ln>
        </p:spPr>
      </p:sp>
      <p:sp>
        <p:nvSpPr>
          <p:cNvPr id="5" name="Shape 3"/>
          <p:cNvSpPr/>
          <p:nvPr/>
        </p:nvSpPr>
        <p:spPr>
          <a:xfrm>
            <a:off x="742523" y="3198571"/>
            <a:ext cx="307558" cy="321869"/>
          </a:xfrm>
          <a:prstGeom prst="rect">
            <a:avLst/>
          </a:prstGeom>
          <a:solidFill>
            <a:srgbClr val="1E2761"/>
          </a:solidFill>
          <a:ln/>
        </p:spPr>
      </p:sp>
      <p:sp>
        <p:nvSpPr>
          <p:cNvPr id="6" name="Shape 4"/>
          <p:cNvSpPr/>
          <p:nvPr/>
        </p:nvSpPr>
        <p:spPr>
          <a:xfrm>
            <a:off x="1108664" y="2715768"/>
            <a:ext cx="307558" cy="804672"/>
          </a:xfrm>
          <a:prstGeom prst="rect">
            <a:avLst/>
          </a:prstGeom>
          <a:solidFill>
            <a:srgbClr val="1E2761"/>
          </a:solidFill>
          <a:ln/>
        </p:spPr>
      </p:sp>
      <p:sp>
        <p:nvSpPr>
          <p:cNvPr id="7" name="Shape 5"/>
          <p:cNvSpPr/>
          <p:nvPr/>
        </p:nvSpPr>
        <p:spPr>
          <a:xfrm>
            <a:off x="1474805" y="2072030"/>
            <a:ext cx="307558" cy="1448410"/>
          </a:xfrm>
          <a:prstGeom prst="rect">
            <a:avLst/>
          </a:prstGeom>
          <a:solidFill>
            <a:srgbClr val="1E2761"/>
          </a:solidFill>
          <a:ln/>
        </p:spPr>
      </p:sp>
      <p:sp>
        <p:nvSpPr>
          <p:cNvPr id="8" name="Shape 6"/>
          <p:cNvSpPr/>
          <p:nvPr/>
        </p:nvSpPr>
        <p:spPr>
          <a:xfrm>
            <a:off x="1840946" y="2072030"/>
            <a:ext cx="307558" cy="1448410"/>
          </a:xfrm>
          <a:prstGeom prst="rect">
            <a:avLst/>
          </a:prstGeom>
          <a:solidFill>
            <a:srgbClr val="1E2761"/>
          </a:solidFill>
          <a:ln/>
        </p:spPr>
      </p:sp>
      <p:sp>
        <p:nvSpPr>
          <p:cNvPr id="9" name="Shape 7"/>
          <p:cNvSpPr/>
          <p:nvPr/>
        </p:nvSpPr>
        <p:spPr>
          <a:xfrm>
            <a:off x="2207087" y="2715768"/>
            <a:ext cx="307558" cy="804672"/>
          </a:xfrm>
          <a:prstGeom prst="rect">
            <a:avLst/>
          </a:prstGeom>
          <a:solidFill>
            <a:srgbClr val="1E2761"/>
          </a:solidFill>
          <a:ln/>
        </p:spPr>
      </p:sp>
      <p:sp>
        <p:nvSpPr>
          <p:cNvPr id="10" name="Shape 8"/>
          <p:cNvSpPr/>
          <p:nvPr/>
        </p:nvSpPr>
        <p:spPr>
          <a:xfrm>
            <a:off x="2573228" y="3198571"/>
            <a:ext cx="307558" cy="321869"/>
          </a:xfrm>
          <a:prstGeom prst="rect">
            <a:avLst/>
          </a:prstGeom>
          <a:solidFill>
            <a:srgbClr val="1E2761"/>
          </a:solidFill>
          <a:ln/>
        </p:spPr>
      </p:sp>
      <p:sp>
        <p:nvSpPr>
          <p:cNvPr id="11" name="Shape 9"/>
          <p:cNvSpPr/>
          <p:nvPr/>
        </p:nvSpPr>
        <p:spPr>
          <a:xfrm>
            <a:off x="713232" y="3520440"/>
            <a:ext cx="2196846" cy="0"/>
          </a:xfrm>
          <a:prstGeom prst="line">
            <a:avLst/>
          </a:prstGeom>
          <a:noFill/>
          <a:ln w="19050">
            <a:solidFill>
              <a:srgbClr val="1E2761"/>
            </a:solidFill>
            <a:prstDash val="solid"/>
          </a:ln>
        </p:spPr>
      </p:sp>
      <p:sp>
        <p:nvSpPr>
          <p:cNvPr id="12" name="Text 10"/>
          <p:cNvSpPr txBox="1"/>
          <p:nvPr/>
        </p:nvSpPr>
        <p:spPr>
          <a:xfrm>
            <a:off x="54864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Symmetric</a:t>
            </a:r>
            <a:endParaRPr lang="en-US" sz="2000" dirty="0"/>
          </a:p>
        </p:txBody>
      </p:sp>
      <p:sp>
        <p:nvSpPr>
          <p:cNvPr id="13" name="Shape 11"/>
          <p:cNvSpPr/>
          <p:nvPr/>
        </p:nvSpPr>
        <p:spPr>
          <a:xfrm>
            <a:off x="3394710" y="1783080"/>
            <a:ext cx="2526030" cy="2011680"/>
          </a:xfrm>
          <a:prstGeom prst="roundRect">
            <a:avLst>
              <a:gd name="adj" fmla="val 2727"/>
            </a:avLst>
          </a:prstGeom>
          <a:solidFill>
            <a:srgbClr val="E7EEFC"/>
          </a:solidFill>
          <a:ln w="12700">
            <a:solidFill>
              <a:srgbClr val="CADCFC"/>
            </a:solidFill>
            <a:prstDash val="solid"/>
          </a:ln>
        </p:spPr>
      </p:sp>
      <p:sp>
        <p:nvSpPr>
          <p:cNvPr id="14" name="Shape 12"/>
          <p:cNvSpPr/>
          <p:nvPr/>
        </p:nvSpPr>
        <p:spPr>
          <a:xfrm>
            <a:off x="3588593" y="2072030"/>
            <a:ext cx="307558" cy="1448410"/>
          </a:xfrm>
          <a:prstGeom prst="rect">
            <a:avLst/>
          </a:prstGeom>
          <a:solidFill>
            <a:srgbClr val="1E2761"/>
          </a:solidFill>
          <a:ln/>
        </p:spPr>
      </p:sp>
      <p:sp>
        <p:nvSpPr>
          <p:cNvPr id="15" name="Shape 13"/>
          <p:cNvSpPr/>
          <p:nvPr/>
        </p:nvSpPr>
        <p:spPr>
          <a:xfrm>
            <a:off x="3954734" y="2393899"/>
            <a:ext cx="307558" cy="1126541"/>
          </a:xfrm>
          <a:prstGeom prst="rect">
            <a:avLst/>
          </a:prstGeom>
          <a:solidFill>
            <a:srgbClr val="1E2761"/>
          </a:solidFill>
          <a:ln/>
        </p:spPr>
      </p:sp>
      <p:sp>
        <p:nvSpPr>
          <p:cNvPr id="16" name="Shape 14"/>
          <p:cNvSpPr/>
          <p:nvPr/>
        </p:nvSpPr>
        <p:spPr>
          <a:xfrm>
            <a:off x="4320875" y="2715768"/>
            <a:ext cx="307558" cy="804672"/>
          </a:xfrm>
          <a:prstGeom prst="rect">
            <a:avLst/>
          </a:prstGeom>
          <a:solidFill>
            <a:srgbClr val="1E2761"/>
          </a:solidFill>
          <a:ln/>
        </p:spPr>
      </p:sp>
      <p:sp>
        <p:nvSpPr>
          <p:cNvPr id="17" name="Shape 15"/>
          <p:cNvSpPr/>
          <p:nvPr/>
        </p:nvSpPr>
        <p:spPr>
          <a:xfrm>
            <a:off x="4687016" y="3037637"/>
            <a:ext cx="307558" cy="482803"/>
          </a:xfrm>
          <a:prstGeom prst="rect">
            <a:avLst/>
          </a:prstGeom>
          <a:solidFill>
            <a:srgbClr val="1E2761"/>
          </a:solidFill>
          <a:ln/>
        </p:spPr>
      </p:sp>
      <p:sp>
        <p:nvSpPr>
          <p:cNvPr id="18" name="Shape 16"/>
          <p:cNvSpPr/>
          <p:nvPr/>
        </p:nvSpPr>
        <p:spPr>
          <a:xfrm>
            <a:off x="5053157" y="3198571"/>
            <a:ext cx="307558" cy="321869"/>
          </a:xfrm>
          <a:prstGeom prst="rect">
            <a:avLst/>
          </a:prstGeom>
          <a:solidFill>
            <a:srgbClr val="1E2761"/>
          </a:solidFill>
          <a:ln/>
        </p:spPr>
      </p:sp>
      <p:sp>
        <p:nvSpPr>
          <p:cNvPr id="19" name="Shape 17"/>
          <p:cNvSpPr/>
          <p:nvPr/>
        </p:nvSpPr>
        <p:spPr>
          <a:xfrm>
            <a:off x="5419298" y="3359506"/>
            <a:ext cx="307558" cy="160934"/>
          </a:xfrm>
          <a:prstGeom prst="rect">
            <a:avLst/>
          </a:prstGeom>
          <a:solidFill>
            <a:srgbClr val="1E2761"/>
          </a:solidFill>
          <a:ln/>
        </p:spPr>
      </p:sp>
      <p:sp>
        <p:nvSpPr>
          <p:cNvPr id="20" name="Shape 18"/>
          <p:cNvSpPr/>
          <p:nvPr/>
        </p:nvSpPr>
        <p:spPr>
          <a:xfrm>
            <a:off x="3559302" y="3520440"/>
            <a:ext cx="2196846" cy="0"/>
          </a:xfrm>
          <a:prstGeom prst="line">
            <a:avLst/>
          </a:prstGeom>
          <a:noFill/>
          <a:ln w="19050">
            <a:solidFill>
              <a:srgbClr val="1E2761"/>
            </a:solidFill>
            <a:prstDash val="solid"/>
          </a:ln>
        </p:spPr>
      </p:sp>
      <p:sp>
        <p:nvSpPr>
          <p:cNvPr id="21" name="Text 19"/>
          <p:cNvSpPr txBox="1"/>
          <p:nvPr/>
        </p:nvSpPr>
        <p:spPr>
          <a:xfrm>
            <a:off x="339471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Right-skewed</a:t>
            </a:r>
            <a:endParaRPr lang="en-US" sz="2000" dirty="0"/>
          </a:p>
        </p:txBody>
      </p:sp>
      <p:sp>
        <p:nvSpPr>
          <p:cNvPr id="22" name="Shape 20"/>
          <p:cNvSpPr/>
          <p:nvPr/>
        </p:nvSpPr>
        <p:spPr>
          <a:xfrm>
            <a:off x="6240780" y="1783080"/>
            <a:ext cx="2526030" cy="2011680"/>
          </a:xfrm>
          <a:prstGeom prst="roundRect">
            <a:avLst>
              <a:gd name="adj" fmla="val 2727"/>
            </a:avLst>
          </a:prstGeom>
          <a:solidFill>
            <a:srgbClr val="E7EEFC"/>
          </a:solidFill>
          <a:ln w="12700">
            <a:solidFill>
              <a:srgbClr val="CADCFC"/>
            </a:solidFill>
            <a:prstDash val="solid"/>
          </a:ln>
        </p:spPr>
      </p:sp>
      <p:sp>
        <p:nvSpPr>
          <p:cNvPr id="23" name="Shape 21"/>
          <p:cNvSpPr/>
          <p:nvPr/>
        </p:nvSpPr>
        <p:spPr>
          <a:xfrm>
            <a:off x="6434663" y="3359506"/>
            <a:ext cx="307558" cy="160934"/>
          </a:xfrm>
          <a:prstGeom prst="rect">
            <a:avLst/>
          </a:prstGeom>
          <a:solidFill>
            <a:srgbClr val="1E2761"/>
          </a:solidFill>
          <a:ln/>
        </p:spPr>
      </p:sp>
      <p:sp>
        <p:nvSpPr>
          <p:cNvPr id="24" name="Shape 22"/>
          <p:cNvSpPr/>
          <p:nvPr/>
        </p:nvSpPr>
        <p:spPr>
          <a:xfrm>
            <a:off x="6800804" y="3198571"/>
            <a:ext cx="307558" cy="321869"/>
          </a:xfrm>
          <a:prstGeom prst="rect">
            <a:avLst/>
          </a:prstGeom>
          <a:solidFill>
            <a:srgbClr val="1E2761"/>
          </a:solidFill>
          <a:ln/>
        </p:spPr>
      </p:sp>
      <p:sp>
        <p:nvSpPr>
          <p:cNvPr id="25" name="Shape 23"/>
          <p:cNvSpPr/>
          <p:nvPr/>
        </p:nvSpPr>
        <p:spPr>
          <a:xfrm>
            <a:off x="7166945" y="3037637"/>
            <a:ext cx="307558" cy="482803"/>
          </a:xfrm>
          <a:prstGeom prst="rect">
            <a:avLst/>
          </a:prstGeom>
          <a:solidFill>
            <a:srgbClr val="1E2761"/>
          </a:solidFill>
          <a:ln/>
        </p:spPr>
      </p:sp>
      <p:sp>
        <p:nvSpPr>
          <p:cNvPr id="26" name="Shape 24"/>
          <p:cNvSpPr/>
          <p:nvPr/>
        </p:nvSpPr>
        <p:spPr>
          <a:xfrm>
            <a:off x="7533086" y="2715768"/>
            <a:ext cx="307558" cy="804672"/>
          </a:xfrm>
          <a:prstGeom prst="rect">
            <a:avLst/>
          </a:prstGeom>
          <a:solidFill>
            <a:srgbClr val="1E2761"/>
          </a:solidFill>
          <a:ln/>
        </p:spPr>
      </p:sp>
      <p:sp>
        <p:nvSpPr>
          <p:cNvPr id="27" name="Shape 25"/>
          <p:cNvSpPr/>
          <p:nvPr/>
        </p:nvSpPr>
        <p:spPr>
          <a:xfrm>
            <a:off x="7899227" y="2393899"/>
            <a:ext cx="307558" cy="1126541"/>
          </a:xfrm>
          <a:prstGeom prst="rect">
            <a:avLst/>
          </a:prstGeom>
          <a:solidFill>
            <a:srgbClr val="1E2761"/>
          </a:solidFill>
          <a:ln/>
        </p:spPr>
      </p:sp>
      <p:sp>
        <p:nvSpPr>
          <p:cNvPr id="28" name="Shape 26"/>
          <p:cNvSpPr/>
          <p:nvPr/>
        </p:nvSpPr>
        <p:spPr>
          <a:xfrm>
            <a:off x="8265368" y="2072030"/>
            <a:ext cx="307558" cy="1448410"/>
          </a:xfrm>
          <a:prstGeom prst="rect">
            <a:avLst/>
          </a:prstGeom>
          <a:solidFill>
            <a:srgbClr val="1E2761"/>
          </a:solidFill>
          <a:ln/>
        </p:spPr>
      </p:sp>
      <p:sp>
        <p:nvSpPr>
          <p:cNvPr id="29" name="Shape 27"/>
          <p:cNvSpPr/>
          <p:nvPr/>
        </p:nvSpPr>
        <p:spPr>
          <a:xfrm>
            <a:off x="6405372" y="3520440"/>
            <a:ext cx="2196846" cy="0"/>
          </a:xfrm>
          <a:prstGeom prst="line">
            <a:avLst/>
          </a:prstGeom>
          <a:noFill/>
          <a:ln w="19050">
            <a:solidFill>
              <a:srgbClr val="1E2761"/>
            </a:solidFill>
            <a:prstDash val="solid"/>
          </a:ln>
        </p:spPr>
      </p:sp>
      <p:sp>
        <p:nvSpPr>
          <p:cNvPr id="30" name="Text 28"/>
          <p:cNvSpPr txBox="1"/>
          <p:nvPr/>
        </p:nvSpPr>
        <p:spPr>
          <a:xfrm>
            <a:off x="624078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Left-skewed</a:t>
            </a:r>
            <a:endParaRPr lang="en-US" sz="2000" dirty="0"/>
          </a:p>
        </p:txBody>
      </p:sp>
      <p:sp>
        <p:nvSpPr>
          <p:cNvPr id="31" name="Shape 29"/>
          <p:cNvSpPr/>
          <p:nvPr/>
        </p:nvSpPr>
        <p:spPr>
          <a:xfrm>
            <a:off x="9086850" y="1783080"/>
            <a:ext cx="2526030" cy="2011680"/>
          </a:xfrm>
          <a:prstGeom prst="roundRect">
            <a:avLst>
              <a:gd name="adj" fmla="val 2727"/>
            </a:avLst>
          </a:prstGeom>
          <a:solidFill>
            <a:srgbClr val="E7EEFC"/>
          </a:solidFill>
          <a:ln w="12700">
            <a:solidFill>
              <a:srgbClr val="CADCFC"/>
            </a:solidFill>
            <a:prstDash val="solid"/>
          </a:ln>
        </p:spPr>
      </p:sp>
      <p:sp>
        <p:nvSpPr>
          <p:cNvPr id="32" name="Shape 30"/>
          <p:cNvSpPr/>
          <p:nvPr/>
        </p:nvSpPr>
        <p:spPr>
          <a:xfrm>
            <a:off x="9280733" y="3037637"/>
            <a:ext cx="307558" cy="482803"/>
          </a:xfrm>
          <a:prstGeom prst="rect">
            <a:avLst/>
          </a:prstGeom>
          <a:solidFill>
            <a:srgbClr val="1E2761"/>
          </a:solidFill>
          <a:ln/>
        </p:spPr>
      </p:sp>
      <p:sp>
        <p:nvSpPr>
          <p:cNvPr id="33" name="Shape 31"/>
          <p:cNvSpPr/>
          <p:nvPr/>
        </p:nvSpPr>
        <p:spPr>
          <a:xfrm>
            <a:off x="9646874" y="2232965"/>
            <a:ext cx="307558" cy="1287475"/>
          </a:xfrm>
          <a:prstGeom prst="rect">
            <a:avLst/>
          </a:prstGeom>
          <a:solidFill>
            <a:srgbClr val="1E2761"/>
          </a:solidFill>
          <a:ln/>
        </p:spPr>
      </p:sp>
      <p:sp>
        <p:nvSpPr>
          <p:cNvPr id="34" name="Shape 32"/>
          <p:cNvSpPr/>
          <p:nvPr/>
        </p:nvSpPr>
        <p:spPr>
          <a:xfrm>
            <a:off x="10013015" y="2876702"/>
            <a:ext cx="307558" cy="643738"/>
          </a:xfrm>
          <a:prstGeom prst="rect">
            <a:avLst/>
          </a:prstGeom>
          <a:solidFill>
            <a:srgbClr val="1E2761"/>
          </a:solidFill>
          <a:ln/>
        </p:spPr>
      </p:sp>
      <p:sp>
        <p:nvSpPr>
          <p:cNvPr id="35" name="Shape 33"/>
          <p:cNvSpPr/>
          <p:nvPr/>
        </p:nvSpPr>
        <p:spPr>
          <a:xfrm>
            <a:off x="10379156" y="2876702"/>
            <a:ext cx="307558" cy="643738"/>
          </a:xfrm>
          <a:prstGeom prst="rect">
            <a:avLst/>
          </a:prstGeom>
          <a:solidFill>
            <a:srgbClr val="1E2761"/>
          </a:solidFill>
          <a:ln/>
        </p:spPr>
      </p:sp>
      <p:sp>
        <p:nvSpPr>
          <p:cNvPr id="36" name="Shape 34"/>
          <p:cNvSpPr/>
          <p:nvPr/>
        </p:nvSpPr>
        <p:spPr>
          <a:xfrm>
            <a:off x="10745297" y="2232965"/>
            <a:ext cx="307558" cy="1287475"/>
          </a:xfrm>
          <a:prstGeom prst="rect">
            <a:avLst/>
          </a:prstGeom>
          <a:solidFill>
            <a:srgbClr val="1E2761"/>
          </a:solidFill>
          <a:ln/>
        </p:spPr>
      </p:sp>
      <p:sp>
        <p:nvSpPr>
          <p:cNvPr id="37" name="Shape 35"/>
          <p:cNvSpPr/>
          <p:nvPr/>
        </p:nvSpPr>
        <p:spPr>
          <a:xfrm>
            <a:off x="11111438" y="3037637"/>
            <a:ext cx="307558" cy="482803"/>
          </a:xfrm>
          <a:prstGeom prst="rect">
            <a:avLst/>
          </a:prstGeom>
          <a:solidFill>
            <a:srgbClr val="1E2761"/>
          </a:solidFill>
          <a:ln/>
        </p:spPr>
      </p:sp>
      <p:sp>
        <p:nvSpPr>
          <p:cNvPr id="38" name="Shape 36"/>
          <p:cNvSpPr/>
          <p:nvPr/>
        </p:nvSpPr>
        <p:spPr>
          <a:xfrm>
            <a:off x="9251442" y="3520440"/>
            <a:ext cx="2196846" cy="0"/>
          </a:xfrm>
          <a:prstGeom prst="line">
            <a:avLst/>
          </a:prstGeom>
          <a:noFill/>
          <a:ln w="19050">
            <a:solidFill>
              <a:srgbClr val="1E2761"/>
            </a:solidFill>
            <a:prstDash val="solid"/>
          </a:ln>
        </p:spPr>
      </p:sp>
      <p:sp>
        <p:nvSpPr>
          <p:cNvPr id="39" name="Text 37"/>
          <p:cNvSpPr txBox="1"/>
          <p:nvPr/>
        </p:nvSpPr>
        <p:spPr>
          <a:xfrm>
            <a:off x="908685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Bimodal</a:t>
            </a:r>
            <a:endParaRPr lang="en-US" sz="2000" dirty="0"/>
          </a:p>
        </p:txBody>
      </p:sp>
      <p:sp>
        <p:nvSpPr>
          <p:cNvPr id="40" name="Text 38"/>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Right-skewed: long tail toward higher values (e.g., income)</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Left-skewed: long tail toward lower values (e.g., retirement age)</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Bimodal: two peaks — often signals two underlying groups</a:t>
            </a:r>
            <a:endParaRPr lang="en-US" sz="2000" dirty="0"/>
          </a:p>
        </p:txBody>
      </p:sp>
      <p:sp>
        <p:nvSpPr>
          <p:cNvPr id="41" name="Text 39"/>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42" name="Text 40"/>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11</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CONCEPT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Boxplots — The Concept</a:t>
            </a:r>
            <a:endParaRPr lang="en-US" sz="3600" dirty="0"/>
          </a:p>
        </p:txBody>
      </p:sp>
      <p:sp>
        <p:nvSpPr>
          <p:cNvPr id="4" name="Shape 2"/>
          <p:cNvSpPr/>
          <p:nvPr/>
        </p:nvSpPr>
        <p:spPr>
          <a:xfrm>
            <a:off x="1280160" y="2286000"/>
            <a:ext cx="1975104" cy="0"/>
          </a:xfrm>
          <a:prstGeom prst="line">
            <a:avLst/>
          </a:prstGeom>
          <a:noFill/>
          <a:ln w="25400">
            <a:solidFill>
              <a:srgbClr val="1E2761"/>
            </a:solidFill>
            <a:prstDash val="solid"/>
          </a:ln>
        </p:spPr>
      </p:sp>
      <p:sp>
        <p:nvSpPr>
          <p:cNvPr id="5" name="Shape 3"/>
          <p:cNvSpPr/>
          <p:nvPr/>
        </p:nvSpPr>
        <p:spPr>
          <a:xfrm>
            <a:off x="6181344" y="2286000"/>
            <a:ext cx="1682496" cy="0"/>
          </a:xfrm>
          <a:prstGeom prst="line">
            <a:avLst/>
          </a:prstGeom>
          <a:noFill/>
          <a:ln w="25400">
            <a:solidFill>
              <a:srgbClr val="1E2761"/>
            </a:solidFill>
            <a:prstDash val="solid"/>
          </a:ln>
        </p:spPr>
      </p:sp>
      <p:sp>
        <p:nvSpPr>
          <p:cNvPr id="6" name="Shape 4"/>
          <p:cNvSpPr/>
          <p:nvPr/>
        </p:nvSpPr>
        <p:spPr>
          <a:xfrm>
            <a:off x="1280160" y="1920240"/>
            <a:ext cx="0" cy="731520"/>
          </a:xfrm>
          <a:prstGeom prst="line">
            <a:avLst/>
          </a:prstGeom>
          <a:noFill/>
          <a:ln w="25400">
            <a:solidFill>
              <a:srgbClr val="1E2761"/>
            </a:solidFill>
            <a:prstDash val="solid"/>
          </a:ln>
        </p:spPr>
      </p:sp>
      <p:sp>
        <p:nvSpPr>
          <p:cNvPr id="7" name="Shape 5"/>
          <p:cNvSpPr/>
          <p:nvPr/>
        </p:nvSpPr>
        <p:spPr>
          <a:xfrm>
            <a:off x="7863840" y="1920240"/>
            <a:ext cx="0" cy="731520"/>
          </a:xfrm>
          <a:prstGeom prst="line">
            <a:avLst/>
          </a:prstGeom>
          <a:noFill/>
          <a:ln w="25400">
            <a:solidFill>
              <a:srgbClr val="1E2761"/>
            </a:solidFill>
            <a:prstDash val="solid"/>
          </a:ln>
        </p:spPr>
      </p:sp>
      <p:sp>
        <p:nvSpPr>
          <p:cNvPr id="8" name="Shape 6"/>
          <p:cNvSpPr/>
          <p:nvPr/>
        </p:nvSpPr>
        <p:spPr>
          <a:xfrm>
            <a:off x="3255264" y="1920240"/>
            <a:ext cx="2926080" cy="731520"/>
          </a:xfrm>
          <a:prstGeom prst="rect">
            <a:avLst/>
          </a:prstGeom>
          <a:solidFill>
            <a:srgbClr val="E7EEFC"/>
          </a:solidFill>
          <a:ln w="25400">
            <a:solidFill>
              <a:srgbClr val="1E2761"/>
            </a:solidFill>
            <a:prstDash val="solid"/>
          </a:ln>
        </p:spPr>
      </p:sp>
      <p:sp>
        <p:nvSpPr>
          <p:cNvPr id="9" name="Shape 7"/>
          <p:cNvSpPr/>
          <p:nvPr/>
        </p:nvSpPr>
        <p:spPr>
          <a:xfrm>
            <a:off x="4572000" y="1920240"/>
            <a:ext cx="0" cy="731520"/>
          </a:xfrm>
          <a:prstGeom prst="line">
            <a:avLst/>
          </a:prstGeom>
          <a:noFill/>
          <a:ln w="38100">
            <a:solidFill>
              <a:srgbClr val="D4AF37"/>
            </a:solidFill>
            <a:prstDash val="solid"/>
          </a:ln>
        </p:spPr>
      </p:sp>
      <p:sp>
        <p:nvSpPr>
          <p:cNvPr id="10" name="Text 8"/>
          <p:cNvSpPr txBox="1"/>
          <p:nvPr/>
        </p:nvSpPr>
        <p:spPr>
          <a:xfrm>
            <a:off x="640080" y="2788920"/>
            <a:ext cx="128016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Min</a:t>
            </a:r>
            <a:endParaRPr lang="en-US" sz="2000" dirty="0"/>
          </a:p>
        </p:txBody>
      </p:sp>
      <p:sp>
        <p:nvSpPr>
          <p:cNvPr id="11" name="Text 9"/>
          <p:cNvSpPr txBox="1"/>
          <p:nvPr/>
        </p:nvSpPr>
        <p:spPr>
          <a:xfrm>
            <a:off x="2615184" y="2788920"/>
            <a:ext cx="128016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Q1</a:t>
            </a:r>
            <a:endParaRPr lang="en-US" sz="2000" dirty="0"/>
          </a:p>
        </p:txBody>
      </p:sp>
      <p:sp>
        <p:nvSpPr>
          <p:cNvPr id="12" name="Text 10"/>
          <p:cNvSpPr txBox="1"/>
          <p:nvPr/>
        </p:nvSpPr>
        <p:spPr>
          <a:xfrm>
            <a:off x="3931920" y="2788920"/>
            <a:ext cx="128016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Median</a:t>
            </a:r>
            <a:endParaRPr lang="en-US" sz="2000" dirty="0"/>
          </a:p>
        </p:txBody>
      </p:sp>
      <p:sp>
        <p:nvSpPr>
          <p:cNvPr id="13" name="Text 11"/>
          <p:cNvSpPr txBox="1"/>
          <p:nvPr/>
        </p:nvSpPr>
        <p:spPr>
          <a:xfrm>
            <a:off x="5541264" y="2788920"/>
            <a:ext cx="128016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Q3</a:t>
            </a:r>
            <a:endParaRPr lang="en-US" sz="2000" dirty="0"/>
          </a:p>
        </p:txBody>
      </p:sp>
      <p:sp>
        <p:nvSpPr>
          <p:cNvPr id="14" name="Text 12"/>
          <p:cNvSpPr txBox="1"/>
          <p:nvPr/>
        </p:nvSpPr>
        <p:spPr>
          <a:xfrm>
            <a:off x="7223760" y="2788920"/>
            <a:ext cx="128016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Max</a:t>
            </a:r>
            <a:endParaRPr lang="en-US" sz="2000" dirty="0"/>
          </a:p>
        </p:txBody>
      </p:sp>
      <p:sp>
        <p:nvSpPr>
          <p:cNvPr id="15" name="Text 13"/>
          <p:cNvSpPr txBox="1"/>
          <p:nvPr/>
        </p:nvSpPr>
        <p:spPr>
          <a:xfrm>
            <a:off x="3255264" y="1463040"/>
            <a:ext cx="2926080" cy="320040"/>
          </a:xfrm>
          <a:prstGeom prst="rect">
            <a:avLst/>
          </a:prstGeom>
          <a:noFill/>
          <a:ln/>
        </p:spPr>
        <p:txBody>
          <a:bodyPr wrap="square" lIns="25400" tIns="25400" rIns="25400" bIns="25400" rtlCol="0" anchor="ctr"/>
          <a:lstStyle/>
          <a:p>
            <a:pPr marL="0" indent="0" algn="ctr">
              <a:buNone/>
            </a:pPr>
            <a:r>
              <a:rPr lang="en-US" sz="2000" b="1" dirty="0">
                <a:solidFill>
                  <a:srgbClr val="5B6B8C"/>
                </a:solidFill>
                <a:latin typeface="Calibri" pitchFamily="34" charset="0"/>
                <a:ea typeface="Calibri" pitchFamily="34" charset="-122"/>
                <a:cs typeface="Calibri" pitchFamily="34" charset="-120"/>
              </a:rPr>
              <a:t>IQR (middle 50%)</a:t>
            </a:r>
            <a:endParaRPr lang="en-US" sz="2000" dirty="0"/>
          </a:p>
        </p:txBody>
      </p:sp>
      <p:sp>
        <p:nvSpPr>
          <p:cNvPr id="16" name="Text 14"/>
          <p:cNvSpPr txBox="1"/>
          <p:nvPr/>
        </p:nvSpPr>
        <p:spPr>
          <a:xfrm>
            <a:off x="1280160" y="1463040"/>
            <a:ext cx="1975104"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Whisker</a:t>
            </a:r>
            <a:endParaRPr lang="en-US" sz="2000" dirty="0"/>
          </a:p>
        </p:txBody>
      </p:sp>
      <p:sp>
        <p:nvSpPr>
          <p:cNvPr id="17" name="Text 15"/>
          <p:cNvSpPr txBox="1"/>
          <p:nvPr/>
        </p:nvSpPr>
        <p:spPr>
          <a:xfrm>
            <a:off x="6181344" y="1463040"/>
            <a:ext cx="1682496"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Whisker</a:t>
            </a:r>
            <a:endParaRPr lang="en-US" sz="2000" dirty="0"/>
          </a:p>
        </p:txBody>
      </p:sp>
      <p:sp>
        <p:nvSpPr>
          <p:cNvPr id="18" name="Text 16"/>
          <p:cNvSpPr txBox="1"/>
          <p:nvPr/>
        </p:nvSpPr>
        <p:spPr>
          <a:xfrm>
            <a:off x="640080" y="3429000"/>
            <a:ext cx="10881360" cy="26060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Five-number summary: Min, Q1, Median, Q3, Max</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The box spans Q1 to Q3 — the middle 50% (the IQR)</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The line inside the box is the median</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Whiskers extend to the smallest/largest non-outlier values</a:t>
            </a:r>
            <a:endParaRPr lang="en-US" sz="2000" dirty="0"/>
          </a:p>
        </p:txBody>
      </p:sp>
      <p:sp>
        <p:nvSpPr>
          <p:cNvPr id="19"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0"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12</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OUTLIER RULE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The IQR Rule for Outliers</a:t>
            </a:r>
            <a:endParaRPr lang="en-US" sz="3600" dirty="0"/>
          </a:p>
        </p:txBody>
      </p:sp>
      <p:sp>
        <p:nvSpPr>
          <p:cNvPr id="4" name="Shape 2"/>
          <p:cNvSpPr/>
          <p:nvPr/>
        </p:nvSpPr>
        <p:spPr>
          <a:xfrm>
            <a:off x="2275027" y="2743200"/>
            <a:ext cx="1353312" cy="0"/>
          </a:xfrm>
          <a:prstGeom prst="line">
            <a:avLst/>
          </a:prstGeom>
          <a:noFill/>
          <a:ln w="25400">
            <a:solidFill>
              <a:srgbClr val="1E2761"/>
            </a:solidFill>
            <a:prstDash val="solid"/>
          </a:ln>
        </p:spPr>
      </p:sp>
      <p:sp>
        <p:nvSpPr>
          <p:cNvPr id="5" name="Shape 3"/>
          <p:cNvSpPr/>
          <p:nvPr/>
        </p:nvSpPr>
        <p:spPr>
          <a:xfrm>
            <a:off x="6064301" y="2743200"/>
            <a:ext cx="1150315" cy="0"/>
          </a:xfrm>
          <a:prstGeom prst="line">
            <a:avLst/>
          </a:prstGeom>
          <a:noFill/>
          <a:ln w="25400">
            <a:solidFill>
              <a:srgbClr val="1E2761"/>
            </a:solidFill>
            <a:prstDash val="solid"/>
          </a:ln>
        </p:spPr>
      </p:sp>
      <p:sp>
        <p:nvSpPr>
          <p:cNvPr id="6" name="Shape 4"/>
          <p:cNvSpPr/>
          <p:nvPr/>
        </p:nvSpPr>
        <p:spPr>
          <a:xfrm>
            <a:off x="3628339" y="2400300"/>
            <a:ext cx="2435962" cy="685800"/>
          </a:xfrm>
          <a:prstGeom prst="rect">
            <a:avLst/>
          </a:prstGeom>
          <a:solidFill>
            <a:srgbClr val="E7EEFC"/>
          </a:solidFill>
          <a:ln w="25400">
            <a:solidFill>
              <a:srgbClr val="1E2761"/>
            </a:solidFill>
            <a:prstDash val="solid"/>
          </a:ln>
        </p:spPr>
      </p:sp>
      <p:sp>
        <p:nvSpPr>
          <p:cNvPr id="7" name="Shape 5"/>
          <p:cNvSpPr/>
          <p:nvPr/>
        </p:nvSpPr>
        <p:spPr>
          <a:xfrm>
            <a:off x="4846320" y="2400300"/>
            <a:ext cx="0" cy="685800"/>
          </a:xfrm>
          <a:prstGeom prst="line">
            <a:avLst/>
          </a:prstGeom>
          <a:noFill/>
          <a:ln w="38100">
            <a:solidFill>
              <a:srgbClr val="D4AF37"/>
            </a:solidFill>
            <a:prstDash val="solid"/>
          </a:ln>
        </p:spPr>
      </p:sp>
      <p:sp>
        <p:nvSpPr>
          <p:cNvPr id="8" name="Shape 6"/>
          <p:cNvSpPr/>
          <p:nvPr/>
        </p:nvSpPr>
        <p:spPr>
          <a:xfrm>
            <a:off x="1598371" y="1943100"/>
            <a:ext cx="0" cy="1600200"/>
          </a:xfrm>
          <a:prstGeom prst="line">
            <a:avLst/>
          </a:prstGeom>
          <a:noFill/>
          <a:ln w="22225">
            <a:solidFill>
              <a:srgbClr val="B23B3B"/>
            </a:solidFill>
            <a:prstDash val="dash"/>
          </a:ln>
        </p:spPr>
      </p:sp>
      <p:sp>
        <p:nvSpPr>
          <p:cNvPr id="9" name="Shape 7"/>
          <p:cNvSpPr/>
          <p:nvPr/>
        </p:nvSpPr>
        <p:spPr>
          <a:xfrm>
            <a:off x="7891272" y="1943100"/>
            <a:ext cx="0" cy="1600200"/>
          </a:xfrm>
          <a:prstGeom prst="line">
            <a:avLst/>
          </a:prstGeom>
          <a:noFill/>
          <a:ln w="22225">
            <a:solidFill>
              <a:srgbClr val="B23B3B"/>
            </a:solidFill>
            <a:prstDash val="dash"/>
          </a:ln>
        </p:spPr>
      </p:sp>
      <p:sp>
        <p:nvSpPr>
          <p:cNvPr id="10" name="Text 8"/>
          <p:cNvSpPr txBox="1"/>
          <p:nvPr/>
        </p:nvSpPr>
        <p:spPr>
          <a:xfrm>
            <a:off x="683971" y="1577340"/>
            <a:ext cx="1828800" cy="320040"/>
          </a:xfrm>
          <a:prstGeom prst="rect">
            <a:avLst/>
          </a:prstGeom>
          <a:noFill/>
          <a:ln/>
        </p:spPr>
        <p:txBody>
          <a:bodyPr wrap="square" lIns="25400" tIns="25400" rIns="25400" bIns="25400" rtlCol="0" anchor="ctr"/>
          <a:lstStyle/>
          <a:p>
            <a:pPr marL="0" indent="0" algn="ctr">
              <a:buNone/>
            </a:pPr>
            <a:r>
              <a:rPr lang="en-US" sz="2000" b="1" dirty="0">
                <a:solidFill>
                  <a:srgbClr val="B23B3B"/>
                </a:solidFill>
                <a:latin typeface="Calibri" pitchFamily="34" charset="0"/>
                <a:ea typeface="Calibri" pitchFamily="34" charset="-122"/>
                <a:cs typeface="Calibri" pitchFamily="34" charset="-120"/>
              </a:rPr>
              <a:t>Lower fence</a:t>
            </a:r>
            <a:endParaRPr lang="en-US" sz="2000" dirty="0"/>
          </a:p>
        </p:txBody>
      </p:sp>
      <p:sp>
        <p:nvSpPr>
          <p:cNvPr id="11" name="Text 9"/>
          <p:cNvSpPr txBox="1"/>
          <p:nvPr/>
        </p:nvSpPr>
        <p:spPr>
          <a:xfrm>
            <a:off x="6976872" y="1577340"/>
            <a:ext cx="1828800" cy="320040"/>
          </a:xfrm>
          <a:prstGeom prst="rect">
            <a:avLst/>
          </a:prstGeom>
          <a:noFill/>
          <a:ln/>
        </p:spPr>
        <p:txBody>
          <a:bodyPr wrap="square" lIns="25400" tIns="25400" rIns="25400" bIns="25400" rtlCol="0" anchor="ctr"/>
          <a:lstStyle/>
          <a:p>
            <a:pPr marL="0" indent="0" algn="ctr">
              <a:buNone/>
            </a:pPr>
            <a:r>
              <a:rPr lang="en-US" sz="2000" b="1" dirty="0">
                <a:solidFill>
                  <a:srgbClr val="B23B3B"/>
                </a:solidFill>
                <a:latin typeface="Calibri" pitchFamily="34" charset="0"/>
                <a:ea typeface="Calibri" pitchFamily="34" charset="-122"/>
                <a:cs typeface="Calibri" pitchFamily="34" charset="-120"/>
              </a:rPr>
              <a:t>Upper fence</a:t>
            </a:r>
            <a:endParaRPr lang="en-US" sz="2000" dirty="0"/>
          </a:p>
        </p:txBody>
      </p:sp>
      <p:sp>
        <p:nvSpPr>
          <p:cNvPr id="12" name="Shape 10"/>
          <p:cNvSpPr/>
          <p:nvPr/>
        </p:nvSpPr>
        <p:spPr>
          <a:xfrm>
            <a:off x="8571586" y="2679192"/>
            <a:ext cx="128016" cy="128016"/>
          </a:xfrm>
          <a:prstGeom prst="ellipse">
            <a:avLst/>
          </a:prstGeom>
          <a:solidFill>
            <a:srgbClr val="D4AF37"/>
          </a:solidFill>
          <a:ln w="12700">
            <a:solidFill>
              <a:srgbClr val="1E2761"/>
            </a:solidFill>
            <a:prstDash val="solid"/>
          </a:ln>
        </p:spPr>
      </p:sp>
      <p:sp>
        <p:nvSpPr>
          <p:cNvPr id="13" name="Text 11"/>
          <p:cNvSpPr txBox="1"/>
          <p:nvPr/>
        </p:nvSpPr>
        <p:spPr>
          <a:xfrm>
            <a:off x="7995514" y="2926080"/>
            <a:ext cx="128016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Outlier</a:t>
            </a:r>
            <a:endParaRPr lang="en-US" sz="2000" dirty="0"/>
          </a:p>
        </p:txBody>
      </p:sp>
      <p:sp>
        <p:nvSpPr>
          <p:cNvPr id="14" name="Text 12"/>
          <p:cNvSpPr txBox="1"/>
          <p:nvPr/>
        </p:nvSpPr>
        <p:spPr>
          <a:xfrm>
            <a:off x="640080" y="4046220"/>
            <a:ext cx="10881360" cy="19888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IQR = Q3 − Q1</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Lower fence = Q1 − 1.5 × IQR</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Upper fence = Q3 + 1.5 × IQR</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Any point beyond the fences is plotted as an individual outlier dot</a:t>
            </a:r>
            <a:endParaRPr lang="en-US" sz="2000" dirty="0"/>
          </a:p>
        </p:txBody>
      </p:sp>
      <p:sp>
        <p:nvSpPr>
          <p:cNvPr id="15"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16"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13</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Building a Boxplot</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Same 16 exam scores — find the five-number summary and check for outliers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sorted data, Min = 55, Max = 92</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Q1 = 64, Median = 71, Q3 = 79.5</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IQR = 79.5 − 64 = 15.5</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Fences = 40.75 and 102.75</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No outliers — all scores fall within the fences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14</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COMPARING GROUPS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Why Boxplots Shine</a:t>
            </a:r>
            <a:endParaRPr lang="en-US" sz="3600" dirty="0"/>
          </a:p>
        </p:txBody>
      </p:sp>
      <p:sp>
        <p:nvSpPr>
          <p:cNvPr id="4" name="Shape 2"/>
          <p:cNvSpPr/>
          <p:nvPr/>
        </p:nvSpPr>
        <p:spPr>
          <a:xfrm>
            <a:off x="548640" y="1783080"/>
            <a:ext cx="2526030" cy="2011680"/>
          </a:xfrm>
          <a:prstGeom prst="roundRect">
            <a:avLst>
              <a:gd name="adj" fmla="val 2727"/>
            </a:avLst>
          </a:prstGeom>
          <a:solidFill>
            <a:srgbClr val="E7EEFC"/>
          </a:solidFill>
          <a:ln w="12700">
            <a:solidFill>
              <a:srgbClr val="CADCFC"/>
            </a:solidFill>
            <a:prstDash val="solid"/>
          </a:ln>
        </p:spPr>
      </p:sp>
      <p:sp>
        <p:nvSpPr>
          <p:cNvPr id="5" name="Shape 3"/>
          <p:cNvSpPr/>
          <p:nvPr/>
        </p:nvSpPr>
        <p:spPr>
          <a:xfrm>
            <a:off x="1811655" y="3359506"/>
            <a:ext cx="0" cy="0"/>
          </a:xfrm>
          <a:prstGeom prst="line">
            <a:avLst/>
          </a:prstGeom>
          <a:noFill/>
          <a:ln w="19050">
            <a:solidFill>
              <a:srgbClr val="1E2761"/>
            </a:solidFill>
            <a:prstDash val="solid"/>
          </a:ln>
        </p:spPr>
      </p:sp>
      <p:sp>
        <p:nvSpPr>
          <p:cNvPr id="6" name="Shape 4"/>
          <p:cNvSpPr/>
          <p:nvPr/>
        </p:nvSpPr>
        <p:spPr>
          <a:xfrm>
            <a:off x="1811655" y="2554834"/>
            <a:ext cx="0" cy="0"/>
          </a:xfrm>
          <a:prstGeom prst="line">
            <a:avLst/>
          </a:prstGeom>
          <a:noFill/>
          <a:ln w="19050">
            <a:solidFill>
              <a:srgbClr val="1E2761"/>
            </a:solidFill>
            <a:prstDash val="solid"/>
          </a:ln>
        </p:spPr>
      </p:sp>
      <p:sp>
        <p:nvSpPr>
          <p:cNvPr id="7" name="Shape 5"/>
          <p:cNvSpPr/>
          <p:nvPr/>
        </p:nvSpPr>
        <p:spPr>
          <a:xfrm>
            <a:off x="1372286" y="2554834"/>
            <a:ext cx="878738" cy="482803"/>
          </a:xfrm>
          <a:prstGeom prst="rect">
            <a:avLst/>
          </a:prstGeom>
          <a:solidFill>
            <a:srgbClr val="CADCFC"/>
          </a:solidFill>
          <a:ln w="19050">
            <a:solidFill>
              <a:srgbClr val="1E2761"/>
            </a:solidFill>
            <a:prstDash val="solid"/>
          </a:ln>
        </p:spPr>
      </p:sp>
      <p:sp>
        <p:nvSpPr>
          <p:cNvPr id="8" name="Shape 6"/>
          <p:cNvSpPr/>
          <p:nvPr/>
        </p:nvSpPr>
        <p:spPr>
          <a:xfrm>
            <a:off x="1372286" y="2796235"/>
            <a:ext cx="878738" cy="0"/>
          </a:xfrm>
          <a:prstGeom prst="line">
            <a:avLst/>
          </a:prstGeom>
          <a:noFill/>
          <a:ln w="31750">
            <a:solidFill>
              <a:srgbClr val="D4AF37"/>
            </a:solidFill>
            <a:prstDash val="solid"/>
          </a:ln>
        </p:spPr>
      </p:sp>
      <p:sp>
        <p:nvSpPr>
          <p:cNvPr id="9" name="Text 7"/>
          <p:cNvSpPr txBox="1"/>
          <p:nvPr/>
        </p:nvSpPr>
        <p:spPr>
          <a:xfrm>
            <a:off x="54864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Section A</a:t>
            </a:r>
            <a:endParaRPr lang="en-US" sz="2000" dirty="0"/>
          </a:p>
        </p:txBody>
      </p:sp>
      <p:sp>
        <p:nvSpPr>
          <p:cNvPr id="10" name="Shape 8"/>
          <p:cNvSpPr/>
          <p:nvPr/>
        </p:nvSpPr>
        <p:spPr>
          <a:xfrm>
            <a:off x="3394710" y="1783080"/>
            <a:ext cx="2526030" cy="2011680"/>
          </a:xfrm>
          <a:prstGeom prst="roundRect">
            <a:avLst>
              <a:gd name="adj" fmla="val 2727"/>
            </a:avLst>
          </a:prstGeom>
          <a:solidFill>
            <a:srgbClr val="E7EEFC"/>
          </a:solidFill>
          <a:ln w="12700">
            <a:solidFill>
              <a:srgbClr val="CADCFC"/>
            </a:solidFill>
            <a:prstDash val="solid"/>
          </a:ln>
        </p:spPr>
      </p:sp>
      <p:sp>
        <p:nvSpPr>
          <p:cNvPr id="11" name="Shape 9"/>
          <p:cNvSpPr/>
          <p:nvPr/>
        </p:nvSpPr>
        <p:spPr>
          <a:xfrm>
            <a:off x="4657725" y="3198571"/>
            <a:ext cx="0" cy="0"/>
          </a:xfrm>
          <a:prstGeom prst="line">
            <a:avLst/>
          </a:prstGeom>
          <a:noFill/>
          <a:ln w="19050">
            <a:solidFill>
              <a:srgbClr val="1E2761"/>
            </a:solidFill>
            <a:prstDash val="solid"/>
          </a:ln>
        </p:spPr>
      </p:sp>
      <p:sp>
        <p:nvSpPr>
          <p:cNvPr id="12" name="Shape 10"/>
          <p:cNvSpPr/>
          <p:nvPr/>
        </p:nvSpPr>
        <p:spPr>
          <a:xfrm>
            <a:off x="4657725" y="2393899"/>
            <a:ext cx="0" cy="0"/>
          </a:xfrm>
          <a:prstGeom prst="line">
            <a:avLst/>
          </a:prstGeom>
          <a:noFill/>
          <a:ln w="19050">
            <a:solidFill>
              <a:srgbClr val="1E2761"/>
            </a:solidFill>
            <a:prstDash val="solid"/>
          </a:ln>
        </p:spPr>
      </p:sp>
      <p:sp>
        <p:nvSpPr>
          <p:cNvPr id="13" name="Shape 11"/>
          <p:cNvSpPr/>
          <p:nvPr/>
        </p:nvSpPr>
        <p:spPr>
          <a:xfrm>
            <a:off x="4218356" y="2393899"/>
            <a:ext cx="878738" cy="482803"/>
          </a:xfrm>
          <a:prstGeom prst="rect">
            <a:avLst/>
          </a:prstGeom>
          <a:solidFill>
            <a:srgbClr val="CADCFC"/>
          </a:solidFill>
          <a:ln w="19050">
            <a:solidFill>
              <a:srgbClr val="1E2761"/>
            </a:solidFill>
            <a:prstDash val="solid"/>
          </a:ln>
        </p:spPr>
      </p:sp>
      <p:sp>
        <p:nvSpPr>
          <p:cNvPr id="14" name="Shape 12"/>
          <p:cNvSpPr/>
          <p:nvPr/>
        </p:nvSpPr>
        <p:spPr>
          <a:xfrm>
            <a:off x="4218356" y="2635301"/>
            <a:ext cx="878738" cy="0"/>
          </a:xfrm>
          <a:prstGeom prst="line">
            <a:avLst/>
          </a:prstGeom>
          <a:noFill/>
          <a:ln w="31750">
            <a:solidFill>
              <a:srgbClr val="D4AF37"/>
            </a:solidFill>
            <a:prstDash val="solid"/>
          </a:ln>
        </p:spPr>
      </p:sp>
      <p:sp>
        <p:nvSpPr>
          <p:cNvPr id="15" name="Shape 13"/>
          <p:cNvSpPr/>
          <p:nvPr/>
        </p:nvSpPr>
        <p:spPr>
          <a:xfrm>
            <a:off x="4621149" y="1922800"/>
            <a:ext cx="73152" cy="73152"/>
          </a:xfrm>
          <a:prstGeom prst="ellipse">
            <a:avLst/>
          </a:prstGeom>
          <a:solidFill>
            <a:srgbClr val="D4AF37"/>
          </a:solidFill>
          <a:ln w="9525">
            <a:solidFill>
              <a:srgbClr val="1E2761"/>
            </a:solidFill>
            <a:prstDash val="solid"/>
          </a:ln>
        </p:spPr>
      </p:sp>
      <p:sp>
        <p:nvSpPr>
          <p:cNvPr id="16" name="Text 14"/>
          <p:cNvSpPr txBox="1"/>
          <p:nvPr/>
        </p:nvSpPr>
        <p:spPr>
          <a:xfrm>
            <a:off x="339471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Section B</a:t>
            </a:r>
            <a:endParaRPr lang="en-US" sz="2000" dirty="0"/>
          </a:p>
        </p:txBody>
      </p:sp>
      <p:sp>
        <p:nvSpPr>
          <p:cNvPr id="17" name="Shape 15"/>
          <p:cNvSpPr/>
          <p:nvPr/>
        </p:nvSpPr>
        <p:spPr>
          <a:xfrm>
            <a:off x="6240780" y="1783080"/>
            <a:ext cx="2526030" cy="2011680"/>
          </a:xfrm>
          <a:prstGeom prst="roundRect">
            <a:avLst>
              <a:gd name="adj" fmla="val 2727"/>
            </a:avLst>
          </a:prstGeom>
          <a:solidFill>
            <a:srgbClr val="E7EEFC"/>
          </a:solidFill>
          <a:ln w="12700">
            <a:solidFill>
              <a:srgbClr val="CADCFC"/>
            </a:solidFill>
            <a:prstDash val="solid"/>
          </a:ln>
        </p:spPr>
      </p:sp>
      <p:sp>
        <p:nvSpPr>
          <p:cNvPr id="18" name="Shape 16"/>
          <p:cNvSpPr/>
          <p:nvPr/>
        </p:nvSpPr>
        <p:spPr>
          <a:xfrm>
            <a:off x="7503795" y="3439973"/>
            <a:ext cx="0" cy="0"/>
          </a:xfrm>
          <a:prstGeom prst="line">
            <a:avLst/>
          </a:prstGeom>
          <a:noFill/>
          <a:ln w="19050">
            <a:solidFill>
              <a:srgbClr val="1E2761"/>
            </a:solidFill>
            <a:prstDash val="solid"/>
          </a:ln>
        </p:spPr>
      </p:sp>
      <p:sp>
        <p:nvSpPr>
          <p:cNvPr id="19" name="Shape 17"/>
          <p:cNvSpPr/>
          <p:nvPr/>
        </p:nvSpPr>
        <p:spPr>
          <a:xfrm>
            <a:off x="7503795" y="2957170"/>
            <a:ext cx="0" cy="0"/>
          </a:xfrm>
          <a:prstGeom prst="line">
            <a:avLst/>
          </a:prstGeom>
          <a:noFill/>
          <a:ln w="19050">
            <a:solidFill>
              <a:srgbClr val="1E2761"/>
            </a:solidFill>
            <a:prstDash val="solid"/>
          </a:ln>
        </p:spPr>
      </p:sp>
      <p:sp>
        <p:nvSpPr>
          <p:cNvPr id="20" name="Shape 18"/>
          <p:cNvSpPr/>
          <p:nvPr/>
        </p:nvSpPr>
        <p:spPr>
          <a:xfrm>
            <a:off x="7064426" y="2957170"/>
            <a:ext cx="878738" cy="321869"/>
          </a:xfrm>
          <a:prstGeom prst="rect">
            <a:avLst/>
          </a:prstGeom>
          <a:solidFill>
            <a:srgbClr val="CADCFC"/>
          </a:solidFill>
          <a:ln w="19050">
            <a:solidFill>
              <a:srgbClr val="1E2761"/>
            </a:solidFill>
            <a:prstDash val="solid"/>
          </a:ln>
        </p:spPr>
      </p:sp>
      <p:sp>
        <p:nvSpPr>
          <p:cNvPr id="21" name="Shape 19"/>
          <p:cNvSpPr/>
          <p:nvPr/>
        </p:nvSpPr>
        <p:spPr>
          <a:xfrm>
            <a:off x="7064426" y="3118104"/>
            <a:ext cx="878738" cy="0"/>
          </a:xfrm>
          <a:prstGeom prst="line">
            <a:avLst/>
          </a:prstGeom>
          <a:noFill/>
          <a:ln w="31750">
            <a:solidFill>
              <a:srgbClr val="D4AF37"/>
            </a:solidFill>
            <a:prstDash val="solid"/>
          </a:ln>
        </p:spPr>
      </p:sp>
      <p:sp>
        <p:nvSpPr>
          <p:cNvPr id="22" name="Text 20"/>
          <p:cNvSpPr txBox="1"/>
          <p:nvPr/>
        </p:nvSpPr>
        <p:spPr>
          <a:xfrm>
            <a:off x="624078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Section C</a:t>
            </a:r>
            <a:endParaRPr lang="en-US" sz="2000" dirty="0"/>
          </a:p>
        </p:txBody>
      </p:sp>
      <p:sp>
        <p:nvSpPr>
          <p:cNvPr id="23" name="Shape 21"/>
          <p:cNvSpPr/>
          <p:nvPr/>
        </p:nvSpPr>
        <p:spPr>
          <a:xfrm>
            <a:off x="9086850" y="1783080"/>
            <a:ext cx="2526030" cy="2011680"/>
          </a:xfrm>
          <a:prstGeom prst="roundRect">
            <a:avLst>
              <a:gd name="adj" fmla="val 2727"/>
            </a:avLst>
          </a:prstGeom>
          <a:solidFill>
            <a:srgbClr val="E7EEFC"/>
          </a:solidFill>
          <a:ln w="12700">
            <a:solidFill>
              <a:srgbClr val="CADCFC"/>
            </a:solidFill>
            <a:prstDash val="solid"/>
          </a:ln>
        </p:spPr>
      </p:sp>
      <p:sp>
        <p:nvSpPr>
          <p:cNvPr id="24" name="Shape 22"/>
          <p:cNvSpPr/>
          <p:nvPr/>
        </p:nvSpPr>
        <p:spPr>
          <a:xfrm>
            <a:off x="10349865" y="3037637"/>
            <a:ext cx="0" cy="0"/>
          </a:xfrm>
          <a:prstGeom prst="line">
            <a:avLst/>
          </a:prstGeom>
          <a:noFill/>
          <a:ln w="19050">
            <a:solidFill>
              <a:srgbClr val="1E2761"/>
            </a:solidFill>
            <a:prstDash val="solid"/>
          </a:ln>
        </p:spPr>
      </p:sp>
      <p:sp>
        <p:nvSpPr>
          <p:cNvPr id="25" name="Shape 23"/>
          <p:cNvSpPr/>
          <p:nvPr/>
        </p:nvSpPr>
        <p:spPr>
          <a:xfrm>
            <a:off x="10349865" y="2313432"/>
            <a:ext cx="0" cy="0"/>
          </a:xfrm>
          <a:prstGeom prst="line">
            <a:avLst/>
          </a:prstGeom>
          <a:noFill/>
          <a:ln w="19050">
            <a:solidFill>
              <a:srgbClr val="1E2761"/>
            </a:solidFill>
            <a:prstDash val="solid"/>
          </a:ln>
        </p:spPr>
      </p:sp>
      <p:sp>
        <p:nvSpPr>
          <p:cNvPr id="26" name="Shape 24"/>
          <p:cNvSpPr/>
          <p:nvPr/>
        </p:nvSpPr>
        <p:spPr>
          <a:xfrm>
            <a:off x="9910496" y="2313432"/>
            <a:ext cx="878738" cy="402336"/>
          </a:xfrm>
          <a:prstGeom prst="rect">
            <a:avLst/>
          </a:prstGeom>
          <a:solidFill>
            <a:srgbClr val="CADCFC"/>
          </a:solidFill>
          <a:ln w="19050">
            <a:solidFill>
              <a:srgbClr val="1E2761"/>
            </a:solidFill>
            <a:prstDash val="solid"/>
          </a:ln>
        </p:spPr>
      </p:sp>
      <p:sp>
        <p:nvSpPr>
          <p:cNvPr id="27" name="Shape 25"/>
          <p:cNvSpPr/>
          <p:nvPr/>
        </p:nvSpPr>
        <p:spPr>
          <a:xfrm>
            <a:off x="9910496" y="2554834"/>
            <a:ext cx="878738" cy="0"/>
          </a:xfrm>
          <a:prstGeom prst="line">
            <a:avLst/>
          </a:prstGeom>
          <a:noFill/>
          <a:ln w="31750">
            <a:solidFill>
              <a:srgbClr val="D4AF37"/>
            </a:solidFill>
            <a:prstDash val="solid"/>
          </a:ln>
        </p:spPr>
      </p:sp>
      <p:sp>
        <p:nvSpPr>
          <p:cNvPr id="28" name="Text 26"/>
          <p:cNvSpPr txBox="1"/>
          <p:nvPr/>
        </p:nvSpPr>
        <p:spPr>
          <a:xfrm>
            <a:off x="908685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Section D</a:t>
            </a:r>
            <a:endParaRPr lang="en-US" sz="2000" dirty="0"/>
          </a:p>
        </p:txBody>
      </p:sp>
      <p:sp>
        <p:nvSpPr>
          <p:cNvPr id="29" name="Text 27"/>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Boxplots shine when comparing multiple groups side by side</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Instantly compare medians, spread, and outliers across groups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Much harder to do this with four separate histograms</a:t>
            </a:r>
            <a:endParaRPr lang="en-US" sz="2000" dirty="0"/>
          </a:p>
        </p:txBody>
      </p:sp>
      <p:sp>
        <p:nvSpPr>
          <p:cNvPr id="30" name="Text 2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31" name="Text 2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15</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CONCEPT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Scatterplots — The Concept</a:t>
            </a:r>
            <a:endParaRPr lang="en-US" sz="3600" dirty="0"/>
          </a:p>
        </p:txBody>
      </p:sp>
      <p:sp>
        <p:nvSpPr>
          <p:cNvPr id="4" name="Shape 2"/>
          <p:cNvSpPr/>
          <p:nvPr/>
        </p:nvSpPr>
        <p:spPr>
          <a:xfrm>
            <a:off x="548640" y="1783080"/>
            <a:ext cx="11064240" cy="2377440"/>
          </a:xfrm>
          <a:prstGeom prst="roundRect">
            <a:avLst>
              <a:gd name="adj" fmla="val 2308"/>
            </a:avLst>
          </a:prstGeom>
          <a:solidFill>
            <a:srgbClr val="E7EEFC"/>
          </a:solidFill>
          <a:ln w="12700">
            <a:solidFill>
              <a:srgbClr val="CADCFC"/>
            </a:solidFill>
            <a:prstDash val="solid"/>
          </a:ln>
        </p:spPr>
      </p:sp>
      <p:sp>
        <p:nvSpPr>
          <p:cNvPr id="5" name="Shape 3"/>
          <p:cNvSpPr/>
          <p:nvPr/>
        </p:nvSpPr>
        <p:spPr>
          <a:xfrm>
            <a:off x="1754734" y="3557930"/>
            <a:ext cx="64008" cy="64008"/>
          </a:xfrm>
          <a:prstGeom prst="ellipse">
            <a:avLst/>
          </a:prstGeom>
          <a:solidFill>
            <a:srgbClr val="1E2761"/>
          </a:solidFill>
          <a:ln/>
        </p:spPr>
      </p:sp>
      <p:sp>
        <p:nvSpPr>
          <p:cNvPr id="6" name="Shape 4"/>
          <p:cNvSpPr/>
          <p:nvPr/>
        </p:nvSpPr>
        <p:spPr>
          <a:xfrm>
            <a:off x="2291486" y="3360420"/>
            <a:ext cx="64008" cy="64008"/>
          </a:xfrm>
          <a:prstGeom prst="ellipse">
            <a:avLst/>
          </a:prstGeom>
          <a:solidFill>
            <a:srgbClr val="1E2761"/>
          </a:solidFill>
          <a:ln/>
        </p:spPr>
      </p:sp>
      <p:sp>
        <p:nvSpPr>
          <p:cNvPr id="7" name="Shape 5"/>
          <p:cNvSpPr/>
          <p:nvPr/>
        </p:nvSpPr>
        <p:spPr>
          <a:xfrm>
            <a:off x="2828239" y="3459175"/>
            <a:ext cx="64008" cy="64008"/>
          </a:xfrm>
          <a:prstGeom prst="ellipse">
            <a:avLst/>
          </a:prstGeom>
          <a:solidFill>
            <a:srgbClr val="1E2761"/>
          </a:solidFill>
          <a:ln/>
        </p:spPr>
      </p:sp>
      <p:sp>
        <p:nvSpPr>
          <p:cNvPr id="8" name="Shape 6"/>
          <p:cNvSpPr/>
          <p:nvPr/>
        </p:nvSpPr>
        <p:spPr>
          <a:xfrm>
            <a:off x="3901745" y="3064154"/>
            <a:ext cx="64008" cy="64008"/>
          </a:xfrm>
          <a:prstGeom prst="ellipse">
            <a:avLst/>
          </a:prstGeom>
          <a:solidFill>
            <a:srgbClr val="1E2761"/>
          </a:solidFill>
          <a:ln/>
        </p:spPr>
      </p:sp>
      <p:sp>
        <p:nvSpPr>
          <p:cNvPr id="9" name="Shape 7"/>
          <p:cNvSpPr/>
          <p:nvPr/>
        </p:nvSpPr>
        <p:spPr>
          <a:xfrm>
            <a:off x="4438498" y="3162910"/>
            <a:ext cx="64008" cy="64008"/>
          </a:xfrm>
          <a:prstGeom prst="ellipse">
            <a:avLst/>
          </a:prstGeom>
          <a:solidFill>
            <a:srgbClr val="1E2761"/>
          </a:solidFill>
          <a:ln/>
        </p:spPr>
      </p:sp>
      <p:sp>
        <p:nvSpPr>
          <p:cNvPr id="10" name="Shape 8"/>
          <p:cNvSpPr/>
          <p:nvPr/>
        </p:nvSpPr>
        <p:spPr>
          <a:xfrm>
            <a:off x="5512003" y="2866644"/>
            <a:ext cx="64008" cy="64008"/>
          </a:xfrm>
          <a:prstGeom prst="ellipse">
            <a:avLst/>
          </a:prstGeom>
          <a:solidFill>
            <a:srgbClr val="1E2761"/>
          </a:solidFill>
          <a:ln/>
        </p:spPr>
      </p:sp>
      <p:sp>
        <p:nvSpPr>
          <p:cNvPr id="11" name="Shape 9"/>
          <p:cNvSpPr/>
          <p:nvPr/>
        </p:nvSpPr>
        <p:spPr>
          <a:xfrm>
            <a:off x="6048756" y="2767889"/>
            <a:ext cx="64008" cy="64008"/>
          </a:xfrm>
          <a:prstGeom prst="ellipse">
            <a:avLst/>
          </a:prstGeom>
          <a:solidFill>
            <a:srgbClr val="1E2761"/>
          </a:solidFill>
          <a:ln/>
        </p:spPr>
      </p:sp>
      <p:sp>
        <p:nvSpPr>
          <p:cNvPr id="12" name="Shape 10"/>
          <p:cNvSpPr/>
          <p:nvPr/>
        </p:nvSpPr>
        <p:spPr>
          <a:xfrm>
            <a:off x="6585509" y="2669134"/>
            <a:ext cx="64008" cy="64008"/>
          </a:xfrm>
          <a:prstGeom prst="ellipse">
            <a:avLst/>
          </a:prstGeom>
          <a:solidFill>
            <a:srgbClr val="1E2761"/>
          </a:solidFill>
          <a:ln/>
        </p:spPr>
      </p:sp>
      <p:sp>
        <p:nvSpPr>
          <p:cNvPr id="13" name="Shape 11"/>
          <p:cNvSpPr/>
          <p:nvPr/>
        </p:nvSpPr>
        <p:spPr>
          <a:xfrm>
            <a:off x="7659014" y="2471623"/>
            <a:ext cx="64008" cy="64008"/>
          </a:xfrm>
          <a:prstGeom prst="ellipse">
            <a:avLst/>
          </a:prstGeom>
          <a:solidFill>
            <a:srgbClr val="1E2761"/>
          </a:solidFill>
          <a:ln/>
        </p:spPr>
      </p:sp>
      <p:sp>
        <p:nvSpPr>
          <p:cNvPr id="14" name="Shape 12"/>
          <p:cNvSpPr/>
          <p:nvPr/>
        </p:nvSpPr>
        <p:spPr>
          <a:xfrm>
            <a:off x="8195767" y="2511125"/>
            <a:ext cx="64008" cy="64008"/>
          </a:xfrm>
          <a:prstGeom prst="ellipse">
            <a:avLst/>
          </a:prstGeom>
          <a:solidFill>
            <a:srgbClr val="1E2761"/>
          </a:solidFill>
          <a:ln/>
        </p:spPr>
      </p:sp>
      <p:sp>
        <p:nvSpPr>
          <p:cNvPr id="15" name="Shape 13"/>
          <p:cNvSpPr/>
          <p:nvPr/>
        </p:nvSpPr>
        <p:spPr>
          <a:xfrm>
            <a:off x="9269273" y="2234611"/>
            <a:ext cx="64008" cy="64008"/>
          </a:xfrm>
          <a:prstGeom prst="ellipse">
            <a:avLst/>
          </a:prstGeom>
          <a:solidFill>
            <a:srgbClr val="1E2761"/>
          </a:solidFill>
          <a:ln/>
        </p:spPr>
      </p:sp>
      <p:sp>
        <p:nvSpPr>
          <p:cNvPr id="16" name="Shape 14"/>
          <p:cNvSpPr/>
          <p:nvPr/>
        </p:nvSpPr>
        <p:spPr>
          <a:xfrm>
            <a:off x="10342778" y="2076602"/>
            <a:ext cx="64008" cy="64008"/>
          </a:xfrm>
          <a:prstGeom prst="ellipse">
            <a:avLst/>
          </a:prstGeom>
          <a:solidFill>
            <a:srgbClr val="1E2761"/>
          </a:solidFill>
          <a:ln/>
        </p:spPr>
      </p:sp>
      <p:sp>
        <p:nvSpPr>
          <p:cNvPr id="17" name="Shape 15"/>
          <p:cNvSpPr/>
          <p:nvPr/>
        </p:nvSpPr>
        <p:spPr>
          <a:xfrm>
            <a:off x="713232" y="3886200"/>
            <a:ext cx="10735056" cy="0"/>
          </a:xfrm>
          <a:prstGeom prst="line">
            <a:avLst/>
          </a:prstGeom>
          <a:noFill/>
          <a:ln w="12700">
            <a:solidFill>
              <a:srgbClr val="5B6B8C"/>
            </a:solidFill>
            <a:prstDash val="solid"/>
          </a:ln>
        </p:spPr>
      </p:sp>
      <p:sp>
        <p:nvSpPr>
          <p:cNvPr id="18" name="Shape 16"/>
          <p:cNvSpPr/>
          <p:nvPr/>
        </p:nvSpPr>
        <p:spPr>
          <a:xfrm>
            <a:off x="713232" y="1911096"/>
            <a:ext cx="0" cy="1975104"/>
          </a:xfrm>
          <a:prstGeom prst="line">
            <a:avLst/>
          </a:prstGeom>
          <a:noFill/>
          <a:ln w="12700">
            <a:solidFill>
              <a:srgbClr val="5B6B8C"/>
            </a:solidFill>
            <a:prstDash val="solid"/>
          </a:ln>
        </p:spPr>
      </p:sp>
      <p:sp>
        <p:nvSpPr>
          <p:cNvPr id="19" name="Text 17"/>
          <p:cNvSpPr txBox="1"/>
          <p:nvPr/>
        </p:nvSpPr>
        <p:spPr>
          <a:xfrm>
            <a:off x="548640" y="4215384"/>
            <a:ext cx="1106424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Study hours (x) vs. exam score (y)</a:t>
            </a:r>
            <a:endParaRPr lang="en-US" sz="2000" dirty="0"/>
          </a:p>
        </p:txBody>
      </p:sp>
      <p:sp>
        <p:nvSpPr>
          <p:cNvPr id="20" name="Text 18"/>
          <p:cNvSpPr txBox="1"/>
          <p:nvPr/>
        </p:nvSpPr>
        <p:spPr>
          <a:xfrm>
            <a:off x="640080" y="4663440"/>
            <a:ext cx="10881360" cy="13258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Plots pairs of values (x, y) as individual points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Used to explore the relationship between TWO numeric variables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Each dot = one observation (e.g., one student, one house, one day)</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Reveals: direction, strength, and shape of a relationship</a:t>
            </a:r>
            <a:endParaRPr lang="en-US" sz="2000" dirty="0"/>
          </a:p>
        </p:txBody>
      </p:sp>
      <p:sp>
        <p:nvSpPr>
          <p:cNvPr id="21" name="Text 19"/>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2" name="Text 20"/>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PATTERN READING</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Reading Correlation in Scatterplots</a:t>
            </a:r>
            <a:endParaRPr lang="en-US" sz="3600" dirty="0"/>
          </a:p>
        </p:txBody>
      </p:sp>
      <p:sp>
        <p:nvSpPr>
          <p:cNvPr id="4" name="Shape 2"/>
          <p:cNvSpPr/>
          <p:nvPr/>
        </p:nvSpPr>
        <p:spPr>
          <a:xfrm>
            <a:off x="548640" y="1783080"/>
            <a:ext cx="3474720" cy="2011680"/>
          </a:xfrm>
          <a:prstGeom prst="roundRect">
            <a:avLst>
              <a:gd name="adj" fmla="val 2727"/>
            </a:avLst>
          </a:prstGeom>
          <a:solidFill>
            <a:srgbClr val="E7EEFC"/>
          </a:solidFill>
          <a:ln w="12700">
            <a:solidFill>
              <a:srgbClr val="CADCFC"/>
            </a:solidFill>
            <a:prstDash val="solid"/>
          </a:ln>
        </p:spPr>
      </p:sp>
      <p:sp>
        <p:nvSpPr>
          <p:cNvPr id="5" name="Shape 3"/>
          <p:cNvSpPr/>
          <p:nvPr/>
        </p:nvSpPr>
        <p:spPr>
          <a:xfrm>
            <a:off x="995782" y="3247034"/>
            <a:ext cx="64008" cy="64008"/>
          </a:xfrm>
          <a:prstGeom prst="ellipse">
            <a:avLst/>
          </a:prstGeom>
          <a:solidFill>
            <a:srgbClr val="1E2761"/>
          </a:solidFill>
          <a:ln/>
        </p:spPr>
      </p:sp>
      <p:sp>
        <p:nvSpPr>
          <p:cNvPr id="6" name="Shape 4"/>
          <p:cNvSpPr/>
          <p:nvPr/>
        </p:nvSpPr>
        <p:spPr>
          <a:xfrm>
            <a:off x="1310335" y="3037820"/>
            <a:ext cx="64008" cy="64008"/>
          </a:xfrm>
          <a:prstGeom prst="ellipse">
            <a:avLst/>
          </a:prstGeom>
          <a:solidFill>
            <a:srgbClr val="1E2761"/>
          </a:solidFill>
          <a:ln/>
        </p:spPr>
      </p:sp>
      <p:sp>
        <p:nvSpPr>
          <p:cNvPr id="7" name="Shape 5"/>
          <p:cNvSpPr/>
          <p:nvPr/>
        </p:nvSpPr>
        <p:spPr>
          <a:xfrm>
            <a:off x="1624889" y="2925166"/>
            <a:ext cx="64008" cy="64008"/>
          </a:xfrm>
          <a:prstGeom prst="ellipse">
            <a:avLst/>
          </a:prstGeom>
          <a:solidFill>
            <a:srgbClr val="1E2761"/>
          </a:solidFill>
          <a:ln/>
        </p:spPr>
      </p:sp>
      <p:sp>
        <p:nvSpPr>
          <p:cNvPr id="8" name="Shape 6"/>
          <p:cNvSpPr/>
          <p:nvPr/>
        </p:nvSpPr>
        <p:spPr>
          <a:xfrm>
            <a:off x="1939442" y="2715951"/>
            <a:ext cx="64008" cy="64008"/>
          </a:xfrm>
          <a:prstGeom prst="ellipse">
            <a:avLst/>
          </a:prstGeom>
          <a:solidFill>
            <a:srgbClr val="1E2761"/>
          </a:solidFill>
          <a:ln/>
        </p:spPr>
      </p:sp>
      <p:sp>
        <p:nvSpPr>
          <p:cNvPr id="9" name="Shape 7"/>
          <p:cNvSpPr/>
          <p:nvPr/>
        </p:nvSpPr>
        <p:spPr>
          <a:xfrm>
            <a:off x="2253996" y="2603297"/>
            <a:ext cx="64008" cy="64008"/>
          </a:xfrm>
          <a:prstGeom prst="ellipse">
            <a:avLst/>
          </a:prstGeom>
          <a:solidFill>
            <a:srgbClr val="1E2761"/>
          </a:solidFill>
          <a:ln/>
        </p:spPr>
      </p:sp>
      <p:sp>
        <p:nvSpPr>
          <p:cNvPr id="10" name="Shape 8"/>
          <p:cNvSpPr/>
          <p:nvPr/>
        </p:nvSpPr>
        <p:spPr>
          <a:xfrm>
            <a:off x="2568550" y="2442362"/>
            <a:ext cx="64008" cy="64008"/>
          </a:xfrm>
          <a:prstGeom prst="ellipse">
            <a:avLst/>
          </a:prstGeom>
          <a:solidFill>
            <a:srgbClr val="1E2761"/>
          </a:solidFill>
          <a:ln/>
        </p:spPr>
      </p:sp>
      <p:sp>
        <p:nvSpPr>
          <p:cNvPr id="11" name="Shape 9"/>
          <p:cNvSpPr/>
          <p:nvPr/>
        </p:nvSpPr>
        <p:spPr>
          <a:xfrm>
            <a:off x="2883103" y="2329708"/>
            <a:ext cx="64008" cy="64008"/>
          </a:xfrm>
          <a:prstGeom prst="ellipse">
            <a:avLst/>
          </a:prstGeom>
          <a:solidFill>
            <a:srgbClr val="1E2761"/>
          </a:solidFill>
          <a:ln/>
        </p:spPr>
      </p:sp>
      <p:sp>
        <p:nvSpPr>
          <p:cNvPr id="12" name="Shape 10"/>
          <p:cNvSpPr/>
          <p:nvPr/>
        </p:nvSpPr>
        <p:spPr>
          <a:xfrm>
            <a:off x="3197657" y="2120494"/>
            <a:ext cx="64008" cy="64008"/>
          </a:xfrm>
          <a:prstGeom prst="ellipse">
            <a:avLst/>
          </a:prstGeom>
          <a:solidFill>
            <a:srgbClr val="1E2761"/>
          </a:solidFill>
          <a:ln/>
        </p:spPr>
      </p:sp>
      <p:sp>
        <p:nvSpPr>
          <p:cNvPr id="13" name="Shape 11"/>
          <p:cNvSpPr/>
          <p:nvPr/>
        </p:nvSpPr>
        <p:spPr>
          <a:xfrm>
            <a:off x="3512210" y="2007840"/>
            <a:ext cx="64008" cy="64008"/>
          </a:xfrm>
          <a:prstGeom prst="ellipse">
            <a:avLst/>
          </a:prstGeom>
          <a:solidFill>
            <a:srgbClr val="1E2761"/>
          </a:solidFill>
          <a:ln/>
        </p:spPr>
      </p:sp>
      <p:sp>
        <p:nvSpPr>
          <p:cNvPr id="14" name="Shape 12"/>
          <p:cNvSpPr/>
          <p:nvPr/>
        </p:nvSpPr>
        <p:spPr>
          <a:xfrm>
            <a:off x="713232" y="3520440"/>
            <a:ext cx="3145536" cy="0"/>
          </a:xfrm>
          <a:prstGeom prst="line">
            <a:avLst/>
          </a:prstGeom>
          <a:noFill/>
          <a:ln w="12700">
            <a:solidFill>
              <a:srgbClr val="5B6B8C"/>
            </a:solidFill>
            <a:prstDash val="solid"/>
          </a:ln>
        </p:spPr>
      </p:sp>
      <p:sp>
        <p:nvSpPr>
          <p:cNvPr id="15" name="Shape 13"/>
          <p:cNvSpPr/>
          <p:nvPr/>
        </p:nvSpPr>
        <p:spPr>
          <a:xfrm>
            <a:off x="713232" y="1911096"/>
            <a:ext cx="0" cy="1609344"/>
          </a:xfrm>
          <a:prstGeom prst="line">
            <a:avLst/>
          </a:prstGeom>
          <a:noFill/>
          <a:ln w="12700">
            <a:solidFill>
              <a:srgbClr val="5B6B8C"/>
            </a:solidFill>
            <a:prstDash val="solid"/>
          </a:ln>
        </p:spPr>
      </p:sp>
      <p:sp>
        <p:nvSpPr>
          <p:cNvPr id="16" name="Text 14"/>
          <p:cNvSpPr txBox="1"/>
          <p:nvPr/>
        </p:nvSpPr>
        <p:spPr>
          <a:xfrm>
            <a:off x="548640" y="3849624"/>
            <a:ext cx="34747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Positive</a:t>
            </a:r>
            <a:endParaRPr lang="en-US" sz="2000" dirty="0"/>
          </a:p>
        </p:txBody>
      </p:sp>
      <p:sp>
        <p:nvSpPr>
          <p:cNvPr id="17" name="Shape 15"/>
          <p:cNvSpPr/>
          <p:nvPr/>
        </p:nvSpPr>
        <p:spPr>
          <a:xfrm>
            <a:off x="4343400" y="1783080"/>
            <a:ext cx="3474720" cy="2011680"/>
          </a:xfrm>
          <a:prstGeom prst="roundRect">
            <a:avLst>
              <a:gd name="adj" fmla="val 2727"/>
            </a:avLst>
          </a:prstGeom>
          <a:solidFill>
            <a:srgbClr val="E7EEFC"/>
          </a:solidFill>
          <a:ln w="12700">
            <a:solidFill>
              <a:srgbClr val="CADCFC"/>
            </a:solidFill>
            <a:prstDash val="solid"/>
          </a:ln>
        </p:spPr>
      </p:sp>
      <p:sp>
        <p:nvSpPr>
          <p:cNvPr id="18" name="Shape 16"/>
          <p:cNvSpPr/>
          <p:nvPr/>
        </p:nvSpPr>
        <p:spPr>
          <a:xfrm>
            <a:off x="4790542" y="2040026"/>
            <a:ext cx="64008" cy="64008"/>
          </a:xfrm>
          <a:prstGeom prst="ellipse">
            <a:avLst/>
          </a:prstGeom>
          <a:solidFill>
            <a:srgbClr val="1E2761"/>
          </a:solidFill>
          <a:ln/>
        </p:spPr>
      </p:sp>
      <p:sp>
        <p:nvSpPr>
          <p:cNvPr id="19" name="Shape 17"/>
          <p:cNvSpPr/>
          <p:nvPr/>
        </p:nvSpPr>
        <p:spPr>
          <a:xfrm>
            <a:off x="5105095" y="2233148"/>
            <a:ext cx="64008" cy="64008"/>
          </a:xfrm>
          <a:prstGeom prst="ellipse">
            <a:avLst/>
          </a:prstGeom>
          <a:solidFill>
            <a:srgbClr val="1E2761"/>
          </a:solidFill>
          <a:ln/>
        </p:spPr>
      </p:sp>
      <p:sp>
        <p:nvSpPr>
          <p:cNvPr id="20" name="Shape 18"/>
          <p:cNvSpPr/>
          <p:nvPr/>
        </p:nvSpPr>
        <p:spPr>
          <a:xfrm>
            <a:off x="5419649" y="2361895"/>
            <a:ext cx="64008" cy="64008"/>
          </a:xfrm>
          <a:prstGeom prst="ellipse">
            <a:avLst/>
          </a:prstGeom>
          <a:solidFill>
            <a:srgbClr val="1E2761"/>
          </a:solidFill>
          <a:ln/>
        </p:spPr>
      </p:sp>
      <p:sp>
        <p:nvSpPr>
          <p:cNvPr id="21" name="Shape 19"/>
          <p:cNvSpPr/>
          <p:nvPr/>
        </p:nvSpPr>
        <p:spPr>
          <a:xfrm>
            <a:off x="5734202" y="2522830"/>
            <a:ext cx="64008" cy="64008"/>
          </a:xfrm>
          <a:prstGeom prst="ellipse">
            <a:avLst/>
          </a:prstGeom>
          <a:solidFill>
            <a:srgbClr val="1E2761"/>
          </a:solidFill>
          <a:ln/>
        </p:spPr>
      </p:sp>
      <p:sp>
        <p:nvSpPr>
          <p:cNvPr id="22" name="Shape 20"/>
          <p:cNvSpPr/>
          <p:nvPr/>
        </p:nvSpPr>
        <p:spPr>
          <a:xfrm>
            <a:off x="6048756" y="2683764"/>
            <a:ext cx="64008" cy="64008"/>
          </a:xfrm>
          <a:prstGeom prst="ellipse">
            <a:avLst/>
          </a:prstGeom>
          <a:solidFill>
            <a:srgbClr val="1E2761"/>
          </a:solidFill>
          <a:ln/>
        </p:spPr>
      </p:sp>
      <p:sp>
        <p:nvSpPr>
          <p:cNvPr id="23" name="Shape 21"/>
          <p:cNvSpPr/>
          <p:nvPr/>
        </p:nvSpPr>
        <p:spPr>
          <a:xfrm>
            <a:off x="6363310" y="2844698"/>
            <a:ext cx="64008" cy="64008"/>
          </a:xfrm>
          <a:prstGeom prst="ellipse">
            <a:avLst/>
          </a:prstGeom>
          <a:solidFill>
            <a:srgbClr val="1E2761"/>
          </a:solidFill>
          <a:ln/>
        </p:spPr>
      </p:sp>
      <p:sp>
        <p:nvSpPr>
          <p:cNvPr id="24" name="Shape 22"/>
          <p:cNvSpPr/>
          <p:nvPr/>
        </p:nvSpPr>
        <p:spPr>
          <a:xfrm>
            <a:off x="6677863" y="3005633"/>
            <a:ext cx="64008" cy="64008"/>
          </a:xfrm>
          <a:prstGeom prst="ellipse">
            <a:avLst/>
          </a:prstGeom>
          <a:solidFill>
            <a:srgbClr val="1E2761"/>
          </a:solidFill>
          <a:ln/>
        </p:spPr>
      </p:sp>
      <p:sp>
        <p:nvSpPr>
          <p:cNvPr id="25" name="Shape 23"/>
          <p:cNvSpPr/>
          <p:nvPr/>
        </p:nvSpPr>
        <p:spPr>
          <a:xfrm>
            <a:off x="6992417" y="3166567"/>
            <a:ext cx="64008" cy="64008"/>
          </a:xfrm>
          <a:prstGeom prst="ellipse">
            <a:avLst/>
          </a:prstGeom>
          <a:solidFill>
            <a:srgbClr val="1E2761"/>
          </a:solidFill>
          <a:ln/>
        </p:spPr>
      </p:sp>
      <p:sp>
        <p:nvSpPr>
          <p:cNvPr id="26" name="Shape 24"/>
          <p:cNvSpPr/>
          <p:nvPr/>
        </p:nvSpPr>
        <p:spPr>
          <a:xfrm>
            <a:off x="7306970" y="3327502"/>
            <a:ext cx="64008" cy="64008"/>
          </a:xfrm>
          <a:prstGeom prst="ellipse">
            <a:avLst/>
          </a:prstGeom>
          <a:solidFill>
            <a:srgbClr val="1E2761"/>
          </a:solidFill>
          <a:ln/>
        </p:spPr>
      </p:sp>
      <p:sp>
        <p:nvSpPr>
          <p:cNvPr id="27" name="Shape 25"/>
          <p:cNvSpPr/>
          <p:nvPr/>
        </p:nvSpPr>
        <p:spPr>
          <a:xfrm>
            <a:off x="4507992" y="3520440"/>
            <a:ext cx="3145536" cy="0"/>
          </a:xfrm>
          <a:prstGeom prst="line">
            <a:avLst/>
          </a:prstGeom>
          <a:noFill/>
          <a:ln w="12700">
            <a:solidFill>
              <a:srgbClr val="5B6B8C"/>
            </a:solidFill>
            <a:prstDash val="solid"/>
          </a:ln>
        </p:spPr>
      </p:sp>
      <p:sp>
        <p:nvSpPr>
          <p:cNvPr id="28" name="Shape 26"/>
          <p:cNvSpPr/>
          <p:nvPr/>
        </p:nvSpPr>
        <p:spPr>
          <a:xfrm>
            <a:off x="4507992" y="1911096"/>
            <a:ext cx="0" cy="1609344"/>
          </a:xfrm>
          <a:prstGeom prst="line">
            <a:avLst/>
          </a:prstGeom>
          <a:noFill/>
          <a:ln w="12700">
            <a:solidFill>
              <a:srgbClr val="5B6B8C"/>
            </a:solidFill>
            <a:prstDash val="solid"/>
          </a:ln>
        </p:spPr>
      </p:sp>
      <p:sp>
        <p:nvSpPr>
          <p:cNvPr id="29" name="Text 27"/>
          <p:cNvSpPr txBox="1"/>
          <p:nvPr/>
        </p:nvSpPr>
        <p:spPr>
          <a:xfrm>
            <a:off x="4343400" y="3849624"/>
            <a:ext cx="34747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Negative</a:t>
            </a:r>
            <a:endParaRPr lang="en-US" sz="2000" dirty="0"/>
          </a:p>
        </p:txBody>
      </p:sp>
      <p:sp>
        <p:nvSpPr>
          <p:cNvPr id="30" name="Shape 28"/>
          <p:cNvSpPr/>
          <p:nvPr/>
        </p:nvSpPr>
        <p:spPr>
          <a:xfrm>
            <a:off x="8138160" y="1783080"/>
            <a:ext cx="3474720" cy="2011680"/>
          </a:xfrm>
          <a:prstGeom prst="roundRect">
            <a:avLst>
              <a:gd name="adj" fmla="val 2727"/>
            </a:avLst>
          </a:prstGeom>
          <a:solidFill>
            <a:srgbClr val="E7EEFC"/>
          </a:solidFill>
          <a:ln w="12700">
            <a:solidFill>
              <a:srgbClr val="CADCFC"/>
            </a:solidFill>
            <a:prstDash val="solid"/>
          </a:ln>
        </p:spPr>
      </p:sp>
      <p:sp>
        <p:nvSpPr>
          <p:cNvPr id="31" name="Shape 29"/>
          <p:cNvSpPr/>
          <p:nvPr/>
        </p:nvSpPr>
        <p:spPr>
          <a:xfrm>
            <a:off x="8742578" y="2522830"/>
            <a:ext cx="64008" cy="64008"/>
          </a:xfrm>
          <a:prstGeom prst="ellipse">
            <a:avLst/>
          </a:prstGeom>
          <a:solidFill>
            <a:srgbClr val="1E2761"/>
          </a:solidFill>
          <a:ln/>
        </p:spPr>
      </p:sp>
      <p:sp>
        <p:nvSpPr>
          <p:cNvPr id="32" name="Shape 30"/>
          <p:cNvSpPr/>
          <p:nvPr/>
        </p:nvSpPr>
        <p:spPr>
          <a:xfrm>
            <a:off x="9057132" y="3166567"/>
            <a:ext cx="64008" cy="64008"/>
          </a:xfrm>
          <a:prstGeom prst="ellipse">
            <a:avLst/>
          </a:prstGeom>
          <a:solidFill>
            <a:srgbClr val="1E2761"/>
          </a:solidFill>
          <a:ln/>
        </p:spPr>
      </p:sp>
      <p:sp>
        <p:nvSpPr>
          <p:cNvPr id="33" name="Shape 31"/>
          <p:cNvSpPr/>
          <p:nvPr/>
        </p:nvSpPr>
        <p:spPr>
          <a:xfrm>
            <a:off x="9371686" y="2200961"/>
            <a:ext cx="64008" cy="64008"/>
          </a:xfrm>
          <a:prstGeom prst="ellipse">
            <a:avLst/>
          </a:prstGeom>
          <a:solidFill>
            <a:srgbClr val="1E2761"/>
          </a:solidFill>
          <a:ln/>
        </p:spPr>
      </p:sp>
      <p:sp>
        <p:nvSpPr>
          <p:cNvPr id="34" name="Shape 32"/>
          <p:cNvSpPr/>
          <p:nvPr/>
        </p:nvSpPr>
        <p:spPr>
          <a:xfrm>
            <a:off x="9686239" y="2925166"/>
            <a:ext cx="64008" cy="64008"/>
          </a:xfrm>
          <a:prstGeom prst="ellipse">
            <a:avLst/>
          </a:prstGeom>
          <a:solidFill>
            <a:srgbClr val="1E2761"/>
          </a:solidFill>
          <a:ln/>
        </p:spPr>
      </p:sp>
      <p:sp>
        <p:nvSpPr>
          <p:cNvPr id="35" name="Shape 33"/>
          <p:cNvSpPr/>
          <p:nvPr/>
        </p:nvSpPr>
        <p:spPr>
          <a:xfrm>
            <a:off x="9843516" y="2361895"/>
            <a:ext cx="64008" cy="64008"/>
          </a:xfrm>
          <a:prstGeom prst="ellipse">
            <a:avLst/>
          </a:prstGeom>
          <a:solidFill>
            <a:srgbClr val="1E2761"/>
          </a:solidFill>
          <a:ln/>
        </p:spPr>
      </p:sp>
      <p:sp>
        <p:nvSpPr>
          <p:cNvPr id="36" name="Shape 34"/>
          <p:cNvSpPr/>
          <p:nvPr/>
        </p:nvSpPr>
        <p:spPr>
          <a:xfrm>
            <a:off x="10158070" y="3247034"/>
            <a:ext cx="64008" cy="64008"/>
          </a:xfrm>
          <a:prstGeom prst="ellipse">
            <a:avLst/>
          </a:prstGeom>
          <a:solidFill>
            <a:srgbClr val="1E2761"/>
          </a:solidFill>
          <a:ln/>
        </p:spPr>
      </p:sp>
      <p:sp>
        <p:nvSpPr>
          <p:cNvPr id="37" name="Shape 35"/>
          <p:cNvSpPr/>
          <p:nvPr/>
        </p:nvSpPr>
        <p:spPr>
          <a:xfrm>
            <a:off x="10472623" y="2603297"/>
            <a:ext cx="64008" cy="64008"/>
          </a:xfrm>
          <a:prstGeom prst="ellipse">
            <a:avLst/>
          </a:prstGeom>
          <a:solidFill>
            <a:srgbClr val="1E2761"/>
          </a:solidFill>
          <a:ln/>
        </p:spPr>
      </p:sp>
      <p:sp>
        <p:nvSpPr>
          <p:cNvPr id="38" name="Shape 36"/>
          <p:cNvSpPr/>
          <p:nvPr/>
        </p:nvSpPr>
        <p:spPr>
          <a:xfrm>
            <a:off x="10787177" y="2120494"/>
            <a:ext cx="64008" cy="64008"/>
          </a:xfrm>
          <a:prstGeom prst="ellipse">
            <a:avLst/>
          </a:prstGeom>
          <a:solidFill>
            <a:srgbClr val="1E2761"/>
          </a:solidFill>
          <a:ln/>
        </p:spPr>
      </p:sp>
      <p:sp>
        <p:nvSpPr>
          <p:cNvPr id="39" name="Shape 37"/>
          <p:cNvSpPr/>
          <p:nvPr/>
        </p:nvSpPr>
        <p:spPr>
          <a:xfrm>
            <a:off x="10944454" y="3005633"/>
            <a:ext cx="64008" cy="64008"/>
          </a:xfrm>
          <a:prstGeom prst="ellipse">
            <a:avLst/>
          </a:prstGeom>
          <a:solidFill>
            <a:srgbClr val="1E2761"/>
          </a:solidFill>
          <a:ln/>
        </p:spPr>
      </p:sp>
      <p:sp>
        <p:nvSpPr>
          <p:cNvPr id="40" name="Shape 38"/>
          <p:cNvSpPr/>
          <p:nvPr/>
        </p:nvSpPr>
        <p:spPr>
          <a:xfrm>
            <a:off x="8302752" y="3520440"/>
            <a:ext cx="3145536" cy="0"/>
          </a:xfrm>
          <a:prstGeom prst="line">
            <a:avLst/>
          </a:prstGeom>
          <a:noFill/>
          <a:ln w="12700">
            <a:solidFill>
              <a:srgbClr val="5B6B8C"/>
            </a:solidFill>
            <a:prstDash val="solid"/>
          </a:ln>
        </p:spPr>
      </p:sp>
      <p:sp>
        <p:nvSpPr>
          <p:cNvPr id="41" name="Shape 39"/>
          <p:cNvSpPr/>
          <p:nvPr/>
        </p:nvSpPr>
        <p:spPr>
          <a:xfrm>
            <a:off x="8302752" y="1911096"/>
            <a:ext cx="0" cy="1609344"/>
          </a:xfrm>
          <a:prstGeom prst="line">
            <a:avLst/>
          </a:prstGeom>
          <a:noFill/>
          <a:ln w="12700">
            <a:solidFill>
              <a:srgbClr val="5B6B8C"/>
            </a:solidFill>
            <a:prstDash val="solid"/>
          </a:ln>
        </p:spPr>
      </p:sp>
      <p:sp>
        <p:nvSpPr>
          <p:cNvPr id="42" name="Text 40"/>
          <p:cNvSpPr txBox="1"/>
          <p:nvPr/>
        </p:nvSpPr>
        <p:spPr>
          <a:xfrm>
            <a:off x="8138160" y="3849624"/>
            <a:ext cx="34747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None</a:t>
            </a:r>
            <a:endParaRPr lang="en-US" sz="2000" dirty="0"/>
          </a:p>
        </p:txBody>
      </p:sp>
      <p:sp>
        <p:nvSpPr>
          <p:cNvPr id="43" name="Text 41"/>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Positive: as x increases, y tends to increase (upward trend)</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Negative: as x increases, y tends to decrease (downward trend)</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Strength: tighter clustering around a line = stronger relationship</a:t>
            </a:r>
            <a:endParaRPr lang="en-US" sz="2000" dirty="0"/>
          </a:p>
        </p:txBody>
      </p:sp>
      <p:sp>
        <p:nvSpPr>
          <p:cNvPr id="44" name="Text 42"/>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45" name="Text 43"/>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17</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WARNING</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Correlation Is Not Causation</a:t>
            </a:r>
            <a:endParaRPr lang="en-US" sz="3600" dirty="0"/>
          </a:p>
        </p:txBody>
      </p:sp>
      <p:sp>
        <p:nvSpPr>
          <p:cNvPr id="4" name="Shape 2"/>
          <p:cNvSpPr/>
          <p:nvPr/>
        </p:nvSpPr>
        <p:spPr>
          <a:xfrm>
            <a:off x="548640" y="1737360"/>
            <a:ext cx="3444240" cy="1737360"/>
          </a:xfrm>
          <a:prstGeom prst="roundRect">
            <a:avLst>
              <a:gd name="adj" fmla="val 5263"/>
            </a:avLst>
          </a:prstGeom>
          <a:solidFill>
            <a:srgbClr val="E7EEFC"/>
          </a:solidFill>
          <a:ln/>
        </p:spPr>
      </p:sp>
      <p:sp>
        <p:nvSpPr>
          <p:cNvPr id="5" name="Shape 3"/>
          <p:cNvSpPr/>
          <p:nvPr/>
        </p:nvSpPr>
        <p:spPr>
          <a:xfrm>
            <a:off x="18135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1932432" y="2057400"/>
            <a:ext cx="676656" cy="676656"/>
          </a:xfrm>
          <a:prstGeom prst="rect">
            <a:avLst/>
          </a:prstGeom>
        </p:spPr>
      </p:pic>
      <p:sp>
        <p:nvSpPr>
          <p:cNvPr id="7" name="Text 4"/>
          <p:cNvSpPr txBox="1"/>
          <p:nvPr/>
        </p:nvSpPr>
        <p:spPr>
          <a:xfrm>
            <a:off x="64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Ice cream sales rise</a:t>
            </a:r>
            <a:endParaRPr lang="en-US" sz="2000" dirty="0"/>
          </a:p>
        </p:txBody>
      </p:sp>
      <p:sp>
        <p:nvSpPr>
          <p:cNvPr id="8" name="Shape 5"/>
          <p:cNvSpPr/>
          <p:nvPr/>
        </p:nvSpPr>
        <p:spPr>
          <a:xfrm>
            <a:off x="4358640" y="1737360"/>
            <a:ext cx="3444240" cy="1737360"/>
          </a:xfrm>
          <a:prstGeom prst="roundRect">
            <a:avLst>
              <a:gd name="adj" fmla="val 5263"/>
            </a:avLst>
          </a:prstGeom>
          <a:solidFill>
            <a:srgbClr val="E7EEFC"/>
          </a:solidFill>
          <a:ln/>
        </p:spPr>
      </p:sp>
      <p:sp>
        <p:nvSpPr>
          <p:cNvPr id="9" name="Shape 6"/>
          <p:cNvSpPr/>
          <p:nvPr/>
        </p:nvSpPr>
        <p:spPr>
          <a:xfrm>
            <a:off x="56235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5742432" y="2057400"/>
            <a:ext cx="676656" cy="676656"/>
          </a:xfrm>
          <a:prstGeom prst="rect">
            <a:avLst/>
          </a:prstGeom>
        </p:spPr>
      </p:pic>
      <p:sp>
        <p:nvSpPr>
          <p:cNvPr id="11" name="Text 7"/>
          <p:cNvSpPr txBox="1"/>
          <p:nvPr/>
        </p:nvSpPr>
        <p:spPr>
          <a:xfrm>
            <a:off x="445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Hot weather (hidden cause)</a:t>
            </a:r>
            <a:endParaRPr lang="en-US" sz="2000" dirty="0"/>
          </a:p>
        </p:txBody>
      </p:sp>
      <p:sp>
        <p:nvSpPr>
          <p:cNvPr id="12" name="Shape 8"/>
          <p:cNvSpPr/>
          <p:nvPr/>
        </p:nvSpPr>
        <p:spPr>
          <a:xfrm>
            <a:off x="8168640" y="1737360"/>
            <a:ext cx="3444240" cy="1737360"/>
          </a:xfrm>
          <a:prstGeom prst="roundRect">
            <a:avLst>
              <a:gd name="adj" fmla="val 5263"/>
            </a:avLst>
          </a:prstGeom>
          <a:solidFill>
            <a:srgbClr val="E7EEFC"/>
          </a:solidFill>
          <a:ln/>
        </p:spPr>
      </p:sp>
      <p:sp>
        <p:nvSpPr>
          <p:cNvPr id="13" name="Shape 9"/>
          <p:cNvSpPr/>
          <p:nvPr/>
        </p:nvSpPr>
        <p:spPr>
          <a:xfrm>
            <a:off x="9433560" y="1938528"/>
            <a:ext cx="914400" cy="914400"/>
          </a:xfrm>
          <a:prstGeom prst="ellipse">
            <a:avLst/>
          </a:prstGeom>
          <a:solidFill>
            <a:srgbClr val="D4AF37"/>
          </a:solidFill>
          <a:ln/>
        </p:spPr>
      </p:sp>
      <p:pic>
        <p:nvPicPr>
          <p:cNvPr id="14" name="Image 2" descr="preencoded.png"/>
          <p:cNvPicPr>
            <a:picLocks noChangeAspect="1"/>
          </p:cNvPicPr>
          <p:nvPr/>
        </p:nvPicPr>
        <p:blipFill>
          <a:blip r:embed="rId5"/>
          <a:stretch>
            <a:fillRect/>
          </a:stretch>
        </p:blipFill>
        <p:spPr>
          <a:xfrm>
            <a:off x="9552432" y="2057400"/>
            <a:ext cx="676656" cy="676656"/>
          </a:xfrm>
          <a:prstGeom prst="rect">
            <a:avLst/>
          </a:prstGeom>
        </p:spPr>
      </p:pic>
      <p:sp>
        <p:nvSpPr>
          <p:cNvPr id="15" name="Text 10"/>
          <p:cNvSpPr txBox="1"/>
          <p:nvPr/>
        </p:nvSpPr>
        <p:spPr>
          <a:xfrm>
            <a:off x="826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Drowning deaths rise</a:t>
            </a:r>
            <a:endParaRPr lang="en-US" sz="2000" dirty="0"/>
          </a:p>
        </p:txBody>
      </p:sp>
      <p:sp>
        <p:nvSpPr>
          <p:cNvPr id="16" name="Shape 11"/>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7" name="Text 12"/>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A scatterplot can show two variables move together — never proves why</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Both are driven by a third variable — hot weather — not by each other</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Always ask: could a hidden factor explain this pattern?</a:t>
            </a:r>
            <a:endParaRPr lang="en-US" sz="1900" dirty="0"/>
          </a:p>
        </p:txBody>
      </p:sp>
      <p:sp>
        <p:nvSpPr>
          <p:cNvPr id="18"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19"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18</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Reading a Scatterplot</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"Hours studied" vs. "exam score" for 10 students shows a tight upward trend</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a scatterplot with a clear upward cloud of points</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Direction: upward → positive relationship</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Tightness: points close to an imaginary line → strong</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Outliers: one student far below the trend line</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strong positive correlation, with one outlier worth investigating</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19</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FAMOUS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Anscombe's Quartet</a:t>
            </a:r>
            <a:endParaRPr lang="en-US" sz="3600" dirty="0"/>
          </a:p>
        </p:txBody>
      </p:sp>
      <p:sp>
        <p:nvSpPr>
          <p:cNvPr id="4" name="Shape 2"/>
          <p:cNvSpPr/>
          <p:nvPr/>
        </p:nvSpPr>
        <p:spPr>
          <a:xfrm>
            <a:off x="548640" y="1783080"/>
            <a:ext cx="2526030" cy="2011680"/>
          </a:xfrm>
          <a:prstGeom prst="roundRect">
            <a:avLst>
              <a:gd name="adj" fmla="val 2727"/>
            </a:avLst>
          </a:prstGeom>
          <a:solidFill>
            <a:srgbClr val="E7EEFC"/>
          </a:solidFill>
          <a:ln w="12700">
            <a:solidFill>
              <a:srgbClr val="CADCFC"/>
            </a:solidFill>
            <a:prstDash val="solid"/>
          </a:ln>
        </p:spPr>
      </p:sp>
      <p:sp>
        <p:nvSpPr>
          <p:cNvPr id="5" name="Shape 3"/>
          <p:cNvSpPr/>
          <p:nvPr/>
        </p:nvSpPr>
        <p:spPr>
          <a:xfrm>
            <a:off x="900913" y="3247034"/>
            <a:ext cx="64008" cy="64008"/>
          </a:xfrm>
          <a:prstGeom prst="ellipse">
            <a:avLst/>
          </a:prstGeom>
          <a:solidFill>
            <a:srgbClr val="1E2761"/>
          </a:solidFill>
          <a:ln/>
        </p:spPr>
      </p:sp>
      <p:sp>
        <p:nvSpPr>
          <p:cNvPr id="6" name="Shape 4"/>
          <p:cNvSpPr/>
          <p:nvPr/>
        </p:nvSpPr>
        <p:spPr>
          <a:xfrm>
            <a:off x="1120597" y="3086100"/>
            <a:ext cx="64008" cy="64008"/>
          </a:xfrm>
          <a:prstGeom prst="ellipse">
            <a:avLst/>
          </a:prstGeom>
          <a:solidFill>
            <a:srgbClr val="1E2761"/>
          </a:solidFill>
          <a:ln/>
        </p:spPr>
      </p:sp>
      <p:sp>
        <p:nvSpPr>
          <p:cNvPr id="7" name="Shape 5"/>
          <p:cNvSpPr/>
          <p:nvPr/>
        </p:nvSpPr>
        <p:spPr>
          <a:xfrm>
            <a:off x="1450124" y="2876885"/>
            <a:ext cx="64008" cy="64008"/>
          </a:xfrm>
          <a:prstGeom prst="ellipse">
            <a:avLst/>
          </a:prstGeom>
          <a:solidFill>
            <a:srgbClr val="1E2761"/>
          </a:solidFill>
          <a:ln/>
        </p:spPr>
      </p:sp>
      <p:sp>
        <p:nvSpPr>
          <p:cNvPr id="8" name="Shape 6"/>
          <p:cNvSpPr/>
          <p:nvPr/>
        </p:nvSpPr>
        <p:spPr>
          <a:xfrm>
            <a:off x="1669809" y="2683764"/>
            <a:ext cx="64008" cy="64008"/>
          </a:xfrm>
          <a:prstGeom prst="ellipse">
            <a:avLst/>
          </a:prstGeom>
          <a:solidFill>
            <a:srgbClr val="1E2761"/>
          </a:solidFill>
          <a:ln/>
        </p:spPr>
      </p:sp>
      <p:sp>
        <p:nvSpPr>
          <p:cNvPr id="9" name="Shape 7"/>
          <p:cNvSpPr/>
          <p:nvPr/>
        </p:nvSpPr>
        <p:spPr>
          <a:xfrm>
            <a:off x="1889493" y="2555016"/>
            <a:ext cx="64008" cy="64008"/>
          </a:xfrm>
          <a:prstGeom prst="ellipse">
            <a:avLst/>
          </a:prstGeom>
          <a:solidFill>
            <a:srgbClr val="1E2761"/>
          </a:solidFill>
          <a:ln/>
        </p:spPr>
      </p:sp>
      <p:sp>
        <p:nvSpPr>
          <p:cNvPr id="10" name="Shape 8"/>
          <p:cNvSpPr/>
          <p:nvPr/>
        </p:nvSpPr>
        <p:spPr>
          <a:xfrm>
            <a:off x="2109178" y="2394082"/>
            <a:ext cx="64008" cy="64008"/>
          </a:xfrm>
          <a:prstGeom prst="ellipse">
            <a:avLst/>
          </a:prstGeom>
          <a:solidFill>
            <a:srgbClr val="1E2761"/>
          </a:solidFill>
          <a:ln/>
        </p:spPr>
      </p:sp>
      <p:sp>
        <p:nvSpPr>
          <p:cNvPr id="11" name="Shape 9"/>
          <p:cNvSpPr/>
          <p:nvPr/>
        </p:nvSpPr>
        <p:spPr>
          <a:xfrm>
            <a:off x="2438705" y="2168774"/>
            <a:ext cx="64008" cy="64008"/>
          </a:xfrm>
          <a:prstGeom prst="ellipse">
            <a:avLst/>
          </a:prstGeom>
          <a:solidFill>
            <a:srgbClr val="1E2761"/>
          </a:solidFill>
          <a:ln/>
        </p:spPr>
      </p:sp>
      <p:sp>
        <p:nvSpPr>
          <p:cNvPr id="12" name="Shape 10"/>
          <p:cNvSpPr/>
          <p:nvPr/>
        </p:nvSpPr>
        <p:spPr>
          <a:xfrm>
            <a:off x="2658389" y="2007840"/>
            <a:ext cx="64008" cy="64008"/>
          </a:xfrm>
          <a:prstGeom prst="ellipse">
            <a:avLst/>
          </a:prstGeom>
          <a:solidFill>
            <a:srgbClr val="1E2761"/>
          </a:solidFill>
          <a:ln/>
        </p:spPr>
      </p:sp>
      <p:sp>
        <p:nvSpPr>
          <p:cNvPr id="13" name="Shape 11"/>
          <p:cNvSpPr/>
          <p:nvPr/>
        </p:nvSpPr>
        <p:spPr>
          <a:xfrm>
            <a:off x="713232" y="3520440"/>
            <a:ext cx="2196846" cy="0"/>
          </a:xfrm>
          <a:prstGeom prst="line">
            <a:avLst/>
          </a:prstGeom>
          <a:noFill/>
          <a:ln w="12700">
            <a:solidFill>
              <a:srgbClr val="5B6B8C"/>
            </a:solidFill>
            <a:prstDash val="solid"/>
          </a:ln>
        </p:spPr>
      </p:sp>
      <p:sp>
        <p:nvSpPr>
          <p:cNvPr id="14" name="Shape 12"/>
          <p:cNvSpPr/>
          <p:nvPr/>
        </p:nvSpPr>
        <p:spPr>
          <a:xfrm>
            <a:off x="713232" y="1911096"/>
            <a:ext cx="0" cy="1609344"/>
          </a:xfrm>
          <a:prstGeom prst="line">
            <a:avLst/>
          </a:prstGeom>
          <a:noFill/>
          <a:ln w="12700">
            <a:solidFill>
              <a:srgbClr val="5B6B8C"/>
            </a:solidFill>
            <a:prstDash val="solid"/>
          </a:ln>
        </p:spPr>
      </p:sp>
      <p:sp>
        <p:nvSpPr>
          <p:cNvPr id="15" name="Text 13"/>
          <p:cNvSpPr txBox="1"/>
          <p:nvPr/>
        </p:nvSpPr>
        <p:spPr>
          <a:xfrm>
            <a:off x="54864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 Linear</a:t>
            </a:r>
            <a:endParaRPr lang="en-US" sz="2000" dirty="0"/>
          </a:p>
        </p:txBody>
      </p:sp>
      <p:sp>
        <p:nvSpPr>
          <p:cNvPr id="16" name="Shape 14"/>
          <p:cNvSpPr/>
          <p:nvPr/>
        </p:nvSpPr>
        <p:spPr>
          <a:xfrm>
            <a:off x="3394710" y="1783080"/>
            <a:ext cx="2526030" cy="2011680"/>
          </a:xfrm>
          <a:prstGeom prst="roundRect">
            <a:avLst>
              <a:gd name="adj" fmla="val 2727"/>
            </a:avLst>
          </a:prstGeom>
          <a:solidFill>
            <a:srgbClr val="E7EEFC"/>
          </a:solidFill>
          <a:ln w="12700">
            <a:solidFill>
              <a:srgbClr val="CADCFC"/>
            </a:solidFill>
            <a:prstDash val="solid"/>
          </a:ln>
        </p:spPr>
      </p:sp>
      <p:sp>
        <p:nvSpPr>
          <p:cNvPr id="17" name="Shape 15"/>
          <p:cNvSpPr/>
          <p:nvPr/>
        </p:nvSpPr>
        <p:spPr>
          <a:xfrm>
            <a:off x="3746983" y="3005633"/>
            <a:ext cx="64008" cy="64008"/>
          </a:xfrm>
          <a:prstGeom prst="ellipse">
            <a:avLst/>
          </a:prstGeom>
          <a:solidFill>
            <a:srgbClr val="1E2761"/>
          </a:solidFill>
          <a:ln/>
        </p:spPr>
      </p:sp>
      <p:sp>
        <p:nvSpPr>
          <p:cNvPr id="18" name="Shape 16"/>
          <p:cNvSpPr/>
          <p:nvPr/>
        </p:nvSpPr>
        <p:spPr>
          <a:xfrm>
            <a:off x="3966667" y="2651577"/>
            <a:ext cx="64008" cy="64008"/>
          </a:xfrm>
          <a:prstGeom prst="ellipse">
            <a:avLst/>
          </a:prstGeom>
          <a:solidFill>
            <a:srgbClr val="1E2761"/>
          </a:solidFill>
          <a:ln/>
        </p:spPr>
      </p:sp>
      <p:sp>
        <p:nvSpPr>
          <p:cNvPr id="19" name="Shape 17"/>
          <p:cNvSpPr/>
          <p:nvPr/>
        </p:nvSpPr>
        <p:spPr>
          <a:xfrm>
            <a:off x="4296194" y="2361895"/>
            <a:ext cx="64008" cy="64008"/>
          </a:xfrm>
          <a:prstGeom prst="ellipse">
            <a:avLst/>
          </a:prstGeom>
          <a:solidFill>
            <a:srgbClr val="1E2761"/>
          </a:solidFill>
          <a:ln/>
        </p:spPr>
      </p:sp>
      <p:sp>
        <p:nvSpPr>
          <p:cNvPr id="20" name="Shape 18"/>
          <p:cNvSpPr/>
          <p:nvPr/>
        </p:nvSpPr>
        <p:spPr>
          <a:xfrm>
            <a:off x="4625721" y="2200961"/>
            <a:ext cx="64008" cy="64008"/>
          </a:xfrm>
          <a:prstGeom prst="ellipse">
            <a:avLst/>
          </a:prstGeom>
          <a:solidFill>
            <a:srgbClr val="1E2761"/>
          </a:solidFill>
          <a:ln/>
        </p:spPr>
      </p:sp>
      <p:sp>
        <p:nvSpPr>
          <p:cNvPr id="21" name="Shape 19"/>
          <p:cNvSpPr/>
          <p:nvPr/>
        </p:nvSpPr>
        <p:spPr>
          <a:xfrm>
            <a:off x="4955248" y="2281428"/>
            <a:ext cx="64008" cy="64008"/>
          </a:xfrm>
          <a:prstGeom prst="ellipse">
            <a:avLst/>
          </a:prstGeom>
          <a:solidFill>
            <a:srgbClr val="1E2761"/>
          </a:solidFill>
          <a:ln/>
        </p:spPr>
      </p:sp>
      <p:sp>
        <p:nvSpPr>
          <p:cNvPr id="22" name="Shape 20"/>
          <p:cNvSpPr/>
          <p:nvPr/>
        </p:nvSpPr>
        <p:spPr>
          <a:xfrm>
            <a:off x="5284775" y="2603297"/>
            <a:ext cx="64008" cy="64008"/>
          </a:xfrm>
          <a:prstGeom prst="ellipse">
            <a:avLst/>
          </a:prstGeom>
          <a:solidFill>
            <a:srgbClr val="1E2761"/>
          </a:solidFill>
          <a:ln/>
        </p:spPr>
      </p:sp>
      <p:sp>
        <p:nvSpPr>
          <p:cNvPr id="23" name="Shape 21"/>
          <p:cNvSpPr/>
          <p:nvPr/>
        </p:nvSpPr>
        <p:spPr>
          <a:xfrm>
            <a:off x="5504459" y="3005633"/>
            <a:ext cx="64008" cy="64008"/>
          </a:xfrm>
          <a:prstGeom prst="ellipse">
            <a:avLst/>
          </a:prstGeom>
          <a:solidFill>
            <a:srgbClr val="1E2761"/>
          </a:solidFill>
          <a:ln/>
        </p:spPr>
      </p:sp>
      <p:sp>
        <p:nvSpPr>
          <p:cNvPr id="24" name="Shape 22"/>
          <p:cNvSpPr/>
          <p:nvPr/>
        </p:nvSpPr>
        <p:spPr>
          <a:xfrm>
            <a:off x="3559302" y="3520440"/>
            <a:ext cx="2196846" cy="0"/>
          </a:xfrm>
          <a:prstGeom prst="line">
            <a:avLst/>
          </a:prstGeom>
          <a:noFill/>
          <a:ln w="12700">
            <a:solidFill>
              <a:srgbClr val="5B6B8C"/>
            </a:solidFill>
            <a:prstDash val="solid"/>
          </a:ln>
        </p:spPr>
      </p:sp>
      <p:sp>
        <p:nvSpPr>
          <p:cNvPr id="25" name="Shape 23"/>
          <p:cNvSpPr/>
          <p:nvPr/>
        </p:nvSpPr>
        <p:spPr>
          <a:xfrm>
            <a:off x="3559302" y="1911096"/>
            <a:ext cx="0" cy="1609344"/>
          </a:xfrm>
          <a:prstGeom prst="line">
            <a:avLst/>
          </a:prstGeom>
          <a:noFill/>
          <a:ln w="12700">
            <a:solidFill>
              <a:srgbClr val="5B6B8C"/>
            </a:solidFill>
            <a:prstDash val="solid"/>
          </a:ln>
        </p:spPr>
      </p:sp>
      <p:sp>
        <p:nvSpPr>
          <p:cNvPr id="26" name="Text 24"/>
          <p:cNvSpPr txBox="1"/>
          <p:nvPr/>
        </p:nvSpPr>
        <p:spPr>
          <a:xfrm>
            <a:off x="339471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II: Curved</a:t>
            </a:r>
            <a:endParaRPr lang="en-US" sz="2000" dirty="0"/>
          </a:p>
        </p:txBody>
      </p:sp>
      <p:sp>
        <p:nvSpPr>
          <p:cNvPr id="27" name="Shape 25"/>
          <p:cNvSpPr/>
          <p:nvPr/>
        </p:nvSpPr>
        <p:spPr>
          <a:xfrm>
            <a:off x="6240780" y="1783080"/>
            <a:ext cx="2526030" cy="2011680"/>
          </a:xfrm>
          <a:prstGeom prst="roundRect">
            <a:avLst>
              <a:gd name="adj" fmla="val 2727"/>
            </a:avLst>
          </a:prstGeom>
          <a:solidFill>
            <a:srgbClr val="E7EEFC"/>
          </a:solidFill>
          <a:ln w="12700">
            <a:solidFill>
              <a:srgbClr val="CADCFC"/>
            </a:solidFill>
            <a:prstDash val="solid"/>
          </a:ln>
        </p:spPr>
      </p:sp>
      <p:sp>
        <p:nvSpPr>
          <p:cNvPr id="28" name="Shape 26"/>
          <p:cNvSpPr/>
          <p:nvPr/>
        </p:nvSpPr>
        <p:spPr>
          <a:xfrm>
            <a:off x="6593053" y="3166567"/>
            <a:ext cx="64008" cy="64008"/>
          </a:xfrm>
          <a:prstGeom prst="ellipse">
            <a:avLst/>
          </a:prstGeom>
          <a:solidFill>
            <a:srgbClr val="1E2761"/>
          </a:solidFill>
          <a:ln/>
        </p:spPr>
      </p:sp>
      <p:sp>
        <p:nvSpPr>
          <p:cNvPr id="29" name="Shape 27"/>
          <p:cNvSpPr/>
          <p:nvPr/>
        </p:nvSpPr>
        <p:spPr>
          <a:xfrm>
            <a:off x="6812737" y="3005633"/>
            <a:ext cx="64008" cy="64008"/>
          </a:xfrm>
          <a:prstGeom prst="ellipse">
            <a:avLst/>
          </a:prstGeom>
          <a:solidFill>
            <a:srgbClr val="1E2761"/>
          </a:solidFill>
          <a:ln/>
        </p:spPr>
      </p:sp>
      <p:sp>
        <p:nvSpPr>
          <p:cNvPr id="30" name="Shape 28"/>
          <p:cNvSpPr/>
          <p:nvPr/>
        </p:nvSpPr>
        <p:spPr>
          <a:xfrm>
            <a:off x="7032422" y="2876885"/>
            <a:ext cx="64008" cy="64008"/>
          </a:xfrm>
          <a:prstGeom prst="ellipse">
            <a:avLst/>
          </a:prstGeom>
          <a:solidFill>
            <a:srgbClr val="1E2761"/>
          </a:solidFill>
          <a:ln/>
        </p:spPr>
      </p:sp>
      <p:sp>
        <p:nvSpPr>
          <p:cNvPr id="31" name="Shape 29"/>
          <p:cNvSpPr/>
          <p:nvPr/>
        </p:nvSpPr>
        <p:spPr>
          <a:xfrm>
            <a:off x="7252106" y="2764231"/>
            <a:ext cx="64008" cy="64008"/>
          </a:xfrm>
          <a:prstGeom prst="ellipse">
            <a:avLst/>
          </a:prstGeom>
          <a:solidFill>
            <a:srgbClr val="1E2761"/>
          </a:solidFill>
          <a:ln/>
        </p:spPr>
      </p:sp>
      <p:sp>
        <p:nvSpPr>
          <p:cNvPr id="32" name="Shape 30"/>
          <p:cNvSpPr/>
          <p:nvPr/>
        </p:nvSpPr>
        <p:spPr>
          <a:xfrm>
            <a:off x="7471791" y="2651577"/>
            <a:ext cx="64008" cy="64008"/>
          </a:xfrm>
          <a:prstGeom prst="ellipse">
            <a:avLst/>
          </a:prstGeom>
          <a:solidFill>
            <a:srgbClr val="1E2761"/>
          </a:solidFill>
          <a:ln/>
        </p:spPr>
      </p:sp>
      <p:sp>
        <p:nvSpPr>
          <p:cNvPr id="33" name="Shape 31"/>
          <p:cNvSpPr/>
          <p:nvPr/>
        </p:nvSpPr>
        <p:spPr>
          <a:xfrm>
            <a:off x="7691476" y="2522830"/>
            <a:ext cx="64008" cy="64008"/>
          </a:xfrm>
          <a:prstGeom prst="ellipse">
            <a:avLst/>
          </a:prstGeom>
          <a:solidFill>
            <a:srgbClr val="1E2761"/>
          </a:solidFill>
          <a:ln/>
        </p:spPr>
      </p:sp>
      <p:sp>
        <p:nvSpPr>
          <p:cNvPr id="34" name="Shape 32"/>
          <p:cNvSpPr/>
          <p:nvPr/>
        </p:nvSpPr>
        <p:spPr>
          <a:xfrm>
            <a:off x="7911160" y="2394082"/>
            <a:ext cx="64008" cy="64008"/>
          </a:xfrm>
          <a:prstGeom prst="ellipse">
            <a:avLst/>
          </a:prstGeom>
          <a:solidFill>
            <a:srgbClr val="1E2761"/>
          </a:solidFill>
          <a:ln/>
        </p:spPr>
      </p:sp>
      <p:sp>
        <p:nvSpPr>
          <p:cNvPr id="35" name="Shape 33"/>
          <p:cNvSpPr/>
          <p:nvPr/>
        </p:nvSpPr>
        <p:spPr>
          <a:xfrm>
            <a:off x="7471791" y="1959559"/>
            <a:ext cx="64008" cy="64008"/>
          </a:xfrm>
          <a:prstGeom prst="ellipse">
            <a:avLst/>
          </a:prstGeom>
          <a:solidFill>
            <a:srgbClr val="1E2761"/>
          </a:solidFill>
          <a:ln/>
        </p:spPr>
      </p:sp>
      <p:sp>
        <p:nvSpPr>
          <p:cNvPr id="36" name="Shape 34"/>
          <p:cNvSpPr/>
          <p:nvPr/>
        </p:nvSpPr>
        <p:spPr>
          <a:xfrm>
            <a:off x="6405372" y="3520440"/>
            <a:ext cx="2196846" cy="0"/>
          </a:xfrm>
          <a:prstGeom prst="line">
            <a:avLst/>
          </a:prstGeom>
          <a:noFill/>
          <a:ln w="12700">
            <a:solidFill>
              <a:srgbClr val="5B6B8C"/>
            </a:solidFill>
            <a:prstDash val="solid"/>
          </a:ln>
        </p:spPr>
      </p:sp>
      <p:sp>
        <p:nvSpPr>
          <p:cNvPr id="37" name="Shape 35"/>
          <p:cNvSpPr/>
          <p:nvPr/>
        </p:nvSpPr>
        <p:spPr>
          <a:xfrm>
            <a:off x="6405372" y="1911096"/>
            <a:ext cx="0" cy="1609344"/>
          </a:xfrm>
          <a:prstGeom prst="line">
            <a:avLst/>
          </a:prstGeom>
          <a:noFill/>
          <a:ln w="12700">
            <a:solidFill>
              <a:srgbClr val="5B6B8C"/>
            </a:solidFill>
            <a:prstDash val="solid"/>
          </a:ln>
        </p:spPr>
      </p:sp>
      <p:sp>
        <p:nvSpPr>
          <p:cNvPr id="38" name="Text 36"/>
          <p:cNvSpPr txBox="1"/>
          <p:nvPr/>
        </p:nvSpPr>
        <p:spPr>
          <a:xfrm>
            <a:off x="624078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III: Outlier</a:t>
            </a:r>
            <a:endParaRPr lang="en-US" sz="2000" dirty="0"/>
          </a:p>
        </p:txBody>
      </p:sp>
      <p:sp>
        <p:nvSpPr>
          <p:cNvPr id="39" name="Shape 37"/>
          <p:cNvSpPr/>
          <p:nvPr/>
        </p:nvSpPr>
        <p:spPr>
          <a:xfrm>
            <a:off x="9086850" y="1783080"/>
            <a:ext cx="2526030" cy="2011680"/>
          </a:xfrm>
          <a:prstGeom prst="roundRect">
            <a:avLst>
              <a:gd name="adj" fmla="val 2727"/>
            </a:avLst>
          </a:prstGeom>
          <a:solidFill>
            <a:srgbClr val="E7EEFC"/>
          </a:solidFill>
          <a:ln w="12700">
            <a:solidFill>
              <a:srgbClr val="CADCFC"/>
            </a:solidFill>
            <a:prstDash val="solid"/>
          </a:ln>
        </p:spPr>
      </p:sp>
      <p:sp>
        <p:nvSpPr>
          <p:cNvPr id="40" name="Shape 38"/>
          <p:cNvSpPr/>
          <p:nvPr/>
        </p:nvSpPr>
        <p:spPr>
          <a:xfrm>
            <a:off x="10317861" y="3327502"/>
            <a:ext cx="64008" cy="64008"/>
          </a:xfrm>
          <a:prstGeom prst="ellipse">
            <a:avLst/>
          </a:prstGeom>
          <a:solidFill>
            <a:srgbClr val="1E2761"/>
          </a:solidFill>
          <a:ln/>
        </p:spPr>
      </p:sp>
      <p:sp>
        <p:nvSpPr>
          <p:cNvPr id="41" name="Shape 39"/>
          <p:cNvSpPr/>
          <p:nvPr/>
        </p:nvSpPr>
        <p:spPr>
          <a:xfrm>
            <a:off x="10317861" y="3086100"/>
            <a:ext cx="64008" cy="64008"/>
          </a:xfrm>
          <a:prstGeom prst="ellipse">
            <a:avLst/>
          </a:prstGeom>
          <a:solidFill>
            <a:srgbClr val="1E2761"/>
          </a:solidFill>
          <a:ln/>
        </p:spPr>
      </p:sp>
      <p:sp>
        <p:nvSpPr>
          <p:cNvPr id="42" name="Shape 40"/>
          <p:cNvSpPr/>
          <p:nvPr/>
        </p:nvSpPr>
        <p:spPr>
          <a:xfrm>
            <a:off x="10317861" y="2844698"/>
            <a:ext cx="64008" cy="64008"/>
          </a:xfrm>
          <a:prstGeom prst="ellipse">
            <a:avLst/>
          </a:prstGeom>
          <a:solidFill>
            <a:srgbClr val="1E2761"/>
          </a:solidFill>
          <a:ln/>
        </p:spPr>
      </p:sp>
      <p:sp>
        <p:nvSpPr>
          <p:cNvPr id="43" name="Shape 41"/>
          <p:cNvSpPr/>
          <p:nvPr/>
        </p:nvSpPr>
        <p:spPr>
          <a:xfrm>
            <a:off x="10317861" y="2683764"/>
            <a:ext cx="64008" cy="64008"/>
          </a:xfrm>
          <a:prstGeom prst="ellipse">
            <a:avLst/>
          </a:prstGeom>
          <a:solidFill>
            <a:srgbClr val="1E2761"/>
          </a:solidFill>
          <a:ln/>
        </p:spPr>
      </p:sp>
      <p:sp>
        <p:nvSpPr>
          <p:cNvPr id="44" name="Shape 42"/>
          <p:cNvSpPr/>
          <p:nvPr/>
        </p:nvSpPr>
        <p:spPr>
          <a:xfrm>
            <a:off x="10317861" y="2522830"/>
            <a:ext cx="64008" cy="64008"/>
          </a:xfrm>
          <a:prstGeom prst="ellipse">
            <a:avLst/>
          </a:prstGeom>
          <a:solidFill>
            <a:srgbClr val="1E2761"/>
          </a:solidFill>
          <a:ln/>
        </p:spPr>
      </p:sp>
      <p:sp>
        <p:nvSpPr>
          <p:cNvPr id="45" name="Shape 43"/>
          <p:cNvSpPr/>
          <p:nvPr/>
        </p:nvSpPr>
        <p:spPr>
          <a:xfrm>
            <a:off x="10317861" y="2281428"/>
            <a:ext cx="64008" cy="64008"/>
          </a:xfrm>
          <a:prstGeom prst="ellipse">
            <a:avLst/>
          </a:prstGeom>
          <a:solidFill>
            <a:srgbClr val="1E2761"/>
          </a:solidFill>
          <a:ln/>
        </p:spPr>
      </p:sp>
      <p:sp>
        <p:nvSpPr>
          <p:cNvPr id="46" name="Shape 44"/>
          <p:cNvSpPr/>
          <p:nvPr/>
        </p:nvSpPr>
        <p:spPr>
          <a:xfrm>
            <a:off x="10317861" y="2120494"/>
            <a:ext cx="64008" cy="64008"/>
          </a:xfrm>
          <a:prstGeom prst="ellipse">
            <a:avLst/>
          </a:prstGeom>
          <a:solidFill>
            <a:srgbClr val="1E2761"/>
          </a:solidFill>
          <a:ln/>
        </p:spPr>
      </p:sp>
      <p:sp>
        <p:nvSpPr>
          <p:cNvPr id="47" name="Shape 45"/>
          <p:cNvSpPr/>
          <p:nvPr/>
        </p:nvSpPr>
        <p:spPr>
          <a:xfrm>
            <a:off x="11240536" y="2040026"/>
            <a:ext cx="64008" cy="64008"/>
          </a:xfrm>
          <a:prstGeom prst="ellipse">
            <a:avLst/>
          </a:prstGeom>
          <a:solidFill>
            <a:srgbClr val="1E2761"/>
          </a:solidFill>
          <a:ln/>
        </p:spPr>
      </p:sp>
      <p:sp>
        <p:nvSpPr>
          <p:cNvPr id="48" name="Shape 46"/>
          <p:cNvSpPr/>
          <p:nvPr/>
        </p:nvSpPr>
        <p:spPr>
          <a:xfrm>
            <a:off x="9251442" y="3520440"/>
            <a:ext cx="2196846" cy="0"/>
          </a:xfrm>
          <a:prstGeom prst="line">
            <a:avLst/>
          </a:prstGeom>
          <a:noFill/>
          <a:ln w="12700">
            <a:solidFill>
              <a:srgbClr val="5B6B8C"/>
            </a:solidFill>
            <a:prstDash val="solid"/>
          </a:ln>
        </p:spPr>
      </p:sp>
      <p:sp>
        <p:nvSpPr>
          <p:cNvPr id="49" name="Shape 47"/>
          <p:cNvSpPr/>
          <p:nvPr/>
        </p:nvSpPr>
        <p:spPr>
          <a:xfrm>
            <a:off x="9251442" y="1911096"/>
            <a:ext cx="0" cy="1609344"/>
          </a:xfrm>
          <a:prstGeom prst="line">
            <a:avLst/>
          </a:prstGeom>
          <a:noFill/>
          <a:ln w="12700">
            <a:solidFill>
              <a:srgbClr val="5B6B8C"/>
            </a:solidFill>
            <a:prstDash val="solid"/>
          </a:ln>
        </p:spPr>
      </p:sp>
      <p:sp>
        <p:nvSpPr>
          <p:cNvPr id="50" name="Text 48"/>
          <p:cNvSpPr txBox="1"/>
          <p:nvPr/>
        </p:nvSpPr>
        <p:spPr>
          <a:xfrm>
            <a:off x="9086850" y="3849624"/>
            <a:ext cx="252603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IV: Near-vertical</a:t>
            </a:r>
            <a:endParaRPr lang="en-US" sz="2000" dirty="0"/>
          </a:p>
        </p:txBody>
      </p:sp>
      <p:sp>
        <p:nvSpPr>
          <p:cNvPr id="51" name="Text 49"/>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Four datasets, nearly identical mean, variance, and correlation</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Yet they look completely different when plotted</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Proves: never trust summary statistics alone — always plot your data</a:t>
            </a:r>
            <a:endParaRPr lang="en-US" sz="2000" dirty="0"/>
          </a:p>
        </p:txBody>
      </p:sp>
      <p:sp>
        <p:nvSpPr>
          <p:cNvPr id="52" name="Text 50"/>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53" name="Text 51"/>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20</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DECISION CHECKLIST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Choosing the Right Chart</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One variable, full shape and distribution? → Histogram</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One variable, quick summary and outlier check? → Boxplot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Comparing that variable across several groups? → Boxplot (side by side)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Two variables, want to see their relationship? → Scatterplot</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21</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REAL-WORLD</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E-Commerce Data</a:t>
            </a:r>
            <a:endParaRPr lang="en-US" sz="3600" dirty="0"/>
          </a:p>
        </p:txBody>
      </p:sp>
      <p:sp>
        <p:nvSpPr>
          <p:cNvPr id="4" name="Shape 2"/>
          <p:cNvSpPr/>
          <p:nvPr/>
        </p:nvSpPr>
        <p:spPr>
          <a:xfrm>
            <a:off x="548640" y="1737360"/>
            <a:ext cx="3444240" cy="1737360"/>
          </a:xfrm>
          <a:prstGeom prst="roundRect">
            <a:avLst>
              <a:gd name="adj" fmla="val 5263"/>
            </a:avLst>
          </a:prstGeom>
          <a:solidFill>
            <a:srgbClr val="E7EEFC"/>
          </a:solidFill>
          <a:ln/>
        </p:spPr>
      </p:sp>
      <p:sp>
        <p:nvSpPr>
          <p:cNvPr id="5" name="Shape 3"/>
          <p:cNvSpPr/>
          <p:nvPr/>
        </p:nvSpPr>
        <p:spPr>
          <a:xfrm>
            <a:off x="18135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1932432" y="2057400"/>
            <a:ext cx="676656" cy="676656"/>
          </a:xfrm>
          <a:prstGeom prst="rect">
            <a:avLst/>
          </a:prstGeom>
        </p:spPr>
      </p:pic>
      <p:sp>
        <p:nvSpPr>
          <p:cNvPr id="7" name="Text 4"/>
          <p:cNvSpPr txBox="1"/>
          <p:nvPr/>
        </p:nvSpPr>
        <p:spPr>
          <a:xfrm>
            <a:off x="64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Histogram — order values</a:t>
            </a:r>
            <a:endParaRPr lang="en-US" sz="2000" dirty="0"/>
          </a:p>
        </p:txBody>
      </p:sp>
      <p:sp>
        <p:nvSpPr>
          <p:cNvPr id="8" name="Shape 5"/>
          <p:cNvSpPr/>
          <p:nvPr/>
        </p:nvSpPr>
        <p:spPr>
          <a:xfrm>
            <a:off x="4358640" y="1737360"/>
            <a:ext cx="3444240" cy="1737360"/>
          </a:xfrm>
          <a:prstGeom prst="roundRect">
            <a:avLst>
              <a:gd name="adj" fmla="val 5263"/>
            </a:avLst>
          </a:prstGeom>
          <a:solidFill>
            <a:srgbClr val="E7EEFC"/>
          </a:solidFill>
          <a:ln/>
        </p:spPr>
      </p:sp>
      <p:sp>
        <p:nvSpPr>
          <p:cNvPr id="9" name="Shape 6"/>
          <p:cNvSpPr/>
          <p:nvPr/>
        </p:nvSpPr>
        <p:spPr>
          <a:xfrm>
            <a:off x="56235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5742432" y="2057400"/>
            <a:ext cx="676656" cy="676656"/>
          </a:xfrm>
          <a:prstGeom prst="rect">
            <a:avLst/>
          </a:prstGeom>
        </p:spPr>
      </p:pic>
      <p:sp>
        <p:nvSpPr>
          <p:cNvPr id="11" name="Text 7"/>
          <p:cNvSpPr txBox="1"/>
          <p:nvPr/>
        </p:nvSpPr>
        <p:spPr>
          <a:xfrm>
            <a:off x="445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Boxplot — delivery time by region</a:t>
            </a:r>
            <a:endParaRPr lang="en-US" sz="2000" dirty="0"/>
          </a:p>
        </p:txBody>
      </p:sp>
      <p:sp>
        <p:nvSpPr>
          <p:cNvPr id="12" name="Shape 8"/>
          <p:cNvSpPr/>
          <p:nvPr/>
        </p:nvSpPr>
        <p:spPr>
          <a:xfrm>
            <a:off x="8168640" y="1737360"/>
            <a:ext cx="3444240" cy="1737360"/>
          </a:xfrm>
          <a:prstGeom prst="roundRect">
            <a:avLst>
              <a:gd name="adj" fmla="val 5263"/>
            </a:avLst>
          </a:prstGeom>
          <a:solidFill>
            <a:srgbClr val="E7EEFC"/>
          </a:solidFill>
          <a:ln/>
        </p:spPr>
      </p:sp>
      <p:sp>
        <p:nvSpPr>
          <p:cNvPr id="13" name="Shape 9"/>
          <p:cNvSpPr/>
          <p:nvPr/>
        </p:nvSpPr>
        <p:spPr>
          <a:xfrm>
            <a:off x="9433560" y="1938528"/>
            <a:ext cx="914400" cy="914400"/>
          </a:xfrm>
          <a:prstGeom prst="ellipse">
            <a:avLst/>
          </a:prstGeom>
          <a:solidFill>
            <a:srgbClr val="D4AF37"/>
          </a:solidFill>
          <a:ln/>
        </p:spPr>
      </p:sp>
      <p:pic>
        <p:nvPicPr>
          <p:cNvPr id="14" name="Image 2" descr="preencoded.png"/>
          <p:cNvPicPr>
            <a:picLocks noChangeAspect="1"/>
          </p:cNvPicPr>
          <p:nvPr/>
        </p:nvPicPr>
        <p:blipFill>
          <a:blip r:embed="rId5"/>
          <a:stretch>
            <a:fillRect/>
          </a:stretch>
        </p:blipFill>
        <p:spPr>
          <a:xfrm>
            <a:off x="9552432" y="2057400"/>
            <a:ext cx="676656" cy="676656"/>
          </a:xfrm>
          <a:prstGeom prst="rect">
            <a:avLst/>
          </a:prstGeom>
        </p:spPr>
      </p:pic>
      <p:sp>
        <p:nvSpPr>
          <p:cNvPr id="15" name="Text 10"/>
          <p:cNvSpPr txBox="1"/>
          <p:nvPr/>
        </p:nvSpPr>
        <p:spPr>
          <a:xfrm>
            <a:off x="826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Scatterplot — ad spend vs. sales</a:t>
            </a:r>
            <a:endParaRPr lang="en-US" sz="2000" dirty="0"/>
          </a:p>
        </p:txBody>
      </p:sp>
      <p:sp>
        <p:nvSpPr>
          <p:cNvPr id="16" name="Shape 11"/>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7" name="Text 12"/>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Histogram reveals typical spend and a long tail of big spenders</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Boxplot reveals which region has the worst delivery outliers</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Scatterplot reveals whether marketing spend is actually working</a:t>
            </a:r>
            <a:endParaRPr lang="en-US" sz="1900" dirty="0"/>
          </a:p>
        </p:txBody>
      </p:sp>
      <p:sp>
        <p:nvSpPr>
          <p:cNvPr id="18"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19"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22</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COMMON MISCONCEPTIONS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Myth vs. Fact</a:t>
            </a:r>
            <a:endParaRPr lang="en-US" sz="3600" dirty="0"/>
          </a:p>
        </p:txBody>
      </p:sp>
      <p:sp>
        <p:nvSpPr>
          <p:cNvPr id="4" name="Shape 2"/>
          <p:cNvSpPr/>
          <p:nvPr/>
        </p:nvSpPr>
        <p:spPr>
          <a:xfrm>
            <a:off x="548640" y="1645920"/>
            <a:ext cx="5394960" cy="960120"/>
          </a:xfrm>
          <a:prstGeom prst="roundRect">
            <a:avLst>
              <a:gd name="adj" fmla="val 7619"/>
            </a:avLst>
          </a:prstGeom>
          <a:solidFill>
            <a:srgbClr val="FBEAEA"/>
          </a:solidFill>
          <a:ln/>
        </p:spPr>
      </p:sp>
      <p:sp>
        <p:nvSpPr>
          <p:cNvPr id="5" name="Text 3"/>
          <p:cNvSpPr txBox="1"/>
          <p:nvPr/>
        </p:nvSpPr>
        <p:spPr>
          <a:xfrm>
            <a:off x="731520" y="170078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6" name="Text 4"/>
          <p:cNvSpPr txBox="1"/>
          <p:nvPr/>
        </p:nvSpPr>
        <p:spPr>
          <a:xfrm>
            <a:off x="731520" y="201168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 histogram and a bar chart are the same thing</a:t>
            </a:r>
            <a:endParaRPr lang="en-US" sz="2000" dirty="0"/>
          </a:p>
        </p:txBody>
      </p:sp>
      <p:sp>
        <p:nvSpPr>
          <p:cNvPr id="7" name="Shape 5"/>
          <p:cNvSpPr/>
          <p:nvPr/>
        </p:nvSpPr>
        <p:spPr>
          <a:xfrm>
            <a:off x="6217920" y="1645920"/>
            <a:ext cx="5394960" cy="960120"/>
          </a:xfrm>
          <a:prstGeom prst="roundRect">
            <a:avLst>
              <a:gd name="adj" fmla="val 7619"/>
            </a:avLst>
          </a:prstGeom>
          <a:solidFill>
            <a:srgbClr val="E7F3EC"/>
          </a:solidFill>
          <a:ln/>
        </p:spPr>
      </p:sp>
      <p:sp>
        <p:nvSpPr>
          <p:cNvPr id="8" name="Text 6"/>
          <p:cNvSpPr txBox="1"/>
          <p:nvPr/>
        </p:nvSpPr>
        <p:spPr>
          <a:xfrm>
            <a:off x="6400800" y="170078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9" name="Text 7"/>
          <p:cNvSpPr txBox="1"/>
          <p:nvPr/>
        </p:nvSpPr>
        <p:spPr>
          <a:xfrm>
            <a:off x="6400800" y="201168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Histograms show continuous data; bar charts show categories</a:t>
            </a:r>
            <a:endParaRPr lang="en-US" sz="2000" dirty="0"/>
          </a:p>
        </p:txBody>
      </p:sp>
      <p:sp>
        <p:nvSpPr>
          <p:cNvPr id="10" name="Shape 8"/>
          <p:cNvSpPr/>
          <p:nvPr/>
        </p:nvSpPr>
        <p:spPr>
          <a:xfrm>
            <a:off x="548640" y="2743200"/>
            <a:ext cx="5394960" cy="960120"/>
          </a:xfrm>
          <a:prstGeom prst="roundRect">
            <a:avLst>
              <a:gd name="adj" fmla="val 7619"/>
            </a:avLst>
          </a:prstGeom>
          <a:solidFill>
            <a:srgbClr val="FBEAEA"/>
          </a:solidFill>
          <a:ln/>
        </p:spPr>
      </p:sp>
      <p:sp>
        <p:nvSpPr>
          <p:cNvPr id="11" name="Text 9"/>
          <p:cNvSpPr txBox="1"/>
          <p:nvPr/>
        </p:nvSpPr>
        <p:spPr>
          <a:xfrm>
            <a:off x="731520" y="279806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12" name="Text 10"/>
          <p:cNvSpPr txBox="1"/>
          <p:nvPr/>
        </p:nvSpPr>
        <p:spPr>
          <a:xfrm>
            <a:off x="731520" y="310896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Boxplot whiskers always show the min and max</a:t>
            </a:r>
            <a:endParaRPr lang="en-US" sz="2000" dirty="0"/>
          </a:p>
        </p:txBody>
      </p:sp>
      <p:sp>
        <p:nvSpPr>
          <p:cNvPr id="13" name="Shape 11"/>
          <p:cNvSpPr/>
          <p:nvPr/>
        </p:nvSpPr>
        <p:spPr>
          <a:xfrm>
            <a:off x="6217920" y="2743200"/>
            <a:ext cx="5394960" cy="960120"/>
          </a:xfrm>
          <a:prstGeom prst="roundRect">
            <a:avLst>
              <a:gd name="adj" fmla="val 7619"/>
            </a:avLst>
          </a:prstGeom>
          <a:solidFill>
            <a:srgbClr val="E7F3EC"/>
          </a:solidFill>
          <a:ln/>
        </p:spPr>
      </p:sp>
      <p:sp>
        <p:nvSpPr>
          <p:cNvPr id="14" name="Text 12"/>
          <p:cNvSpPr txBox="1"/>
          <p:nvPr/>
        </p:nvSpPr>
        <p:spPr>
          <a:xfrm>
            <a:off x="6400800" y="279806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15" name="Text 13"/>
          <p:cNvSpPr txBox="1"/>
          <p:nvPr/>
        </p:nvSpPr>
        <p:spPr>
          <a:xfrm>
            <a:off x="6400800" y="310896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Whiskers stop at the fences; outliers shown separately</a:t>
            </a:r>
            <a:endParaRPr lang="en-US" sz="2000" dirty="0"/>
          </a:p>
        </p:txBody>
      </p:sp>
      <p:sp>
        <p:nvSpPr>
          <p:cNvPr id="16" name="Shape 14"/>
          <p:cNvSpPr/>
          <p:nvPr/>
        </p:nvSpPr>
        <p:spPr>
          <a:xfrm>
            <a:off x="548640" y="3840480"/>
            <a:ext cx="5394960" cy="960120"/>
          </a:xfrm>
          <a:prstGeom prst="roundRect">
            <a:avLst>
              <a:gd name="adj" fmla="val 7619"/>
            </a:avLst>
          </a:prstGeom>
          <a:solidFill>
            <a:srgbClr val="FBEAEA"/>
          </a:solidFill>
          <a:ln/>
        </p:spPr>
      </p:sp>
      <p:sp>
        <p:nvSpPr>
          <p:cNvPr id="17" name="Text 15"/>
          <p:cNvSpPr txBox="1"/>
          <p:nvPr/>
        </p:nvSpPr>
        <p:spPr>
          <a:xfrm>
            <a:off x="731520" y="389534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18" name="Text 16"/>
          <p:cNvSpPr txBox="1"/>
          <p:nvPr/>
        </p:nvSpPr>
        <p:spPr>
          <a:xfrm>
            <a:off x="731520" y="420624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 strong correlation means one variable causes the other</a:t>
            </a:r>
            <a:endParaRPr lang="en-US" sz="2000" dirty="0"/>
          </a:p>
        </p:txBody>
      </p:sp>
      <p:sp>
        <p:nvSpPr>
          <p:cNvPr id="19" name="Shape 17"/>
          <p:cNvSpPr/>
          <p:nvPr/>
        </p:nvSpPr>
        <p:spPr>
          <a:xfrm>
            <a:off x="6217920" y="3840480"/>
            <a:ext cx="5394960" cy="960120"/>
          </a:xfrm>
          <a:prstGeom prst="roundRect">
            <a:avLst>
              <a:gd name="adj" fmla="val 7619"/>
            </a:avLst>
          </a:prstGeom>
          <a:solidFill>
            <a:srgbClr val="E7F3EC"/>
          </a:solidFill>
          <a:ln/>
        </p:spPr>
      </p:sp>
      <p:sp>
        <p:nvSpPr>
          <p:cNvPr id="20" name="Text 18"/>
          <p:cNvSpPr txBox="1"/>
          <p:nvPr/>
        </p:nvSpPr>
        <p:spPr>
          <a:xfrm>
            <a:off x="6400800" y="389534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21" name="Text 19"/>
          <p:cNvSpPr txBox="1"/>
          <p:nvPr/>
        </p:nvSpPr>
        <p:spPr>
          <a:xfrm>
            <a:off x="6400800" y="420624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Correlation never proves causation</a:t>
            </a:r>
            <a:endParaRPr lang="en-US" sz="2000" dirty="0"/>
          </a:p>
        </p:txBody>
      </p:sp>
      <p:sp>
        <p:nvSpPr>
          <p:cNvPr id="22" name="Shape 20"/>
          <p:cNvSpPr/>
          <p:nvPr/>
        </p:nvSpPr>
        <p:spPr>
          <a:xfrm>
            <a:off x="548640" y="4937760"/>
            <a:ext cx="5394960" cy="960120"/>
          </a:xfrm>
          <a:prstGeom prst="roundRect">
            <a:avLst>
              <a:gd name="adj" fmla="val 7619"/>
            </a:avLst>
          </a:prstGeom>
          <a:solidFill>
            <a:srgbClr val="FBEAEA"/>
          </a:solidFill>
          <a:ln/>
        </p:spPr>
      </p:sp>
      <p:sp>
        <p:nvSpPr>
          <p:cNvPr id="23" name="Text 21"/>
          <p:cNvSpPr txBox="1"/>
          <p:nvPr/>
        </p:nvSpPr>
        <p:spPr>
          <a:xfrm>
            <a:off x="731520" y="499262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24" name="Text 22"/>
          <p:cNvSpPr txBox="1"/>
          <p:nvPr/>
        </p:nvSpPr>
        <p:spPr>
          <a:xfrm>
            <a:off x="731520" y="530352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More bins in a histogram is always better</a:t>
            </a:r>
            <a:endParaRPr lang="en-US" sz="2000" dirty="0"/>
          </a:p>
        </p:txBody>
      </p:sp>
      <p:sp>
        <p:nvSpPr>
          <p:cNvPr id="25" name="Shape 23"/>
          <p:cNvSpPr/>
          <p:nvPr/>
        </p:nvSpPr>
        <p:spPr>
          <a:xfrm>
            <a:off x="6217920" y="4937760"/>
            <a:ext cx="5394960" cy="960120"/>
          </a:xfrm>
          <a:prstGeom prst="roundRect">
            <a:avLst>
              <a:gd name="adj" fmla="val 7619"/>
            </a:avLst>
          </a:prstGeom>
          <a:solidFill>
            <a:srgbClr val="E7F3EC"/>
          </a:solidFill>
          <a:ln/>
        </p:spPr>
      </p:sp>
      <p:sp>
        <p:nvSpPr>
          <p:cNvPr id="26" name="Text 24"/>
          <p:cNvSpPr txBox="1"/>
          <p:nvPr/>
        </p:nvSpPr>
        <p:spPr>
          <a:xfrm>
            <a:off x="6400800" y="499262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27" name="Text 25"/>
          <p:cNvSpPr txBox="1"/>
          <p:nvPr/>
        </p:nvSpPr>
        <p:spPr>
          <a:xfrm>
            <a:off x="6400800" y="530352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Too many bins adds noise, not clarity</a:t>
            </a:r>
            <a:endParaRPr lang="en-US" sz="2000" dirty="0"/>
          </a:p>
        </p:txBody>
      </p:sp>
      <p:sp>
        <p:nvSpPr>
          <p:cNvPr id="28" name="Text 26"/>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9" name="Text 27"/>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23</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QUICK CHECK</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Mini Activity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In pairs, spend 2 minutes on this scenario:</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Data on 200 customers’ ages and purchase amounts.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Which chart shows if older customers spend more?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Which chart shows the overall age distribution?</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24</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TOOLS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Tools You'll Use</a:t>
            </a:r>
            <a:endParaRPr lang="en-US" sz="3600" dirty="0"/>
          </a:p>
        </p:txBody>
      </p:sp>
      <p:sp>
        <p:nvSpPr>
          <p:cNvPr id="4" name="Shape 2"/>
          <p:cNvSpPr/>
          <p:nvPr/>
        </p:nvSpPr>
        <p:spPr>
          <a:xfrm>
            <a:off x="548640" y="1737360"/>
            <a:ext cx="5349240" cy="1737360"/>
          </a:xfrm>
          <a:prstGeom prst="roundRect">
            <a:avLst>
              <a:gd name="adj" fmla="val 5263"/>
            </a:avLst>
          </a:prstGeom>
          <a:solidFill>
            <a:srgbClr val="E7EEFC"/>
          </a:solidFill>
          <a:ln/>
        </p:spPr>
      </p:sp>
      <p:sp>
        <p:nvSpPr>
          <p:cNvPr id="5" name="Shape 3"/>
          <p:cNvSpPr/>
          <p:nvPr/>
        </p:nvSpPr>
        <p:spPr>
          <a:xfrm>
            <a:off x="27660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2884932" y="2057400"/>
            <a:ext cx="676656" cy="676656"/>
          </a:xfrm>
          <a:prstGeom prst="rect">
            <a:avLst/>
          </a:prstGeom>
        </p:spPr>
      </p:pic>
      <p:sp>
        <p:nvSpPr>
          <p:cNvPr id="7" name="Text 4"/>
          <p:cNvSpPr txBox="1"/>
          <p:nvPr/>
        </p:nvSpPr>
        <p:spPr>
          <a:xfrm>
            <a:off x="640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Python — matplotlib, seaborn</a:t>
            </a:r>
            <a:endParaRPr lang="en-US" sz="2000" dirty="0"/>
          </a:p>
        </p:txBody>
      </p:sp>
      <p:sp>
        <p:nvSpPr>
          <p:cNvPr id="8" name="Shape 5"/>
          <p:cNvSpPr/>
          <p:nvPr/>
        </p:nvSpPr>
        <p:spPr>
          <a:xfrm>
            <a:off x="6263640" y="1737360"/>
            <a:ext cx="5349240" cy="1737360"/>
          </a:xfrm>
          <a:prstGeom prst="roundRect">
            <a:avLst>
              <a:gd name="adj" fmla="val 5263"/>
            </a:avLst>
          </a:prstGeom>
          <a:solidFill>
            <a:srgbClr val="E7EEFC"/>
          </a:solidFill>
          <a:ln/>
        </p:spPr>
      </p:sp>
      <p:sp>
        <p:nvSpPr>
          <p:cNvPr id="9" name="Shape 6"/>
          <p:cNvSpPr/>
          <p:nvPr/>
        </p:nvSpPr>
        <p:spPr>
          <a:xfrm>
            <a:off x="84810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8599932" y="2057400"/>
            <a:ext cx="676656" cy="676656"/>
          </a:xfrm>
          <a:prstGeom prst="rect">
            <a:avLst/>
          </a:prstGeom>
        </p:spPr>
      </p:pic>
      <p:sp>
        <p:nvSpPr>
          <p:cNvPr id="11" name="Text 7"/>
          <p:cNvSpPr txBox="1"/>
          <p:nvPr/>
        </p:nvSpPr>
        <p:spPr>
          <a:xfrm>
            <a:off x="6355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Excel — Insert → Chart</a:t>
            </a:r>
            <a:endParaRPr lang="en-US" sz="2000" dirty="0"/>
          </a:p>
        </p:txBody>
      </p:sp>
      <p:sp>
        <p:nvSpPr>
          <p:cNvPr id="12" name="Shape 8"/>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3" name="Text 9"/>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plt.hist(), sns.boxplot(), plt.scatter() in Python</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These three chart types are built into virtually every data tool</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Practice: try all three on a dataset you’re currently working with</a:t>
            </a:r>
            <a:endParaRPr lang="en-US" sz="1900" dirty="0"/>
          </a:p>
        </p:txBody>
      </p:sp>
      <p:sp>
        <p:nvSpPr>
          <p:cNvPr id="14" name="Text 10"/>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15" name="Text 11"/>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25</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RECAP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Summary of Key Points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Histogram: shape and spread of one variable, built from bins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Boxplot: five-number summary + outliers via the IQR rule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Scatterplot: relationship between two variables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Correlation is never proof of causation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Anscombe’s Quartet: always plot your data</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Let your question decide your chart, not the other way around</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26</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Quiz — Data Visualization</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728216"/>
            <a:ext cx="11064240" cy="535577"/>
          </a:xfrm>
          <a:prstGeom prst="roundRect">
            <a:avLst>
              <a:gd name="adj" fmla="val 10244"/>
            </a:avLst>
          </a:prstGeom>
          <a:solidFill>
            <a:srgbClr val="E7EEFC"/>
          </a:solidFill>
          <a:ln w="9525">
            <a:solidFill>
              <a:srgbClr val="CADCFC"/>
            </a:solidFill>
            <a:prstDash val="solid"/>
          </a:ln>
        </p:spPr>
      </p:sp>
      <p:sp>
        <p:nvSpPr>
          <p:cNvPr id="7" name="Text 4"/>
          <p:cNvSpPr txBox="1"/>
          <p:nvPr/>
        </p:nvSpPr>
        <p:spPr>
          <a:xfrm>
            <a:off x="822960" y="1728216"/>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Q1. Best chart for the relationship between two numeric variables? (a) Histogram (b) Boxplot (c) Scatterplot</a:t>
            </a:r>
            <a:endParaRPr lang="en-US" sz="2000" dirty="0"/>
          </a:p>
        </p:txBody>
      </p:sp>
      <p:sp>
        <p:nvSpPr>
          <p:cNvPr id="8" name="Shape 5"/>
          <p:cNvSpPr/>
          <p:nvPr/>
        </p:nvSpPr>
        <p:spPr>
          <a:xfrm>
            <a:off x="548640" y="2355233"/>
            <a:ext cx="11064240" cy="535577"/>
          </a:xfrm>
          <a:prstGeom prst="roundRect">
            <a:avLst>
              <a:gd name="adj" fmla="val 10244"/>
            </a:avLst>
          </a:prstGeom>
          <a:solidFill>
            <a:srgbClr val="FFFFFF"/>
          </a:solidFill>
          <a:ln w="9525">
            <a:solidFill>
              <a:srgbClr val="CADCFC"/>
            </a:solidFill>
            <a:prstDash val="solid"/>
          </a:ln>
        </p:spPr>
      </p:sp>
      <p:sp>
        <p:nvSpPr>
          <p:cNvPr id="9" name="Text 6"/>
          <p:cNvSpPr txBox="1"/>
          <p:nvPr/>
        </p:nvSpPr>
        <p:spPr>
          <a:xfrm>
            <a:off x="822960" y="2355233"/>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Q2. In a boxplot, what does the line inside the box represent?</a:t>
            </a:r>
            <a:endParaRPr lang="en-US" sz="2000" dirty="0"/>
          </a:p>
        </p:txBody>
      </p:sp>
      <p:sp>
        <p:nvSpPr>
          <p:cNvPr id="10" name="Shape 7"/>
          <p:cNvSpPr/>
          <p:nvPr/>
        </p:nvSpPr>
        <p:spPr>
          <a:xfrm>
            <a:off x="548640" y="2982250"/>
            <a:ext cx="11064240" cy="535577"/>
          </a:xfrm>
          <a:prstGeom prst="roundRect">
            <a:avLst>
              <a:gd name="adj" fmla="val 10244"/>
            </a:avLst>
          </a:prstGeom>
          <a:solidFill>
            <a:srgbClr val="E7EEFC"/>
          </a:solidFill>
          <a:ln w="9525">
            <a:solidFill>
              <a:srgbClr val="CADCFC"/>
            </a:solidFill>
            <a:prstDash val="solid"/>
          </a:ln>
        </p:spPr>
      </p:sp>
      <p:sp>
        <p:nvSpPr>
          <p:cNvPr id="11" name="Text 8"/>
          <p:cNvSpPr txBox="1"/>
          <p:nvPr/>
        </p:nvSpPr>
        <p:spPr>
          <a:xfrm>
            <a:off x="822960" y="2982250"/>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Q3. A histogram with a long tail to the right is: (a) left-skewed (b) right-skewed (c) symmetric</a:t>
            </a:r>
            <a:endParaRPr lang="en-US" sz="2000" dirty="0"/>
          </a:p>
        </p:txBody>
      </p:sp>
      <p:sp>
        <p:nvSpPr>
          <p:cNvPr id="12" name="Shape 9"/>
          <p:cNvSpPr/>
          <p:nvPr/>
        </p:nvSpPr>
        <p:spPr>
          <a:xfrm>
            <a:off x="548640" y="3609267"/>
            <a:ext cx="11064240" cy="535577"/>
          </a:xfrm>
          <a:prstGeom prst="roundRect">
            <a:avLst>
              <a:gd name="adj" fmla="val 10244"/>
            </a:avLst>
          </a:prstGeom>
          <a:solidFill>
            <a:srgbClr val="FFFFFF"/>
          </a:solidFill>
          <a:ln w="9525">
            <a:solidFill>
              <a:srgbClr val="CADCFC"/>
            </a:solidFill>
            <a:prstDash val="solid"/>
          </a:ln>
        </p:spPr>
      </p:sp>
      <p:sp>
        <p:nvSpPr>
          <p:cNvPr id="13" name="Text 10"/>
          <p:cNvSpPr txBox="1"/>
          <p:nvPr/>
        </p:nvSpPr>
        <p:spPr>
          <a:xfrm>
            <a:off x="822960" y="3609267"/>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Q4. True/False: A strong correlation proves one variable causes the other.</a:t>
            </a:r>
            <a:endParaRPr lang="en-US" sz="2000" dirty="0"/>
          </a:p>
        </p:txBody>
      </p:sp>
      <p:sp>
        <p:nvSpPr>
          <p:cNvPr id="14" name="Shape 11"/>
          <p:cNvSpPr/>
          <p:nvPr/>
        </p:nvSpPr>
        <p:spPr>
          <a:xfrm>
            <a:off x="548640" y="4236285"/>
            <a:ext cx="11064240" cy="535577"/>
          </a:xfrm>
          <a:prstGeom prst="roundRect">
            <a:avLst>
              <a:gd name="adj" fmla="val 10244"/>
            </a:avLst>
          </a:prstGeom>
          <a:solidFill>
            <a:srgbClr val="E7EEFC"/>
          </a:solidFill>
          <a:ln w="9525">
            <a:solidFill>
              <a:srgbClr val="CADCFC"/>
            </a:solidFill>
            <a:prstDash val="solid"/>
          </a:ln>
        </p:spPr>
      </p:sp>
      <p:sp>
        <p:nvSpPr>
          <p:cNvPr id="15" name="Text 12"/>
          <p:cNvSpPr txBox="1"/>
          <p:nvPr/>
        </p:nvSpPr>
        <p:spPr>
          <a:xfrm>
            <a:off x="822960" y="4236285"/>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Q5. What is the formula for the upper fence used to detect outliers?</a:t>
            </a:r>
            <a:endParaRPr lang="en-US" sz="2000" dirty="0"/>
          </a:p>
        </p:txBody>
      </p:sp>
      <p:sp>
        <p:nvSpPr>
          <p:cNvPr id="16" name="Shape 13"/>
          <p:cNvSpPr/>
          <p:nvPr/>
        </p:nvSpPr>
        <p:spPr>
          <a:xfrm>
            <a:off x="548640" y="4863302"/>
            <a:ext cx="11064240" cy="535577"/>
          </a:xfrm>
          <a:prstGeom prst="roundRect">
            <a:avLst>
              <a:gd name="adj" fmla="val 10244"/>
            </a:avLst>
          </a:prstGeom>
          <a:solidFill>
            <a:srgbClr val="FFFFFF"/>
          </a:solidFill>
          <a:ln w="9525">
            <a:solidFill>
              <a:srgbClr val="CADCFC"/>
            </a:solidFill>
            <a:prstDash val="solid"/>
          </a:ln>
        </p:spPr>
      </p:sp>
      <p:sp>
        <p:nvSpPr>
          <p:cNvPr id="17" name="Text 14"/>
          <p:cNvSpPr txBox="1"/>
          <p:nvPr/>
        </p:nvSpPr>
        <p:spPr>
          <a:xfrm>
            <a:off x="822960" y="4863302"/>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Q6. Unlike a bar chart, a histogram’s bars: (a) have gaps (b) touch each other (c) are always one color</a:t>
            </a:r>
            <a:endParaRPr lang="en-US" sz="2000" dirty="0"/>
          </a:p>
        </p:txBody>
      </p:sp>
      <p:sp>
        <p:nvSpPr>
          <p:cNvPr id="18" name="Shape 15"/>
          <p:cNvSpPr/>
          <p:nvPr/>
        </p:nvSpPr>
        <p:spPr>
          <a:xfrm>
            <a:off x="548640" y="5490319"/>
            <a:ext cx="11064240" cy="535577"/>
          </a:xfrm>
          <a:prstGeom prst="roundRect">
            <a:avLst>
              <a:gd name="adj" fmla="val 10244"/>
            </a:avLst>
          </a:prstGeom>
          <a:solidFill>
            <a:srgbClr val="E7EEFC"/>
          </a:solidFill>
          <a:ln w="9525">
            <a:solidFill>
              <a:srgbClr val="CADCFC"/>
            </a:solidFill>
            <a:prstDash val="solid"/>
          </a:ln>
        </p:spPr>
      </p:sp>
      <p:sp>
        <p:nvSpPr>
          <p:cNvPr id="19" name="Text 16"/>
          <p:cNvSpPr txBox="1"/>
          <p:nvPr/>
        </p:nvSpPr>
        <p:spPr>
          <a:xfrm>
            <a:off x="822960" y="5490319"/>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Q7. Name one real-world example where visualizing data revealed what statistics alone hid.</a:t>
            </a:r>
            <a:endParaRPr lang="en-US" sz="2000" dirty="0"/>
          </a:p>
        </p:txBody>
      </p:sp>
      <p:sp>
        <p:nvSpPr>
          <p:cNvPr id="20"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1"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27</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ANSWERS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Quiz Answers — Data Visualization</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728216"/>
            <a:ext cx="11064240" cy="535577"/>
          </a:xfrm>
          <a:prstGeom prst="roundRect">
            <a:avLst>
              <a:gd name="adj" fmla="val 10244"/>
            </a:avLst>
          </a:prstGeom>
          <a:solidFill>
            <a:srgbClr val="E7EEFC"/>
          </a:solidFill>
          <a:ln w="9525">
            <a:solidFill>
              <a:srgbClr val="CADCFC"/>
            </a:solidFill>
            <a:prstDash val="solid"/>
          </a:ln>
        </p:spPr>
      </p:sp>
      <p:sp>
        <p:nvSpPr>
          <p:cNvPr id="7" name="Text 4"/>
          <p:cNvSpPr txBox="1"/>
          <p:nvPr/>
        </p:nvSpPr>
        <p:spPr>
          <a:xfrm>
            <a:off x="822960" y="1728216"/>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A1. (c) Scatterplot — designed for two-variable relationships</a:t>
            </a:r>
            <a:endParaRPr lang="en-US" sz="2000" dirty="0"/>
          </a:p>
        </p:txBody>
      </p:sp>
      <p:sp>
        <p:nvSpPr>
          <p:cNvPr id="8" name="Shape 5"/>
          <p:cNvSpPr/>
          <p:nvPr/>
        </p:nvSpPr>
        <p:spPr>
          <a:xfrm>
            <a:off x="548640" y="2355233"/>
            <a:ext cx="11064240" cy="535577"/>
          </a:xfrm>
          <a:prstGeom prst="roundRect">
            <a:avLst>
              <a:gd name="adj" fmla="val 10244"/>
            </a:avLst>
          </a:prstGeom>
          <a:solidFill>
            <a:srgbClr val="FFFFFF"/>
          </a:solidFill>
          <a:ln w="9525">
            <a:solidFill>
              <a:srgbClr val="CADCFC"/>
            </a:solidFill>
            <a:prstDash val="solid"/>
          </a:ln>
        </p:spPr>
      </p:sp>
      <p:sp>
        <p:nvSpPr>
          <p:cNvPr id="9" name="Text 6"/>
          <p:cNvSpPr txBox="1"/>
          <p:nvPr/>
        </p:nvSpPr>
        <p:spPr>
          <a:xfrm>
            <a:off x="822960" y="2355233"/>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A2. The median of the dataset</a:t>
            </a:r>
            <a:endParaRPr lang="en-US" sz="2000" dirty="0"/>
          </a:p>
        </p:txBody>
      </p:sp>
      <p:sp>
        <p:nvSpPr>
          <p:cNvPr id="10" name="Shape 7"/>
          <p:cNvSpPr/>
          <p:nvPr/>
        </p:nvSpPr>
        <p:spPr>
          <a:xfrm>
            <a:off x="548640" y="2982250"/>
            <a:ext cx="11064240" cy="535577"/>
          </a:xfrm>
          <a:prstGeom prst="roundRect">
            <a:avLst>
              <a:gd name="adj" fmla="val 10244"/>
            </a:avLst>
          </a:prstGeom>
          <a:solidFill>
            <a:srgbClr val="E7EEFC"/>
          </a:solidFill>
          <a:ln w="9525">
            <a:solidFill>
              <a:srgbClr val="CADCFC"/>
            </a:solidFill>
            <a:prstDash val="solid"/>
          </a:ln>
        </p:spPr>
      </p:sp>
      <p:sp>
        <p:nvSpPr>
          <p:cNvPr id="11" name="Text 8"/>
          <p:cNvSpPr txBox="1"/>
          <p:nvPr/>
        </p:nvSpPr>
        <p:spPr>
          <a:xfrm>
            <a:off x="822960" y="2982250"/>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A3. (b) Right-skewed — the tail points toward higher values</a:t>
            </a:r>
            <a:endParaRPr lang="en-US" sz="2000" dirty="0"/>
          </a:p>
        </p:txBody>
      </p:sp>
      <p:sp>
        <p:nvSpPr>
          <p:cNvPr id="12" name="Shape 9"/>
          <p:cNvSpPr/>
          <p:nvPr/>
        </p:nvSpPr>
        <p:spPr>
          <a:xfrm>
            <a:off x="548640" y="3609267"/>
            <a:ext cx="11064240" cy="535577"/>
          </a:xfrm>
          <a:prstGeom prst="roundRect">
            <a:avLst>
              <a:gd name="adj" fmla="val 10244"/>
            </a:avLst>
          </a:prstGeom>
          <a:solidFill>
            <a:srgbClr val="FFFFFF"/>
          </a:solidFill>
          <a:ln w="9525">
            <a:solidFill>
              <a:srgbClr val="CADCFC"/>
            </a:solidFill>
            <a:prstDash val="solid"/>
          </a:ln>
        </p:spPr>
      </p:sp>
      <p:sp>
        <p:nvSpPr>
          <p:cNvPr id="13" name="Text 10"/>
          <p:cNvSpPr txBox="1"/>
          <p:nvPr/>
        </p:nvSpPr>
        <p:spPr>
          <a:xfrm>
            <a:off x="822960" y="3609267"/>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A4. False — correlation never proves causation</a:t>
            </a:r>
            <a:endParaRPr lang="en-US" sz="2000" dirty="0"/>
          </a:p>
        </p:txBody>
      </p:sp>
      <p:sp>
        <p:nvSpPr>
          <p:cNvPr id="14" name="Shape 11"/>
          <p:cNvSpPr/>
          <p:nvPr/>
        </p:nvSpPr>
        <p:spPr>
          <a:xfrm>
            <a:off x="548640" y="4236285"/>
            <a:ext cx="11064240" cy="535577"/>
          </a:xfrm>
          <a:prstGeom prst="roundRect">
            <a:avLst>
              <a:gd name="adj" fmla="val 10244"/>
            </a:avLst>
          </a:prstGeom>
          <a:solidFill>
            <a:srgbClr val="E7EEFC"/>
          </a:solidFill>
          <a:ln w="9525">
            <a:solidFill>
              <a:srgbClr val="CADCFC"/>
            </a:solidFill>
            <a:prstDash val="solid"/>
          </a:ln>
        </p:spPr>
      </p:sp>
      <p:sp>
        <p:nvSpPr>
          <p:cNvPr id="15" name="Text 12"/>
          <p:cNvSpPr txBox="1"/>
          <p:nvPr/>
        </p:nvSpPr>
        <p:spPr>
          <a:xfrm>
            <a:off x="822960" y="4236285"/>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A5. Upper fence = Q3 + 1.5 × IQR</a:t>
            </a:r>
            <a:endParaRPr lang="en-US" sz="2000" dirty="0"/>
          </a:p>
        </p:txBody>
      </p:sp>
      <p:sp>
        <p:nvSpPr>
          <p:cNvPr id="16" name="Shape 13"/>
          <p:cNvSpPr/>
          <p:nvPr/>
        </p:nvSpPr>
        <p:spPr>
          <a:xfrm>
            <a:off x="548640" y="4863302"/>
            <a:ext cx="11064240" cy="535577"/>
          </a:xfrm>
          <a:prstGeom prst="roundRect">
            <a:avLst>
              <a:gd name="adj" fmla="val 10244"/>
            </a:avLst>
          </a:prstGeom>
          <a:solidFill>
            <a:srgbClr val="FFFFFF"/>
          </a:solidFill>
          <a:ln w="9525">
            <a:solidFill>
              <a:srgbClr val="CADCFC"/>
            </a:solidFill>
            <a:prstDash val="solid"/>
          </a:ln>
        </p:spPr>
      </p:sp>
      <p:sp>
        <p:nvSpPr>
          <p:cNvPr id="17" name="Text 14"/>
          <p:cNvSpPr txBox="1"/>
          <p:nvPr/>
        </p:nvSpPr>
        <p:spPr>
          <a:xfrm>
            <a:off x="822960" y="4863302"/>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A6. (b) Touch each other — the x-axis is continuous</a:t>
            </a:r>
            <a:endParaRPr lang="en-US" sz="2000" dirty="0"/>
          </a:p>
        </p:txBody>
      </p:sp>
      <p:sp>
        <p:nvSpPr>
          <p:cNvPr id="18" name="Shape 15"/>
          <p:cNvSpPr/>
          <p:nvPr/>
        </p:nvSpPr>
        <p:spPr>
          <a:xfrm>
            <a:off x="548640" y="5490319"/>
            <a:ext cx="11064240" cy="535577"/>
          </a:xfrm>
          <a:prstGeom prst="roundRect">
            <a:avLst>
              <a:gd name="adj" fmla="val 10244"/>
            </a:avLst>
          </a:prstGeom>
          <a:solidFill>
            <a:srgbClr val="E7EEFC"/>
          </a:solidFill>
          <a:ln w="9525">
            <a:solidFill>
              <a:srgbClr val="CADCFC"/>
            </a:solidFill>
            <a:prstDash val="solid"/>
          </a:ln>
        </p:spPr>
      </p:sp>
      <p:sp>
        <p:nvSpPr>
          <p:cNvPr id="19" name="Text 16"/>
          <p:cNvSpPr txBox="1"/>
          <p:nvPr/>
        </p:nvSpPr>
        <p:spPr>
          <a:xfrm>
            <a:off x="822960" y="5490319"/>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A7. e.g., Anscombe’s Quartet, or the ice cream/drowning example</a:t>
            </a:r>
            <a:endParaRPr lang="en-US" sz="2000" dirty="0"/>
          </a:p>
        </p:txBody>
      </p:sp>
      <p:sp>
        <p:nvSpPr>
          <p:cNvPr id="20"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21"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28</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WHAT'S NEXT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Further Reading &amp; Next Class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Next topic: Inferential Statistics — Hypothesis Testing &amp; Confidence Intervals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Reading: any intro data science text, chapter on EDA</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Try it: plot a histogram, boxplot, and scatterplot on your own data</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Challenge: find a dataset online, identify its skewness and outliers</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DSC4000</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29</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3147</Words>
  <Application>Microsoft Office PowerPoint</Application>
  <PresentationFormat>Widescreen</PresentationFormat>
  <Paragraphs>356</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2</cp:revision>
  <dcterms:created xsi:type="dcterms:W3CDTF">2026-09-23T01:07:33Z</dcterms:created>
  <dcterms:modified xsi:type="dcterms:W3CDTF">2026-09-23T01:14:47Z</dcterms:modified>
</cp:coreProperties>
</file>