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3932" autoAdjust="0"/>
  </p:normalViewPr>
  <p:slideViewPr>
    <p:cSldViewPr snapToGrid="0" snapToObjects="1">
      <p:cViewPr varScale="1">
        <p:scale>
          <a:sx n="80" d="100"/>
          <a:sy n="80" d="100"/>
        </p:scale>
        <p:origin x="53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00000"/>
                </a:solidFill>
                <a:latin typeface="Calibri"/>
              </a:defRPr>
            </a:pPr>
            <a:r>
              <a:rPr lang="en-US" sz="1400" b="0" i="0" u="none" strike="noStrike">
                <a:solidFill>
                  <a:srgbClr val="000000"/>
                </a:solidFill>
                <a:latin typeface="Calibri"/>
              </a:rPr>
              <a:t>Marks by Student — Section A vs Section B</a:t>
            </a:r>
          </a:p>
        </c:rich>
      </c:tx>
      <c:overlay val="0"/>
    </c:title>
    <c:autoTitleDeleted val="0"/>
    <c:plotArea>
      <c:layout/>
      <c:barChart>
        <c:barDir val="col"/>
        <c:grouping val="clustered"/>
        <c:varyColors val="0"/>
        <c:ser>
          <c:idx val="0"/>
          <c:order val="0"/>
          <c:tx>
            <c:strRef>
              <c:f>Sheet1!$B$1</c:f>
              <c:strCache>
                <c:ptCount val="1"/>
                <c:pt idx="0">
                  <c:v>Section A (SD ≈ 4.5)</c:v>
                </c:pt>
              </c:strCache>
            </c:strRef>
          </c:tx>
          <c:spPr>
            <a:solidFill>
              <a:srgbClr val="1C7A72"/>
            </a:solidFill>
            <a:effectLst/>
          </c:spPr>
          <c:invertIfNegative val="0"/>
          <c:dLbls>
            <c:numFmt formatCode="#,##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S1</c:v>
                </c:pt>
                <c:pt idx="1">
                  <c:v>S2</c:v>
                </c:pt>
                <c:pt idx="2">
                  <c:v>S3</c:v>
                </c:pt>
                <c:pt idx="3">
                  <c:v>S4</c:v>
                </c:pt>
                <c:pt idx="4">
                  <c:v>S5</c:v>
                </c:pt>
              </c:strCache>
            </c:strRef>
          </c:cat>
          <c:val>
            <c:numRef>
              <c:f>Sheet1!$B$2:$B$6</c:f>
              <c:numCache>
                <c:formatCode>General</c:formatCode>
                <c:ptCount val="5"/>
                <c:pt idx="0">
                  <c:v>66</c:v>
                </c:pt>
                <c:pt idx="1">
                  <c:v>68</c:v>
                </c:pt>
                <c:pt idx="2">
                  <c:v>71</c:v>
                </c:pt>
                <c:pt idx="3">
                  <c:v>72</c:v>
                </c:pt>
                <c:pt idx="4">
                  <c:v>73</c:v>
                </c:pt>
              </c:numCache>
            </c:numRef>
          </c:val>
          <c:extLst>
            <c:ext xmlns:c16="http://schemas.microsoft.com/office/drawing/2014/chart" uri="{C3380CC4-5D6E-409C-BE32-E72D297353CC}">
              <c16:uniqueId val="{00000000-07D3-4305-A5F9-E99662E99EF3}"/>
            </c:ext>
          </c:extLst>
        </c:ser>
        <c:ser>
          <c:idx val="1"/>
          <c:order val="1"/>
          <c:tx>
            <c:strRef>
              <c:f>Sheet1!$C$1</c:f>
              <c:strCache>
                <c:ptCount val="1"/>
                <c:pt idx="0">
                  <c:v>Section B (SD ≈ 15.8)</c:v>
                </c:pt>
              </c:strCache>
            </c:strRef>
          </c:tx>
          <c:spPr>
            <a:solidFill>
              <a:srgbClr val="F2A93B"/>
            </a:solidFill>
            <a:effectLst/>
          </c:spPr>
          <c:invertIfNegative val="0"/>
          <c:dLbls>
            <c:numFmt formatCode="#,##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S1</c:v>
                </c:pt>
                <c:pt idx="1">
                  <c:v>S2</c:v>
                </c:pt>
                <c:pt idx="2">
                  <c:v>S3</c:v>
                </c:pt>
                <c:pt idx="3">
                  <c:v>S4</c:v>
                </c:pt>
                <c:pt idx="4">
                  <c:v>S5</c:v>
                </c:pt>
              </c:strCache>
            </c:strRef>
          </c:cat>
          <c:val>
            <c:numRef>
              <c:f>Sheet1!$C$2:$C$6</c:f>
              <c:numCache>
                <c:formatCode>General</c:formatCode>
                <c:ptCount val="5"/>
                <c:pt idx="0">
                  <c:v>48</c:v>
                </c:pt>
                <c:pt idx="1">
                  <c:v>55</c:v>
                </c:pt>
                <c:pt idx="2">
                  <c:v>74</c:v>
                </c:pt>
                <c:pt idx="3">
                  <c:v>85</c:v>
                </c:pt>
                <c:pt idx="4">
                  <c:v>88</c:v>
                </c:pt>
              </c:numCache>
            </c:numRef>
          </c:val>
          <c:extLst>
            <c:ext xmlns:c16="http://schemas.microsoft.com/office/drawing/2014/chart" uri="{C3380CC4-5D6E-409C-BE32-E72D297353CC}">
              <c16:uniqueId val="{00000001-07D3-4305-A5F9-E99662E99EF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1625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E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1625F"/>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172A28"/>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5251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warmly. Introduce yourself, the course, and today's topic. Mention this continues from last session on data types and central tendency, and today we tackle dispersion: variance, standard deviation, and IQR. Set expectation: by the end of this hour, they'll be able to compute and interpret all three, and know when to use which.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orient students to the institutional context if this is an early session in the semester, or move quickly if familiar. Emphasize this is unit continues the Descriptive Statistics module </a:t>
            </a:r>
            <a:r>
              <a:rPr lang="en-US"/>
              <a:t>of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out each objective and briefly explain in one sentence why it matters. Tell students these are exactly the skills they'll need for the upcoming assignment and any related exam questions.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icebreaker with a show of hands or quick verbal answers — don't spend more than 3-4 minutes. Use the cricket example to segue into the idea of consistency, and the stock example to segue into risk. Tell them: 'Today we'll learn the exact numbers behind these intuitions.'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bullet. Don't worry about full technical depth yet — this slide is about motivation. Use the quote to land the core idea: averages hide differences that dispersion reveals.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slide — spend under a minute. Confirm students remember mean/median/mode from the last session, then transition: 'Today we answer the natural follow-up question: how much do values vary around that center?'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dispersion clearly. Use the dot visual on the right: point out the tight cluster (low dispersion) vs the spread out dots (high dispersion) and explain that both distributions could have the exact same mean, drawn on the same number line, if it helps to sketch it live.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Range as the simplest measure. Walk through the worked example live: sort or just take max and min directly. Ask students: 'What happens to Range if I add one more student who scored 20?' to illustrate outlier sensitivity — this sets up why we need variance.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intuition step by step: we want to use every value, so we look at deviations from the mean. Show on the board (or verbally) that deviations always sum to zero — ask a volunteer to verify with a simple 3-number example. Then introduce squaring as the fix.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population variance formula and explain each symbol: mu = population mean, N = total count in the population. Emphasize 'population' means literally everyone/everything you care about, not a sample.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important conceptual slide — spend extra time here. Explain Bessel's correction intuitively: a sample's own mean is calculated FROM the sample, so it tends to sit unusually close to the sample's own points, making deviations look smaller than they'd be against the true population mean. Dividing by n-1 compensates for this. Don't worry about a rigorous proof — focus on the intuition and reassure students that in practice, statistical software makes this choice for them (sample variance is the default).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this table live, step by step, as if solving on the board. First establish the mean (64), then compute each deviation with the class calling out the arithmetic. Make sure everyone can see the pattern before moving to step 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the worked example: square each deviation (point out they're now all positive), sum them (1250), then divide by n-1=4 to get variance = 312.5. Ask: 'What are the units here?' Answer: marks-squared — which sets up the need for standard deviation next.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standard deviation solves the 'squared units' problem from variance. It's simply the square root, bringing the units back to something interpretable. Emphasize SD is the number people usually quote in reports and papers.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the running example: take the square root of 312.5 to get about 17.68. Interpret this out loud: 'On average, a student's mark is about 17.7 marks away from the class average of 64 — that's a fairly wide spread for a class.'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empirical rule (68-95-99.7) as a rule of thumb for roughly bell-shaped data — note it does NOT apply to all datasets, only approximately normal ones. Use it to explain how SD gives a quick sense of what counts as 'usual' vs 'unusual' for a given dataset.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chart and ask students to guess which section has the higher SD before revealing the answer. Discuss: both sections average 70, but Section B's students range from 48 to 88 while Section A stays tightly between 66-73. Connect back to the icebreaker discussion on consistency.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CV as a bonus/advanced concept for comparing spread across different units or scales. Use the salary vs years-of-experience example to show why comparing raw SDs across different units doesn't make sense, but CV as a percentage does.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of quartiles — most students should recall this from earlier stats exposure. Use the number line visual to reinforce that Q1, Q2 (median), and Q3 divide sorted data into four equal-sized groups.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IQR as Q3 minus Q1. Emphasize it deliberately throws away the extreme top and bottom 25% of data — this is a feature, not a bug, because it makes IQR resistant to outliers, unlike Range or SD.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 example step by step: sort the data first (already sorted here), split into lower and upper halves, and take the median of each half to get Q1 and Q3. Then subtract to get IQR = 16. Encourage students to try this on paper alongside you.</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1.5xIQR fence rule. Write both fence formulas and explain 'fence' as a boundary: values outside the fences are 'unusual enough' to flag for closer inspection — not necessarily errors, but worth investigating.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the fences to the running example: compute lower fence (-7.5) and upper fence (56.5). Point out the value 60 exceeds the upper fence, so it's flagged as an outlier. Ask: 'What could explain an outlier like this in real data — an error, or a genuinely unusual case?'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box plot visual piece by piece: the box (Q1 to Q3), the median line, the whiskers (extending to the min/max within the fences), and the outlier point drawn separately beyond the whisker. This is the standard way IQR and outliers are communicated visually in industry.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comparison table to help students build decision-making intuition: symmetric, outlier-free data -&gt; use SD; skewed or outlier-prone data -&gt; use IQR. Ask for a show of hands: 'For income data, which do you think is more appropriate, and why?' (Answer: IQR/median, since income is typically right-skewed.)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real-world grounding with one example from each domain. If time allows, ask if any students have encountered dispersion measures in an internship, project, or news article, and let them share briefly.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or walk through this code conceptually. Flag the important gotcha: pandas defaults to sample variance/SD (divides by n-1), while NumPy's np.var()/np.std() default to population (divides by n) unless ddof=1 is passed — this trips up many students and is worth repeating.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misconception. Ask students if they've heard or assumed any of these themselves — use their answers to correct gently and reinforce the correct understanding.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2-3 minutes to work through both mini problems in pairs. Circulate to help. Then quickly solve both live and let students self-correct.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formula cheat-sheet recap. Read through each formula once more without spending time re-deriving it — the goal is consolidation before the quiz.</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big-picture takeaways in your own words, connecting back to the icebreaker's real-world scenarios (consistency, risk) to close the conceptual loop.</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about 4-5 minutes to attempt the quiz individually or in pairs. Remind them this is for understanding, not grading. Encourage them to write down their reasoning, not just final answers, especially for Q6.</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briefly explaining the reasoning. Pay special attention to Q6 (outlier fence calculation) and Q8 (interpreting SD comparison) as these tend to be the trickiest for students.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pointing students to the practice exercise and reading. Preview next session's topic (data visualization techniques) so they arrive with context. Thank them for their participation.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4F4A"/>
        </a:solidFill>
        <a:effectLst/>
      </p:bgPr>
    </p:bg>
    <p:spTree>
      <p:nvGrpSpPr>
        <p:cNvPr id="1" name=""/>
        <p:cNvGrpSpPr/>
        <p:nvPr/>
      </p:nvGrpSpPr>
      <p:grpSpPr>
        <a:xfrm>
          <a:off x="0" y="0"/>
          <a:ext cx="0" cy="0"/>
          <a:chOff x="0" y="0"/>
          <a:chExt cx="0" cy="0"/>
        </a:xfrm>
      </p:grpSpPr>
      <p:sp>
        <p:nvSpPr>
          <p:cNvPr id="2" name="Shape 0"/>
          <p:cNvSpPr/>
          <p:nvPr/>
        </p:nvSpPr>
        <p:spPr>
          <a:xfrm>
            <a:off x="8961120" y="-1463040"/>
            <a:ext cx="5029200" cy="5029200"/>
          </a:xfrm>
          <a:prstGeom prst="ellipse">
            <a:avLst/>
          </a:prstGeom>
          <a:solidFill>
            <a:srgbClr val="1C7A72">
              <a:alpha val="45000"/>
            </a:srgbClr>
          </a:solidFill>
          <a:ln/>
        </p:spPr>
      </p:sp>
      <p:sp>
        <p:nvSpPr>
          <p:cNvPr id="3" name="Shape 1"/>
          <p:cNvSpPr/>
          <p:nvPr/>
        </p:nvSpPr>
        <p:spPr>
          <a:xfrm>
            <a:off x="-1645920" y="4754880"/>
            <a:ext cx="3840480" cy="3840480"/>
          </a:xfrm>
          <a:prstGeom prst="ellipse">
            <a:avLst/>
          </a:prstGeom>
          <a:solidFill>
            <a:srgbClr val="F2A93B">
              <a:alpha val="30000"/>
            </a:srgbClr>
          </a:solidFill>
          <a:ln/>
        </p:spPr>
      </p:sp>
      <p:sp>
        <p:nvSpPr>
          <p:cNvPr id="4" name="Text 2"/>
          <p:cNvSpPr/>
          <p:nvPr/>
        </p:nvSpPr>
        <p:spPr>
          <a:xfrm>
            <a:off x="822960" y="822960"/>
            <a:ext cx="7315200" cy="457200"/>
          </a:xfrm>
          <a:prstGeom prst="rect">
            <a:avLst/>
          </a:prstGeom>
          <a:noFill/>
          <a:ln/>
        </p:spPr>
        <p:txBody>
          <a:bodyPr wrap="square" rtlCol="0" anchor="ctr"/>
          <a:lstStyle/>
          <a:p>
            <a:pPr marL="0" indent="0">
              <a:buNone/>
            </a:pPr>
            <a:r>
              <a:rPr lang="en-US" sz="1600" b="1" kern="0" spc="200" dirty="0">
                <a:solidFill>
                  <a:srgbClr val="F2A93B"/>
                </a:solidFill>
                <a:latin typeface="Calibri" pitchFamily="34" charset="0"/>
                <a:ea typeface="Calibri" pitchFamily="34" charset="-122"/>
                <a:cs typeface="Calibri" pitchFamily="34" charset="-120"/>
              </a:rPr>
              <a:t>    </a:t>
            </a:r>
            <a:endParaRPr lang="en-US" sz="1600" dirty="0"/>
          </a:p>
        </p:txBody>
      </p:sp>
      <p:sp>
        <p:nvSpPr>
          <p:cNvPr id="5" name="Text 3"/>
          <p:cNvSpPr/>
          <p:nvPr/>
        </p:nvSpPr>
        <p:spPr>
          <a:xfrm>
            <a:off x="822960" y="1371600"/>
            <a:ext cx="9601200" cy="1737360"/>
          </a:xfrm>
          <a:prstGeom prst="rect">
            <a:avLst/>
          </a:prstGeom>
          <a:noFill/>
          <a:ln/>
        </p:spPr>
        <p:txBody>
          <a:bodyPr wrap="square"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Descriptive Statistics &amp;</a:t>
            </a:r>
            <a:endParaRPr lang="en-US" sz="4200" dirty="0"/>
          </a:p>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Data Visualization</a:t>
            </a:r>
            <a:endParaRPr lang="en-US" sz="4200" dirty="0"/>
          </a:p>
        </p:txBody>
      </p:sp>
      <p:sp>
        <p:nvSpPr>
          <p:cNvPr id="6" name="Text 4"/>
          <p:cNvSpPr/>
          <p:nvPr/>
        </p:nvSpPr>
        <p:spPr>
          <a:xfrm>
            <a:off x="822960" y="3063240"/>
            <a:ext cx="9601200" cy="640080"/>
          </a:xfrm>
          <a:prstGeom prst="rect">
            <a:avLst/>
          </a:prstGeom>
          <a:noFill/>
          <a:ln/>
        </p:spPr>
        <p:txBody>
          <a:bodyPr wrap="square" rtlCol="0" anchor="ctr"/>
          <a:lstStyle/>
          <a:p>
            <a:pPr marL="0" indent="0">
              <a:buNone/>
            </a:pPr>
            <a:r>
              <a:rPr lang="en-US" sz="2200" i="1" dirty="0">
                <a:solidFill>
                  <a:srgbClr val="CFE7E4"/>
                </a:solidFill>
                <a:latin typeface="Calibri" pitchFamily="34" charset="0"/>
                <a:ea typeface="Calibri" pitchFamily="34" charset="-122"/>
                <a:cs typeface="Calibri" pitchFamily="34" charset="-120"/>
              </a:rPr>
              <a:t>Measures of Dispersion — Variance, Standard Deviation &amp; IQR</a:t>
            </a:r>
            <a:endParaRPr lang="en-US" sz="2200" dirty="0"/>
          </a:p>
        </p:txBody>
      </p:sp>
      <p:sp>
        <p:nvSpPr>
          <p:cNvPr id="7" name="Shape 5"/>
          <p:cNvSpPr/>
          <p:nvPr/>
        </p:nvSpPr>
        <p:spPr>
          <a:xfrm>
            <a:off x="822960" y="3977640"/>
            <a:ext cx="6035040" cy="18288"/>
          </a:xfrm>
          <a:prstGeom prst="rect">
            <a:avLst/>
          </a:prstGeom>
          <a:solidFill>
            <a:srgbClr val="2A6D66"/>
          </a:solidFill>
          <a:ln/>
        </p:spPr>
      </p:sp>
      <p:sp>
        <p:nvSpPr>
          <p:cNvPr id="8" name="Text 6"/>
          <p:cNvSpPr/>
          <p:nvPr/>
        </p:nvSpPr>
        <p:spPr>
          <a:xfrm>
            <a:off x="822960" y="4206240"/>
            <a:ext cx="7315200" cy="1645920"/>
          </a:xfrm>
          <a:prstGeom prst="rect">
            <a:avLst/>
          </a:prstGeom>
          <a:noFill/>
          <a:ln/>
        </p:spPr>
        <p:txBody>
          <a:bodyPr wrap="square" rtlCol="0" anchor="t"/>
          <a:lstStyle/>
          <a:p>
            <a:pPr marL="0" indent="0">
              <a:lnSpc>
                <a:spcPct val="130000"/>
              </a:lnSpc>
              <a:buNone/>
            </a:pPr>
            <a:r>
              <a:rPr lang="en-US" sz="1800" b="1" dirty="0">
                <a:solidFill>
                  <a:srgbClr val="FFFFFF"/>
                </a:solidFill>
              </a:rPr>
              <a:t>Presidency University
</a:t>
            </a:r>
            <a:r>
              <a:rPr lang="en-US" sz="1500" dirty="0">
                <a:solidFill>
                  <a:srgbClr val="CFE7E4"/>
                </a:solidFill>
              </a:rPr>
              <a:t>School of Artificial Intelligence and Advanced Computing
Department of AI &amp; Robotics
Faculty: Asst. Prof. Manoj Sagar</a:t>
            </a:r>
            <a:endParaRPr lang="en-US" sz="1800" dirty="0"/>
          </a:p>
        </p:txBody>
      </p:sp>
      <p:sp>
        <p:nvSpPr>
          <p:cNvPr id="9" name="Shape 7"/>
          <p:cNvSpPr/>
          <p:nvPr/>
        </p:nvSpPr>
        <p:spPr>
          <a:xfrm>
            <a:off x="10058400" y="4846320"/>
            <a:ext cx="1371600" cy="1371600"/>
          </a:xfrm>
          <a:prstGeom prst="ellipse">
            <a:avLst/>
          </a:prstGeom>
          <a:solidFill>
            <a:srgbClr val="0E5C56"/>
          </a:solidFill>
          <a:ln/>
        </p:spPr>
      </p:sp>
      <p:sp>
        <p:nvSpPr>
          <p:cNvPr id="10" name="Text 8"/>
          <p:cNvSpPr/>
          <p:nvPr/>
        </p:nvSpPr>
        <p:spPr>
          <a:xfrm>
            <a:off x="10058400" y="4846320"/>
            <a:ext cx="1371600" cy="1371600"/>
          </a:xfrm>
          <a:prstGeom prst="rect">
            <a:avLst/>
          </a:prstGeom>
          <a:noFill/>
          <a:ln/>
        </p:spPr>
        <p:txBody>
          <a:bodyPr wrap="square" rtlCol="0" anchor="ctr"/>
          <a:lstStyle/>
          <a:p>
            <a:pPr marL="0" indent="0" algn="ctr">
              <a:buNone/>
            </a:pPr>
            <a:r>
              <a:rPr lang="en-US" sz="5100" b="1" dirty="0">
                <a:solidFill>
                  <a:srgbClr val="F2A93B"/>
                </a:solidFill>
                <a:latin typeface="Calibri" pitchFamily="34" charset="0"/>
                <a:ea typeface="Calibri" pitchFamily="34" charset="-122"/>
                <a:cs typeface="Calibri" pitchFamily="34" charset="-120"/>
              </a:rPr>
              <a:t>σ</a:t>
            </a:r>
            <a:endParaRPr lang="en-US" sz="5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About This Session</a:t>
            </a:r>
            <a:endParaRPr lang="en-US" sz="3000" dirty="0"/>
          </a:p>
        </p:txBody>
      </p:sp>
      <p:sp>
        <p:nvSpPr>
          <p:cNvPr id="3" name="Shape 1"/>
          <p:cNvSpPr/>
          <p:nvPr/>
        </p:nvSpPr>
        <p:spPr>
          <a:xfrm>
            <a:off x="548640" y="1234440"/>
            <a:ext cx="11094415" cy="13716"/>
          </a:xfrm>
          <a:prstGeom prst="rect">
            <a:avLst/>
          </a:prstGeom>
          <a:solidFill>
            <a:srgbClr val="E7F2F1"/>
          </a:solidFill>
          <a:ln/>
        </p:spPr>
      </p:sp>
      <p:sp>
        <p:nvSpPr>
          <p:cNvPr id="4" name="Shape 2"/>
          <p:cNvSpPr/>
          <p:nvPr/>
        </p:nvSpPr>
        <p:spPr>
          <a:xfrm>
            <a:off x="640080" y="1737360"/>
            <a:ext cx="2606040" cy="2743200"/>
          </a:xfrm>
          <a:prstGeom prst="roundRect">
            <a:avLst>
              <a:gd name="adj" fmla="val 3509"/>
            </a:avLst>
          </a:prstGeom>
          <a:solidFill>
            <a:srgbClr val="E7F2F1"/>
          </a:solidFill>
          <a:ln/>
        </p:spPr>
      </p:sp>
      <p:sp>
        <p:nvSpPr>
          <p:cNvPr id="5" name="Shape 3"/>
          <p:cNvSpPr/>
          <p:nvPr/>
        </p:nvSpPr>
        <p:spPr>
          <a:xfrm>
            <a:off x="1531620" y="2011680"/>
            <a:ext cx="822960" cy="822960"/>
          </a:xfrm>
          <a:prstGeom prst="ellipse">
            <a:avLst/>
          </a:prstGeom>
          <a:solidFill>
            <a:srgbClr val="0B4F4A"/>
          </a:solidFill>
          <a:ln/>
        </p:spPr>
      </p:sp>
      <p:sp>
        <p:nvSpPr>
          <p:cNvPr id="6" name="Text 4"/>
          <p:cNvSpPr/>
          <p:nvPr/>
        </p:nvSpPr>
        <p:spPr>
          <a:xfrm>
            <a:off x="1531620" y="2011680"/>
            <a:ext cx="822960" cy="822960"/>
          </a:xfrm>
          <a:prstGeom prst="rect">
            <a:avLst/>
          </a:prstGeom>
          <a:noFill/>
          <a:ln/>
        </p:spPr>
        <p:txBody>
          <a:bodyPr wrap="square" rtlCol="0" anchor="ctr"/>
          <a:lstStyle/>
          <a:p>
            <a:pPr marL="0" indent="0" algn="ctr">
              <a:buNone/>
            </a:pPr>
            <a:r>
              <a:rPr lang="en-US" sz="3060" b="1" dirty="0">
                <a:solidFill>
                  <a:srgbClr val="FFFFFF"/>
                </a:solidFill>
                <a:latin typeface="Calibri" pitchFamily="34" charset="0"/>
                <a:ea typeface="Calibri" pitchFamily="34" charset="-122"/>
                <a:cs typeface="Calibri" pitchFamily="34" charset="-120"/>
              </a:rPr>
              <a:t>ᵢ</a:t>
            </a:r>
            <a:endParaRPr lang="en-US" sz="3060" dirty="0"/>
          </a:p>
        </p:txBody>
      </p:sp>
      <p:sp>
        <p:nvSpPr>
          <p:cNvPr id="7" name="Text 5"/>
          <p:cNvSpPr/>
          <p:nvPr/>
        </p:nvSpPr>
        <p:spPr>
          <a:xfrm>
            <a:off x="777240" y="2971800"/>
            <a:ext cx="2331720" cy="320040"/>
          </a:xfrm>
          <a:prstGeom prst="rect">
            <a:avLst/>
          </a:prstGeom>
          <a:noFill/>
          <a:ln/>
        </p:spPr>
        <p:txBody>
          <a:bodyPr wrap="square" rtlCol="0" anchor="ctr"/>
          <a:lstStyle/>
          <a:p>
            <a:pPr marL="0" indent="0" algn="ctr">
              <a:buNone/>
            </a:pPr>
            <a:r>
              <a:rPr lang="en-US" sz="1300" b="1" dirty="0">
                <a:solidFill>
                  <a:srgbClr val="C97F12"/>
                </a:solidFill>
                <a:latin typeface="Calibri" pitchFamily="34" charset="0"/>
                <a:ea typeface="Calibri" pitchFamily="34" charset="-122"/>
                <a:cs typeface="Calibri" pitchFamily="34" charset="-120"/>
              </a:rPr>
              <a:t>INSTITUTION</a:t>
            </a:r>
            <a:endParaRPr lang="en-US" sz="1300" dirty="0"/>
          </a:p>
        </p:txBody>
      </p:sp>
      <p:sp>
        <p:nvSpPr>
          <p:cNvPr id="8" name="Text 6"/>
          <p:cNvSpPr/>
          <p:nvPr/>
        </p:nvSpPr>
        <p:spPr>
          <a:xfrm>
            <a:off x="777240" y="3337560"/>
            <a:ext cx="2331720" cy="1005840"/>
          </a:xfrm>
          <a:prstGeom prst="rect">
            <a:avLst/>
          </a:prstGeom>
          <a:noFill/>
          <a:ln/>
        </p:spPr>
        <p:txBody>
          <a:bodyPr wrap="square" rtlCol="0" anchor="t"/>
          <a:lstStyle/>
          <a:p>
            <a:pPr marL="0" indent="0" algn="ctr">
              <a:buNone/>
            </a:pPr>
            <a:r>
              <a:rPr lang="en-US" sz="1400" dirty="0">
                <a:solidFill>
                  <a:srgbClr val="172A28"/>
                </a:solidFill>
                <a:latin typeface="Calibri" pitchFamily="34" charset="0"/>
                <a:ea typeface="Calibri" pitchFamily="34" charset="-122"/>
                <a:cs typeface="Calibri" pitchFamily="34" charset="-120"/>
              </a:rPr>
              <a:t>Presidency University, Bengaluru</a:t>
            </a:r>
            <a:endParaRPr lang="en-US" sz="1400" dirty="0"/>
          </a:p>
        </p:txBody>
      </p:sp>
      <p:sp>
        <p:nvSpPr>
          <p:cNvPr id="9" name="Shape 7"/>
          <p:cNvSpPr/>
          <p:nvPr/>
        </p:nvSpPr>
        <p:spPr>
          <a:xfrm>
            <a:off x="3429000" y="1737360"/>
            <a:ext cx="2606040" cy="2743200"/>
          </a:xfrm>
          <a:prstGeom prst="roundRect">
            <a:avLst>
              <a:gd name="adj" fmla="val 3509"/>
            </a:avLst>
          </a:prstGeom>
          <a:solidFill>
            <a:srgbClr val="E7F2F1"/>
          </a:solidFill>
          <a:ln/>
        </p:spPr>
      </p:sp>
      <p:sp>
        <p:nvSpPr>
          <p:cNvPr id="10" name="Shape 8"/>
          <p:cNvSpPr/>
          <p:nvPr/>
        </p:nvSpPr>
        <p:spPr>
          <a:xfrm>
            <a:off x="4320540" y="2011680"/>
            <a:ext cx="822960" cy="822960"/>
          </a:xfrm>
          <a:prstGeom prst="ellipse">
            <a:avLst/>
          </a:prstGeom>
          <a:solidFill>
            <a:srgbClr val="0B4F4A"/>
          </a:solidFill>
          <a:ln/>
        </p:spPr>
      </p:sp>
      <p:sp>
        <p:nvSpPr>
          <p:cNvPr id="11" name="Text 9"/>
          <p:cNvSpPr/>
          <p:nvPr/>
        </p:nvSpPr>
        <p:spPr>
          <a:xfrm>
            <a:off x="4320540" y="2011680"/>
            <a:ext cx="822960" cy="822960"/>
          </a:xfrm>
          <a:prstGeom prst="rect">
            <a:avLst/>
          </a:prstGeom>
          <a:noFill/>
          <a:ln/>
        </p:spPr>
        <p:txBody>
          <a:bodyPr wrap="square" rtlCol="0" anchor="ctr"/>
          <a:lstStyle/>
          <a:p>
            <a:pPr marL="0" indent="0" algn="ctr">
              <a:buNone/>
            </a:pPr>
            <a:r>
              <a:rPr lang="en-US" sz="3060" b="1" dirty="0">
                <a:solidFill>
                  <a:srgbClr val="FFFFFF"/>
                </a:solidFill>
                <a:latin typeface="Calibri" pitchFamily="34" charset="0"/>
                <a:ea typeface="Calibri" pitchFamily="34" charset="-122"/>
                <a:cs typeface="Calibri" pitchFamily="34" charset="-120"/>
              </a:rPr>
              <a:t>⚙</a:t>
            </a:r>
            <a:endParaRPr lang="en-US" sz="3060" dirty="0"/>
          </a:p>
        </p:txBody>
      </p:sp>
      <p:sp>
        <p:nvSpPr>
          <p:cNvPr id="12" name="Text 10"/>
          <p:cNvSpPr/>
          <p:nvPr/>
        </p:nvSpPr>
        <p:spPr>
          <a:xfrm>
            <a:off x="3566160" y="2971800"/>
            <a:ext cx="2331720" cy="320040"/>
          </a:xfrm>
          <a:prstGeom prst="rect">
            <a:avLst/>
          </a:prstGeom>
          <a:noFill/>
          <a:ln/>
        </p:spPr>
        <p:txBody>
          <a:bodyPr wrap="square" rtlCol="0" anchor="ctr"/>
          <a:lstStyle/>
          <a:p>
            <a:pPr marL="0" indent="0" algn="ctr">
              <a:buNone/>
            </a:pPr>
            <a:r>
              <a:rPr lang="en-US" sz="1300" b="1" dirty="0">
                <a:solidFill>
                  <a:srgbClr val="C97F12"/>
                </a:solidFill>
                <a:latin typeface="Calibri" pitchFamily="34" charset="0"/>
                <a:ea typeface="Calibri" pitchFamily="34" charset="-122"/>
                <a:cs typeface="Calibri" pitchFamily="34" charset="-120"/>
              </a:rPr>
              <a:t>SCHOOL</a:t>
            </a:r>
            <a:endParaRPr lang="en-US" sz="1300" dirty="0"/>
          </a:p>
        </p:txBody>
      </p:sp>
      <p:sp>
        <p:nvSpPr>
          <p:cNvPr id="13" name="Text 11"/>
          <p:cNvSpPr/>
          <p:nvPr/>
        </p:nvSpPr>
        <p:spPr>
          <a:xfrm>
            <a:off x="3566160" y="3337560"/>
            <a:ext cx="2331720" cy="1005840"/>
          </a:xfrm>
          <a:prstGeom prst="rect">
            <a:avLst/>
          </a:prstGeom>
          <a:noFill/>
          <a:ln/>
        </p:spPr>
        <p:txBody>
          <a:bodyPr wrap="square" rtlCol="0" anchor="t"/>
          <a:lstStyle/>
          <a:p>
            <a:pPr marL="0" indent="0" algn="ctr">
              <a:buNone/>
            </a:pPr>
            <a:r>
              <a:rPr lang="en-US" sz="1400" dirty="0">
                <a:solidFill>
                  <a:srgbClr val="172A28"/>
                </a:solidFill>
                <a:latin typeface="Calibri" pitchFamily="34" charset="0"/>
                <a:ea typeface="Calibri" pitchFamily="34" charset="-122"/>
                <a:cs typeface="Calibri" pitchFamily="34" charset="-120"/>
              </a:rPr>
              <a:t>School of Artificial Intelligence and Advanced Computing</a:t>
            </a:r>
            <a:endParaRPr lang="en-US" sz="1400" dirty="0"/>
          </a:p>
        </p:txBody>
      </p:sp>
      <p:sp>
        <p:nvSpPr>
          <p:cNvPr id="14" name="Shape 12"/>
          <p:cNvSpPr/>
          <p:nvPr/>
        </p:nvSpPr>
        <p:spPr>
          <a:xfrm>
            <a:off x="6217920" y="1737360"/>
            <a:ext cx="2606040" cy="2743200"/>
          </a:xfrm>
          <a:prstGeom prst="roundRect">
            <a:avLst>
              <a:gd name="adj" fmla="val 3509"/>
            </a:avLst>
          </a:prstGeom>
          <a:solidFill>
            <a:srgbClr val="E7F2F1"/>
          </a:solidFill>
          <a:ln/>
        </p:spPr>
      </p:sp>
      <p:sp>
        <p:nvSpPr>
          <p:cNvPr id="15" name="Shape 13"/>
          <p:cNvSpPr/>
          <p:nvPr/>
        </p:nvSpPr>
        <p:spPr>
          <a:xfrm>
            <a:off x="7109460" y="2011680"/>
            <a:ext cx="822960" cy="822960"/>
          </a:xfrm>
          <a:prstGeom prst="ellipse">
            <a:avLst/>
          </a:prstGeom>
          <a:solidFill>
            <a:srgbClr val="0B4F4A"/>
          </a:solidFill>
          <a:ln/>
        </p:spPr>
      </p:sp>
      <p:sp>
        <p:nvSpPr>
          <p:cNvPr id="16" name="Text 14"/>
          <p:cNvSpPr/>
          <p:nvPr/>
        </p:nvSpPr>
        <p:spPr>
          <a:xfrm>
            <a:off x="7109460" y="2011680"/>
            <a:ext cx="822960" cy="822960"/>
          </a:xfrm>
          <a:prstGeom prst="rect">
            <a:avLst/>
          </a:prstGeom>
          <a:noFill/>
          <a:ln/>
        </p:spPr>
        <p:txBody>
          <a:bodyPr wrap="square" rtlCol="0" anchor="ctr"/>
          <a:lstStyle/>
          <a:p>
            <a:pPr marL="0" indent="0" algn="ctr">
              <a:buNone/>
            </a:pPr>
            <a:r>
              <a:rPr lang="en-US" sz="3060" b="1" dirty="0">
                <a:solidFill>
                  <a:srgbClr val="FFFFFF"/>
                </a:solidFill>
                <a:latin typeface="Calibri" pitchFamily="34" charset="0"/>
                <a:ea typeface="Calibri" pitchFamily="34" charset="-122"/>
                <a:cs typeface="Calibri" pitchFamily="34" charset="-120"/>
              </a:rPr>
              <a:t>◈</a:t>
            </a:r>
            <a:endParaRPr lang="en-US" sz="3060" dirty="0"/>
          </a:p>
        </p:txBody>
      </p:sp>
      <p:sp>
        <p:nvSpPr>
          <p:cNvPr id="17" name="Text 15"/>
          <p:cNvSpPr/>
          <p:nvPr/>
        </p:nvSpPr>
        <p:spPr>
          <a:xfrm>
            <a:off x="6355080" y="2971800"/>
            <a:ext cx="2331720" cy="320040"/>
          </a:xfrm>
          <a:prstGeom prst="rect">
            <a:avLst/>
          </a:prstGeom>
          <a:noFill/>
          <a:ln/>
        </p:spPr>
        <p:txBody>
          <a:bodyPr wrap="square" rtlCol="0" anchor="ctr"/>
          <a:lstStyle/>
          <a:p>
            <a:pPr marL="0" indent="0" algn="ctr">
              <a:buNone/>
            </a:pPr>
            <a:r>
              <a:rPr lang="en-US" sz="1300" b="1" dirty="0">
                <a:solidFill>
                  <a:srgbClr val="C97F12"/>
                </a:solidFill>
                <a:latin typeface="Calibri" pitchFamily="34" charset="0"/>
                <a:ea typeface="Calibri" pitchFamily="34" charset="-122"/>
                <a:cs typeface="Calibri" pitchFamily="34" charset="-120"/>
              </a:rPr>
              <a:t>DEPARTMENT</a:t>
            </a:r>
            <a:endParaRPr lang="en-US" sz="1300" dirty="0"/>
          </a:p>
        </p:txBody>
      </p:sp>
      <p:sp>
        <p:nvSpPr>
          <p:cNvPr id="18" name="Text 16"/>
          <p:cNvSpPr/>
          <p:nvPr/>
        </p:nvSpPr>
        <p:spPr>
          <a:xfrm>
            <a:off x="6355080" y="3337560"/>
            <a:ext cx="2331720" cy="1005840"/>
          </a:xfrm>
          <a:prstGeom prst="rect">
            <a:avLst/>
          </a:prstGeom>
          <a:noFill/>
          <a:ln/>
        </p:spPr>
        <p:txBody>
          <a:bodyPr wrap="square" rtlCol="0" anchor="t"/>
          <a:lstStyle/>
          <a:p>
            <a:pPr marL="0" indent="0" algn="ctr">
              <a:buNone/>
            </a:pPr>
            <a:r>
              <a:rPr lang="en-US" sz="1400" dirty="0">
                <a:solidFill>
                  <a:srgbClr val="172A28"/>
                </a:solidFill>
                <a:latin typeface="Calibri" pitchFamily="34" charset="0"/>
                <a:ea typeface="Calibri" pitchFamily="34" charset="-122"/>
                <a:cs typeface="Calibri" pitchFamily="34" charset="-120"/>
              </a:rPr>
              <a:t>Department of AI &amp; Robotics</a:t>
            </a:r>
            <a:endParaRPr lang="en-US" sz="1400" dirty="0"/>
          </a:p>
        </p:txBody>
      </p:sp>
      <p:sp>
        <p:nvSpPr>
          <p:cNvPr id="19" name="Shape 17"/>
          <p:cNvSpPr/>
          <p:nvPr/>
        </p:nvSpPr>
        <p:spPr>
          <a:xfrm>
            <a:off x="9006840" y="1737360"/>
            <a:ext cx="2606040" cy="2743200"/>
          </a:xfrm>
          <a:prstGeom prst="roundRect">
            <a:avLst>
              <a:gd name="adj" fmla="val 3509"/>
            </a:avLst>
          </a:prstGeom>
          <a:solidFill>
            <a:srgbClr val="E7F2F1"/>
          </a:solidFill>
          <a:ln/>
        </p:spPr>
      </p:sp>
      <p:sp>
        <p:nvSpPr>
          <p:cNvPr id="20" name="Shape 18"/>
          <p:cNvSpPr/>
          <p:nvPr/>
        </p:nvSpPr>
        <p:spPr>
          <a:xfrm>
            <a:off x="9898380" y="2011680"/>
            <a:ext cx="822960" cy="822960"/>
          </a:xfrm>
          <a:prstGeom prst="ellipse">
            <a:avLst/>
          </a:prstGeom>
          <a:solidFill>
            <a:srgbClr val="0B4F4A"/>
          </a:solidFill>
          <a:ln/>
        </p:spPr>
      </p:sp>
      <p:sp>
        <p:nvSpPr>
          <p:cNvPr id="21" name="Text 19"/>
          <p:cNvSpPr/>
          <p:nvPr/>
        </p:nvSpPr>
        <p:spPr>
          <a:xfrm>
            <a:off x="9898380" y="2011680"/>
            <a:ext cx="822960" cy="822960"/>
          </a:xfrm>
          <a:prstGeom prst="rect">
            <a:avLst/>
          </a:prstGeom>
          <a:noFill/>
          <a:ln/>
        </p:spPr>
        <p:txBody>
          <a:bodyPr wrap="square" rtlCol="0" anchor="ctr"/>
          <a:lstStyle/>
          <a:p>
            <a:pPr marL="0" indent="0" algn="ctr">
              <a:buNone/>
            </a:pPr>
            <a:r>
              <a:rPr lang="en-US" sz="3060" b="1" dirty="0">
                <a:solidFill>
                  <a:srgbClr val="FFFFFF"/>
                </a:solidFill>
                <a:latin typeface="Calibri" pitchFamily="34" charset="0"/>
                <a:ea typeface="Calibri" pitchFamily="34" charset="-122"/>
                <a:cs typeface="Calibri" pitchFamily="34" charset="-120"/>
              </a:rPr>
              <a:t>✎</a:t>
            </a:r>
            <a:endParaRPr lang="en-US" sz="3060" dirty="0"/>
          </a:p>
        </p:txBody>
      </p:sp>
      <p:sp>
        <p:nvSpPr>
          <p:cNvPr id="22" name="Text 20"/>
          <p:cNvSpPr/>
          <p:nvPr/>
        </p:nvSpPr>
        <p:spPr>
          <a:xfrm>
            <a:off x="9144000" y="2971800"/>
            <a:ext cx="2331720" cy="320040"/>
          </a:xfrm>
          <a:prstGeom prst="rect">
            <a:avLst/>
          </a:prstGeom>
          <a:noFill/>
          <a:ln/>
        </p:spPr>
        <p:txBody>
          <a:bodyPr wrap="square" rtlCol="0" anchor="ctr"/>
          <a:lstStyle/>
          <a:p>
            <a:pPr marL="0" indent="0" algn="ctr">
              <a:buNone/>
            </a:pPr>
            <a:r>
              <a:rPr lang="en-US" sz="1300" b="1" dirty="0">
                <a:solidFill>
                  <a:srgbClr val="C97F12"/>
                </a:solidFill>
                <a:latin typeface="Calibri" pitchFamily="34" charset="0"/>
                <a:ea typeface="Calibri" pitchFamily="34" charset="-122"/>
                <a:cs typeface="Calibri" pitchFamily="34" charset="-120"/>
              </a:rPr>
              <a:t>FACULTY</a:t>
            </a:r>
            <a:endParaRPr lang="en-US" sz="1300" dirty="0"/>
          </a:p>
        </p:txBody>
      </p:sp>
      <p:sp>
        <p:nvSpPr>
          <p:cNvPr id="23" name="Text 21"/>
          <p:cNvSpPr/>
          <p:nvPr/>
        </p:nvSpPr>
        <p:spPr>
          <a:xfrm>
            <a:off x="9144000" y="3337560"/>
            <a:ext cx="2331720" cy="1005840"/>
          </a:xfrm>
          <a:prstGeom prst="rect">
            <a:avLst/>
          </a:prstGeom>
          <a:noFill/>
          <a:ln/>
        </p:spPr>
        <p:txBody>
          <a:bodyPr wrap="square" rtlCol="0" anchor="t"/>
          <a:lstStyle/>
          <a:p>
            <a:pPr marL="0" indent="0" algn="ctr">
              <a:buNone/>
            </a:pPr>
            <a:r>
              <a:rPr lang="en-US" sz="1400" dirty="0">
                <a:solidFill>
                  <a:srgbClr val="172A28"/>
                </a:solidFill>
                <a:latin typeface="Calibri" pitchFamily="34" charset="0"/>
                <a:ea typeface="Calibri" pitchFamily="34" charset="-122"/>
                <a:cs typeface="Calibri" pitchFamily="34" charset="-120"/>
              </a:rPr>
              <a:t>Asst. Prof. Manoj Sagar</a:t>
            </a:r>
            <a:endParaRPr lang="en-US" sz="1400" dirty="0"/>
          </a:p>
        </p:txBody>
      </p:sp>
      <p:sp>
        <p:nvSpPr>
          <p:cNvPr id="24" name="Text 22"/>
          <p:cNvSpPr/>
          <p:nvPr/>
        </p:nvSpPr>
        <p:spPr>
          <a:xfrm>
            <a:off x="640080" y="4846320"/>
            <a:ext cx="10911535" cy="457200"/>
          </a:xfrm>
          <a:prstGeom prst="rect">
            <a:avLst/>
          </a:prstGeom>
          <a:noFill/>
          <a:ln/>
        </p:spPr>
        <p:txBody>
          <a:bodyPr wrap="square" rtlCol="0" anchor="ctr"/>
          <a:lstStyle/>
          <a:p>
            <a:pPr marL="0" indent="0" algn="ctr">
              <a:buNone/>
            </a:pPr>
            <a:r>
              <a:rPr lang="en-US" sz="1600" i="1" dirty="0">
                <a:solidFill>
                  <a:srgbClr val="0B4F4A"/>
                </a:solidFill>
                <a:latin typeface="Calibri" pitchFamily="34" charset="0"/>
                <a:ea typeface="Calibri" pitchFamily="34" charset="-122"/>
                <a:cs typeface="Calibri" pitchFamily="34" charset="-120"/>
              </a:rPr>
              <a:t>Course:  –    |   Unit: Descriptive Statistics &amp; Data Visualization</a:t>
            </a:r>
            <a:endParaRPr lang="en-US" sz="1600" dirty="0"/>
          </a:p>
        </p:txBody>
      </p:sp>
      <p:sp>
        <p:nvSpPr>
          <p:cNvPr id="25" name="Text 23"/>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26" name="Text 24"/>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27" name="Text 25"/>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Learning Objectives</a:t>
            </a:r>
            <a:endParaRPr lang="en-US" sz="3000" dirty="0"/>
          </a:p>
        </p:txBody>
      </p:sp>
      <p:sp>
        <p:nvSpPr>
          <p:cNvPr id="3" name="Shape 1"/>
          <p:cNvSpPr/>
          <p:nvPr/>
        </p:nvSpPr>
        <p:spPr>
          <a:xfrm>
            <a:off x="640080" y="1554480"/>
            <a:ext cx="502920" cy="502920"/>
          </a:xfrm>
          <a:prstGeom prst="ellipse">
            <a:avLst/>
          </a:prstGeom>
          <a:solidFill>
            <a:srgbClr val="0B4F4A"/>
          </a:solidFill>
          <a:ln/>
        </p:spPr>
      </p:sp>
      <p:sp>
        <p:nvSpPr>
          <p:cNvPr id="4" name="Text 2"/>
          <p:cNvSpPr/>
          <p:nvPr/>
        </p:nvSpPr>
        <p:spPr>
          <a:xfrm>
            <a:off x="640080" y="1554480"/>
            <a:ext cx="502920" cy="502920"/>
          </a:xfrm>
          <a:prstGeom prst="rect">
            <a:avLst/>
          </a:prstGeom>
          <a:noFill/>
          <a:ln/>
        </p:spPr>
        <p:txBody>
          <a:bodyPr wrap="square"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1</a:t>
            </a:r>
            <a:endParaRPr lang="en-US" sz="1870" dirty="0"/>
          </a:p>
        </p:txBody>
      </p:sp>
      <p:sp>
        <p:nvSpPr>
          <p:cNvPr id="5" name="Text 3"/>
          <p:cNvSpPr/>
          <p:nvPr/>
        </p:nvSpPr>
        <p:spPr>
          <a:xfrm>
            <a:off x="1371600" y="1508760"/>
            <a:ext cx="9875520" cy="777240"/>
          </a:xfrm>
          <a:prstGeom prst="rect">
            <a:avLst/>
          </a:prstGeom>
          <a:noFill/>
          <a:ln/>
        </p:spPr>
        <p:txBody>
          <a:bodyPr wrap="square" rtlCol="0" anchor="ctr"/>
          <a:lstStyle/>
          <a:p>
            <a:pPr marL="0" indent="0">
              <a:buNone/>
            </a:pPr>
            <a:r>
              <a:rPr lang="en-US" sz="1900" dirty="0">
                <a:solidFill>
                  <a:srgbClr val="172A28"/>
                </a:solidFill>
                <a:latin typeface="Calibri" pitchFamily="34" charset="0"/>
                <a:ea typeface="Calibri" pitchFamily="34" charset="-122"/>
                <a:cs typeface="Calibri" pitchFamily="34" charset="-120"/>
              </a:rPr>
              <a:t>Explain why measures of central tendency alone don't tell the full story about data</a:t>
            </a:r>
            <a:endParaRPr lang="en-US" sz="1900" dirty="0"/>
          </a:p>
        </p:txBody>
      </p:sp>
      <p:sp>
        <p:nvSpPr>
          <p:cNvPr id="6" name="Shape 4"/>
          <p:cNvSpPr/>
          <p:nvPr/>
        </p:nvSpPr>
        <p:spPr>
          <a:xfrm>
            <a:off x="640080" y="2468880"/>
            <a:ext cx="502920" cy="502920"/>
          </a:xfrm>
          <a:prstGeom prst="ellipse">
            <a:avLst/>
          </a:prstGeom>
          <a:solidFill>
            <a:srgbClr val="0B4F4A"/>
          </a:solidFill>
          <a:ln/>
        </p:spPr>
      </p:sp>
      <p:sp>
        <p:nvSpPr>
          <p:cNvPr id="7" name="Text 5"/>
          <p:cNvSpPr/>
          <p:nvPr/>
        </p:nvSpPr>
        <p:spPr>
          <a:xfrm>
            <a:off x="640080" y="2468880"/>
            <a:ext cx="502920" cy="502920"/>
          </a:xfrm>
          <a:prstGeom prst="rect">
            <a:avLst/>
          </a:prstGeom>
          <a:noFill/>
          <a:ln/>
        </p:spPr>
        <p:txBody>
          <a:bodyPr wrap="square"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2</a:t>
            </a:r>
            <a:endParaRPr lang="en-US" sz="1870" dirty="0"/>
          </a:p>
        </p:txBody>
      </p:sp>
      <p:sp>
        <p:nvSpPr>
          <p:cNvPr id="8" name="Text 6"/>
          <p:cNvSpPr/>
          <p:nvPr/>
        </p:nvSpPr>
        <p:spPr>
          <a:xfrm>
            <a:off x="1371600" y="2423160"/>
            <a:ext cx="9875520" cy="777240"/>
          </a:xfrm>
          <a:prstGeom prst="rect">
            <a:avLst/>
          </a:prstGeom>
          <a:noFill/>
          <a:ln/>
        </p:spPr>
        <p:txBody>
          <a:bodyPr wrap="square" rtlCol="0" anchor="ctr"/>
          <a:lstStyle/>
          <a:p>
            <a:pPr marL="0" indent="0">
              <a:buNone/>
            </a:pPr>
            <a:r>
              <a:rPr lang="en-US" sz="1900" dirty="0">
                <a:solidFill>
                  <a:srgbClr val="172A28"/>
                </a:solidFill>
                <a:latin typeface="Calibri" pitchFamily="34" charset="0"/>
                <a:ea typeface="Calibri" pitchFamily="34" charset="-122"/>
                <a:cs typeface="Calibri" pitchFamily="34" charset="-120"/>
              </a:rPr>
              <a:t>Compute and interpret the Range, Variance, and Standard Deviation (population &amp; sample)</a:t>
            </a:r>
            <a:endParaRPr lang="en-US" sz="1900" dirty="0"/>
          </a:p>
        </p:txBody>
      </p:sp>
      <p:sp>
        <p:nvSpPr>
          <p:cNvPr id="9" name="Shape 7"/>
          <p:cNvSpPr/>
          <p:nvPr/>
        </p:nvSpPr>
        <p:spPr>
          <a:xfrm>
            <a:off x="640080" y="3383280"/>
            <a:ext cx="502920" cy="502920"/>
          </a:xfrm>
          <a:prstGeom prst="ellipse">
            <a:avLst/>
          </a:prstGeom>
          <a:solidFill>
            <a:srgbClr val="0B4F4A"/>
          </a:solidFill>
          <a:ln/>
        </p:spPr>
      </p:sp>
      <p:sp>
        <p:nvSpPr>
          <p:cNvPr id="10" name="Text 8"/>
          <p:cNvSpPr/>
          <p:nvPr/>
        </p:nvSpPr>
        <p:spPr>
          <a:xfrm>
            <a:off x="640080" y="3383280"/>
            <a:ext cx="502920" cy="502920"/>
          </a:xfrm>
          <a:prstGeom prst="rect">
            <a:avLst/>
          </a:prstGeom>
          <a:noFill/>
          <a:ln/>
        </p:spPr>
        <p:txBody>
          <a:bodyPr wrap="square"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3</a:t>
            </a:r>
            <a:endParaRPr lang="en-US" sz="1870" dirty="0"/>
          </a:p>
        </p:txBody>
      </p:sp>
      <p:sp>
        <p:nvSpPr>
          <p:cNvPr id="11" name="Text 9"/>
          <p:cNvSpPr/>
          <p:nvPr/>
        </p:nvSpPr>
        <p:spPr>
          <a:xfrm>
            <a:off x="1371600" y="3337560"/>
            <a:ext cx="9875520" cy="777240"/>
          </a:xfrm>
          <a:prstGeom prst="rect">
            <a:avLst/>
          </a:prstGeom>
          <a:noFill/>
          <a:ln/>
        </p:spPr>
        <p:txBody>
          <a:bodyPr wrap="square" rtlCol="0" anchor="ctr"/>
          <a:lstStyle/>
          <a:p>
            <a:pPr marL="0" indent="0">
              <a:buNone/>
            </a:pPr>
            <a:r>
              <a:rPr lang="en-US" sz="1900" dirty="0">
                <a:solidFill>
                  <a:srgbClr val="172A28"/>
                </a:solidFill>
                <a:latin typeface="Calibri" pitchFamily="34" charset="0"/>
                <a:ea typeface="Calibri" pitchFamily="34" charset="-122"/>
                <a:cs typeface="Calibri" pitchFamily="34" charset="-120"/>
              </a:rPr>
              <a:t>Understand why sample variance divides by (n − 1) instead of n</a:t>
            </a:r>
            <a:endParaRPr lang="en-US" sz="1900" dirty="0"/>
          </a:p>
        </p:txBody>
      </p:sp>
      <p:sp>
        <p:nvSpPr>
          <p:cNvPr id="12" name="Shape 10"/>
          <p:cNvSpPr/>
          <p:nvPr/>
        </p:nvSpPr>
        <p:spPr>
          <a:xfrm>
            <a:off x="640080" y="4297680"/>
            <a:ext cx="502920" cy="502920"/>
          </a:xfrm>
          <a:prstGeom prst="ellipse">
            <a:avLst/>
          </a:prstGeom>
          <a:solidFill>
            <a:srgbClr val="0B4F4A"/>
          </a:solidFill>
          <a:ln/>
        </p:spPr>
      </p:sp>
      <p:sp>
        <p:nvSpPr>
          <p:cNvPr id="13" name="Text 11"/>
          <p:cNvSpPr/>
          <p:nvPr/>
        </p:nvSpPr>
        <p:spPr>
          <a:xfrm>
            <a:off x="640080" y="4297680"/>
            <a:ext cx="502920" cy="502920"/>
          </a:xfrm>
          <a:prstGeom prst="rect">
            <a:avLst/>
          </a:prstGeom>
          <a:noFill/>
          <a:ln/>
        </p:spPr>
        <p:txBody>
          <a:bodyPr wrap="square"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4</a:t>
            </a:r>
            <a:endParaRPr lang="en-US" sz="1870" dirty="0"/>
          </a:p>
        </p:txBody>
      </p:sp>
      <p:sp>
        <p:nvSpPr>
          <p:cNvPr id="14" name="Text 12"/>
          <p:cNvSpPr/>
          <p:nvPr/>
        </p:nvSpPr>
        <p:spPr>
          <a:xfrm>
            <a:off x="1371600" y="4251960"/>
            <a:ext cx="9875520" cy="777240"/>
          </a:xfrm>
          <a:prstGeom prst="rect">
            <a:avLst/>
          </a:prstGeom>
          <a:noFill/>
          <a:ln/>
        </p:spPr>
        <p:txBody>
          <a:bodyPr wrap="square" rtlCol="0" anchor="ctr"/>
          <a:lstStyle/>
          <a:p>
            <a:pPr marL="0" indent="0">
              <a:buNone/>
            </a:pPr>
            <a:r>
              <a:rPr lang="en-US" sz="1900" dirty="0">
                <a:solidFill>
                  <a:srgbClr val="172A28"/>
                </a:solidFill>
                <a:latin typeface="Calibri" pitchFamily="34" charset="0"/>
                <a:ea typeface="Calibri" pitchFamily="34" charset="-122"/>
                <a:cs typeface="Calibri" pitchFamily="34" charset="-120"/>
              </a:rPr>
              <a:t>Compute the Interquartile Range (IQR) and use it to flag outliers</a:t>
            </a:r>
            <a:endParaRPr lang="en-US" sz="1900" dirty="0"/>
          </a:p>
        </p:txBody>
      </p:sp>
      <p:sp>
        <p:nvSpPr>
          <p:cNvPr id="15" name="Shape 13"/>
          <p:cNvSpPr/>
          <p:nvPr/>
        </p:nvSpPr>
        <p:spPr>
          <a:xfrm>
            <a:off x="640080" y="5212080"/>
            <a:ext cx="502920" cy="502920"/>
          </a:xfrm>
          <a:prstGeom prst="ellipse">
            <a:avLst/>
          </a:prstGeom>
          <a:solidFill>
            <a:srgbClr val="0B4F4A"/>
          </a:solidFill>
          <a:ln/>
        </p:spPr>
      </p:sp>
      <p:sp>
        <p:nvSpPr>
          <p:cNvPr id="16" name="Text 14"/>
          <p:cNvSpPr/>
          <p:nvPr/>
        </p:nvSpPr>
        <p:spPr>
          <a:xfrm>
            <a:off x="640080" y="5212080"/>
            <a:ext cx="502920" cy="502920"/>
          </a:xfrm>
          <a:prstGeom prst="rect">
            <a:avLst/>
          </a:prstGeom>
          <a:noFill/>
          <a:ln/>
        </p:spPr>
        <p:txBody>
          <a:bodyPr wrap="square"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5</a:t>
            </a:r>
            <a:endParaRPr lang="en-US" sz="1870" dirty="0"/>
          </a:p>
        </p:txBody>
      </p:sp>
      <p:sp>
        <p:nvSpPr>
          <p:cNvPr id="17" name="Text 15"/>
          <p:cNvSpPr/>
          <p:nvPr/>
        </p:nvSpPr>
        <p:spPr>
          <a:xfrm>
            <a:off x="1371600" y="5166360"/>
            <a:ext cx="9875520" cy="777240"/>
          </a:xfrm>
          <a:prstGeom prst="rect">
            <a:avLst/>
          </a:prstGeom>
          <a:noFill/>
          <a:ln/>
        </p:spPr>
        <p:txBody>
          <a:bodyPr wrap="square" rtlCol="0" anchor="ctr"/>
          <a:lstStyle/>
          <a:p>
            <a:pPr marL="0" indent="0">
              <a:buNone/>
            </a:pPr>
            <a:r>
              <a:rPr lang="en-US" sz="1900" dirty="0">
                <a:solidFill>
                  <a:srgbClr val="172A28"/>
                </a:solidFill>
                <a:latin typeface="Calibri" pitchFamily="34" charset="0"/>
                <a:ea typeface="Calibri" pitchFamily="34" charset="-122"/>
                <a:cs typeface="Calibri" pitchFamily="34" charset="-120"/>
              </a:rPr>
              <a:t>Decide which measure of dispersion fits a given dataset or business question</a:t>
            </a:r>
            <a:endParaRPr lang="en-US" sz="1900" dirty="0"/>
          </a:p>
        </p:txBody>
      </p:sp>
      <p:sp>
        <p:nvSpPr>
          <p:cNvPr id="18" name="Text 16"/>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19" name="Text 17"/>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20" name="Text 18"/>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7F2F1"/>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Icebreaker — Let's Warm Up</a:t>
            </a:r>
            <a:endParaRPr lang="en-US" sz="3000" dirty="0"/>
          </a:p>
        </p:txBody>
      </p:sp>
      <p:sp>
        <p:nvSpPr>
          <p:cNvPr id="3" name="Shape 1"/>
          <p:cNvSpPr/>
          <p:nvPr/>
        </p:nvSpPr>
        <p:spPr>
          <a:xfrm>
            <a:off x="9692640" y="1554480"/>
            <a:ext cx="1463040" cy="1463040"/>
          </a:xfrm>
          <a:prstGeom prst="ellipse">
            <a:avLst/>
          </a:prstGeom>
          <a:solidFill>
            <a:srgbClr val="F2A93B"/>
          </a:solidFill>
          <a:ln/>
        </p:spPr>
      </p:sp>
      <p:sp>
        <p:nvSpPr>
          <p:cNvPr id="4" name="Text 2"/>
          <p:cNvSpPr/>
          <p:nvPr/>
        </p:nvSpPr>
        <p:spPr>
          <a:xfrm>
            <a:off x="9692640" y="1554480"/>
            <a:ext cx="1463040" cy="1463040"/>
          </a:xfrm>
          <a:prstGeom prst="rect">
            <a:avLst/>
          </a:prstGeom>
          <a:noFill/>
          <a:ln/>
        </p:spPr>
        <p:txBody>
          <a:bodyPr wrap="square" rtlCol="0" anchor="ctr"/>
          <a:lstStyle/>
          <a:p>
            <a:pPr marL="0" indent="0" algn="ctr">
              <a:buNone/>
            </a:pPr>
            <a:r>
              <a:rPr lang="en-US" sz="5440" b="1" dirty="0">
                <a:solidFill>
                  <a:srgbClr val="073634"/>
                </a:solidFill>
                <a:latin typeface="Calibri" pitchFamily="34" charset="0"/>
                <a:ea typeface="Calibri" pitchFamily="34" charset="-122"/>
                <a:cs typeface="Calibri" pitchFamily="34" charset="-120"/>
              </a:rPr>
              <a:t>?</a:t>
            </a:r>
            <a:endParaRPr lang="en-US" sz="5440" dirty="0"/>
          </a:p>
        </p:txBody>
      </p:sp>
      <p:sp>
        <p:nvSpPr>
          <p:cNvPr id="5" name="Text 3"/>
          <p:cNvSpPr/>
          <p:nvPr/>
        </p:nvSpPr>
        <p:spPr>
          <a:xfrm>
            <a:off x="640080" y="1920240"/>
            <a:ext cx="8686800" cy="411480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If two students both score an average of 75% across 5 tests, does that mean they performed the same way all year?</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Have you ever heard someone say a cricket player is “consistent”? What do you think that means, statistically?</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Which is riskier: a stock whose price barely moves, or one that swings wildly — even if both average the same return?</a:t>
            </a:r>
            <a:endParaRPr lang="en-US" sz="2000" dirty="0"/>
          </a:p>
        </p:txBody>
      </p:sp>
      <p:sp>
        <p:nvSpPr>
          <p:cNvPr id="6" name="Text 4"/>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7" name="Text 5"/>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8" name="Text 6"/>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Why Dispersion Matters</a:t>
            </a:r>
            <a:endParaRPr lang="en-US" sz="3000" dirty="0"/>
          </a:p>
        </p:txBody>
      </p:sp>
      <p:sp>
        <p:nvSpPr>
          <p:cNvPr id="3" name="Text 1"/>
          <p:cNvSpPr/>
          <p:nvPr/>
        </p:nvSpPr>
        <p:spPr>
          <a:xfrm>
            <a:off x="640080" y="1554480"/>
            <a:ext cx="6766560" cy="457200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The mean or median tells you what's “typical” — but says nothing about how much values vary around it</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Two classes can have the identical average marks yet very different learning gaps</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In finance, “risk” is literally measured using dispersion (standard deviation of returns)</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In manufacturing, quality control uses dispersion to check if a machine is producing consistent output</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In healthcare analytics, patient vitals with high variability may signal instability, even with a “normal” average</a:t>
            </a:r>
            <a:endParaRPr lang="en-US" sz="1900" dirty="0"/>
          </a:p>
        </p:txBody>
      </p:sp>
      <p:sp>
        <p:nvSpPr>
          <p:cNvPr id="4" name="Shape 2"/>
          <p:cNvSpPr/>
          <p:nvPr/>
        </p:nvSpPr>
        <p:spPr>
          <a:xfrm>
            <a:off x="7680960" y="1645920"/>
            <a:ext cx="3840480" cy="4206240"/>
          </a:xfrm>
          <a:prstGeom prst="roundRect">
            <a:avLst>
              <a:gd name="adj" fmla="val 2857"/>
            </a:avLst>
          </a:prstGeom>
          <a:solidFill>
            <a:srgbClr val="0B4F4A"/>
          </a:solidFill>
          <a:ln/>
        </p:spPr>
      </p:sp>
      <p:sp>
        <p:nvSpPr>
          <p:cNvPr id="5" name="Text 3"/>
          <p:cNvSpPr/>
          <p:nvPr/>
        </p:nvSpPr>
        <p:spPr>
          <a:xfrm>
            <a:off x="7955280" y="2011680"/>
            <a:ext cx="3291840" cy="3474720"/>
          </a:xfrm>
          <a:prstGeom prst="rect">
            <a:avLst/>
          </a:prstGeom>
          <a:noFill/>
          <a:ln/>
        </p:spPr>
        <p:txBody>
          <a:bodyPr wrap="square" rtlCol="0" anchor="ctr"/>
          <a:lstStyle/>
          <a:p>
            <a:pPr marL="0" indent="0" algn="ctr">
              <a:buNone/>
            </a:pPr>
            <a:r>
              <a:rPr lang="en-US" sz="2000" i="1" dirty="0">
                <a:solidFill>
                  <a:srgbClr val="FFFFFF"/>
                </a:solidFill>
                <a:latin typeface="Cambria" pitchFamily="34" charset="0"/>
                <a:ea typeface="Cambria" pitchFamily="34" charset="-122"/>
                <a:cs typeface="Cambria" pitchFamily="34" charset="-120"/>
              </a:rPr>
              <a:t>“The average tells you where you are.</a:t>
            </a:r>
            <a:endParaRPr lang="en-US" sz="2000" dirty="0"/>
          </a:p>
          <a:p>
            <a:pPr marL="0" indent="0" algn="ctr">
              <a:buNone/>
            </a:pPr>
            <a:r>
              <a:rPr lang="en-US" sz="2000" i="1" dirty="0">
                <a:solidFill>
                  <a:srgbClr val="FFFFFF"/>
                </a:solidFill>
                <a:latin typeface="Cambria" pitchFamily="34" charset="0"/>
                <a:ea typeface="Cambria" pitchFamily="34" charset="-122"/>
                <a:cs typeface="Cambria" pitchFamily="34" charset="-120"/>
              </a:rPr>
              <a:t>Dispersion tells you how far you might stray.”</a:t>
            </a:r>
            <a:endParaRPr lang="en-US" sz="2000" dirty="0"/>
          </a:p>
        </p:txBody>
      </p:sp>
      <p:sp>
        <p:nvSpPr>
          <p:cNvPr id="6" name="Text 4"/>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7" name="Text 5"/>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8" name="Text 6"/>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Recap: Where We Left Off</a:t>
            </a:r>
            <a:endParaRPr lang="en-US" sz="3000" dirty="0"/>
          </a:p>
        </p:txBody>
      </p:sp>
      <p:sp>
        <p:nvSpPr>
          <p:cNvPr id="3" name="Text 1"/>
          <p:cNvSpPr/>
          <p:nvPr/>
        </p:nvSpPr>
        <p:spPr>
          <a:xfrm>
            <a:off x="640080" y="1371600"/>
            <a:ext cx="10515600" cy="502920"/>
          </a:xfrm>
          <a:prstGeom prst="rect">
            <a:avLst/>
          </a:prstGeom>
          <a:noFill/>
          <a:ln/>
        </p:spPr>
        <p:txBody>
          <a:bodyPr wrap="square" rtlCol="0" anchor="ctr"/>
          <a:lstStyle/>
          <a:p>
            <a:pPr marL="0" indent="0">
              <a:buNone/>
            </a:pPr>
            <a:r>
              <a:rPr lang="en-US" sz="1700" i="1" dirty="0">
                <a:solidFill>
                  <a:srgbClr val="51625F"/>
                </a:solidFill>
                <a:latin typeface="Calibri" pitchFamily="34" charset="0"/>
                <a:ea typeface="Calibri" pitchFamily="34" charset="-122"/>
                <a:cs typeface="Calibri" pitchFamily="34" charset="-120"/>
              </a:rPr>
              <a:t>Previously: Data Types &amp; Measurement Scales, and Measures of Central Tendency (Mean, Median, Mode)</a:t>
            </a:r>
            <a:endParaRPr lang="en-US" sz="1700" dirty="0"/>
          </a:p>
        </p:txBody>
      </p:sp>
      <p:sp>
        <p:nvSpPr>
          <p:cNvPr id="4" name="Shape 2"/>
          <p:cNvSpPr/>
          <p:nvPr/>
        </p:nvSpPr>
        <p:spPr>
          <a:xfrm>
            <a:off x="1097280" y="2148840"/>
            <a:ext cx="4754880" cy="3291840"/>
          </a:xfrm>
          <a:prstGeom prst="roundRect">
            <a:avLst>
              <a:gd name="adj" fmla="val 3333"/>
            </a:avLst>
          </a:prstGeom>
          <a:solidFill>
            <a:srgbClr val="E7F2F1"/>
          </a:solidFill>
          <a:ln/>
        </p:spPr>
      </p:sp>
      <p:sp>
        <p:nvSpPr>
          <p:cNvPr id="5" name="Shape 3"/>
          <p:cNvSpPr/>
          <p:nvPr/>
        </p:nvSpPr>
        <p:spPr>
          <a:xfrm>
            <a:off x="1097280" y="2148840"/>
            <a:ext cx="4754880" cy="777240"/>
          </a:xfrm>
          <a:prstGeom prst="rect">
            <a:avLst/>
          </a:prstGeom>
          <a:solidFill>
            <a:srgbClr val="1C7A72"/>
          </a:solidFill>
          <a:ln/>
        </p:spPr>
      </p:sp>
      <p:sp>
        <p:nvSpPr>
          <p:cNvPr id="6" name="Text 4"/>
          <p:cNvSpPr/>
          <p:nvPr/>
        </p:nvSpPr>
        <p:spPr>
          <a:xfrm>
            <a:off x="1097280" y="2148840"/>
            <a:ext cx="4754880" cy="7772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Central Tendency</a:t>
            </a:r>
            <a:endParaRPr lang="en-US" sz="2000" dirty="0"/>
          </a:p>
        </p:txBody>
      </p:sp>
      <p:sp>
        <p:nvSpPr>
          <p:cNvPr id="7" name="Text 5"/>
          <p:cNvSpPr/>
          <p:nvPr/>
        </p:nvSpPr>
        <p:spPr>
          <a:xfrm>
            <a:off x="1463040" y="3200400"/>
            <a:ext cx="4023360" cy="2011680"/>
          </a:xfrm>
          <a:prstGeom prst="rect">
            <a:avLst/>
          </a:prstGeom>
          <a:noFill/>
          <a:ln/>
        </p:spPr>
        <p:txBody>
          <a:bodyPr wrap="square" rtlCol="0" anchor="ctr"/>
          <a:lstStyle/>
          <a:p>
            <a:pPr marL="0" indent="0" algn="ctr">
              <a:buNone/>
            </a:pPr>
            <a:r>
              <a:rPr lang="en-US" sz="1900" dirty="0">
                <a:solidFill>
                  <a:srgbClr val="172A28"/>
                </a:solidFill>
                <a:latin typeface="Calibri" pitchFamily="34" charset="0"/>
                <a:ea typeface="Calibri" pitchFamily="34" charset="-122"/>
                <a:cs typeface="Calibri" pitchFamily="34" charset="-120"/>
              </a:rPr>
              <a:t>“Where is the center of the data?”</a:t>
            </a:r>
            <a:endParaRPr lang="en-US" sz="1900" dirty="0"/>
          </a:p>
        </p:txBody>
      </p:sp>
      <p:sp>
        <p:nvSpPr>
          <p:cNvPr id="8" name="Shape 6"/>
          <p:cNvSpPr/>
          <p:nvPr/>
        </p:nvSpPr>
        <p:spPr>
          <a:xfrm>
            <a:off x="6217920" y="2148840"/>
            <a:ext cx="4754880" cy="3291840"/>
          </a:xfrm>
          <a:prstGeom prst="roundRect">
            <a:avLst>
              <a:gd name="adj" fmla="val 3333"/>
            </a:avLst>
          </a:prstGeom>
          <a:solidFill>
            <a:srgbClr val="E7F2F1"/>
          </a:solidFill>
          <a:ln/>
        </p:spPr>
      </p:sp>
      <p:sp>
        <p:nvSpPr>
          <p:cNvPr id="9" name="Shape 7"/>
          <p:cNvSpPr/>
          <p:nvPr/>
        </p:nvSpPr>
        <p:spPr>
          <a:xfrm>
            <a:off x="6217920" y="2148840"/>
            <a:ext cx="4754880" cy="777240"/>
          </a:xfrm>
          <a:prstGeom prst="rect">
            <a:avLst/>
          </a:prstGeom>
          <a:solidFill>
            <a:srgbClr val="F2A93B"/>
          </a:solidFill>
          <a:ln/>
        </p:spPr>
      </p:sp>
      <p:sp>
        <p:nvSpPr>
          <p:cNvPr id="10" name="Text 8"/>
          <p:cNvSpPr/>
          <p:nvPr/>
        </p:nvSpPr>
        <p:spPr>
          <a:xfrm>
            <a:off x="6217920" y="2148840"/>
            <a:ext cx="4754880" cy="7772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Dispersion (Today)</a:t>
            </a:r>
            <a:endParaRPr lang="en-US" sz="2000" dirty="0"/>
          </a:p>
        </p:txBody>
      </p:sp>
      <p:sp>
        <p:nvSpPr>
          <p:cNvPr id="11" name="Text 9"/>
          <p:cNvSpPr/>
          <p:nvPr/>
        </p:nvSpPr>
        <p:spPr>
          <a:xfrm>
            <a:off x="6583680" y="3200400"/>
            <a:ext cx="4023360" cy="2011680"/>
          </a:xfrm>
          <a:prstGeom prst="rect">
            <a:avLst/>
          </a:prstGeom>
          <a:noFill/>
          <a:ln/>
        </p:spPr>
        <p:txBody>
          <a:bodyPr wrap="square" rtlCol="0" anchor="ctr"/>
          <a:lstStyle/>
          <a:p>
            <a:pPr marL="0" indent="0" algn="ctr">
              <a:buNone/>
            </a:pPr>
            <a:r>
              <a:rPr lang="en-US" sz="1900" dirty="0">
                <a:solidFill>
                  <a:srgbClr val="172A28"/>
                </a:solidFill>
                <a:latin typeface="Calibri" pitchFamily="34" charset="0"/>
                <a:ea typeface="Calibri" pitchFamily="34" charset="-122"/>
                <a:cs typeface="Calibri" pitchFamily="34" charset="-120"/>
              </a:rPr>
              <a:t>“How spread out is the data around that center?”</a:t>
            </a:r>
            <a:endParaRPr lang="en-US" sz="1900" dirty="0"/>
          </a:p>
        </p:txBody>
      </p:sp>
      <p:sp>
        <p:nvSpPr>
          <p:cNvPr id="12" name="Text 10"/>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13" name="Text 11"/>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4" name="Text 12"/>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What Is Dispersion?</a:t>
            </a:r>
            <a:endParaRPr lang="en-US" sz="3000" dirty="0"/>
          </a:p>
        </p:txBody>
      </p:sp>
      <p:sp>
        <p:nvSpPr>
          <p:cNvPr id="3" name="Text 1"/>
          <p:cNvSpPr/>
          <p:nvPr/>
        </p:nvSpPr>
        <p:spPr>
          <a:xfrm>
            <a:off x="640080" y="1554480"/>
            <a:ext cx="6583680" cy="411480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Dispersion (a.k.a. spread or variability) measures how much data values differ from each other and from the center</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Low dispersion → values are clustered tightly around the mean (consistent, predictable)</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High dispersion → values are scattered widely (variable, less predictable)</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Common measures: Range, Variance, Standard Deviation, Interquartile Range (IQR)</a:t>
            </a:r>
            <a:endParaRPr lang="en-US" sz="2000" dirty="0"/>
          </a:p>
        </p:txBody>
      </p:sp>
      <p:sp>
        <p:nvSpPr>
          <p:cNvPr id="4" name="Shape 2"/>
          <p:cNvSpPr/>
          <p:nvPr/>
        </p:nvSpPr>
        <p:spPr>
          <a:xfrm>
            <a:off x="7680960" y="1645920"/>
            <a:ext cx="3931920" cy="4480560"/>
          </a:xfrm>
          <a:prstGeom prst="roundRect">
            <a:avLst>
              <a:gd name="adj" fmla="val 2791"/>
            </a:avLst>
          </a:prstGeom>
          <a:solidFill>
            <a:srgbClr val="E7F2F1"/>
          </a:solidFill>
          <a:ln/>
        </p:spPr>
      </p:sp>
      <p:sp>
        <p:nvSpPr>
          <p:cNvPr id="5" name="Text 3"/>
          <p:cNvSpPr/>
          <p:nvPr/>
        </p:nvSpPr>
        <p:spPr>
          <a:xfrm>
            <a:off x="7863840" y="1828800"/>
            <a:ext cx="3566160" cy="365760"/>
          </a:xfrm>
          <a:prstGeom prst="rect">
            <a:avLst/>
          </a:prstGeom>
          <a:noFill/>
          <a:ln/>
        </p:spPr>
        <p:txBody>
          <a:bodyPr wrap="square" rtlCol="0" anchor="ctr"/>
          <a:lstStyle/>
          <a:p>
            <a:pPr marL="0" indent="0" algn="ctr">
              <a:buNone/>
            </a:pPr>
            <a:r>
              <a:rPr lang="en-US" sz="1500" b="1" dirty="0">
                <a:solidFill>
                  <a:srgbClr val="0B4F4A"/>
                </a:solidFill>
                <a:latin typeface="Calibri" pitchFamily="34" charset="0"/>
                <a:ea typeface="Calibri" pitchFamily="34" charset="-122"/>
                <a:cs typeface="Calibri" pitchFamily="34" charset="-120"/>
              </a:rPr>
              <a:t>Low Dispersion</a:t>
            </a:r>
            <a:endParaRPr lang="en-US" sz="1500" dirty="0"/>
          </a:p>
        </p:txBody>
      </p:sp>
      <p:sp>
        <p:nvSpPr>
          <p:cNvPr id="6" name="Shape 4"/>
          <p:cNvSpPr/>
          <p:nvPr/>
        </p:nvSpPr>
        <p:spPr>
          <a:xfrm>
            <a:off x="9052560" y="2651760"/>
            <a:ext cx="164592" cy="164592"/>
          </a:xfrm>
          <a:prstGeom prst="ellipse">
            <a:avLst/>
          </a:prstGeom>
          <a:solidFill>
            <a:srgbClr val="1C7A72"/>
          </a:solidFill>
          <a:ln/>
        </p:spPr>
      </p:sp>
      <p:sp>
        <p:nvSpPr>
          <p:cNvPr id="7" name="Shape 5"/>
          <p:cNvSpPr/>
          <p:nvPr/>
        </p:nvSpPr>
        <p:spPr>
          <a:xfrm>
            <a:off x="9253728" y="2651760"/>
            <a:ext cx="164592" cy="164592"/>
          </a:xfrm>
          <a:prstGeom prst="ellipse">
            <a:avLst/>
          </a:prstGeom>
          <a:solidFill>
            <a:srgbClr val="1C7A72"/>
          </a:solidFill>
          <a:ln/>
        </p:spPr>
      </p:sp>
      <p:sp>
        <p:nvSpPr>
          <p:cNvPr id="8" name="Shape 6"/>
          <p:cNvSpPr/>
          <p:nvPr/>
        </p:nvSpPr>
        <p:spPr>
          <a:xfrm>
            <a:off x="9454896" y="2651760"/>
            <a:ext cx="164592" cy="164592"/>
          </a:xfrm>
          <a:prstGeom prst="ellipse">
            <a:avLst/>
          </a:prstGeom>
          <a:solidFill>
            <a:srgbClr val="1C7A72"/>
          </a:solidFill>
          <a:ln/>
        </p:spPr>
      </p:sp>
      <p:sp>
        <p:nvSpPr>
          <p:cNvPr id="9" name="Shape 7"/>
          <p:cNvSpPr/>
          <p:nvPr/>
        </p:nvSpPr>
        <p:spPr>
          <a:xfrm>
            <a:off x="9656064" y="2651760"/>
            <a:ext cx="164592" cy="164592"/>
          </a:xfrm>
          <a:prstGeom prst="ellipse">
            <a:avLst/>
          </a:prstGeom>
          <a:solidFill>
            <a:srgbClr val="1C7A72"/>
          </a:solidFill>
          <a:ln/>
        </p:spPr>
      </p:sp>
      <p:sp>
        <p:nvSpPr>
          <p:cNvPr id="10" name="Shape 8"/>
          <p:cNvSpPr/>
          <p:nvPr/>
        </p:nvSpPr>
        <p:spPr>
          <a:xfrm>
            <a:off x="9857232" y="2651760"/>
            <a:ext cx="164592" cy="164592"/>
          </a:xfrm>
          <a:prstGeom prst="ellipse">
            <a:avLst/>
          </a:prstGeom>
          <a:solidFill>
            <a:srgbClr val="1C7A72"/>
          </a:solidFill>
          <a:ln/>
        </p:spPr>
      </p:sp>
      <p:sp>
        <p:nvSpPr>
          <p:cNvPr id="11" name="Shape 9"/>
          <p:cNvSpPr/>
          <p:nvPr/>
        </p:nvSpPr>
        <p:spPr>
          <a:xfrm>
            <a:off x="7955280" y="2971800"/>
            <a:ext cx="3383280" cy="0"/>
          </a:xfrm>
          <a:prstGeom prst="line">
            <a:avLst/>
          </a:prstGeom>
          <a:noFill/>
          <a:ln w="12700">
            <a:solidFill>
              <a:srgbClr val="B9D6D2"/>
            </a:solidFill>
            <a:prstDash val="solid"/>
          </a:ln>
        </p:spPr>
      </p:sp>
      <p:sp>
        <p:nvSpPr>
          <p:cNvPr id="12" name="Text 10"/>
          <p:cNvSpPr/>
          <p:nvPr/>
        </p:nvSpPr>
        <p:spPr>
          <a:xfrm>
            <a:off x="7863840" y="3566160"/>
            <a:ext cx="3566160" cy="365760"/>
          </a:xfrm>
          <a:prstGeom prst="rect">
            <a:avLst/>
          </a:prstGeom>
          <a:noFill/>
          <a:ln/>
        </p:spPr>
        <p:txBody>
          <a:bodyPr wrap="square" rtlCol="0" anchor="ctr"/>
          <a:lstStyle/>
          <a:p>
            <a:pPr marL="0" indent="0" algn="ctr">
              <a:buNone/>
            </a:pPr>
            <a:r>
              <a:rPr lang="en-US" sz="1500" b="1" dirty="0">
                <a:solidFill>
                  <a:srgbClr val="C97F12"/>
                </a:solidFill>
                <a:latin typeface="Calibri" pitchFamily="34" charset="0"/>
                <a:ea typeface="Calibri" pitchFamily="34" charset="-122"/>
                <a:cs typeface="Calibri" pitchFamily="34" charset="-120"/>
              </a:rPr>
              <a:t>High Dispersion</a:t>
            </a:r>
            <a:endParaRPr lang="en-US" sz="1500" dirty="0"/>
          </a:p>
        </p:txBody>
      </p:sp>
      <p:sp>
        <p:nvSpPr>
          <p:cNvPr id="13" name="Shape 11"/>
          <p:cNvSpPr/>
          <p:nvPr/>
        </p:nvSpPr>
        <p:spPr>
          <a:xfrm>
            <a:off x="8092440" y="4389120"/>
            <a:ext cx="164592" cy="164592"/>
          </a:xfrm>
          <a:prstGeom prst="ellipse">
            <a:avLst/>
          </a:prstGeom>
          <a:solidFill>
            <a:srgbClr val="F2A93B"/>
          </a:solidFill>
          <a:ln/>
        </p:spPr>
      </p:sp>
      <p:sp>
        <p:nvSpPr>
          <p:cNvPr id="14" name="Shape 12"/>
          <p:cNvSpPr/>
          <p:nvPr/>
        </p:nvSpPr>
        <p:spPr>
          <a:xfrm>
            <a:off x="8458200" y="4389120"/>
            <a:ext cx="164592" cy="164592"/>
          </a:xfrm>
          <a:prstGeom prst="ellipse">
            <a:avLst/>
          </a:prstGeom>
          <a:solidFill>
            <a:srgbClr val="F2A93B"/>
          </a:solidFill>
          <a:ln/>
        </p:spPr>
      </p:sp>
      <p:sp>
        <p:nvSpPr>
          <p:cNvPr id="15" name="Shape 13"/>
          <p:cNvSpPr/>
          <p:nvPr/>
        </p:nvSpPr>
        <p:spPr>
          <a:xfrm>
            <a:off x="9555480" y="4389120"/>
            <a:ext cx="164592" cy="164592"/>
          </a:xfrm>
          <a:prstGeom prst="ellipse">
            <a:avLst/>
          </a:prstGeom>
          <a:solidFill>
            <a:srgbClr val="F2A93B"/>
          </a:solidFill>
          <a:ln/>
        </p:spPr>
      </p:sp>
      <p:sp>
        <p:nvSpPr>
          <p:cNvPr id="16" name="Shape 14"/>
          <p:cNvSpPr/>
          <p:nvPr/>
        </p:nvSpPr>
        <p:spPr>
          <a:xfrm>
            <a:off x="10378440" y="4389120"/>
            <a:ext cx="164592" cy="164592"/>
          </a:xfrm>
          <a:prstGeom prst="ellipse">
            <a:avLst/>
          </a:prstGeom>
          <a:solidFill>
            <a:srgbClr val="F2A93B"/>
          </a:solidFill>
          <a:ln/>
        </p:spPr>
      </p:sp>
      <p:sp>
        <p:nvSpPr>
          <p:cNvPr id="17" name="Shape 15"/>
          <p:cNvSpPr/>
          <p:nvPr/>
        </p:nvSpPr>
        <p:spPr>
          <a:xfrm>
            <a:off x="11109960" y="4389120"/>
            <a:ext cx="164592" cy="164592"/>
          </a:xfrm>
          <a:prstGeom prst="ellipse">
            <a:avLst/>
          </a:prstGeom>
          <a:solidFill>
            <a:srgbClr val="F2A93B"/>
          </a:solidFill>
          <a:ln/>
        </p:spPr>
      </p:sp>
      <p:sp>
        <p:nvSpPr>
          <p:cNvPr id="18" name="Shape 16"/>
          <p:cNvSpPr/>
          <p:nvPr/>
        </p:nvSpPr>
        <p:spPr>
          <a:xfrm>
            <a:off x="7955280" y="4709160"/>
            <a:ext cx="3383280" cy="0"/>
          </a:xfrm>
          <a:prstGeom prst="line">
            <a:avLst/>
          </a:prstGeom>
          <a:noFill/>
          <a:ln w="12700">
            <a:solidFill>
              <a:srgbClr val="B9D6D2"/>
            </a:solidFill>
            <a:prstDash val="solid"/>
          </a:ln>
        </p:spPr>
      </p:sp>
      <p:sp>
        <p:nvSpPr>
          <p:cNvPr id="19" name="Text 17"/>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20" name="Text 18"/>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21" name="Text 19"/>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Range — The Simplest Measure</a:t>
            </a:r>
            <a:endParaRPr lang="en-US" sz="3000" dirty="0"/>
          </a:p>
        </p:txBody>
      </p:sp>
      <p:sp>
        <p:nvSpPr>
          <p:cNvPr id="3" name="Text 1"/>
          <p:cNvSpPr/>
          <p:nvPr/>
        </p:nvSpPr>
        <p:spPr>
          <a:xfrm>
            <a:off x="640080" y="1554480"/>
            <a:ext cx="1051560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Range = Maximum value − Minimum value</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Example: Marks = {42, 55, 61, 74, 88}  →  Range = 88 − 42 = 46</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Easy to compute, but uses only 2 of the data points</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Highly sensitive to outliers — one extreme value can distort it completely</a:t>
            </a:r>
            <a:endParaRPr lang="en-US" sz="2000" dirty="0"/>
          </a:p>
        </p:txBody>
      </p:sp>
      <p:sp>
        <p:nvSpPr>
          <p:cNvPr id="4" name="Shape 2"/>
          <p:cNvSpPr/>
          <p:nvPr/>
        </p:nvSpPr>
        <p:spPr>
          <a:xfrm>
            <a:off x="640080" y="4480560"/>
            <a:ext cx="10515600" cy="1371600"/>
          </a:xfrm>
          <a:prstGeom prst="roundRect">
            <a:avLst>
              <a:gd name="adj" fmla="val 6667"/>
            </a:avLst>
          </a:prstGeom>
          <a:solidFill>
            <a:srgbClr val="0B4F4A"/>
          </a:solidFill>
          <a:ln/>
        </p:spPr>
      </p:sp>
      <p:sp>
        <p:nvSpPr>
          <p:cNvPr id="5" name="Text 3"/>
          <p:cNvSpPr/>
          <p:nvPr/>
        </p:nvSpPr>
        <p:spPr>
          <a:xfrm>
            <a:off x="640080" y="4480560"/>
            <a:ext cx="10515600" cy="1371600"/>
          </a:xfrm>
          <a:prstGeom prst="rect">
            <a:avLst/>
          </a:prstGeom>
          <a:noFill/>
          <a:ln/>
        </p:spPr>
        <p:txBody>
          <a:bodyPr wrap="square" rtlCol="0" anchor="ctr"/>
          <a:lstStyle/>
          <a:p>
            <a:pPr marL="0" indent="0" algn="ctr">
              <a:buNone/>
            </a:pPr>
            <a:r>
              <a:rPr lang="en-US" sz="3000" b="1" dirty="0">
                <a:solidFill>
                  <a:srgbClr val="F2A93B"/>
                </a:solidFill>
                <a:latin typeface="Cambria" pitchFamily="34" charset="0"/>
                <a:ea typeface="Cambria" pitchFamily="34" charset="-122"/>
                <a:cs typeface="Cambria" pitchFamily="34" charset="-120"/>
              </a:rPr>
              <a:t>Range = Max − Min</a:t>
            </a:r>
            <a:endParaRPr lang="en-US" sz="3000" dirty="0"/>
          </a:p>
        </p:txBody>
      </p:sp>
      <p:sp>
        <p:nvSpPr>
          <p:cNvPr id="6" name="Text 4"/>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7" name="Text 5"/>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8" name="Text 6"/>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Introducing Variance</a:t>
            </a:r>
            <a:endParaRPr lang="en-US" sz="3000" dirty="0"/>
          </a:p>
        </p:txBody>
      </p:sp>
      <p:sp>
        <p:nvSpPr>
          <p:cNvPr id="3" name="Text 1"/>
          <p:cNvSpPr/>
          <p:nvPr/>
        </p:nvSpPr>
        <p:spPr>
          <a:xfrm>
            <a:off x="640080" y="1554480"/>
            <a:ext cx="10515600" cy="438912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Range ignores most of the data — we need a measure that uses every value</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Idea: measure each value's deviation from the mean: (x − x̄)</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Problem: deviations sum to zero (positives cancel negatives)</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Fix: square each deviation before averaging — this is Variance</a:t>
            </a:r>
            <a:endParaRPr lang="en-US" sz="2000" dirty="0"/>
          </a:p>
        </p:txBody>
      </p:sp>
      <p:sp>
        <p:nvSpPr>
          <p:cNvPr id="4" name="Text 2"/>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5" name="Text 3"/>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6" name="Text 4"/>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Population Variance (σ²)</a:t>
            </a:r>
            <a:endParaRPr lang="en-US" sz="3000" dirty="0"/>
          </a:p>
        </p:txBody>
      </p:sp>
      <p:sp>
        <p:nvSpPr>
          <p:cNvPr id="3" name="Shape 1"/>
          <p:cNvSpPr/>
          <p:nvPr/>
        </p:nvSpPr>
        <p:spPr>
          <a:xfrm>
            <a:off x="1463040" y="1554480"/>
            <a:ext cx="9235440" cy="1554480"/>
          </a:xfrm>
          <a:prstGeom prst="roundRect">
            <a:avLst>
              <a:gd name="adj" fmla="val 5882"/>
            </a:avLst>
          </a:prstGeom>
          <a:solidFill>
            <a:srgbClr val="E7F2F1"/>
          </a:solidFill>
          <a:ln/>
        </p:spPr>
      </p:sp>
      <p:sp>
        <p:nvSpPr>
          <p:cNvPr id="4" name="Text 2"/>
          <p:cNvSpPr/>
          <p:nvPr/>
        </p:nvSpPr>
        <p:spPr>
          <a:xfrm>
            <a:off x="1463040" y="1554480"/>
            <a:ext cx="9235440" cy="1554480"/>
          </a:xfrm>
          <a:prstGeom prst="rect">
            <a:avLst/>
          </a:prstGeom>
          <a:noFill/>
          <a:ln/>
        </p:spPr>
        <p:txBody>
          <a:bodyPr wrap="square" rtlCol="0" anchor="ctr"/>
          <a:lstStyle/>
          <a:p>
            <a:pPr marL="0" indent="0" algn="ctr">
              <a:buNone/>
            </a:pPr>
            <a:r>
              <a:rPr lang="en-US" sz="2800" b="1" dirty="0">
                <a:solidFill>
                  <a:srgbClr val="0B4F4A"/>
                </a:solidFill>
                <a:latin typeface="Cambria" pitchFamily="34" charset="0"/>
                <a:ea typeface="Cambria" pitchFamily="34" charset="-122"/>
                <a:cs typeface="Cambria" pitchFamily="34" charset="-120"/>
              </a:rPr>
              <a:t>σ²  =  Σ(xᵢ − μ)²  /  N</a:t>
            </a:r>
            <a:endParaRPr lang="en-US" sz="2800" dirty="0"/>
          </a:p>
        </p:txBody>
      </p:sp>
      <p:sp>
        <p:nvSpPr>
          <p:cNvPr id="5" name="Text 3"/>
          <p:cNvSpPr/>
          <p:nvPr/>
        </p:nvSpPr>
        <p:spPr>
          <a:xfrm>
            <a:off x="640080" y="3383280"/>
            <a:ext cx="10515600" cy="265176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μ = population mean,  N = number of values in the entire population</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Steps: (1) find the mean, (2) subtract the mean from each value, (3) square each deviation, (4) average the squares</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Squaring removes negative signs and gives larger weight to bigger deviations</a:t>
            </a:r>
            <a:endParaRPr lang="en-US" sz="1900" dirty="0"/>
          </a:p>
        </p:txBody>
      </p:sp>
      <p:sp>
        <p:nvSpPr>
          <p:cNvPr id="6" name="Text 4"/>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7" name="Text 5"/>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8" name="Text 6"/>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Sample Variance (s²)</a:t>
            </a:r>
            <a:endParaRPr lang="en-US" sz="3000" dirty="0"/>
          </a:p>
        </p:txBody>
      </p:sp>
      <p:sp>
        <p:nvSpPr>
          <p:cNvPr id="3" name="Shape 1"/>
          <p:cNvSpPr/>
          <p:nvPr/>
        </p:nvSpPr>
        <p:spPr>
          <a:xfrm>
            <a:off x="1463040" y="1554480"/>
            <a:ext cx="9235440" cy="1554480"/>
          </a:xfrm>
          <a:prstGeom prst="roundRect">
            <a:avLst>
              <a:gd name="adj" fmla="val 5882"/>
            </a:avLst>
          </a:prstGeom>
          <a:solidFill>
            <a:srgbClr val="E7F2F1"/>
          </a:solidFill>
          <a:ln/>
        </p:spPr>
      </p:sp>
      <p:sp>
        <p:nvSpPr>
          <p:cNvPr id="4" name="Text 2"/>
          <p:cNvSpPr/>
          <p:nvPr/>
        </p:nvSpPr>
        <p:spPr>
          <a:xfrm>
            <a:off x="1463040" y="1554480"/>
            <a:ext cx="9235440" cy="1554480"/>
          </a:xfrm>
          <a:prstGeom prst="rect">
            <a:avLst/>
          </a:prstGeom>
          <a:noFill/>
          <a:ln/>
        </p:spPr>
        <p:txBody>
          <a:bodyPr wrap="square" rtlCol="0" anchor="ctr"/>
          <a:lstStyle/>
          <a:p>
            <a:pPr marL="0" indent="0" algn="ctr">
              <a:buNone/>
            </a:pPr>
            <a:r>
              <a:rPr lang="en-US" sz="2800" b="1" dirty="0">
                <a:solidFill>
                  <a:srgbClr val="0B4F4A"/>
                </a:solidFill>
                <a:latin typeface="Cambria" pitchFamily="34" charset="0"/>
                <a:ea typeface="Cambria" pitchFamily="34" charset="-122"/>
                <a:cs typeface="Cambria" pitchFamily="34" charset="-120"/>
              </a:rPr>
              <a:t>s²  =  Σ(xᵢ − x̄)²  /  (n − 1)</a:t>
            </a:r>
            <a:endParaRPr lang="en-US" sz="2800" dirty="0"/>
          </a:p>
        </p:txBody>
      </p:sp>
      <p:sp>
        <p:nvSpPr>
          <p:cNvPr id="5" name="Text 3"/>
          <p:cNvSpPr/>
          <p:nvPr/>
        </p:nvSpPr>
        <p:spPr>
          <a:xfrm>
            <a:off x="640080" y="3383280"/>
            <a:ext cx="10515600" cy="265176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x̄ = sample mean,  n = sample size</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We divide by (n − 1), not n — this is called Bessel's Correction</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Why? A sample mean is usually closer to its own sample's points than to the true population mean, so dividing by n would underestimate the true variance. (n − 1) corrects this bias.</a:t>
            </a:r>
            <a:endParaRPr lang="en-US" sz="1900" dirty="0"/>
          </a:p>
        </p:txBody>
      </p:sp>
      <p:sp>
        <p:nvSpPr>
          <p:cNvPr id="6" name="Text 4"/>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7" name="Text 5"/>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8" name="Text 6"/>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Worked Example: Variance — Step 1</a:t>
            </a:r>
            <a:endParaRPr lang="en-US" sz="3000" dirty="0"/>
          </a:p>
        </p:txBody>
      </p:sp>
      <p:sp>
        <p:nvSpPr>
          <p:cNvPr id="3" name="Text 1"/>
          <p:cNvSpPr/>
          <p:nvPr/>
        </p:nvSpPr>
        <p:spPr>
          <a:xfrm>
            <a:off x="640080" y="1417320"/>
            <a:ext cx="10515600" cy="457200"/>
          </a:xfrm>
          <a:prstGeom prst="rect">
            <a:avLst/>
          </a:prstGeom>
          <a:noFill/>
          <a:ln/>
        </p:spPr>
        <p:txBody>
          <a:bodyPr wrap="square" rtlCol="0" anchor="ctr"/>
          <a:lstStyle/>
          <a:p>
            <a:pPr marL="0" indent="0">
              <a:buNone/>
            </a:pPr>
            <a:r>
              <a:rPr lang="en-US" sz="2000" b="1" dirty="0">
                <a:solidFill>
                  <a:srgbClr val="172A28"/>
                </a:solidFill>
                <a:latin typeface="Calibri" pitchFamily="34" charset="0"/>
                <a:ea typeface="Calibri" pitchFamily="34" charset="-122"/>
                <a:cs typeface="Calibri" pitchFamily="34" charset="-120"/>
              </a:rPr>
              <a:t>Sample marks of 5 students: 42, 55, 61, 74, 88</a:t>
            </a:r>
            <a:endParaRPr lang="en-US" sz="2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737360" y="2103120"/>
          <a:ext cx="7315200" cy="3017520"/>
        </p:xfrm>
        <a:graphic>
          <a:graphicData uri="http://schemas.openxmlformats.org/drawingml/2006/table">
            <a:tbl>
              <a:tblPr/>
              <a:tblGrid>
                <a:gridCol w="2743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502920">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xᵢ</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solidFill>
                      <a:srgbClr val="0B4F4A"/>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xᵢ − x̄ (x̄ = 64)</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solidFill>
                      <a:srgbClr val="0B4F4A"/>
                    </a:solidFill>
                  </a:tcPr>
                </a:tc>
                <a:extLst>
                  <a:ext uri="{0D108BD9-81ED-4DB2-BD59-A6C34878D82A}">
                    <a16:rowId xmlns:a16="http://schemas.microsoft.com/office/drawing/2014/main" val="10000"/>
                  </a:ext>
                </a:extLst>
              </a:tr>
              <a:tr h="502920">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42</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42 − 64 = −22</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55</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55 − 64 = −9</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61</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61 − 64 = −3</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74</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74 − 64 = 10</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88</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88 − 64 = 24</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640080" y="5486400"/>
            <a:ext cx="10515600" cy="457200"/>
          </a:xfrm>
          <a:prstGeom prst="rect">
            <a:avLst/>
          </a:prstGeom>
          <a:noFill/>
          <a:ln/>
        </p:spPr>
        <p:txBody>
          <a:bodyPr wrap="square" rtlCol="0" anchor="ctr"/>
          <a:lstStyle/>
          <a:p>
            <a:pPr marL="0" indent="0">
              <a:buNone/>
            </a:pPr>
            <a:r>
              <a:rPr lang="en-US" sz="1700" i="1" dirty="0">
                <a:solidFill>
                  <a:srgbClr val="51625F"/>
                </a:solidFill>
                <a:latin typeface="Calibri" pitchFamily="34" charset="0"/>
                <a:ea typeface="Calibri" pitchFamily="34" charset="-122"/>
                <a:cs typeface="Calibri" pitchFamily="34" charset="-120"/>
              </a:rPr>
              <a:t>Mean x̄ = (42+55+61+74+88) / 5 = 320 / 5 = 64</a:t>
            </a:r>
            <a:endParaRPr lang="en-US" sz="1700" dirty="0"/>
          </a:p>
        </p:txBody>
      </p:sp>
      <p:sp>
        <p:nvSpPr>
          <p:cNvPr id="6" name="Text 3"/>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7" name="Text 4"/>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8" name="Text 5"/>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Worked Example: Variance — Step 2</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737360" y="1554480"/>
          <a:ext cx="7315200" cy="274320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57200">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xᵢ − x̄</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solidFill>
                      <a:srgbClr val="0B4F4A"/>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(xᵢ − x̄)²</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solidFill>
                      <a:srgbClr val="0B4F4A"/>
                    </a:solidFill>
                  </a:tcPr>
                </a:tc>
                <a:extLst>
                  <a:ext uri="{0D108BD9-81ED-4DB2-BD59-A6C34878D82A}">
                    <a16:rowId xmlns:a16="http://schemas.microsoft.com/office/drawing/2014/main" val="10000"/>
                  </a:ext>
                </a:extLst>
              </a:tr>
              <a:tr h="457200">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−22</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484</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−9</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81</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9</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24</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ctr">
                        <a:buNone/>
                      </a:pPr>
                      <a:r>
                        <a:rPr lang="en-US" sz="1800" dirty="0">
                          <a:solidFill>
                            <a:srgbClr val="172A28"/>
                          </a:solidFill>
                          <a:latin typeface="Calibri" pitchFamily="34" charset="0"/>
                          <a:ea typeface="Calibri" pitchFamily="34" charset="-122"/>
                          <a:cs typeface="Calibri" pitchFamily="34" charset="-120"/>
                        </a:rPr>
                        <a:t>576</a:t>
                      </a:r>
                      <a:endParaRPr lang="en-US" sz="18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Shape 1"/>
          <p:cNvSpPr/>
          <p:nvPr/>
        </p:nvSpPr>
        <p:spPr>
          <a:xfrm>
            <a:off x="1737360" y="5029200"/>
            <a:ext cx="7315200" cy="1097280"/>
          </a:xfrm>
          <a:prstGeom prst="roundRect">
            <a:avLst>
              <a:gd name="adj" fmla="val 8333"/>
            </a:avLst>
          </a:prstGeom>
          <a:solidFill>
            <a:srgbClr val="E7F2F1"/>
          </a:solidFill>
          <a:ln/>
        </p:spPr>
      </p:sp>
      <p:sp>
        <p:nvSpPr>
          <p:cNvPr id="5" name="Text 2"/>
          <p:cNvSpPr/>
          <p:nvPr/>
        </p:nvSpPr>
        <p:spPr>
          <a:xfrm>
            <a:off x="1737360" y="5029200"/>
            <a:ext cx="7315200" cy="1097280"/>
          </a:xfrm>
          <a:prstGeom prst="rect">
            <a:avLst/>
          </a:prstGeom>
          <a:noFill/>
          <a:ln/>
        </p:spPr>
        <p:txBody>
          <a:bodyPr wrap="square" rtlCol="0" anchor="ctr"/>
          <a:lstStyle/>
          <a:p>
            <a:pPr marL="0" indent="0" algn="ctr">
              <a:buNone/>
            </a:pPr>
            <a:r>
              <a:rPr lang="en-US" sz="2200" b="1" dirty="0">
                <a:solidFill>
                  <a:srgbClr val="0B4F4A"/>
                </a:solidFill>
                <a:latin typeface="Cambria" pitchFamily="34" charset="0"/>
                <a:ea typeface="Cambria" pitchFamily="34" charset="-122"/>
                <a:cs typeface="Cambria" pitchFamily="34" charset="-120"/>
              </a:rPr>
              <a:t>Σ(xᵢ − x̄)² = 1250  →  s² = 1250 / (5 − 1) = 312.5</a:t>
            </a:r>
            <a:endParaRPr lang="en-US" sz="2200" dirty="0"/>
          </a:p>
        </p:txBody>
      </p:sp>
      <p:sp>
        <p:nvSpPr>
          <p:cNvPr id="6" name="Text 3"/>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7" name="Text 4"/>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8" name="Text 5"/>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Standard Deviation (s)</a:t>
            </a:r>
            <a:endParaRPr lang="en-US" sz="3000" dirty="0"/>
          </a:p>
        </p:txBody>
      </p:sp>
      <p:sp>
        <p:nvSpPr>
          <p:cNvPr id="3" name="Shape 1"/>
          <p:cNvSpPr/>
          <p:nvPr/>
        </p:nvSpPr>
        <p:spPr>
          <a:xfrm>
            <a:off x="1463040" y="1554480"/>
            <a:ext cx="9235440" cy="1554480"/>
          </a:xfrm>
          <a:prstGeom prst="roundRect">
            <a:avLst>
              <a:gd name="adj" fmla="val 5882"/>
            </a:avLst>
          </a:prstGeom>
          <a:solidFill>
            <a:srgbClr val="E7F2F1"/>
          </a:solidFill>
          <a:ln/>
        </p:spPr>
      </p:sp>
      <p:sp>
        <p:nvSpPr>
          <p:cNvPr id="4" name="Text 2"/>
          <p:cNvSpPr/>
          <p:nvPr/>
        </p:nvSpPr>
        <p:spPr>
          <a:xfrm>
            <a:off x="1463040" y="1554480"/>
            <a:ext cx="9235440" cy="1554480"/>
          </a:xfrm>
          <a:prstGeom prst="rect">
            <a:avLst/>
          </a:prstGeom>
          <a:noFill/>
          <a:ln/>
        </p:spPr>
        <p:txBody>
          <a:bodyPr wrap="square" rtlCol="0" anchor="ctr"/>
          <a:lstStyle/>
          <a:p>
            <a:pPr marL="0" indent="0" algn="ctr">
              <a:buNone/>
            </a:pPr>
            <a:r>
              <a:rPr lang="en-US" sz="2800" b="1" dirty="0">
                <a:solidFill>
                  <a:srgbClr val="0B4F4A"/>
                </a:solidFill>
                <a:latin typeface="Cambria" pitchFamily="34" charset="0"/>
                <a:ea typeface="Cambria" pitchFamily="34" charset="-122"/>
                <a:cs typeface="Cambria" pitchFamily="34" charset="-120"/>
              </a:rPr>
              <a:t>s  =  √ s²</a:t>
            </a:r>
            <a:endParaRPr lang="en-US" sz="2800" dirty="0"/>
          </a:p>
        </p:txBody>
      </p:sp>
      <p:sp>
        <p:nvSpPr>
          <p:cNvPr id="5" name="Text 3"/>
          <p:cNvSpPr/>
          <p:nvPr/>
        </p:nvSpPr>
        <p:spPr>
          <a:xfrm>
            <a:off x="640080" y="3383280"/>
            <a:ext cx="10515600" cy="265176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Standard deviation is simply the square root of variance</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Why take the square root? Variance is in squared units (e.g., marks²); SD brings it back to the original units (marks) so it's directly interpretable</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SD is the most widely reported measure of spread in statistics and </a:t>
            </a:r>
            <a:endParaRPr lang="en-US" sz="1900" dirty="0"/>
          </a:p>
        </p:txBody>
      </p:sp>
      <p:sp>
        <p:nvSpPr>
          <p:cNvPr id="6" name="Text 4"/>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7" name="Text 5"/>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8" name="Text 6"/>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Worked Example: Standard Deviation</a:t>
            </a:r>
            <a:endParaRPr lang="en-US" sz="3000" dirty="0"/>
          </a:p>
        </p:txBody>
      </p:sp>
      <p:sp>
        <p:nvSpPr>
          <p:cNvPr id="3" name="Text 1"/>
          <p:cNvSpPr/>
          <p:nvPr/>
        </p:nvSpPr>
        <p:spPr>
          <a:xfrm>
            <a:off x="640080" y="1463040"/>
            <a:ext cx="10515600" cy="457200"/>
          </a:xfrm>
          <a:prstGeom prst="rect">
            <a:avLst/>
          </a:prstGeom>
          <a:noFill/>
          <a:ln/>
        </p:spPr>
        <p:txBody>
          <a:bodyPr wrap="square" rtlCol="0" anchor="ctr"/>
          <a:lstStyle/>
          <a:p>
            <a:pPr marL="0" indent="0">
              <a:buNone/>
            </a:pPr>
            <a:r>
              <a:rPr lang="en-US" sz="2000" dirty="0">
                <a:solidFill>
                  <a:srgbClr val="172A28"/>
                </a:solidFill>
                <a:latin typeface="Calibri" pitchFamily="34" charset="0"/>
                <a:ea typeface="Calibri" pitchFamily="34" charset="-122"/>
                <a:cs typeface="Calibri" pitchFamily="34" charset="-120"/>
              </a:rPr>
              <a:t>Continuing from our example: s² = 312.5</a:t>
            </a:r>
            <a:endParaRPr lang="en-US" sz="2000" dirty="0"/>
          </a:p>
        </p:txBody>
      </p:sp>
      <p:sp>
        <p:nvSpPr>
          <p:cNvPr id="4" name="Shape 2"/>
          <p:cNvSpPr/>
          <p:nvPr/>
        </p:nvSpPr>
        <p:spPr>
          <a:xfrm>
            <a:off x="1737360" y="2194560"/>
            <a:ext cx="7315200" cy="1463040"/>
          </a:xfrm>
          <a:prstGeom prst="roundRect">
            <a:avLst>
              <a:gd name="adj" fmla="val 6250"/>
            </a:avLst>
          </a:prstGeom>
          <a:solidFill>
            <a:srgbClr val="0B4F4A"/>
          </a:solidFill>
          <a:ln/>
        </p:spPr>
      </p:sp>
      <p:sp>
        <p:nvSpPr>
          <p:cNvPr id="5" name="Text 3"/>
          <p:cNvSpPr/>
          <p:nvPr/>
        </p:nvSpPr>
        <p:spPr>
          <a:xfrm>
            <a:off x="1737360" y="2194560"/>
            <a:ext cx="7315200" cy="1463040"/>
          </a:xfrm>
          <a:prstGeom prst="rect">
            <a:avLst/>
          </a:prstGeom>
          <a:noFill/>
          <a:ln/>
        </p:spPr>
        <p:txBody>
          <a:bodyPr wrap="square" rtlCol="0" anchor="ctr"/>
          <a:lstStyle/>
          <a:p>
            <a:pPr marL="0" indent="0" algn="ctr">
              <a:buNone/>
            </a:pPr>
            <a:r>
              <a:rPr lang="en-US" sz="2800" b="1" dirty="0">
                <a:solidFill>
                  <a:srgbClr val="F2A93B"/>
                </a:solidFill>
                <a:latin typeface="Cambria" pitchFamily="34" charset="0"/>
                <a:ea typeface="Cambria" pitchFamily="34" charset="-122"/>
                <a:cs typeface="Cambria" pitchFamily="34" charset="-120"/>
              </a:rPr>
              <a:t>s = √312.5  ≈  17.68 marks</a:t>
            </a:r>
            <a:endParaRPr lang="en-US" sz="2800" dirty="0"/>
          </a:p>
        </p:txBody>
      </p:sp>
      <p:sp>
        <p:nvSpPr>
          <p:cNvPr id="6" name="Text 4"/>
          <p:cNvSpPr/>
          <p:nvPr/>
        </p:nvSpPr>
        <p:spPr>
          <a:xfrm>
            <a:off x="640080" y="4023360"/>
            <a:ext cx="10515600" cy="201168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Interpretation: on average, a student's mark differs from the class mean (64) by about 17.7 marks</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A smaller SD would mean the class performed more uniformly around the mean</a:t>
            </a:r>
            <a:endParaRPr lang="en-US" sz="1900" dirty="0"/>
          </a:p>
        </p:txBody>
      </p:sp>
      <p:sp>
        <p:nvSpPr>
          <p:cNvPr id="7" name="Text 5"/>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8" name="Text 6"/>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Interpreting SD: The Empirical Rule</a:t>
            </a:r>
            <a:endParaRPr lang="en-US" sz="3000" dirty="0"/>
          </a:p>
        </p:txBody>
      </p:sp>
      <p:sp>
        <p:nvSpPr>
          <p:cNvPr id="3" name="Text 1"/>
          <p:cNvSpPr/>
          <p:nvPr/>
        </p:nvSpPr>
        <p:spPr>
          <a:xfrm>
            <a:off x="640080" y="1417320"/>
            <a:ext cx="10058400" cy="365760"/>
          </a:xfrm>
          <a:prstGeom prst="rect">
            <a:avLst/>
          </a:prstGeom>
          <a:noFill/>
          <a:ln/>
        </p:spPr>
        <p:txBody>
          <a:bodyPr wrap="square" rtlCol="0" anchor="ctr"/>
          <a:lstStyle/>
          <a:p>
            <a:pPr marL="0" indent="0">
              <a:buNone/>
            </a:pPr>
            <a:r>
              <a:rPr lang="en-US" sz="1800" dirty="0">
                <a:solidFill>
                  <a:srgbClr val="51625F"/>
                </a:solidFill>
                <a:latin typeface="Calibri" pitchFamily="34" charset="0"/>
                <a:ea typeface="Calibri" pitchFamily="34" charset="-122"/>
                <a:cs typeface="Calibri" pitchFamily="34" charset="-120"/>
              </a:rPr>
              <a:t>For roughly bell-shaped (normal-like) data:</a:t>
            </a:r>
            <a:endParaRPr lang="en-US" sz="1800" dirty="0"/>
          </a:p>
        </p:txBody>
      </p:sp>
      <p:sp>
        <p:nvSpPr>
          <p:cNvPr id="4" name="Shape 2"/>
          <p:cNvSpPr/>
          <p:nvPr/>
        </p:nvSpPr>
        <p:spPr>
          <a:xfrm>
            <a:off x="4632808" y="2011680"/>
            <a:ext cx="2926080" cy="777240"/>
          </a:xfrm>
          <a:prstGeom prst="roundRect">
            <a:avLst>
              <a:gd name="adj" fmla="val 49412"/>
            </a:avLst>
          </a:prstGeom>
          <a:solidFill>
            <a:srgbClr val="073634"/>
          </a:solidFill>
          <a:ln/>
        </p:spPr>
      </p:sp>
      <p:sp>
        <p:nvSpPr>
          <p:cNvPr id="5" name="Text 3"/>
          <p:cNvSpPr/>
          <p:nvPr/>
        </p:nvSpPr>
        <p:spPr>
          <a:xfrm>
            <a:off x="4632808" y="2011680"/>
            <a:ext cx="2926080" cy="7772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68%</a:t>
            </a:r>
            <a:endParaRPr lang="en-US" sz="2200" dirty="0"/>
          </a:p>
        </p:txBody>
      </p:sp>
      <p:sp>
        <p:nvSpPr>
          <p:cNvPr id="6" name="Shape 4"/>
          <p:cNvSpPr/>
          <p:nvPr/>
        </p:nvSpPr>
        <p:spPr>
          <a:xfrm>
            <a:off x="3992728" y="3063240"/>
            <a:ext cx="4206240" cy="777240"/>
          </a:xfrm>
          <a:prstGeom prst="roundRect">
            <a:avLst>
              <a:gd name="adj" fmla="val 49412"/>
            </a:avLst>
          </a:prstGeom>
          <a:solidFill>
            <a:srgbClr val="0B4F4A"/>
          </a:solidFill>
          <a:ln/>
        </p:spPr>
      </p:sp>
      <p:sp>
        <p:nvSpPr>
          <p:cNvPr id="7" name="Text 5"/>
          <p:cNvSpPr/>
          <p:nvPr/>
        </p:nvSpPr>
        <p:spPr>
          <a:xfrm>
            <a:off x="3992728" y="3063240"/>
            <a:ext cx="4206240" cy="7772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95%</a:t>
            </a:r>
            <a:endParaRPr lang="en-US" sz="2200" dirty="0"/>
          </a:p>
        </p:txBody>
      </p:sp>
      <p:sp>
        <p:nvSpPr>
          <p:cNvPr id="8" name="Shape 6"/>
          <p:cNvSpPr/>
          <p:nvPr/>
        </p:nvSpPr>
        <p:spPr>
          <a:xfrm>
            <a:off x="3261208" y="4114800"/>
            <a:ext cx="5669280" cy="777240"/>
          </a:xfrm>
          <a:prstGeom prst="roundRect">
            <a:avLst>
              <a:gd name="adj" fmla="val 49412"/>
            </a:avLst>
          </a:prstGeom>
          <a:solidFill>
            <a:srgbClr val="1C7A72"/>
          </a:solidFill>
          <a:ln/>
        </p:spPr>
      </p:sp>
      <p:sp>
        <p:nvSpPr>
          <p:cNvPr id="9" name="Text 7"/>
          <p:cNvSpPr/>
          <p:nvPr/>
        </p:nvSpPr>
        <p:spPr>
          <a:xfrm>
            <a:off x="3261208" y="4114800"/>
            <a:ext cx="5669280" cy="7772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99.7%</a:t>
            </a:r>
            <a:endParaRPr lang="en-US" sz="2200" dirty="0"/>
          </a:p>
        </p:txBody>
      </p:sp>
      <p:sp>
        <p:nvSpPr>
          <p:cNvPr id="10" name="Text 8"/>
          <p:cNvSpPr/>
          <p:nvPr/>
        </p:nvSpPr>
        <p:spPr>
          <a:xfrm>
            <a:off x="9204808" y="2011680"/>
            <a:ext cx="3200400" cy="777240"/>
          </a:xfrm>
          <a:prstGeom prst="rect">
            <a:avLst/>
          </a:prstGeom>
          <a:noFill/>
          <a:ln/>
        </p:spPr>
        <p:txBody>
          <a:bodyPr wrap="square" rtlCol="0" anchor="ctr"/>
          <a:lstStyle/>
          <a:p>
            <a:pPr marL="0" indent="0">
              <a:buNone/>
            </a:pPr>
            <a:r>
              <a:rPr lang="en-US" sz="1500" dirty="0">
                <a:solidFill>
                  <a:srgbClr val="172A28"/>
                </a:solidFill>
                <a:latin typeface="Calibri" pitchFamily="34" charset="0"/>
                <a:ea typeface="Calibri" pitchFamily="34" charset="-122"/>
                <a:cs typeface="Calibri" pitchFamily="34" charset="-120"/>
              </a:rPr>
              <a:t>within ± 1 SD of the mean</a:t>
            </a:r>
            <a:endParaRPr lang="en-US" sz="1500" dirty="0"/>
          </a:p>
        </p:txBody>
      </p:sp>
      <p:sp>
        <p:nvSpPr>
          <p:cNvPr id="11" name="Text 9"/>
          <p:cNvSpPr/>
          <p:nvPr/>
        </p:nvSpPr>
        <p:spPr>
          <a:xfrm>
            <a:off x="9204808" y="3063240"/>
            <a:ext cx="3200400" cy="777240"/>
          </a:xfrm>
          <a:prstGeom prst="rect">
            <a:avLst/>
          </a:prstGeom>
          <a:noFill/>
          <a:ln/>
        </p:spPr>
        <p:txBody>
          <a:bodyPr wrap="square" rtlCol="0" anchor="ctr"/>
          <a:lstStyle/>
          <a:p>
            <a:pPr marL="0" indent="0">
              <a:buNone/>
            </a:pPr>
            <a:r>
              <a:rPr lang="en-US" sz="1500" dirty="0">
                <a:solidFill>
                  <a:srgbClr val="172A28"/>
                </a:solidFill>
                <a:latin typeface="Calibri" pitchFamily="34" charset="0"/>
                <a:ea typeface="Calibri" pitchFamily="34" charset="-122"/>
                <a:cs typeface="Calibri" pitchFamily="34" charset="-120"/>
              </a:rPr>
              <a:t>within ± 2 SD of the mean</a:t>
            </a:r>
            <a:endParaRPr lang="en-US" sz="1500" dirty="0"/>
          </a:p>
        </p:txBody>
      </p:sp>
      <p:sp>
        <p:nvSpPr>
          <p:cNvPr id="12" name="Text 10"/>
          <p:cNvSpPr/>
          <p:nvPr/>
        </p:nvSpPr>
        <p:spPr>
          <a:xfrm>
            <a:off x="9204808" y="4114800"/>
            <a:ext cx="3200400" cy="777240"/>
          </a:xfrm>
          <a:prstGeom prst="rect">
            <a:avLst/>
          </a:prstGeom>
          <a:noFill/>
          <a:ln/>
        </p:spPr>
        <p:txBody>
          <a:bodyPr wrap="square" rtlCol="0" anchor="ctr"/>
          <a:lstStyle/>
          <a:p>
            <a:pPr marL="0" indent="0">
              <a:buNone/>
            </a:pPr>
            <a:r>
              <a:rPr lang="en-US" sz="1500" dirty="0">
                <a:solidFill>
                  <a:srgbClr val="172A28"/>
                </a:solidFill>
                <a:latin typeface="Calibri" pitchFamily="34" charset="0"/>
                <a:ea typeface="Calibri" pitchFamily="34" charset="-122"/>
                <a:cs typeface="Calibri" pitchFamily="34" charset="-120"/>
              </a:rPr>
              <a:t>within ± 3 SD of the mean</a:t>
            </a:r>
            <a:endParaRPr lang="en-US" sz="1500" dirty="0"/>
          </a:p>
        </p:txBody>
      </p:sp>
      <p:sp>
        <p:nvSpPr>
          <p:cNvPr id="13" name="Text 11"/>
          <p:cNvSpPr/>
          <p:nvPr/>
        </p:nvSpPr>
        <p:spPr>
          <a:xfrm>
            <a:off x="640080" y="5486400"/>
            <a:ext cx="10515600" cy="548640"/>
          </a:xfrm>
          <a:prstGeom prst="rect">
            <a:avLst/>
          </a:prstGeom>
          <a:noFill/>
          <a:ln/>
        </p:spPr>
        <p:txBody>
          <a:bodyPr wrap="square" rtlCol="0" anchor="ctr"/>
          <a:lstStyle/>
          <a:p>
            <a:pPr marL="0" indent="0">
              <a:buNone/>
            </a:pPr>
            <a:r>
              <a:rPr lang="en-US" sz="1600" i="1" dirty="0">
                <a:solidFill>
                  <a:srgbClr val="51625F"/>
                </a:solidFill>
                <a:latin typeface="Calibri" pitchFamily="34" charset="0"/>
                <a:ea typeface="Calibri" pitchFamily="34" charset="-122"/>
                <a:cs typeface="Calibri" pitchFamily="34" charset="-120"/>
              </a:rPr>
              <a:t>This rule gives quick intuition for how “normal” a value is, given the mean and SD.</a:t>
            </a:r>
            <a:endParaRPr lang="en-US" sz="1600" dirty="0"/>
          </a:p>
        </p:txBody>
      </p:sp>
      <p:sp>
        <p:nvSpPr>
          <p:cNvPr id="14" name="Text 12"/>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15" name="Text 13"/>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6" name="Text 14"/>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Same Mean, Different Story</a:t>
            </a:r>
            <a:endParaRPr lang="en-US" sz="3000" dirty="0"/>
          </a:p>
        </p:txBody>
      </p:sp>
      <p:sp>
        <p:nvSpPr>
          <p:cNvPr id="3" name="Text 1"/>
          <p:cNvSpPr/>
          <p:nvPr/>
        </p:nvSpPr>
        <p:spPr>
          <a:xfrm>
            <a:off x="640080" y="1371600"/>
            <a:ext cx="10515600" cy="411480"/>
          </a:xfrm>
          <a:prstGeom prst="rect">
            <a:avLst/>
          </a:prstGeom>
          <a:noFill/>
          <a:ln/>
        </p:spPr>
        <p:txBody>
          <a:bodyPr wrap="square" rtlCol="0" anchor="ctr"/>
          <a:lstStyle/>
          <a:p>
            <a:pPr marL="0" indent="0">
              <a:buNone/>
            </a:pPr>
            <a:r>
              <a:rPr lang="en-US" sz="1800" dirty="0">
                <a:solidFill>
                  <a:srgbClr val="51625F"/>
                </a:solidFill>
                <a:latin typeface="Calibri" pitchFamily="34" charset="0"/>
                <a:ea typeface="Calibri" pitchFamily="34" charset="-122"/>
                <a:cs typeface="Calibri" pitchFamily="34" charset="-120"/>
              </a:rPr>
              <a:t>Two sections both average 70 marks — but look at the spread:</a:t>
            </a:r>
            <a:endParaRPr lang="en-US" sz="1800" dirty="0"/>
          </a:p>
        </p:txBody>
      </p:sp>
      <p:graphicFrame>
        <p:nvGraphicFramePr>
          <p:cNvPr id="4" name="Chart 0"/>
          <p:cNvGraphicFramePr/>
          <p:nvPr/>
        </p:nvGraphicFramePr>
        <p:xfrm>
          <a:off x="822960" y="1920240"/>
          <a:ext cx="1051560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6" name="Text 3"/>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7" name="Text 4"/>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Coefficient of Variation (CV)</a:t>
            </a:r>
            <a:endParaRPr lang="en-US" sz="3000" dirty="0"/>
          </a:p>
        </p:txBody>
      </p:sp>
      <p:sp>
        <p:nvSpPr>
          <p:cNvPr id="3" name="Shape 1"/>
          <p:cNvSpPr/>
          <p:nvPr/>
        </p:nvSpPr>
        <p:spPr>
          <a:xfrm>
            <a:off x="1463040" y="1554480"/>
            <a:ext cx="9235440" cy="1554480"/>
          </a:xfrm>
          <a:prstGeom prst="roundRect">
            <a:avLst>
              <a:gd name="adj" fmla="val 5882"/>
            </a:avLst>
          </a:prstGeom>
          <a:solidFill>
            <a:srgbClr val="E7F2F1"/>
          </a:solidFill>
          <a:ln/>
        </p:spPr>
      </p:sp>
      <p:sp>
        <p:nvSpPr>
          <p:cNvPr id="4" name="Text 2"/>
          <p:cNvSpPr/>
          <p:nvPr/>
        </p:nvSpPr>
        <p:spPr>
          <a:xfrm>
            <a:off x="1463040" y="1554480"/>
            <a:ext cx="9235440" cy="1554480"/>
          </a:xfrm>
          <a:prstGeom prst="rect">
            <a:avLst/>
          </a:prstGeom>
          <a:noFill/>
          <a:ln/>
        </p:spPr>
        <p:txBody>
          <a:bodyPr wrap="square" rtlCol="0" anchor="ctr"/>
          <a:lstStyle/>
          <a:p>
            <a:pPr marL="0" indent="0" algn="ctr">
              <a:buNone/>
            </a:pPr>
            <a:r>
              <a:rPr lang="en-US" sz="2800" b="1" dirty="0">
                <a:solidFill>
                  <a:srgbClr val="0B4F4A"/>
                </a:solidFill>
                <a:latin typeface="Cambria" pitchFamily="34" charset="0"/>
                <a:ea typeface="Cambria" pitchFamily="34" charset="-122"/>
                <a:cs typeface="Cambria" pitchFamily="34" charset="-120"/>
              </a:rPr>
              <a:t>CV  =  (s / x̄)  × 100%</a:t>
            </a:r>
            <a:endParaRPr lang="en-US" sz="2800" dirty="0"/>
          </a:p>
        </p:txBody>
      </p:sp>
      <p:sp>
        <p:nvSpPr>
          <p:cNvPr id="5" name="Text 3"/>
          <p:cNvSpPr/>
          <p:nvPr/>
        </p:nvSpPr>
        <p:spPr>
          <a:xfrm>
            <a:off x="640080" y="3383280"/>
            <a:ext cx="10515600" cy="265176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CV expresses SD as a percentage of the mean — a unit-free measure of relative spread</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Useful when comparing variability across datasets with different units or vastly different means</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Example: comparing variability of salaries (₹) vs. variability of experience (years) — CV lets you compare them fairly</a:t>
            </a:r>
            <a:endParaRPr lang="en-US" sz="1900" dirty="0"/>
          </a:p>
        </p:txBody>
      </p:sp>
      <p:sp>
        <p:nvSpPr>
          <p:cNvPr id="6" name="Text 4"/>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7" name="Text 5"/>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8" name="Text 6"/>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Quick Recap: Quartiles</a:t>
            </a:r>
            <a:endParaRPr lang="en-US" sz="3000" dirty="0"/>
          </a:p>
        </p:txBody>
      </p:sp>
      <p:sp>
        <p:nvSpPr>
          <p:cNvPr id="3" name="Text 1"/>
          <p:cNvSpPr/>
          <p:nvPr/>
        </p:nvSpPr>
        <p:spPr>
          <a:xfrm>
            <a:off x="640080" y="1554480"/>
            <a:ext cx="10515600" cy="237744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Quartiles divide sorted data into four equal parts</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Q1 (25th percentile): 25% of data lies below this point</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Q2 (50th percentile): the median</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Q3 (75th percentile): 75% of data lies below this point</a:t>
            </a:r>
            <a:endParaRPr lang="en-US" sz="2000" dirty="0"/>
          </a:p>
        </p:txBody>
      </p:sp>
      <p:sp>
        <p:nvSpPr>
          <p:cNvPr id="4" name="Shape 2"/>
          <p:cNvSpPr/>
          <p:nvPr/>
        </p:nvSpPr>
        <p:spPr>
          <a:xfrm>
            <a:off x="1097280" y="4572000"/>
            <a:ext cx="9601200" cy="0"/>
          </a:xfrm>
          <a:prstGeom prst="line">
            <a:avLst/>
          </a:prstGeom>
          <a:noFill/>
          <a:ln w="38100">
            <a:solidFill>
              <a:srgbClr val="0B4F4A"/>
            </a:solidFill>
            <a:prstDash val="solid"/>
          </a:ln>
        </p:spPr>
      </p:sp>
      <p:sp>
        <p:nvSpPr>
          <p:cNvPr id="5" name="Shape 3"/>
          <p:cNvSpPr/>
          <p:nvPr/>
        </p:nvSpPr>
        <p:spPr>
          <a:xfrm>
            <a:off x="1024128" y="4498848"/>
            <a:ext cx="146304" cy="146304"/>
          </a:xfrm>
          <a:prstGeom prst="ellipse">
            <a:avLst/>
          </a:prstGeom>
          <a:solidFill>
            <a:srgbClr val="F2A93B"/>
          </a:solidFill>
          <a:ln/>
        </p:spPr>
      </p:sp>
      <p:sp>
        <p:nvSpPr>
          <p:cNvPr id="6" name="Text 4"/>
          <p:cNvSpPr/>
          <p:nvPr/>
        </p:nvSpPr>
        <p:spPr>
          <a:xfrm>
            <a:off x="411480" y="4709160"/>
            <a:ext cx="1371600" cy="365760"/>
          </a:xfrm>
          <a:prstGeom prst="rect">
            <a:avLst/>
          </a:prstGeom>
          <a:noFill/>
          <a:ln/>
        </p:spPr>
        <p:txBody>
          <a:bodyPr wrap="square" rtlCol="0" anchor="ctr"/>
          <a:lstStyle/>
          <a:p>
            <a:pPr marL="0" indent="0" algn="ctr">
              <a:buNone/>
            </a:pPr>
            <a:r>
              <a:rPr lang="en-US" sz="1300" b="1" dirty="0">
                <a:solidFill>
                  <a:srgbClr val="172A28"/>
                </a:solidFill>
                <a:latin typeface="Calibri" pitchFamily="34" charset="0"/>
                <a:ea typeface="Calibri" pitchFamily="34" charset="-122"/>
                <a:cs typeface="Calibri" pitchFamily="34" charset="-120"/>
              </a:rPr>
              <a:t>Min</a:t>
            </a:r>
            <a:endParaRPr lang="en-US" sz="1300" dirty="0"/>
          </a:p>
        </p:txBody>
      </p:sp>
      <p:sp>
        <p:nvSpPr>
          <p:cNvPr id="7" name="Shape 5"/>
          <p:cNvSpPr/>
          <p:nvPr/>
        </p:nvSpPr>
        <p:spPr>
          <a:xfrm>
            <a:off x="3493008" y="4498848"/>
            <a:ext cx="146304" cy="146304"/>
          </a:xfrm>
          <a:prstGeom prst="ellipse">
            <a:avLst/>
          </a:prstGeom>
          <a:solidFill>
            <a:srgbClr val="F2A93B"/>
          </a:solidFill>
          <a:ln/>
        </p:spPr>
      </p:sp>
      <p:sp>
        <p:nvSpPr>
          <p:cNvPr id="8" name="Text 6"/>
          <p:cNvSpPr/>
          <p:nvPr/>
        </p:nvSpPr>
        <p:spPr>
          <a:xfrm>
            <a:off x="2880360" y="4709160"/>
            <a:ext cx="1371600" cy="365760"/>
          </a:xfrm>
          <a:prstGeom prst="rect">
            <a:avLst/>
          </a:prstGeom>
          <a:noFill/>
          <a:ln/>
        </p:spPr>
        <p:txBody>
          <a:bodyPr wrap="square" rtlCol="0" anchor="ctr"/>
          <a:lstStyle/>
          <a:p>
            <a:pPr marL="0" indent="0" algn="ctr">
              <a:buNone/>
            </a:pPr>
            <a:r>
              <a:rPr lang="en-US" sz="1300" b="1" dirty="0">
                <a:solidFill>
                  <a:srgbClr val="172A28"/>
                </a:solidFill>
                <a:latin typeface="Calibri" pitchFamily="34" charset="0"/>
                <a:ea typeface="Calibri" pitchFamily="34" charset="-122"/>
                <a:cs typeface="Calibri" pitchFamily="34" charset="-120"/>
              </a:rPr>
              <a:t>Q1</a:t>
            </a:r>
            <a:endParaRPr lang="en-US" sz="1300" dirty="0"/>
          </a:p>
        </p:txBody>
      </p:sp>
      <p:sp>
        <p:nvSpPr>
          <p:cNvPr id="9" name="Shape 7"/>
          <p:cNvSpPr/>
          <p:nvPr/>
        </p:nvSpPr>
        <p:spPr>
          <a:xfrm>
            <a:off x="5870448" y="4498848"/>
            <a:ext cx="146304" cy="146304"/>
          </a:xfrm>
          <a:prstGeom prst="ellipse">
            <a:avLst/>
          </a:prstGeom>
          <a:solidFill>
            <a:srgbClr val="F2A93B"/>
          </a:solidFill>
          <a:ln/>
        </p:spPr>
      </p:sp>
      <p:sp>
        <p:nvSpPr>
          <p:cNvPr id="10" name="Text 8"/>
          <p:cNvSpPr/>
          <p:nvPr/>
        </p:nvSpPr>
        <p:spPr>
          <a:xfrm>
            <a:off x="5257800" y="4709160"/>
            <a:ext cx="1371600" cy="365760"/>
          </a:xfrm>
          <a:prstGeom prst="rect">
            <a:avLst/>
          </a:prstGeom>
          <a:noFill/>
          <a:ln/>
        </p:spPr>
        <p:txBody>
          <a:bodyPr wrap="square" rtlCol="0" anchor="ctr"/>
          <a:lstStyle/>
          <a:p>
            <a:pPr marL="0" indent="0" algn="ctr">
              <a:buNone/>
            </a:pPr>
            <a:r>
              <a:rPr lang="en-US" sz="1300" b="1" dirty="0">
                <a:solidFill>
                  <a:srgbClr val="172A28"/>
                </a:solidFill>
                <a:latin typeface="Calibri" pitchFamily="34" charset="0"/>
                <a:ea typeface="Calibri" pitchFamily="34" charset="-122"/>
                <a:cs typeface="Calibri" pitchFamily="34" charset="-120"/>
              </a:rPr>
              <a:t>Q2 (Median)</a:t>
            </a:r>
            <a:endParaRPr lang="en-US" sz="1300" dirty="0"/>
          </a:p>
        </p:txBody>
      </p:sp>
      <p:sp>
        <p:nvSpPr>
          <p:cNvPr id="11" name="Shape 9"/>
          <p:cNvSpPr/>
          <p:nvPr/>
        </p:nvSpPr>
        <p:spPr>
          <a:xfrm>
            <a:off x="8247888" y="4498848"/>
            <a:ext cx="146304" cy="146304"/>
          </a:xfrm>
          <a:prstGeom prst="ellipse">
            <a:avLst/>
          </a:prstGeom>
          <a:solidFill>
            <a:srgbClr val="F2A93B"/>
          </a:solidFill>
          <a:ln/>
        </p:spPr>
      </p:sp>
      <p:sp>
        <p:nvSpPr>
          <p:cNvPr id="12" name="Text 10"/>
          <p:cNvSpPr/>
          <p:nvPr/>
        </p:nvSpPr>
        <p:spPr>
          <a:xfrm>
            <a:off x="7635240" y="4709160"/>
            <a:ext cx="1371600" cy="365760"/>
          </a:xfrm>
          <a:prstGeom prst="rect">
            <a:avLst/>
          </a:prstGeom>
          <a:noFill/>
          <a:ln/>
        </p:spPr>
        <p:txBody>
          <a:bodyPr wrap="square" rtlCol="0" anchor="ctr"/>
          <a:lstStyle/>
          <a:p>
            <a:pPr marL="0" indent="0" algn="ctr">
              <a:buNone/>
            </a:pPr>
            <a:r>
              <a:rPr lang="en-US" sz="1300" b="1" dirty="0">
                <a:solidFill>
                  <a:srgbClr val="172A28"/>
                </a:solidFill>
                <a:latin typeface="Calibri" pitchFamily="34" charset="0"/>
                <a:ea typeface="Calibri" pitchFamily="34" charset="-122"/>
                <a:cs typeface="Calibri" pitchFamily="34" charset="-120"/>
              </a:rPr>
              <a:t>Q3</a:t>
            </a:r>
            <a:endParaRPr lang="en-US" sz="1300" dirty="0"/>
          </a:p>
        </p:txBody>
      </p:sp>
      <p:sp>
        <p:nvSpPr>
          <p:cNvPr id="13" name="Shape 11"/>
          <p:cNvSpPr/>
          <p:nvPr/>
        </p:nvSpPr>
        <p:spPr>
          <a:xfrm>
            <a:off x="10625328" y="4498848"/>
            <a:ext cx="146304" cy="146304"/>
          </a:xfrm>
          <a:prstGeom prst="ellipse">
            <a:avLst/>
          </a:prstGeom>
          <a:solidFill>
            <a:srgbClr val="F2A93B"/>
          </a:solidFill>
          <a:ln/>
        </p:spPr>
      </p:sp>
      <p:sp>
        <p:nvSpPr>
          <p:cNvPr id="14" name="Text 12"/>
          <p:cNvSpPr/>
          <p:nvPr/>
        </p:nvSpPr>
        <p:spPr>
          <a:xfrm>
            <a:off x="10012680" y="4709160"/>
            <a:ext cx="1371600" cy="365760"/>
          </a:xfrm>
          <a:prstGeom prst="rect">
            <a:avLst/>
          </a:prstGeom>
          <a:noFill/>
          <a:ln/>
        </p:spPr>
        <p:txBody>
          <a:bodyPr wrap="square" rtlCol="0" anchor="ctr"/>
          <a:lstStyle/>
          <a:p>
            <a:pPr marL="0" indent="0" algn="ctr">
              <a:buNone/>
            </a:pPr>
            <a:r>
              <a:rPr lang="en-US" sz="1300" b="1" dirty="0">
                <a:solidFill>
                  <a:srgbClr val="172A28"/>
                </a:solidFill>
                <a:latin typeface="Calibri" pitchFamily="34" charset="0"/>
                <a:ea typeface="Calibri" pitchFamily="34" charset="-122"/>
                <a:cs typeface="Calibri" pitchFamily="34" charset="-120"/>
              </a:rPr>
              <a:t>Max</a:t>
            </a:r>
            <a:endParaRPr lang="en-US" sz="1300" dirty="0"/>
          </a:p>
        </p:txBody>
      </p:sp>
      <p:sp>
        <p:nvSpPr>
          <p:cNvPr id="15" name="Text 13"/>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16" name="Text 14"/>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7" name="Text 15"/>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Interquartile Range (IQR)</a:t>
            </a:r>
            <a:endParaRPr lang="en-US" sz="3000" dirty="0"/>
          </a:p>
        </p:txBody>
      </p:sp>
      <p:sp>
        <p:nvSpPr>
          <p:cNvPr id="3" name="Shape 1"/>
          <p:cNvSpPr/>
          <p:nvPr/>
        </p:nvSpPr>
        <p:spPr>
          <a:xfrm>
            <a:off x="1463040" y="1554480"/>
            <a:ext cx="9235440" cy="1554480"/>
          </a:xfrm>
          <a:prstGeom prst="roundRect">
            <a:avLst>
              <a:gd name="adj" fmla="val 5882"/>
            </a:avLst>
          </a:prstGeom>
          <a:solidFill>
            <a:srgbClr val="E7F2F1"/>
          </a:solidFill>
          <a:ln/>
        </p:spPr>
      </p:sp>
      <p:sp>
        <p:nvSpPr>
          <p:cNvPr id="4" name="Text 2"/>
          <p:cNvSpPr/>
          <p:nvPr/>
        </p:nvSpPr>
        <p:spPr>
          <a:xfrm>
            <a:off x="1463040" y="1554480"/>
            <a:ext cx="9235440" cy="1554480"/>
          </a:xfrm>
          <a:prstGeom prst="rect">
            <a:avLst/>
          </a:prstGeom>
          <a:noFill/>
          <a:ln/>
        </p:spPr>
        <p:txBody>
          <a:bodyPr wrap="square" rtlCol="0" anchor="ctr"/>
          <a:lstStyle/>
          <a:p>
            <a:pPr marL="0" indent="0" algn="ctr">
              <a:buNone/>
            </a:pPr>
            <a:r>
              <a:rPr lang="en-US" sz="2800" b="1" dirty="0">
                <a:solidFill>
                  <a:srgbClr val="0B4F4A"/>
                </a:solidFill>
                <a:latin typeface="Cambria" pitchFamily="34" charset="0"/>
                <a:ea typeface="Cambria" pitchFamily="34" charset="-122"/>
                <a:cs typeface="Cambria" pitchFamily="34" charset="-120"/>
              </a:rPr>
              <a:t>IQR  =  Q3 − Q1</a:t>
            </a:r>
            <a:endParaRPr lang="en-US" sz="2800" dirty="0"/>
          </a:p>
        </p:txBody>
      </p:sp>
      <p:sp>
        <p:nvSpPr>
          <p:cNvPr id="5" name="Text 3"/>
          <p:cNvSpPr/>
          <p:nvPr/>
        </p:nvSpPr>
        <p:spPr>
          <a:xfrm>
            <a:off x="640080" y="3383280"/>
            <a:ext cx="10515600" cy="265176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IQR captures the spread of the middle 50% of the data</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Unlike Range, it ignores the extreme top and bottom 25% — making it resistant to outliers</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Widely used in box plots and in robust outlier-detection rules</a:t>
            </a:r>
            <a:endParaRPr lang="en-US" sz="1900" dirty="0"/>
          </a:p>
        </p:txBody>
      </p:sp>
      <p:sp>
        <p:nvSpPr>
          <p:cNvPr id="6" name="Text 4"/>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7" name="Text 5"/>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8" name="Text 6"/>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Worked Example: Computing IQR</a:t>
            </a:r>
            <a:endParaRPr lang="en-US" sz="3000" dirty="0"/>
          </a:p>
        </p:txBody>
      </p:sp>
      <p:sp>
        <p:nvSpPr>
          <p:cNvPr id="3" name="Text 1"/>
          <p:cNvSpPr/>
          <p:nvPr/>
        </p:nvSpPr>
        <p:spPr>
          <a:xfrm>
            <a:off x="640080" y="1554480"/>
            <a:ext cx="10515600" cy="237744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Sorted dataset (n = 9): 12, 15, 18, 21, 24, 27, 30, 35, 60</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Q1 = median of lower half (12, 15, 18, 21) → Q1 = 16.5</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Q3 = median of upper half (27, 30, 35, 60) → Q3 = 32.5</a:t>
            </a:r>
            <a:endParaRPr lang="en-US" sz="1900" dirty="0"/>
          </a:p>
        </p:txBody>
      </p:sp>
      <p:sp>
        <p:nvSpPr>
          <p:cNvPr id="4" name="Shape 2"/>
          <p:cNvSpPr/>
          <p:nvPr/>
        </p:nvSpPr>
        <p:spPr>
          <a:xfrm>
            <a:off x="1737360" y="4023360"/>
            <a:ext cx="7315200" cy="1188720"/>
          </a:xfrm>
          <a:prstGeom prst="roundRect">
            <a:avLst>
              <a:gd name="adj" fmla="val 7692"/>
            </a:avLst>
          </a:prstGeom>
          <a:solidFill>
            <a:srgbClr val="0B4F4A"/>
          </a:solidFill>
          <a:ln/>
        </p:spPr>
      </p:sp>
      <p:sp>
        <p:nvSpPr>
          <p:cNvPr id="5" name="Text 3"/>
          <p:cNvSpPr/>
          <p:nvPr/>
        </p:nvSpPr>
        <p:spPr>
          <a:xfrm>
            <a:off x="1737360" y="4023360"/>
            <a:ext cx="7315200" cy="1188720"/>
          </a:xfrm>
          <a:prstGeom prst="rect">
            <a:avLst/>
          </a:prstGeom>
          <a:noFill/>
          <a:ln/>
        </p:spPr>
        <p:txBody>
          <a:bodyPr wrap="square" rtlCol="0" anchor="ctr"/>
          <a:lstStyle/>
          <a:p>
            <a:pPr marL="0" indent="0" algn="ctr">
              <a:buNone/>
            </a:pPr>
            <a:r>
              <a:rPr lang="en-US" sz="2600" b="1" dirty="0">
                <a:solidFill>
                  <a:srgbClr val="F2A93B"/>
                </a:solidFill>
                <a:latin typeface="Cambria" pitchFamily="34" charset="0"/>
                <a:ea typeface="Cambria" pitchFamily="34" charset="-122"/>
                <a:cs typeface="Cambria" pitchFamily="34" charset="-120"/>
              </a:rPr>
              <a:t>IQR = Q3 − Q1 = 32.5 − 16.5 = 16</a:t>
            </a:r>
            <a:endParaRPr lang="en-US" sz="2600" dirty="0"/>
          </a:p>
        </p:txBody>
      </p:sp>
      <p:sp>
        <p:nvSpPr>
          <p:cNvPr id="6" name="Text 4"/>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7" name="Text 5"/>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8" name="Text 6"/>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Outlier Detection: The 1.5 × IQR Rule</a:t>
            </a:r>
            <a:endParaRPr lang="en-US" sz="3000" dirty="0"/>
          </a:p>
        </p:txBody>
      </p:sp>
      <p:sp>
        <p:nvSpPr>
          <p:cNvPr id="3" name="Text 1"/>
          <p:cNvSpPr/>
          <p:nvPr/>
        </p:nvSpPr>
        <p:spPr>
          <a:xfrm>
            <a:off x="640080" y="1554480"/>
            <a:ext cx="10515600" cy="438912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Lower fence = Q1 − 1.5 × IQR</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Upper fence = Q3 + 1.5 × IQR</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Any value below the lower fence or above the upper fence is flagged as a potential outlier</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This rule is robust — it doesn't get thrown off by the outliers it's trying to detect (unlike using the mean and SD)</a:t>
            </a:r>
            <a:endParaRPr lang="en-US" sz="2000" dirty="0"/>
          </a:p>
        </p:txBody>
      </p:sp>
      <p:sp>
        <p:nvSpPr>
          <p:cNvPr id="4" name="Text 2"/>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5" name="Text 3"/>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6" name="Text 4"/>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Worked Example: Detecting an Outlier</a:t>
            </a:r>
            <a:endParaRPr lang="en-US" sz="3000" dirty="0"/>
          </a:p>
        </p:txBody>
      </p:sp>
      <p:sp>
        <p:nvSpPr>
          <p:cNvPr id="3" name="Text 1"/>
          <p:cNvSpPr/>
          <p:nvPr/>
        </p:nvSpPr>
        <p:spPr>
          <a:xfrm>
            <a:off x="640080" y="1554480"/>
            <a:ext cx="10515600" cy="237744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From before: Q1 = 16.5, Q3 = 32.5, IQR = 16</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Lower fence = 16.5 − (1.5 × 16) = 16.5 − 24 = −7.5</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Upper fence = 32.5 + (1.5 × 16) = 32.5 + 24 = 56.5</a:t>
            </a:r>
            <a:endParaRPr lang="en-US" sz="1900" dirty="0"/>
          </a:p>
        </p:txBody>
      </p:sp>
      <p:sp>
        <p:nvSpPr>
          <p:cNvPr id="4" name="Shape 2"/>
          <p:cNvSpPr/>
          <p:nvPr/>
        </p:nvSpPr>
        <p:spPr>
          <a:xfrm>
            <a:off x="1280160" y="4114800"/>
            <a:ext cx="8229600" cy="1280160"/>
          </a:xfrm>
          <a:prstGeom prst="roundRect">
            <a:avLst>
              <a:gd name="adj" fmla="val 7143"/>
            </a:avLst>
          </a:prstGeom>
          <a:solidFill>
            <a:srgbClr val="F2A93B"/>
          </a:solidFill>
          <a:ln/>
        </p:spPr>
      </p:sp>
      <p:sp>
        <p:nvSpPr>
          <p:cNvPr id="5" name="Text 3"/>
          <p:cNvSpPr/>
          <p:nvPr/>
        </p:nvSpPr>
        <p:spPr>
          <a:xfrm>
            <a:off x="1280160" y="4114800"/>
            <a:ext cx="8229600" cy="1280160"/>
          </a:xfrm>
          <a:prstGeom prst="rect">
            <a:avLst/>
          </a:prstGeom>
          <a:noFill/>
          <a:ln/>
        </p:spPr>
        <p:txBody>
          <a:bodyPr wrap="square" rtlCol="0" anchor="ctr"/>
          <a:lstStyle/>
          <a:p>
            <a:pPr marL="0" indent="0" algn="ctr">
              <a:buNone/>
            </a:pPr>
            <a:r>
              <a:rPr lang="en-US" sz="2400" b="1" dirty="0">
                <a:solidFill>
                  <a:srgbClr val="073634"/>
                </a:solidFill>
                <a:latin typeface="Cambria" pitchFamily="34" charset="0"/>
                <a:ea typeface="Cambria" pitchFamily="34" charset="-122"/>
                <a:cs typeface="Cambria" pitchFamily="34" charset="-120"/>
              </a:rPr>
              <a:t>60 &gt; 56.5  →  60 is flagged as an OUTLIER</a:t>
            </a:r>
            <a:endParaRPr lang="en-US" sz="2400" dirty="0"/>
          </a:p>
        </p:txBody>
      </p:sp>
      <p:sp>
        <p:nvSpPr>
          <p:cNvPr id="6" name="Text 4"/>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7" name="Text 5"/>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8" name="Text 6"/>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Visualizing Spread: The Box Plot</a:t>
            </a:r>
            <a:endParaRPr lang="en-US" sz="3000" dirty="0"/>
          </a:p>
        </p:txBody>
      </p:sp>
      <p:sp>
        <p:nvSpPr>
          <p:cNvPr id="3" name="Shape 1"/>
          <p:cNvSpPr/>
          <p:nvPr/>
        </p:nvSpPr>
        <p:spPr>
          <a:xfrm>
            <a:off x="1097280" y="3749040"/>
            <a:ext cx="9692640" cy="0"/>
          </a:xfrm>
          <a:prstGeom prst="line">
            <a:avLst/>
          </a:prstGeom>
          <a:noFill/>
          <a:ln w="12700">
            <a:solidFill>
              <a:srgbClr val="CBD9D7"/>
            </a:solidFill>
            <a:prstDash val="solid"/>
          </a:ln>
        </p:spPr>
      </p:sp>
      <p:sp>
        <p:nvSpPr>
          <p:cNvPr id="4" name="Shape 2"/>
          <p:cNvSpPr/>
          <p:nvPr/>
        </p:nvSpPr>
        <p:spPr>
          <a:xfrm>
            <a:off x="2712720" y="3749040"/>
            <a:ext cx="1050036" cy="0"/>
          </a:xfrm>
          <a:prstGeom prst="line">
            <a:avLst/>
          </a:prstGeom>
          <a:noFill/>
          <a:ln w="25400">
            <a:solidFill>
              <a:srgbClr val="0B4F4A"/>
            </a:solidFill>
            <a:prstDash val="dash"/>
          </a:ln>
        </p:spPr>
      </p:sp>
      <p:sp>
        <p:nvSpPr>
          <p:cNvPr id="5" name="Shape 3"/>
          <p:cNvSpPr/>
          <p:nvPr/>
        </p:nvSpPr>
        <p:spPr>
          <a:xfrm>
            <a:off x="6347460" y="3749040"/>
            <a:ext cx="403860" cy="0"/>
          </a:xfrm>
          <a:prstGeom prst="line">
            <a:avLst/>
          </a:prstGeom>
          <a:noFill/>
          <a:ln w="25400">
            <a:solidFill>
              <a:srgbClr val="0B4F4A"/>
            </a:solidFill>
            <a:prstDash val="dash"/>
          </a:ln>
        </p:spPr>
      </p:sp>
      <p:sp>
        <p:nvSpPr>
          <p:cNvPr id="6" name="Shape 4"/>
          <p:cNvSpPr/>
          <p:nvPr/>
        </p:nvSpPr>
        <p:spPr>
          <a:xfrm>
            <a:off x="2712720" y="3291840"/>
            <a:ext cx="0" cy="914400"/>
          </a:xfrm>
          <a:prstGeom prst="line">
            <a:avLst/>
          </a:prstGeom>
          <a:noFill/>
          <a:ln w="25400">
            <a:solidFill>
              <a:srgbClr val="0B4F4A"/>
            </a:solidFill>
            <a:prstDash val="solid"/>
          </a:ln>
        </p:spPr>
      </p:sp>
      <p:sp>
        <p:nvSpPr>
          <p:cNvPr id="7" name="Shape 5"/>
          <p:cNvSpPr/>
          <p:nvPr/>
        </p:nvSpPr>
        <p:spPr>
          <a:xfrm>
            <a:off x="6751320" y="3291840"/>
            <a:ext cx="0" cy="914400"/>
          </a:xfrm>
          <a:prstGeom prst="line">
            <a:avLst/>
          </a:prstGeom>
          <a:noFill/>
          <a:ln w="25400">
            <a:solidFill>
              <a:srgbClr val="0B4F4A"/>
            </a:solidFill>
            <a:prstDash val="solid"/>
          </a:ln>
        </p:spPr>
      </p:sp>
      <p:sp>
        <p:nvSpPr>
          <p:cNvPr id="8" name="Shape 6"/>
          <p:cNvSpPr/>
          <p:nvPr/>
        </p:nvSpPr>
        <p:spPr>
          <a:xfrm>
            <a:off x="3762756" y="3291840"/>
            <a:ext cx="2584704" cy="914400"/>
          </a:xfrm>
          <a:prstGeom prst="rect">
            <a:avLst/>
          </a:prstGeom>
          <a:solidFill>
            <a:srgbClr val="E7F2F1"/>
          </a:solidFill>
          <a:ln w="25400">
            <a:solidFill>
              <a:srgbClr val="0B4F4A"/>
            </a:solidFill>
            <a:prstDash val="solid"/>
          </a:ln>
        </p:spPr>
      </p:sp>
      <p:sp>
        <p:nvSpPr>
          <p:cNvPr id="9" name="Shape 7"/>
          <p:cNvSpPr/>
          <p:nvPr/>
        </p:nvSpPr>
        <p:spPr>
          <a:xfrm>
            <a:off x="4974336" y="3291840"/>
            <a:ext cx="0" cy="914400"/>
          </a:xfrm>
          <a:prstGeom prst="line">
            <a:avLst/>
          </a:prstGeom>
          <a:noFill/>
          <a:ln w="38100">
            <a:solidFill>
              <a:srgbClr val="C97F12"/>
            </a:solidFill>
            <a:prstDash val="solid"/>
          </a:ln>
        </p:spPr>
      </p:sp>
      <p:sp>
        <p:nvSpPr>
          <p:cNvPr id="10" name="Shape 8"/>
          <p:cNvSpPr/>
          <p:nvPr/>
        </p:nvSpPr>
        <p:spPr>
          <a:xfrm>
            <a:off x="10716768" y="3675888"/>
            <a:ext cx="146304" cy="146304"/>
          </a:xfrm>
          <a:prstGeom prst="ellipse">
            <a:avLst/>
          </a:prstGeom>
          <a:solidFill>
            <a:srgbClr val="F2A93B"/>
          </a:solidFill>
          <a:ln w="12700">
            <a:solidFill>
              <a:srgbClr val="073634"/>
            </a:solidFill>
            <a:prstDash val="solid"/>
          </a:ln>
        </p:spPr>
      </p:sp>
      <p:sp>
        <p:nvSpPr>
          <p:cNvPr id="11" name="Text 9"/>
          <p:cNvSpPr/>
          <p:nvPr/>
        </p:nvSpPr>
        <p:spPr>
          <a:xfrm>
            <a:off x="2164080" y="4343400"/>
            <a:ext cx="1097280" cy="548640"/>
          </a:xfrm>
          <a:prstGeom prst="rect">
            <a:avLst/>
          </a:prstGeom>
          <a:noFill/>
          <a:ln/>
        </p:spPr>
        <p:txBody>
          <a:bodyPr wrap="square" rtlCol="0" anchor="ctr"/>
          <a:lstStyle/>
          <a:p>
            <a:pPr marL="0" indent="0" algn="ctr">
              <a:buNone/>
            </a:pPr>
            <a:r>
              <a:rPr lang="en-US" sz="1200" dirty="0">
                <a:solidFill>
                  <a:srgbClr val="172A28"/>
                </a:solidFill>
                <a:latin typeface="Calibri" pitchFamily="34" charset="0"/>
                <a:ea typeface="Calibri" pitchFamily="34" charset="-122"/>
                <a:cs typeface="Calibri" pitchFamily="34" charset="-120"/>
              </a:rPr>
              <a:t>Min</a:t>
            </a:r>
            <a:endParaRPr lang="en-US" sz="1200" dirty="0"/>
          </a:p>
          <a:p>
            <a:pPr marL="0" indent="0" algn="ctr">
              <a:buNone/>
            </a:pPr>
            <a:r>
              <a:rPr lang="en-US" sz="1200" dirty="0">
                <a:solidFill>
                  <a:srgbClr val="172A28"/>
                </a:solidFill>
                <a:latin typeface="Calibri" pitchFamily="34" charset="0"/>
                <a:ea typeface="Calibri" pitchFamily="34" charset="-122"/>
                <a:cs typeface="Calibri" pitchFamily="34" charset="-120"/>
              </a:rPr>
              <a:t>(10)</a:t>
            </a:r>
            <a:endParaRPr lang="en-US" sz="1200" dirty="0"/>
          </a:p>
        </p:txBody>
      </p:sp>
      <p:sp>
        <p:nvSpPr>
          <p:cNvPr id="12" name="Text 10"/>
          <p:cNvSpPr/>
          <p:nvPr/>
        </p:nvSpPr>
        <p:spPr>
          <a:xfrm>
            <a:off x="3214116" y="4343400"/>
            <a:ext cx="1097280" cy="548640"/>
          </a:xfrm>
          <a:prstGeom prst="rect">
            <a:avLst/>
          </a:prstGeom>
          <a:noFill/>
          <a:ln/>
        </p:spPr>
        <p:txBody>
          <a:bodyPr wrap="square" rtlCol="0" anchor="ctr"/>
          <a:lstStyle/>
          <a:p>
            <a:pPr marL="0" indent="0" algn="ctr">
              <a:buNone/>
            </a:pPr>
            <a:r>
              <a:rPr lang="en-US" sz="1200" dirty="0">
                <a:solidFill>
                  <a:srgbClr val="172A28"/>
                </a:solidFill>
                <a:latin typeface="Calibri" pitchFamily="34" charset="0"/>
                <a:ea typeface="Calibri" pitchFamily="34" charset="-122"/>
                <a:cs typeface="Calibri" pitchFamily="34" charset="-120"/>
              </a:rPr>
              <a:t>Q1</a:t>
            </a:r>
            <a:endParaRPr lang="en-US" sz="1200" dirty="0"/>
          </a:p>
          <a:p>
            <a:pPr marL="0" indent="0" algn="ctr">
              <a:buNone/>
            </a:pPr>
            <a:r>
              <a:rPr lang="en-US" sz="1200" dirty="0">
                <a:solidFill>
                  <a:srgbClr val="172A28"/>
                </a:solidFill>
                <a:latin typeface="Calibri" pitchFamily="34" charset="0"/>
                <a:ea typeface="Calibri" pitchFamily="34" charset="-122"/>
                <a:cs typeface="Calibri" pitchFamily="34" charset="-120"/>
              </a:rPr>
              <a:t>(16.5)</a:t>
            </a:r>
            <a:endParaRPr lang="en-US" sz="1200" dirty="0"/>
          </a:p>
        </p:txBody>
      </p:sp>
      <p:sp>
        <p:nvSpPr>
          <p:cNvPr id="13" name="Text 11"/>
          <p:cNvSpPr/>
          <p:nvPr/>
        </p:nvSpPr>
        <p:spPr>
          <a:xfrm>
            <a:off x="4425696" y="4343400"/>
            <a:ext cx="1097280" cy="548640"/>
          </a:xfrm>
          <a:prstGeom prst="rect">
            <a:avLst/>
          </a:prstGeom>
          <a:noFill/>
          <a:ln/>
        </p:spPr>
        <p:txBody>
          <a:bodyPr wrap="square" rtlCol="0" anchor="ctr"/>
          <a:lstStyle/>
          <a:p>
            <a:pPr marL="0" indent="0" algn="ctr">
              <a:buNone/>
            </a:pPr>
            <a:r>
              <a:rPr lang="en-US" sz="1200" dirty="0">
                <a:solidFill>
                  <a:srgbClr val="172A28"/>
                </a:solidFill>
                <a:latin typeface="Calibri" pitchFamily="34" charset="0"/>
                <a:ea typeface="Calibri" pitchFamily="34" charset="-122"/>
                <a:cs typeface="Calibri" pitchFamily="34" charset="-120"/>
              </a:rPr>
              <a:t>Median</a:t>
            </a:r>
            <a:endParaRPr lang="en-US" sz="1200" dirty="0"/>
          </a:p>
          <a:p>
            <a:pPr marL="0" indent="0" algn="ctr">
              <a:buNone/>
            </a:pPr>
            <a:r>
              <a:rPr lang="en-US" sz="1200" dirty="0">
                <a:solidFill>
                  <a:srgbClr val="172A28"/>
                </a:solidFill>
                <a:latin typeface="Calibri" pitchFamily="34" charset="0"/>
                <a:ea typeface="Calibri" pitchFamily="34" charset="-122"/>
                <a:cs typeface="Calibri" pitchFamily="34" charset="-120"/>
              </a:rPr>
              <a:t>(24)</a:t>
            </a:r>
            <a:endParaRPr lang="en-US" sz="1200" dirty="0"/>
          </a:p>
        </p:txBody>
      </p:sp>
      <p:sp>
        <p:nvSpPr>
          <p:cNvPr id="14" name="Text 12"/>
          <p:cNvSpPr/>
          <p:nvPr/>
        </p:nvSpPr>
        <p:spPr>
          <a:xfrm>
            <a:off x="5798820" y="4343400"/>
            <a:ext cx="1097280" cy="548640"/>
          </a:xfrm>
          <a:prstGeom prst="rect">
            <a:avLst/>
          </a:prstGeom>
          <a:noFill/>
          <a:ln/>
        </p:spPr>
        <p:txBody>
          <a:bodyPr wrap="square" rtlCol="0" anchor="ctr"/>
          <a:lstStyle/>
          <a:p>
            <a:pPr marL="0" indent="0" algn="ctr">
              <a:buNone/>
            </a:pPr>
            <a:r>
              <a:rPr lang="en-US" sz="1200" dirty="0">
                <a:solidFill>
                  <a:srgbClr val="172A28"/>
                </a:solidFill>
                <a:latin typeface="Calibri" pitchFamily="34" charset="0"/>
                <a:ea typeface="Calibri" pitchFamily="34" charset="-122"/>
                <a:cs typeface="Calibri" pitchFamily="34" charset="-120"/>
              </a:rPr>
              <a:t>Q3</a:t>
            </a:r>
            <a:endParaRPr lang="en-US" sz="1200" dirty="0"/>
          </a:p>
          <a:p>
            <a:pPr marL="0" indent="0" algn="ctr">
              <a:buNone/>
            </a:pPr>
            <a:r>
              <a:rPr lang="en-US" sz="1200" dirty="0">
                <a:solidFill>
                  <a:srgbClr val="172A28"/>
                </a:solidFill>
                <a:latin typeface="Calibri" pitchFamily="34" charset="0"/>
                <a:ea typeface="Calibri" pitchFamily="34" charset="-122"/>
                <a:cs typeface="Calibri" pitchFamily="34" charset="-120"/>
              </a:rPr>
              <a:t>(32.5)</a:t>
            </a:r>
            <a:endParaRPr lang="en-US" sz="1200" dirty="0"/>
          </a:p>
        </p:txBody>
      </p:sp>
      <p:sp>
        <p:nvSpPr>
          <p:cNvPr id="15" name="Text 13"/>
          <p:cNvSpPr/>
          <p:nvPr/>
        </p:nvSpPr>
        <p:spPr>
          <a:xfrm>
            <a:off x="6202680" y="4343400"/>
            <a:ext cx="1097280" cy="548640"/>
          </a:xfrm>
          <a:prstGeom prst="rect">
            <a:avLst/>
          </a:prstGeom>
          <a:noFill/>
          <a:ln/>
        </p:spPr>
        <p:txBody>
          <a:bodyPr wrap="square" rtlCol="0" anchor="ctr"/>
          <a:lstStyle/>
          <a:p>
            <a:pPr marL="0" indent="0" algn="ctr">
              <a:buNone/>
            </a:pPr>
            <a:r>
              <a:rPr lang="en-US" sz="1200" dirty="0">
                <a:solidFill>
                  <a:srgbClr val="172A28"/>
                </a:solidFill>
                <a:latin typeface="Calibri" pitchFamily="34" charset="0"/>
                <a:ea typeface="Calibri" pitchFamily="34" charset="-122"/>
                <a:cs typeface="Calibri" pitchFamily="34" charset="-120"/>
              </a:rPr>
              <a:t>Max</a:t>
            </a:r>
            <a:endParaRPr lang="en-US" sz="1200" dirty="0"/>
          </a:p>
          <a:p>
            <a:pPr marL="0" indent="0" algn="ctr">
              <a:buNone/>
            </a:pPr>
            <a:r>
              <a:rPr lang="en-US" sz="1200" dirty="0">
                <a:solidFill>
                  <a:srgbClr val="172A28"/>
                </a:solidFill>
                <a:latin typeface="Calibri" pitchFamily="34" charset="0"/>
                <a:ea typeface="Calibri" pitchFamily="34" charset="-122"/>
                <a:cs typeface="Calibri" pitchFamily="34" charset="-120"/>
              </a:rPr>
              <a:t>(35)</a:t>
            </a:r>
            <a:endParaRPr lang="en-US" sz="1200" dirty="0"/>
          </a:p>
        </p:txBody>
      </p:sp>
      <p:sp>
        <p:nvSpPr>
          <p:cNvPr id="16" name="Text 14"/>
          <p:cNvSpPr/>
          <p:nvPr/>
        </p:nvSpPr>
        <p:spPr>
          <a:xfrm>
            <a:off x="10241280" y="4343400"/>
            <a:ext cx="1097280" cy="548640"/>
          </a:xfrm>
          <a:prstGeom prst="rect">
            <a:avLst/>
          </a:prstGeom>
          <a:noFill/>
          <a:ln/>
        </p:spPr>
        <p:txBody>
          <a:bodyPr wrap="square" rtlCol="0" anchor="ctr"/>
          <a:lstStyle/>
          <a:p>
            <a:pPr marL="0" indent="0" algn="ctr">
              <a:buNone/>
            </a:pPr>
            <a:r>
              <a:rPr lang="en-US" sz="1200" dirty="0">
                <a:solidFill>
                  <a:srgbClr val="172A28"/>
                </a:solidFill>
                <a:latin typeface="Calibri" pitchFamily="34" charset="0"/>
                <a:ea typeface="Calibri" pitchFamily="34" charset="-122"/>
                <a:cs typeface="Calibri" pitchFamily="34" charset="-120"/>
              </a:rPr>
              <a:t>Outlier</a:t>
            </a:r>
            <a:endParaRPr lang="en-US" sz="1200" dirty="0"/>
          </a:p>
          <a:p>
            <a:pPr marL="0" indent="0" algn="ctr">
              <a:buNone/>
            </a:pPr>
            <a:r>
              <a:rPr lang="en-US" sz="1200" dirty="0">
                <a:solidFill>
                  <a:srgbClr val="172A28"/>
                </a:solidFill>
                <a:latin typeface="Calibri" pitchFamily="34" charset="0"/>
                <a:ea typeface="Calibri" pitchFamily="34" charset="-122"/>
                <a:cs typeface="Calibri" pitchFamily="34" charset="-120"/>
              </a:rPr>
              <a:t>(60)</a:t>
            </a:r>
            <a:endParaRPr lang="en-US" sz="1200" dirty="0"/>
          </a:p>
        </p:txBody>
      </p:sp>
      <p:sp>
        <p:nvSpPr>
          <p:cNvPr id="17" name="Text 15"/>
          <p:cNvSpPr/>
          <p:nvPr/>
        </p:nvSpPr>
        <p:spPr>
          <a:xfrm>
            <a:off x="640080" y="5212080"/>
            <a:ext cx="10515600" cy="137160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72A28"/>
                </a:solidFill>
                <a:latin typeface="Calibri" pitchFamily="34" charset="0"/>
                <a:ea typeface="Calibri" pitchFamily="34" charset="-122"/>
                <a:cs typeface="Calibri" pitchFamily="34" charset="-120"/>
              </a:rPr>
              <a:t>The box spans Q1 to Q3 (the IQR); the line inside marks the median</a:t>
            </a:r>
            <a:endParaRPr lang="en-US" sz="1600" dirty="0"/>
          </a:p>
          <a:p>
            <a:pPr marL="342900" indent="-342900">
              <a:spcAft>
                <a:spcPts val="1400"/>
              </a:spcAft>
              <a:buSzPct val="100000"/>
              <a:buChar char="▪"/>
            </a:pPr>
            <a:r>
              <a:rPr lang="en-US" sz="1600" dirty="0">
                <a:solidFill>
                  <a:srgbClr val="172A28"/>
                </a:solidFill>
                <a:latin typeface="Calibri" pitchFamily="34" charset="0"/>
                <a:ea typeface="Calibri" pitchFamily="34" charset="-122"/>
                <a:cs typeface="Calibri" pitchFamily="34" charset="-120"/>
              </a:rPr>
              <a:t>Whiskers extend to the smallest/largest values within the fences</a:t>
            </a:r>
            <a:endParaRPr lang="en-US" sz="1600" dirty="0"/>
          </a:p>
          <a:p>
            <a:pPr marL="342900" indent="-342900">
              <a:spcAft>
                <a:spcPts val="1400"/>
              </a:spcAft>
              <a:buSzPct val="100000"/>
              <a:buChar char="▪"/>
            </a:pPr>
            <a:r>
              <a:rPr lang="en-US" sz="1600" dirty="0">
                <a:solidFill>
                  <a:srgbClr val="172A28"/>
                </a:solidFill>
                <a:latin typeface="Calibri" pitchFamily="34" charset="0"/>
                <a:ea typeface="Calibri" pitchFamily="34" charset="-122"/>
                <a:cs typeface="Calibri" pitchFamily="34" charset="-120"/>
              </a:rPr>
              <a:t>Points beyond the fences are drawn individually as outliers</a:t>
            </a:r>
            <a:endParaRPr lang="en-US" sz="1600" dirty="0"/>
          </a:p>
        </p:txBody>
      </p:sp>
      <p:sp>
        <p:nvSpPr>
          <p:cNvPr id="18" name="Text 16"/>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19" name="Text 17"/>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20" name="Text 18"/>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Variance/SD vs. IQR — Which to Use?</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3429000"/>
        </p:xfrm>
        <a:graphic>
          <a:graphicData uri="http://schemas.openxmlformats.org/drawingml/2006/table">
            <a:tbl>
              <a:tblPr/>
              <a:tblGrid>
                <a:gridCol w="2926080">
                  <a:extLst>
                    <a:ext uri="{9D8B030D-6E8A-4147-A177-3AD203B41FA5}">
                      <a16:colId xmlns:a16="http://schemas.microsoft.com/office/drawing/2014/main" val="20000"/>
                    </a:ext>
                  </a:extLst>
                </a:gridCol>
                <a:gridCol w="3977640">
                  <a:extLst>
                    <a:ext uri="{9D8B030D-6E8A-4147-A177-3AD203B41FA5}">
                      <a16:colId xmlns:a16="http://schemas.microsoft.com/office/drawing/2014/main" val="20001"/>
                    </a:ext>
                  </a:extLst>
                </a:gridCol>
                <a:gridCol w="3977640">
                  <a:extLst>
                    <a:ext uri="{9D8B030D-6E8A-4147-A177-3AD203B41FA5}">
                      <a16:colId xmlns:a16="http://schemas.microsoft.com/office/drawing/2014/main" val="20002"/>
                    </a:ext>
                  </a:extLst>
                </a:gridCol>
              </a:tblGrid>
              <a:tr h="685800">
                <a:tc>
                  <a:txBody>
                    <a:bodyPr/>
                    <a:lstStyle/>
                    <a:p>
                      <a:pPr marL="0" indent="0" algn="l">
                        <a:buNone/>
                      </a:pPr>
                      <a:endParaRPr lang="en-US" sz="16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solidFill>
                      <a:srgbClr val="0B4F4A"/>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Variance / SD</a:t>
                      </a:r>
                      <a:endParaRPr lang="en-US" sz="16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solidFill>
                      <a:srgbClr val="0B4F4A"/>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IQR</a:t>
                      </a:r>
                      <a:endParaRPr lang="en-US" sz="16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solidFill>
                      <a:srgbClr val="0B4F4A"/>
                    </a:solidFill>
                  </a:tcPr>
                </a:tc>
                <a:extLst>
                  <a:ext uri="{0D108BD9-81ED-4DB2-BD59-A6C34878D82A}">
                    <a16:rowId xmlns:a16="http://schemas.microsoft.com/office/drawing/2014/main" val="10000"/>
                  </a:ext>
                </a:extLst>
              </a:tr>
              <a:tr h="685800">
                <a:tc>
                  <a:txBody>
                    <a:bodyPr/>
                    <a:lstStyle/>
                    <a:p>
                      <a:pPr marL="0" indent="0" algn="l">
                        <a:buNone/>
                      </a:pPr>
                      <a:r>
                        <a:rPr lang="en-US" sz="1600" dirty="0">
                          <a:solidFill>
                            <a:srgbClr val="172A28"/>
                          </a:solidFill>
                          <a:latin typeface="Calibri" pitchFamily="34" charset="0"/>
                          <a:ea typeface="Calibri" pitchFamily="34" charset="-122"/>
                          <a:cs typeface="Calibri" pitchFamily="34" charset="-120"/>
                        </a:rPr>
                        <a:t>Uses</a:t>
                      </a:r>
                      <a:endParaRPr lang="en-US" sz="16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l">
                        <a:buNone/>
                      </a:pPr>
                      <a:r>
                        <a:rPr lang="en-US" sz="1600" dirty="0">
                          <a:solidFill>
                            <a:srgbClr val="172A28"/>
                          </a:solidFill>
                          <a:latin typeface="Calibri" pitchFamily="34" charset="0"/>
                          <a:ea typeface="Calibri" pitchFamily="34" charset="-122"/>
                          <a:cs typeface="Calibri" pitchFamily="34" charset="-120"/>
                        </a:rPr>
                        <a:t>Every data point</a:t>
                      </a:r>
                      <a:endParaRPr lang="en-US" sz="16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l">
                        <a:buNone/>
                      </a:pPr>
                      <a:r>
                        <a:rPr lang="en-US" sz="1600" dirty="0">
                          <a:solidFill>
                            <a:srgbClr val="172A28"/>
                          </a:solidFill>
                          <a:latin typeface="Calibri" pitchFamily="34" charset="0"/>
                          <a:ea typeface="Calibri" pitchFamily="34" charset="-122"/>
                          <a:cs typeface="Calibri" pitchFamily="34" charset="-120"/>
                        </a:rPr>
                        <a:t>Middle 50% only</a:t>
                      </a:r>
                      <a:endParaRPr lang="en-US" sz="16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0" indent="0" algn="l">
                        <a:buNone/>
                      </a:pPr>
                      <a:r>
                        <a:rPr lang="en-US" sz="1600" dirty="0">
                          <a:solidFill>
                            <a:srgbClr val="172A28"/>
                          </a:solidFill>
                          <a:latin typeface="Calibri" pitchFamily="34" charset="0"/>
                          <a:ea typeface="Calibri" pitchFamily="34" charset="-122"/>
                          <a:cs typeface="Calibri" pitchFamily="34" charset="-120"/>
                        </a:rPr>
                        <a:t>Sensitive to outliers?</a:t>
                      </a:r>
                      <a:endParaRPr lang="en-US" sz="16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l">
                        <a:buNone/>
                      </a:pPr>
                      <a:r>
                        <a:rPr lang="en-US" sz="1600" dirty="0">
                          <a:solidFill>
                            <a:srgbClr val="172A28"/>
                          </a:solidFill>
                          <a:latin typeface="Calibri" pitchFamily="34" charset="0"/>
                          <a:ea typeface="Calibri" pitchFamily="34" charset="-122"/>
                          <a:cs typeface="Calibri" pitchFamily="34" charset="-120"/>
                        </a:rPr>
                        <a:t>Yes — heavily</a:t>
                      </a:r>
                      <a:endParaRPr lang="en-US" sz="16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l">
                        <a:buNone/>
                      </a:pPr>
                      <a:r>
                        <a:rPr lang="en-US" sz="1600" dirty="0">
                          <a:solidFill>
                            <a:srgbClr val="172A28"/>
                          </a:solidFill>
                          <a:latin typeface="Calibri" pitchFamily="34" charset="0"/>
                          <a:ea typeface="Calibri" pitchFamily="34" charset="-122"/>
                          <a:cs typeface="Calibri" pitchFamily="34" charset="-120"/>
                        </a:rPr>
                        <a:t>No — robust</a:t>
                      </a:r>
                      <a:endParaRPr lang="en-US" sz="16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marL="0" indent="0" algn="l">
                        <a:buNone/>
                      </a:pPr>
                      <a:r>
                        <a:rPr lang="en-US" sz="1600" dirty="0">
                          <a:solidFill>
                            <a:srgbClr val="172A28"/>
                          </a:solidFill>
                          <a:latin typeface="Calibri" pitchFamily="34" charset="0"/>
                          <a:ea typeface="Calibri" pitchFamily="34" charset="-122"/>
                          <a:cs typeface="Calibri" pitchFamily="34" charset="-120"/>
                        </a:rPr>
                        <a:t>Best for</a:t>
                      </a:r>
                      <a:endParaRPr lang="en-US" sz="16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l">
                        <a:buNone/>
                      </a:pPr>
                      <a:r>
                        <a:rPr lang="en-US" sz="1600" dirty="0">
                          <a:solidFill>
                            <a:srgbClr val="172A28"/>
                          </a:solidFill>
                          <a:latin typeface="Calibri" pitchFamily="34" charset="0"/>
                          <a:ea typeface="Calibri" pitchFamily="34" charset="-122"/>
                          <a:cs typeface="Calibri" pitchFamily="34" charset="-120"/>
                        </a:rPr>
                        <a:t>Roughly symmetric, clean data</a:t>
                      </a:r>
                      <a:endParaRPr lang="en-US" sz="16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l">
                        <a:buNone/>
                      </a:pPr>
                      <a:r>
                        <a:rPr lang="en-US" sz="1600" dirty="0">
                          <a:solidFill>
                            <a:srgbClr val="172A28"/>
                          </a:solidFill>
                          <a:latin typeface="Calibri" pitchFamily="34" charset="0"/>
                          <a:ea typeface="Calibri" pitchFamily="34" charset="-122"/>
                          <a:cs typeface="Calibri" pitchFamily="34" charset="-120"/>
                        </a:rPr>
                        <a:t>Skewed data or data with outliers</a:t>
                      </a:r>
                      <a:endParaRPr lang="en-US" sz="16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3"/>
                  </a:ext>
                </a:extLst>
              </a:tr>
              <a:tr h="685800">
                <a:tc>
                  <a:txBody>
                    <a:bodyPr/>
                    <a:lstStyle/>
                    <a:p>
                      <a:pPr marL="0" indent="0" algn="l">
                        <a:buNone/>
                      </a:pPr>
                      <a:r>
                        <a:rPr lang="en-US" sz="1600" dirty="0">
                          <a:solidFill>
                            <a:srgbClr val="172A28"/>
                          </a:solidFill>
                          <a:latin typeface="Calibri" pitchFamily="34" charset="0"/>
                          <a:ea typeface="Calibri" pitchFamily="34" charset="-122"/>
                          <a:cs typeface="Calibri" pitchFamily="34" charset="-120"/>
                        </a:rPr>
                        <a:t>Pairs naturally with</a:t>
                      </a:r>
                      <a:endParaRPr lang="en-US" sz="16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l">
                        <a:buNone/>
                      </a:pPr>
                      <a:r>
                        <a:rPr lang="en-US" sz="1600" dirty="0">
                          <a:solidFill>
                            <a:srgbClr val="172A28"/>
                          </a:solidFill>
                          <a:latin typeface="Calibri" pitchFamily="34" charset="0"/>
                          <a:ea typeface="Calibri" pitchFamily="34" charset="-122"/>
                          <a:cs typeface="Calibri" pitchFamily="34" charset="-120"/>
                        </a:rPr>
                        <a:t>Mean</a:t>
                      </a:r>
                      <a:endParaRPr lang="en-US" sz="16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lgn="l">
                        <a:buNone/>
                      </a:pPr>
                      <a:r>
                        <a:rPr lang="en-US" sz="1600" dirty="0">
                          <a:solidFill>
                            <a:srgbClr val="172A28"/>
                          </a:solidFill>
                          <a:latin typeface="Calibri" pitchFamily="34" charset="0"/>
                          <a:ea typeface="Calibri" pitchFamily="34" charset="-122"/>
                          <a:cs typeface="Calibri" pitchFamily="34" charset="-120"/>
                        </a:rPr>
                        <a:t>Median / Box plot</a:t>
                      </a:r>
                      <a:endParaRPr lang="en-US" sz="16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5" name="Text 2"/>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6" name="Text 3"/>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Real-World Application</a:t>
            </a:r>
            <a:endParaRPr lang="en-US" sz="3000" dirty="0"/>
          </a:p>
        </p:txBody>
      </p:sp>
      <p:sp>
        <p:nvSpPr>
          <p:cNvPr id="3" name="Shape 1"/>
          <p:cNvSpPr/>
          <p:nvPr/>
        </p:nvSpPr>
        <p:spPr>
          <a:xfrm>
            <a:off x="731520" y="1600200"/>
            <a:ext cx="822960" cy="822960"/>
          </a:xfrm>
          <a:prstGeom prst="ellipse">
            <a:avLst/>
          </a:prstGeom>
          <a:solidFill>
            <a:srgbClr val="0B4F4A"/>
          </a:solidFill>
          <a:ln/>
        </p:spPr>
      </p:sp>
      <p:sp>
        <p:nvSpPr>
          <p:cNvPr id="4" name="Text 2"/>
          <p:cNvSpPr/>
          <p:nvPr/>
        </p:nvSpPr>
        <p:spPr>
          <a:xfrm>
            <a:off x="731520" y="1600200"/>
            <a:ext cx="822960" cy="822960"/>
          </a:xfrm>
          <a:prstGeom prst="rect">
            <a:avLst/>
          </a:prstGeom>
          <a:noFill/>
          <a:ln/>
        </p:spPr>
        <p:txBody>
          <a:bodyPr wrap="square" rtlCol="0" anchor="ctr"/>
          <a:lstStyle/>
          <a:p>
            <a:pPr marL="0" indent="0" algn="ctr">
              <a:buNone/>
            </a:pPr>
            <a:r>
              <a:rPr lang="en-US" sz="3060" b="1" dirty="0">
                <a:solidFill>
                  <a:srgbClr val="FFFFFF"/>
                </a:solidFill>
                <a:latin typeface="Calibri" pitchFamily="34" charset="0"/>
                <a:ea typeface="Calibri" pitchFamily="34" charset="-122"/>
                <a:cs typeface="Calibri" pitchFamily="34" charset="-120"/>
              </a:rPr>
              <a:t>₹</a:t>
            </a:r>
            <a:endParaRPr lang="en-US" sz="3060" dirty="0"/>
          </a:p>
        </p:txBody>
      </p:sp>
      <p:sp>
        <p:nvSpPr>
          <p:cNvPr id="5" name="Text 3"/>
          <p:cNvSpPr/>
          <p:nvPr/>
        </p:nvSpPr>
        <p:spPr>
          <a:xfrm>
            <a:off x="1783080" y="1554480"/>
            <a:ext cx="2743200" cy="822960"/>
          </a:xfrm>
          <a:prstGeom prst="rect">
            <a:avLst/>
          </a:prstGeom>
          <a:noFill/>
          <a:ln/>
        </p:spPr>
        <p:txBody>
          <a:bodyPr wrap="square" rtlCol="0" anchor="ctr"/>
          <a:lstStyle/>
          <a:p>
            <a:pPr marL="0" indent="0">
              <a:buNone/>
            </a:pPr>
            <a:r>
              <a:rPr lang="en-US" sz="1800" b="1" dirty="0">
                <a:solidFill>
                  <a:srgbClr val="0B4F4A"/>
                </a:solidFill>
                <a:latin typeface="Cambria" pitchFamily="34" charset="0"/>
                <a:ea typeface="Cambria" pitchFamily="34" charset="-122"/>
                <a:cs typeface="Cambria" pitchFamily="34" charset="-120"/>
              </a:rPr>
              <a:t>Finance</a:t>
            </a:r>
            <a:endParaRPr lang="en-US" sz="1800" dirty="0"/>
          </a:p>
        </p:txBody>
      </p:sp>
      <p:sp>
        <p:nvSpPr>
          <p:cNvPr id="6" name="Text 4"/>
          <p:cNvSpPr/>
          <p:nvPr/>
        </p:nvSpPr>
        <p:spPr>
          <a:xfrm>
            <a:off x="4572000" y="1554480"/>
            <a:ext cx="6583680" cy="822960"/>
          </a:xfrm>
          <a:prstGeom prst="rect">
            <a:avLst/>
          </a:prstGeom>
          <a:noFill/>
          <a:ln/>
        </p:spPr>
        <p:txBody>
          <a:bodyPr wrap="square" rtlCol="0" anchor="ctr"/>
          <a:lstStyle/>
          <a:p>
            <a:pPr marL="0" indent="0">
              <a:buNone/>
            </a:pPr>
            <a:r>
              <a:rPr lang="en-US" sz="1600" dirty="0">
                <a:solidFill>
                  <a:srgbClr val="172A28"/>
                </a:solidFill>
                <a:latin typeface="Calibri" pitchFamily="34" charset="0"/>
                <a:ea typeface="Calibri" pitchFamily="34" charset="-122"/>
                <a:cs typeface="Calibri" pitchFamily="34" charset="-120"/>
              </a:rPr>
              <a:t>Standard deviation of stock returns is the textbook measure of investment risk/volatility</a:t>
            </a:r>
            <a:endParaRPr lang="en-US" sz="1600" dirty="0"/>
          </a:p>
        </p:txBody>
      </p:sp>
      <p:sp>
        <p:nvSpPr>
          <p:cNvPr id="7" name="Shape 5"/>
          <p:cNvSpPr/>
          <p:nvPr/>
        </p:nvSpPr>
        <p:spPr>
          <a:xfrm>
            <a:off x="731520" y="3017520"/>
            <a:ext cx="822960" cy="822960"/>
          </a:xfrm>
          <a:prstGeom prst="ellipse">
            <a:avLst/>
          </a:prstGeom>
          <a:solidFill>
            <a:srgbClr val="0B4F4A"/>
          </a:solidFill>
          <a:ln/>
        </p:spPr>
      </p:sp>
      <p:sp>
        <p:nvSpPr>
          <p:cNvPr id="8" name="Text 6"/>
          <p:cNvSpPr/>
          <p:nvPr/>
        </p:nvSpPr>
        <p:spPr>
          <a:xfrm>
            <a:off x="731520" y="3017520"/>
            <a:ext cx="822960" cy="822960"/>
          </a:xfrm>
          <a:prstGeom prst="rect">
            <a:avLst/>
          </a:prstGeom>
          <a:noFill/>
          <a:ln/>
        </p:spPr>
        <p:txBody>
          <a:bodyPr wrap="square" rtlCol="0" anchor="ctr"/>
          <a:lstStyle/>
          <a:p>
            <a:pPr marL="0" indent="0" algn="ctr">
              <a:buNone/>
            </a:pPr>
            <a:r>
              <a:rPr lang="en-US" sz="3060" b="1" dirty="0">
                <a:solidFill>
                  <a:srgbClr val="FFFFFF"/>
                </a:solidFill>
                <a:latin typeface="Calibri" pitchFamily="34" charset="0"/>
                <a:ea typeface="Calibri" pitchFamily="34" charset="-122"/>
                <a:cs typeface="Calibri" pitchFamily="34" charset="-120"/>
              </a:rPr>
              <a:t>⚕</a:t>
            </a:r>
            <a:endParaRPr lang="en-US" sz="3060" dirty="0"/>
          </a:p>
        </p:txBody>
      </p:sp>
      <p:sp>
        <p:nvSpPr>
          <p:cNvPr id="9" name="Text 7"/>
          <p:cNvSpPr/>
          <p:nvPr/>
        </p:nvSpPr>
        <p:spPr>
          <a:xfrm>
            <a:off x="1783080" y="2971800"/>
            <a:ext cx="2743200" cy="822960"/>
          </a:xfrm>
          <a:prstGeom prst="rect">
            <a:avLst/>
          </a:prstGeom>
          <a:noFill/>
          <a:ln/>
        </p:spPr>
        <p:txBody>
          <a:bodyPr wrap="square" rtlCol="0" anchor="ctr"/>
          <a:lstStyle/>
          <a:p>
            <a:pPr marL="0" indent="0">
              <a:buNone/>
            </a:pPr>
            <a:r>
              <a:rPr lang="en-US" sz="1800" b="1" dirty="0">
                <a:solidFill>
                  <a:srgbClr val="0B4F4A"/>
                </a:solidFill>
                <a:latin typeface="Cambria" pitchFamily="34" charset="0"/>
                <a:ea typeface="Cambria" pitchFamily="34" charset="-122"/>
                <a:cs typeface="Cambria" pitchFamily="34" charset="-120"/>
              </a:rPr>
              <a:t>Healthcare</a:t>
            </a:r>
            <a:endParaRPr lang="en-US" sz="1800" dirty="0"/>
          </a:p>
        </p:txBody>
      </p:sp>
      <p:sp>
        <p:nvSpPr>
          <p:cNvPr id="10" name="Text 8"/>
          <p:cNvSpPr/>
          <p:nvPr/>
        </p:nvSpPr>
        <p:spPr>
          <a:xfrm>
            <a:off x="4572000" y="2971800"/>
            <a:ext cx="6583680" cy="822960"/>
          </a:xfrm>
          <a:prstGeom prst="rect">
            <a:avLst/>
          </a:prstGeom>
          <a:noFill/>
          <a:ln/>
        </p:spPr>
        <p:txBody>
          <a:bodyPr wrap="square" rtlCol="0" anchor="ctr"/>
          <a:lstStyle/>
          <a:p>
            <a:pPr marL="0" indent="0">
              <a:buNone/>
            </a:pPr>
            <a:r>
              <a:rPr lang="en-US" sz="1600" dirty="0">
                <a:solidFill>
                  <a:srgbClr val="172A28"/>
                </a:solidFill>
                <a:latin typeface="Calibri" pitchFamily="34" charset="0"/>
                <a:ea typeface="Calibri" pitchFamily="34" charset="-122"/>
                <a:cs typeface="Calibri" pitchFamily="34" charset="-120"/>
              </a:rPr>
              <a:t>Variability in a patient's vitals (e.g., blood pressure) over time can signal instability, even if the average looks normal</a:t>
            </a:r>
            <a:endParaRPr lang="en-US" sz="1600" dirty="0"/>
          </a:p>
        </p:txBody>
      </p:sp>
      <p:sp>
        <p:nvSpPr>
          <p:cNvPr id="11" name="Shape 9"/>
          <p:cNvSpPr/>
          <p:nvPr/>
        </p:nvSpPr>
        <p:spPr>
          <a:xfrm>
            <a:off x="731520" y="4434840"/>
            <a:ext cx="822960" cy="822960"/>
          </a:xfrm>
          <a:prstGeom prst="ellipse">
            <a:avLst/>
          </a:prstGeom>
          <a:solidFill>
            <a:srgbClr val="0B4F4A"/>
          </a:solidFill>
          <a:ln/>
        </p:spPr>
      </p:sp>
      <p:sp>
        <p:nvSpPr>
          <p:cNvPr id="12" name="Text 10"/>
          <p:cNvSpPr/>
          <p:nvPr/>
        </p:nvSpPr>
        <p:spPr>
          <a:xfrm>
            <a:off x="731520" y="4434840"/>
            <a:ext cx="822960" cy="822960"/>
          </a:xfrm>
          <a:prstGeom prst="rect">
            <a:avLst/>
          </a:prstGeom>
          <a:noFill/>
          <a:ln/>
        </p:spPr>
        <p:txBody>
          <a:bodyPr wrap="square" rtlCol="0" anchor="ctr"/>
          <a:lstStyle/>
          <a:p>
            <a:pPr marL="0" indent="0" algn="ctr">
              <a:buNone/>
            </a:pPr>
            <a:r>
              <a:rPr lang="en-US" sz="3060" b="1" dirty="0">
                <a:solidFill>
                  <a:srgbClr val="FFFFFF"/>
                </a:solidFill>
                <a:latin typeface="Calibri" pitchFamily="34" charset="0"/>
                <a:ea typeface="Calibri" pitchFamily="34" charset="-122"/>
                <a:cs typeface="Calibri" pitchFamily="34" charset="-120"/>
              </a:rPr>
              <a:t>⚙</a:t>
            </a:r>
            <a:endParaRPr lang="en-US" sz="3060" dirty="0"/>
          </a:p>
        </p:txBody>
      </p:sp>
      <p:sp>
        <p:nvSpPr>
          <p:cNvPr id="13" name="Text 11"/>
          <p:cNvSpPr/>
          <p:nvPr/>
        </p:nvSpPr>
        <p:spPr>
          <a:xfrm>
            <a:off x="1783080" y="4389120"/>
            <a:ext cx="2743200" cy="822960"/>
          </a:xfrm>
          <a:prstGeom prst="rect">
            <a:avLst/>
          </a:prstGeom>
          <a:noFill/>
          <a:ln/>
        </p:spPr>
        <p:txBody>
          <a:bodyPr wrap="square" rtlCol="0" anchor="ctr"/>
          <a:lstStyle/>
          <a:p>
            <a:pPr marL="0" indent="0">
              <a:buNone/>
            </a:pPr>
            <a:r>
              <a:rPr lang="en-US" sz="1800" b="1" dirty="0">
                <a:solidFill>
                  <a:srgbClr val="0B4F4A"/>
                </a:solidFill>
                <a:latin typeface="Cambria" pitchFamily="34" charset="0"/>
                <a:ea typeface="Cambria" pitchFamily="34" charset="-122"/>
                <a:cs typeface="Cambria" pitchFamily="34" charset="-120"/>
              </a:rPr>
              <a:t>Manufacturing</a:t>
            </a:r>
            <a:endParaRPr lang="en-US" sz="1800" dirty="0"/>
          </a:p>
        </p:txBody>
      </p:sp>
      <p:sp>
        <p:nvSpPr>
          <p:cNvPr id="14" name="Text 12"/>
          <p:cNvSpPr/>
          <p:nvPr/>
        </p:nvSpPr>
        <p:spPr>
          <a:xfrm>
            <a:off x="4572000" y="4389120"/>
            <a:ext cx="6583680" cy="822960"/>
          </a:xfrm>
          <a:prstGeom prst="rect">
            <a:avLst/>
          </a:prstGeom>
          <a:noFill/>
          <a:ln/>
        </p:spPr>
        <p:txBody>
          <a:bodyPr wrap="square" rtlCol="0" anchor="ctr"/>
          <a:lstStyle/>
          <a:p>
            <a:pPr marL="0" indent="0">
              <a:buNone/>
            </a:pPr>
            <a:r>
              <a:rPr lang="en-US" sz="1600" dirty="0">
                <a:solidFill>
                  <a:srgbClr val="172A28"/>
                </a:solidFill>
                <a:latin typeface="Calibri" pitchFamily="34" charset="0"/>
                <a:ea typeface="Calibri" pitchFamily="34" charset="-122"/>
                <a:cs typeface="Calibri" pitchFamily="34" charset="-120"/>
              </a:rPr>
              <a:t>Low SD in product dimensions indicates a consistent, well-controlled process (Six Sigma relies on this)</a:t>
            </a:r>
            <a:endParaRPr lang="en-US" sz="1600" dirty="0"/>
          </a:p>
        </p:txBody>
      </p:sp>
      <p:sp>
        <p:nvSpPr>
          <p:cNvPr id="15" name="Text 13"/>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16" name="Text 14"/>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7" name="Text 15"/>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Doing It in Python</a:t>
            </a:r>
            <a:endParaRPr lang="en-US" sz="3000" dirty="0"/>
          </a:p>
        </p:txBody>
      </p:sp>
      <p:sp>
        <p:nvSpPr>
          <p:cNvPr id="3" name="Shape 1"/>
          <p:cNvSpPr/>
          <p:nvPr/>
        </p:nvSpPr>
        <p:spPr>
          <a:xfrm>
            <a:off x="640080" y="1554480"/>
            <a:ext cx="10881360" cy="3200400"/>
          </a:xfrm>
          <a:prstGeom prst="roundRect">
            <a:avLst>
              <a:gd name="adj" fmla="val 2286"/>
            </a:avLst>
          </a:prstGeom>
          <a:solidFill>
            <a:srgbClr val="0E2B29"/>
          </a:solidFill>
          <a:ln/>
        </p:spPr>
      </p:sp>
      <p:sp>
        <p:nvSpPr>
          <p:cNvPr id="4" name="Text 2"/>
          <p:cNvSpPr/>
          <p:nvPr/>
        </p:nvSpPr>
        <p:spPr>
          <a:xfrm>
            <a:off x="914400" y="1737360"/>
            <a:ext cx="10332720" cy="2834640"/>
          </a:xfrm>
          <a:prstGeom prst="rect">
            <a:avLst/>
          </a:prstGeom>
          <a:noFill/>
          <a:ln/>
        </p:spPr>
        <p:txBody>
          <a:bodyPr wrap="square" rtlCol="0" anchor="t"/>
          <a:lstStyle/>
          <a:p>
            <a:pPr marL="0" indent="0">
              <a:buNone/>
            </a:pPr>
            <a:r>
              <a:rPr lang="en-US" sz="1600" dirty="0">
                <a:solidFill>
                  <a:srgbClr val="9FEAD6"/>
                </a:solidFill>
                <a:latin typeface="Consolas" pitchFamily="34" charset="0"/>
                <a:ea typeface="Consolas" pitchFamily="34" charset="-122"/>
                <a:cs typeface="Consolas" pitchFamily="34" charset="-120"/>
              </a:rPr>
              <a:t>import numpy as np, pandas as pd</a:t>
            </a:r>
            <a:endParaRPr lang="en-US" sz="1600" dirty="0"/>
          </a:p>
          <a:p>
            <a:pPr marL="0" indent="0">
              <a:buNone/>
            </a:pPr>
            <a:r>
              <a:rPr lang="en-US" sz="1600" dirty="0">
                <a:solidFill>
                  <a:srgbClr val="9FEAD6"/>
                </a:solidFill>
                <a:latin typeface="Consolas" pitchFamily="34" charset="0"/>
                <a:ea typeface="Consolas" pitchFamily="34" charset="-122"/>
                <a:cs typeface="Consolas" pitchFamily="34" charset="-120"/>
              </a:rPr>
              <a:t>marks = pd.Series([42, 55, 61, 74, 88])</a:t>
            </a:r>
            <a:endParaRPr lang="en-US" sz="1600" dirty="0"/>
          </a:p>
          <a:p>
            <a:pPr marL="0" indent="0">
              <a:buNone/>
            </a:pPr>
            <a:endParaRPr lang="en-US" sz="1600" dirty="0"/>
          </a:p>
          <a:p>
            <a:pPr marL="0" indent="0">
              <a:buNone/>
            </a:pPr>
            <a:r>
              <a:rPr lang="en-US" sz="1600" dirty="0">
                <a:solidFill>
                  <a:srgbClr val="9FEAD6"/>
                </a:solidFill>
                <a:latin typeface="Consolas" pitchFamily="34" charset="0"/>
                <a:ea typeface="Consolas" pitchFamily="34" charset="-122"/>
                <a:cs typeface="Consolas" pitchFamily="34" charset="-120"/>
              </a:rPr>
              <a:t>marks.var()          # sample variance (ddof=1 by default)</a:t>
            </a:r>
            <a:endParaRPr lang="en-US" sz="1600" dirty="0"/>
          </a:p>
          <a:p>
            <a:pPr marL="0" indent="0">
              <a:buNone/>
            </a:pPr>
            <a:r>
              <a:rPr lang="en-US" sz="1600" dirty="0">
                <a:solidFill>
                  <a:srgbClr val="9FEAD6"/>
                </a:solidFill>
                <a:latin typeface="Consolas" pitchFamily="34" charset="0"/>
                <a:ea typeface="Consolas" pitchFamily="34" charset="-122"/>
                <a:cs typeface="Consolas" pitchFamily="34" charset="-120"/>
              </a:rPr>
              <a:t>marks.std()           # sample standard deviation</a:t>
            </a:r>
            <a:endParaRPr lang="en-US" sz="1600" dirty="0"/>
          </a:p>
          <a:p>
            <a:pPr marL="0" indent="0">
              <a:buNone/>
            </a:pPr>
            <a:r>
              <a:rPr lang="en-US" sz="1600" dirty="0">
                <a:solidFill>
                  <a:srgbClr val="9FEAD6"/>
                </a:solidFill>
                <a:latin typeface="Consolas" pitchFamily="34" charset="0"/>
                <a:ea typeface="Consolas" pitchFamily="34" charset="-122"/>
                <a:cs typeface="Consolas" pitchFamily="34" charset="-120"/>
              </a:rPr>
              <a:t>marks.describe()      # count, mean, std, min, 25%, 50%, 75%, max</a:t>
            </a:r>
            <a:endParaRPr lang="en-US" sz="1600" dirty="0"/>
          </a:p>
          <a:p>
            <a:pPr marL="0" indent="0">
              <a:buNone/>
            </a:pPr>
            <a:endParaRPr lang="en-US" sz="1600" dirty="0"/>
          </a:p>
          <a:p>
            <a:pPr marL="0" indent="0">
              <a:buNone/>
            </a:pPr>
            <a:r>
              <a:rPr lang="en-US" sz="1600" dirty="0">
                <a:solidFill>
                  <a:srgbClr val="9FEAD6"/>
                </a:solidFill>
                <a:latin typeface="Consolas" pitchFamily="34" charset="0"/>
                <a:ea typeface="Consolas" pitchFamily="34" charset="-122"/>
                <a:cs typeface="Consolas" pitchFamily="34" charset="-120"/>
              </a:rPr>
              <a:t>q1, q3 = marks.quantile([0.25, 0.75])</a:t>
            </a:r>
            <a:endParaRPr lang="en-US" sz="1600" dirty="0"/>
          </a:p>
          <a:p>
            <a:pPr marL="0" indent="0">
              <a:buNone/>
            </a:pPr>
            <a:r>
              <a:rPr lang="en-US" sz="1600" dirty="0">
                <a:solidFill>
                  <a:srgbClr val="9FEAD6"/>
                </a:solidFill>
                <a:latin typeface="Consolas" pitchFamily="34" charset="0"/>
                <a:ea typeface="Consolas" pitchFamily="34" charset="-122"/>
                <a:cs typeface="Consolas" pitchFamily="34" charset="-120"/>
              </a:rPr>
              <a:t>iqr = q3 - q1          # Interquartile Range</a:t>
            </a:r>
            <a:endParaRPr lang="en-US" sz="1600" dirty="0"/>
          </a:p>
        </p:txBody>
      </p:sp>
      <p:sp>
        <p:nvSpPr>
          <p:cNvPr id="5" name="Text 3"/>
          <p:cNvSpPr/>
          <p:nvPr/>
        </p:nvSpPr>
        <p:spPr>
          <a:xfrm>
            <a:off x="640080" y="4937760"/>
            <a:ext cx="10881360" cy="173736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72A28"/>
                </a:solidFill>
                <a:latin typeface="Calibri" pitchFamily="34" charset="0"/>
                <a:ea typeface="Calibri" pitchFamily="34" charset="-122"/>
                <a:cs typeface="Calibri" pitchFamily="34" charset="-120"/>
              </a:rPr>
              <a:t>pandas' .describe() gives you mean, std, and quartiles in a single call — a fast first look at dispersion</a:t>
            </a:r>
            <a:endParaRPr lang="en-US" sz="1600" dirty="0"/>
          </a:p>
          <a:p>
            <a:pPr marL="342900" indent="-342900">
              <a:spcAft>
                <a:spcPts val="1400"/>
              </a:spcAft>
              <a:buSzPct val="100000"/>
              <a:buChar char="▪"/>
            </a:pPr>
            <a:r>
              <a:rPr lang="en-US" sz="1600" dirty="0">
                <a:solidFill>
                  <a:srgbClr val="172A28"/>
                </a:solidFill>
                <a:latin typeface="Calibri" pitchFamily="34" charset="0"/>
                <a:ea typeface="Calibri" pitchFamily="34" charset="-122"/>
                <a:cs typeface="Calibri" pitchFamily="34" charset="-120"/>
              </a:rPr>
              <a:t>Note: pandas uses n−1 (sample) by default for .var()/.std(); NumPy's np.var()/np.std() default to n (population) unless you pass ddof=1</a:t>
            </a:r>
            <a:endParaRPr lang="en-US" sz="1600" dirty="0"/>
          </a:p>
        </p:txBody>
      </p:sp>
      <p:sp>
        <p:nvSpPr>
          <p:cNvPr id="6" name="Text 4"/>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7" name="Text 5"/>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8" name="Text 6"/>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Common Misconceptions &amp; Pitfalls</a:t>
            </a:r>
            <a:endParaRPr lang="en-US" sz="3000" dirty="0"/>
          </a:p>
        </p:txBody>
      </p:sp>
      <p:sp>
        <p:nvSpPr>
          <p:cNvPr id="3" name="Text 1"/>
          <p:cNvSpPr/>
          <p:nvPr/>
        </p:nvSpPr>
        <p:spPr>
          <a:xfrm>
            <a:off x="640080" y="1554480"/>
            <a:ext cx="10698480" cy="457200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“Variance and SD measure the same thing the same way” — no, SD is in original units, variance is squared units</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“A higher IQR always means more outliers” — no, IQR measures spread of the middle 50%, it doesn't count outliers directly</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“Dividing by n vs n−1 barely matters” — it matters more for small samples; the difference shrinks as n grows</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“Range is a good general-purpose measure” — it uses only 2 points and is very outlier-sensitive; use it only for a quick first glance</a:t>
            </a:r>
            <a:endParaRPr lang="en-US" sz="1900" dirty="0"/>
          </a:p>
        </p:txBody>
      </p:sp>
      <p:sp>
        <p:nvSpPr>
          <p:cNvPr id="4" name="Text 2"/>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5" name="Text 3"/>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6" name="Text 4"/>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7F2F1"/>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Quick Check — Try It Yourself</a:t>
            </a:r>
            <a:endParaRPr lang="en-US" sz="3000" dirty="0"/>
          </a:p>
        </p:txBody>
      </p:sp>
      <p:sp>
        <p:nvSpPr>
          <p:cNvPr id="3" name="Text 1"/>
          <p:cNvSpPr/>
          <p:nvPr/>
        </p:nvSpPr>
        <p:spPr>
          <a:xfrm>
            <a:off x="640080" y="1737360"/>
            <a:ext cx="9692640" cy="2286000"/>
          </a:xfrm>
          <a:prstGeom prst="rect">
            <a:avLst/>
          </a:prstGeom>
          <a:noFill/>
          <a:ln/>
        </p:spPr>
        <p:txBody>
          <a:bodyPr wrap="square" lIns="0" tIns="0" rIns="0" bIns="0" rtlCol="0" anchor="t"/>
          <a:lstStyle/>
          <a:p>
            <a:pPr marL="342900" indent="-342900">
              <a:spcAft>
                <a:spcPts val="1400"/>
              </a:spcAft>
              <a:buSzPct val="100000"/>
              <a:buChar char="▪"/>
            </a:pPr>
            <a:r>
              <a:rPr lang="en-US" sz="2100" dirty="0">
                <a:solidFill>
                  <a:srgbClr val="172A28"/>
                </a:solidFill>
                <a:latin typeface="Calibri" pitchFamily="34" charset="0"/>
                <a:ea typeface="Calibri" pitchFamily="34" charset="-122"/>
                <a:cs typeface="Calibri" pitchFamily="34" charset="-120"/>
              </a:rPr>
              <a:t>Dataset: 5, 7, 7, 9, 12  —  find the mean, then the sample variance and SD</a:t>
            </a:r>
            <a:endParaRPr lang="en-US" sz="2100" dirty="0"/>
          </a:p>
          <a:p>
            <a:pPr marL="342900" indent="-342900">
              <a:spcAft>
                <a:spcPts val="1400"/>
              </a:spcAft>
              <a:buSzPct val="100000"/>
              <a:buChar char="▪"/>
            </a:pPr>
            <a:r>
              <a:rPr lang="en-US" sz="2100" dirty="0">
                <a:solidFill>
                  <a:srgbClr val="172A28"/>
                </a:solidFill>
                <a:latin typeface="Calibri" pitchFamily="34" charset="0"/>
                <a:ea typeface="Calibri" pitchFamily="34" charset="-122"/>
                <a:cs typeface="Calibri" pitchFamily="34" charset="-120"/>
              </a:rPr>
              <a:t>Dataset: 3, 4, 4, 5, 5, 6, 40  —  compute Q1, Q3, and IQR. Is 40 an outlier?</a:t>
            </a:r>
            <a:endParaRPr lang="en-US" sz="2100" dirty="0"/>
          </a:p>
        </p:txBody>
      </p:sp>
      <p:sp>
        <p:nvSpPr>
          <p:cNvPr id="4" name="Text 2"/>
          <p:cNvSpPr/>
          <p:nvPr/>
        </p:nvSpPr>
        <p:spPr>
          <a:xfrm>
            <a:off x="640080" y="4937760"/>
            <a:ext cx="9692640" cy="548640"/>
          </a:xfrm>
          <a:prstGeom prst="rect">
            <a:avLst/>
          </a:prstGeom>
          <a:noFill/>
          <a:ln/>
        </p:spPr>
        <p:txBody>
          <a:bodyPr wrap="square" rtlCol="0" anchor="ctr"/>
          <a:lstStyle/>
          <a:p>
            <a:pPr marL="0" indent="0">
              <a:buNone/>
            </a:pPr>
            <a:r>
              <a:rPr lang="en-US" sz="1700" i="1" dirty="0">
                <a:solidFill>
                  <a:srgbClr val="51625F"/>
                </a:solidFill>
                <a:latin typeface="Calibri" pitchFamily="34" charset="0"/>
                <a:ea typeface="Calibri" pitchFamily="34" charset="-122"/>
                <a:cs typeface="Calibri" pitchFamily="34" charset="-120"/>
              </a:rPr>
              <a:t>Work in pairs — 2 minutes. We'll check answers together.</a:t>
            </a:r>
            <a:endParaRPr lang="en-US" sz="1700" dirty="0"/>
          </a:p>
        </p:txBody>
      </p:sp>
      <p:sp>
        <p:nvSpPr>
          <p:cNvPr id="5" name="Text 3"/>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6" name="Text 4"/>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7" name="Text 5"/>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Summary: Key Formulas</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914400" y="1463040"/>
          <a:ext cx="10332720" cy="3968496"/>
        </p:xfrm>
        <a:graphic>
          <a:graphicData uri="http://schemas.openxmlformats.org/drawingml/2006/table">
            <a:tbl>
              <a:tblPr/>
              <a:tblGrid>
                <a:gridCol w="393192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566928">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Measure</a:t>
                      </a:r>
                      <a:endParaRPr lang="en-US" sz="17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solidFill>
                      <a:srgbClr val="0B4F4A"/>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Formula</a:t>
                      </a:r>
                      <a:endParaRPr lang="en-US" sz="17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solidFill>
                      <a:srgbClr val="0B4F4A"/>
                    </a:solidFill>
                  </a:tcPr>
                </a:tc>
                <a:extLst>
                  <a:ext uri="{0D108BD9-81ED-4DB2-BD59-A6C34878D82A}">
                    <a16:rowId xmlns:a16="http://schemas.microsoft.com/office/drawing/2014/main" val="10000"/>
                  </a:ext>
                </a:extLst>
              </a:tr>
              <a:tr h="566928">
                <a:tc>
                  <a:txBody>
                    <a:bodyPr/>
                    <a:lstStyle/>
                    <a:p>
                      <a:pPr marL="0" indent="0">
                        <a:buNone/>
                      </a:pPr>
                      <a:r>
                        <a:rPr lang="en-US" sz="1700" dirty="0">
                          <a:solidFill>
                            <a:srgbClr val="172A28"/>
                          </a:solidFill>
                          <a:latin typeface="Calibri" pitchFamily="34" charset="0"/>
                          <a:ea typeface="Calibri" pitchFamily="34" charset="-122"/>
                          <a:cs typeface="Calibri" pitchFamily="34" charset="-120"/>
                        </a:rPr>
                        <a:t>Range</a:t>
                      </a:r>
                      <a:endParaRPr lang="en-US" sz="17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buNone/>
                      </a:pPr>
                      <a:r>
                        <a:rPr lang="en-US" sz="1700" dirty="0">
                          <a:solidFill>
                            <a:srgbClr val="172A28"/>
                          </a:solidFill>
                          <a:latin typeface="Calibri" pitchFamily="34" charset="0"/>
                          <a:ea typeface="Calibri" pitchFamily="34" charset="-122"/>
                          <a:cs typeface="Calibri" pitchFamily="34" charset="-120"/>
                        </a:rPr>
                        <a:t>Max − Min</a:t>
                      </a:r>
                      <a:endParaRPr lang="en-US" sz="17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700" dirty="0">
                          <a:solidFill>
                            <a:srgbClr val="172A28"/>
                          </a:solidFill>
                          <a:latin typeface="Calibri" pitchFamily="34" charset="0"/>
                          <a:ea typeface="Calibri" pitchFamily="34" charset="-122"/>
                          <a:cs typeface="Calibri" pitchFamily="34" charset="-120"/>
                        </a:rPr>
                        <a:t>Population Variance</a:t>
                      </a:r>
                      <a:endParaRPr lang="en-US" sz="17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buNone/>
                      </a:pPr>
                      <a:r>
                        <a:rPr lang="en-US" sz="1700" dirty="0">
                          <a:solidFill>
                            <a:srgbClr val="172A28"/>
                          </a:solidFill>
                          <a:latin typeface="Calibri" pitchFamily="34" charset="0"/>
                          <a:ea typeface="Calibri" pitchFamily="34" charset="-122"/>
                          <a:cs typeface="Calibri" pitchFamily="34" charset="-120"/>
                        </a:rPr>
                        <a:t>σ² = Σ(xᵢ − μ)² / N</a:t>
                      </a:r>
                      <a:endParaRPr lang="en-US" sz="17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700" dirty="0">
                          <a:solidFill>
                            <a:srgbClr val="172A28"/>
                          </a:solidFill>
                          <a:latin typeface="Calibri" pitchFamily="34" charset="0"/>
                          <a:ea typeface="Calibri" pitchFamily="34" charset="-122"/>
                          <a:cs typeface="Calibri" pitchFamily="34" charset="-120"/>
                        </a:rPr>
                        <a:t>Sample Variance</a:t>
                      </a:r>
                      <a:endParaRPr lang="en-US" sz="17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buNone/>
                      </a:pPr>
                      <a:r>
                        <a:rPr lang="en-US" sz="1700" dirty="0">
                          <a:solidFill>
                            <a:srgbClr val="172A28"/>
                          </a:solidFill>
                          <a:latin typeface="Calibri" pitchFamily="34" charset="0"/>
                          <a:ea typeface="Calibri" pitchFamily="34" charset="-122"/>
                          <a:cs typeface="Calibri" pitchFamily="34" charset="-120"/>
                        </a:rPr>
                        <a:t>s² = Σ(xᵢ − x̄)² / (n − 1)</a:t>
                      </a:r>
                      <a:endParaRPr lang="en-US" sz="17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700" dirty="0">
                          <a:solidFill>
                            <a:srgbClr val="172A28"/>
                          </a:solidFill>
                          <a:latin typeface="Calibri" pitchFamily="34" charset="0"/>
                          <a:ea typeface="Calibri" pitchFamily="34" charset="-122"/>
                          <a:cs typeface="Calibri" pitchFamily="34" charset="-120"/>
                        </a:rPr>
                        <a:t>Standard Deviation</a:t>
                      </a:r>
                      <a:endParaRPr lang="en-US" sz="17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buNone/>
                      </a:pPr>
                      <a:r>
                        <a:rPr lang="en-US" sz="1700" dirty="0">
                          <a:solidFill>
                            <a:srgbClr val="172A28"/>
                          </a:solidFill>
                          <a:latin typeface="Calibri" pitchFamily="34" charset="0"/>
                          <a:ea typeface="Calibri" pitchFamily="34" charset="-122"/>
                          <a:cs typeface="Calibri" pitchFamily="34" charset="-120"/>
                        </a:rPr>
                        <a:t>s = √s²</a:t>
                      </a:r>
                      <a:endParaRPr lang="en-US" sz="17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700" dirty="0">
                          <a:solidFill>
                            <a:srgbClr val="172A28"/>
                          </a:solidFill>
                          <a:latin typeface="Calibri" pitchFamily="34" charset="0"/>
                          <a:ea typeface="Calibri" pitchFamily="34" charset="-122"/>
                          <a:cs typeface="Calibri" pitchFamily="34" charset="-120"/>
                        </a:rPr>
                        <a:t>IQR</a:t>
                      </a:r>
                      <a:endParaRPr lang="en-US" sz="17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buNone/>
                      </a:pPr>
                      <a:r>
                        <a:rPr lang="en-US" sz="1700" dirty="0">
                          <a:solidFill>
                            <a:srgbClr val="172A28"/>
                          </a:solidFill>
                          <a:latin typeface="Calibri" pitchFamily="34" charset="0"/>
                          <a:ea typeface="Calibri" pitchFamily="34" charset="-122"/>
                          <a:cs typeface="Calibri" pitchFamily="34" charset="-120"/>
                        </a:rPr>
                        <a:t>Q3 − Q1</a:t>
                      </a:r>
                      <a:endParaRPr lang="en-US" sz="17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700" dirty="0">
                          <a:solidFill>
                            <a:srgbClr val="172A28"/>
                          </a:solidFill>
                          <a:latin typeface="Calibri" pitchFamily="34" charset="0"/>
                          <a:ea typeface="Calibri" pitchFamily="34" charset="-122"/>
                          <a:cs typeface="Calibri" pitchFamily="34" charset="-120"/>
                        </a:rPr>
                        <a:t>Outlier Fences</a:t>
                      </a:r>
                      <a:endParaRPr lang="en-US" sz="17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tc>
                  <a:txBody>
                    <a:bodyPr/>
                    <a:lstStyle/>
                    <a:p>
                      <a:pPr marL="0" indent="0">
                        <a:buNone/>
                      </a:pPr>
                      <a:r>
                        <a:rPr lang="en-US" sz="1700" dirty="0">
                          <a:solidFill>
                            <a:srgbClr val="172A28"/>
                          </a:solidFill>
                          <a:latin typeface="Calibri" pitchFamily="34" charset="0"/>
                          <a:ea typeface="Calibri" pitchFamily="34" charset="-122"/>
                          <a:cs typeface="Calibri" pitchFamily="34" charset="-120"/>
                        </a:rPr>
                        <a:t>Q1 − 1.5×IQR  ,  Q3 + 1.5×IQR</a:t>
                      </a:r>
                      <a:endParaRPr lang="en-US" sz="1700" dirty="0">
                        <a:latin typeface="Calibri" charset="0"/>
                        <a:ea typeface="Calibri" charset="0"/>
                        <a:cs typeface="Calibri" charset="0"/>
                      </a:endParaRPr>
                    </a:p>
                  </a:txBody>
                  <a:tcPr anchor="ctr">
                    <a:lnL w="12700" cap="flat" cmpd="sng" algn="ctr">
                      <a:solidFill>
                        <a:srgbClr val="D6E7E5"/>
                      </a:solidFill>
                      <a:prstDash val="solid"/>
                      <a:round/>
                      <a:headEnd type="none" w="med" len="med"/>
                      <a:tailEnd type="none" w="med" len="med"/>
                    </a:lnL>
                    <a:lnR w="12700" cap="flat" cmpd="sng" algn="ctr">
                      <a:solidFill>
                        <a:srgbClr val="D6E7E5"/>
                      </a:solidFill>
                      <a:prstDash val="solid"/>
                      <a:round/>
                      <a:headEnd type="none" w="med" len="med"/>
                      <a:tailEnd type="none" w="med" len="med"/>
                    </a:lnR>
                    <a:lnT w="12700" cap="flat" cmpd="sng" algn="ctr">
                      <a:solidFill>
                        <a:srgbClr val="D6E7E5"/>
                      </a:solidFill>
                      <a:prstDash val="solid"/>
                      <a:round/>
                      <a:headEnd type="none" w="med" len="med"/>
                      <a:tailEnd type="none" w="med" len="med"/>
                    </a:lnT>
                    <a:lnB w="12700" cap="flat" cmpd="sng" algn="ctr">
                      <a:solidFill>
                        <a:srgbClr val="D6E7E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5" name="Text 2"/>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6" name="Text 3"/>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Summary: Key Takeaways</a:t>
            </a:r>
            <a:endParaRPr lang="en-US" sz="3000" dirty="0"/>
          </a:p>
        </p:txBody>
      </p:sp>
      <p:sp>
        <p:nvSpPr>
          <p:cNvPr id="3" name="Text 1"/>
          <p:cNvSpPr/>
          <p:nvPr/>
        </p:nvSpPr>
        <p:spPr>
          <a:xfrm>
            <a:off x="640080" y="1554480"/>
            <a:ext cx="10698480" cy="457200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Central tendency shows the center; dispersion shows the spread — you need both to describe data fully</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Variance and SD use every data point and are ideal for symmetric, outlier-free data</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IQR is robust to outliers and pairs well with skewed data and box plots</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The 1.5×IQR rule gives a simple, defensible way to flag potential outliers</a:t>
            </a:r>
            <a:endParaRPr lang="en-US" sz="1900" dirty="0"/>
          </a:p>
          <a:p>
            <a:pPr marL="342900" indent="-342900">
              <a:spcAft>
                <a:spcPts val="1400"/>
              </a:spcAft>
              <a:buSzPct val="100000"/>
              <a:buChar char="▪"/>
            </a:pPr>
            <a:r>
              <a:rPr lang="en-US" sz="1900" dirty="0">
                <a:solidFill>
                  <a:srgbClr val="172A28"/>
                </a:solidFill>
                <a:latin typeface="Calibri" pitchFamily="34" charset="0"/>
                <a:ea typeface="Calibri" pitchFamily="34" charset="-122"/>
                <a:cs typeface="Calibri" pitchFamily="34" charset="-120"/>
              </a:rPr>
              <a:t>Choosing the right measure of spread is a judgment call driven by the shape of your data</a:t>
            </a:r>
            <a:endParaRPr lang="en-US" sz="1900" dirty="0"/>
          </a:p>
        </p:txBody>
      </p:sp>
      <p:sp>
        <p:nvSpPr>
          <p:cNvPr id="4" name="Text 2"/>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5" name="Text 3"/>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6" name="Text 4"/>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4F4A"/>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FFFFFF"/>
                </a:solidFill>
                <a:latin typeface="Cambria" pitchFamily="34" charset="0"/>
                <a:ea typeface="Cambria" pitchFamily="34" charset="-122"/>
                <a:cs typeface="Cambria" pitchFamily="34" charset="-120"/>
              </a:rPr>
              <a:t>Quiz Time!</a:t>
            </a:r>
            <a:endParaRPr lang="en-US" sz="3000" dirty="0"/>
          </a:p>
        </p:txBody>
      </p:sp>
      <p:sp>
        <p:nvSpPr>
          <p:cNvPr id="3" name="Text 1"/>
          <p:cNvSpPr/>
          <p:nvPr/>
        </p:nvSpPr>
        <p:spPr>
          <a:xfrm>
            <a:off x="640080" y="1417320"/>
            <a:ext cx="10881360" cy="512064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Q1. (True/False) Standard deviation is measured in the same units as the original data.</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Q2. (MCQ) Sample variance divides the sum of squared deviations by: (a) n   (b) n−1   (c) n+1</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Q3. (Short) If Q1 = 20 and Q3 = 50, what is the IQR?</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Q4. (MCQ) Which measure is LEAST sensitive to outliers? (a) Range  (b) Variance  (c) IQR</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Q5. (True/False) A dataset with SD = 0 means every value is identical.</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Q6. (Short) Using the 1.5×IQR rule with Q1=20, Q3=50, is a value of 100 an outlier?</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Q7. (MCQ) Variance is expressed in: (a) original units  (b) squared units  (c) percentage</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Q8. (Short) Two datasets have the same mean but Dataset A has a smaller SD. What does that tell you?</a:t>
            </a:r>
            <a:endParaRPr lang="en-US" sz="1700" dirty="0"/>
          </a:p>
        </p:txBody>
      </p:sp>
      <p:sp>
        <p:nvSpPr>
          <p:cNvPr id="4" name="Text 2"/>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BFE0DC"/>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5" name="Text 3"/>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6" name="Text 4"/>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BFE0DC"/>
                </a:solidFill>
                <a:latin typeface="Calibri" pitchFamily="34" charset="0"/>
                <a:ea typeface="Calibri" pitchFamily="34" charset="-122"/>
                <a:cs typeface="Calibri" pitchFamily="34" charset="-120"/>
              </a:rPr>
              <a:t>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4F4A"/>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FFFFFF"/>
                </a:solidFill>
                <a:latin typeface="Cambria" pitchFamily="34" charset="0"/>
                <a:ea typeface="Cambria" pitchFamily="34" charset="-122"/>
                <a:cs typeface="Cambria" pitchFamily="34" charset="-120"/>
              </a:rPr>
              <a:t>Quiz Answers</a:t>
            </a:r>
            <a:endParaRPr lang="en-US" sz="3000" dirty="0"/>
          </a:p>
        </p:txBody>
      </p:sp>
      <p:sp>
        <p:nvSpPr>
          <p:cNvPr id="3" name="Text 1"/>
          <p:cNvSpPr/>
          <p:nvPr/>
        </p:nvSpPr>
        <p:spPr>
          <a:xfrm>
            <a:off x="640080" y="1417320"/>
            <a:ext cx="10881360" cy="512064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A1. True — SD is the square root of variance, bringing it back to original units.</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A2. (b) n−1 — Bessel's correction for sample variance.</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A3. IQR = Q3 − Q1 = 50 − 20 = 30.</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A4. (c) IQR — it only uses the middle 50% of data.</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A5. True — zero spread means no deviation from the mean, i.e., all values equal.</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A6. Upper fence = 50 + 1.5×30 = 95. Since 100 &gt; 95, yes — it's an outlier.</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A7. (b) Squared units — that's exactly why we take the square root to get SD.</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A8. Dataset A's values are more tightly clustered around the mean — more consistent / less variable.</a:t>
            </a:r>
            <a:endParaRPr lang="en-US" sz="1700" dirty="0"/>
          </a:p>
        </p:txBody>
      </p:sp>
      <p:sp>
        <p:nvSpPr>
          <p:cNvPr id="4" name="Text 2"/>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BFE0DC"/>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5" name="Text 3"/>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6" name="Text 4"/>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BFE0DC"/>
                </a:solidFill>
                <a:latin typeface="Calibri" pitchFamily="34" charset="0"/>
                <a:ea typeface="Calibri" pitchFamily="34" charset="-122"/>
                <a:cs typeface="Calibri" pitchFamily="34" charset="-120"/>
              </a:rPr>
              <a:t>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rtlCol="0" anchor="t"/>
          <a:lstStyle/>
          <a:p>
            <a:pPr marL="0" indent="0" algn="l">
              <a:buNone/>
            </a:pPr>
            <a:r>
              <a:rPr lang="en-US" sz="3000" b="1" dirty="0">
                <a:solidFill>
                  <a:srgbClr val="0B4F4A"/>
                </a:solidFill>
                <a:latin typeface="Cambria" pitchFamily="34" charset="0"/>
                <a:ea typeface="Cambria" pitchFamily="34" charset="-122"/>
                <a:cs typeface="Cambria" pitchFamily="34" charset="-120"/>
              </a:rPr>
              <a:t>Further Reading &amp; What's Next</a:t>
            </a:r>
            <a:endParaRPr lang="en-US" sz="3000" dirty="0"/>
          </a:p>
        </p:txBody>
      </p:sp>
      <p:sp>
        <p:nvSpPr>
          <p:cNvPr id="3" name="Text 1"/>
          <p:cNvSpPr/>
          <p:nvPr/>
        </p:nvSpPr>
        <p:spPr>
          <a:xfrm>
            <a:off x="640080" y="1737360"/>
            <a:ext cx="10515600" cy="329184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Practice: Compute variance, SD, and IQR for the class's own quiz scores using Python (pandas .describe())</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Reading: Chapter on Measures of Dispersion in your course reference text</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Explore: Try np.var(), np.std(), and boxplot visualizations in seaborn/matplotlib</a:t>
            </a:r>
            <a:endParaRPr lang="en-US" sz="2000" dirty="0"/>
          </a:p>
          <a:p>
            <a:pPr marL="342900" indent="-342900">
              <a:spcAft>
                <a:spcPts val="1400"/>
              </a:spcAft>
              <a:buSzPct val="100000"/>
              <a:buChar char="▪"/>
            </a:pPr>
            <a:r>
              <a:rPr lang="en-US" sz="2000" dirty="0">
                <a:solidFill>
                  <a:srgbClr val="172A28"/>
                </a:solidFill>
                <a:latin typeface="Calibri" pitchFamily="34" charset="0"/>
                <a:ea typeface="Calibri" pitchFamily="34" charset="-122"/>
                <a:cs typeface="Calibri" pitchFamily="34" charset="-120"/>
              </a:rPr>
              <a:t>Next session: Data Visualization — Histograms, Box Plots, and choosing the right chart for your data</a:t>
            </a:r>
            <a:endParaRPr lang="en-US" sz="2000" dirty="0"/>
          </a:p>
        </p:txBody>
      </p:sp>
      <p:sp>
        <p:nvSpPr>
          <p:cNvPr id="4" name="Text 2"/>
          <p:cNvSpPr/>
          <p:nvPr/>
        </p:nvSpPr>
        <p:spPr>
          <a:xfrm>
            <a:off x="640080" y="5212080"/>
            <a:ext cx="10698480" cy="640080"/>
          </a:xfrm>
          <a:prstGeom prst="rect">
            <a:avLst/>
          </a:prstGeom>
          <a:noFill/>
          <a:ln/>
        </p:spPr>
        <p:txBody>
          <a:bodyPr wrap="square" rtlCol="0" anchor="ctr"/>
          <a:lstStyle/>
          <a:p>
            <a:pPr marL="0" indent="0">
              <a:buNone/>
            </a:pPr>
            <a:r>
              <a:rPr lang="en-US" sz="1600" b="1" i="1" dirty="0">
                <a:solidFill>
                  <a:srgbClr val="C97F12"/>
                </a:solidFill>
                <a:latin typeface="Calibri" pitchFamily="34" charset="0"/>
                <a:ea typeface="Calibri" pitchFamily="34" charset="-122"/>
                <a:cs typeface="Calibri" pitchFamily="34" charset="-120"/>
              </a:rPr>
              <a:t>Assignment: Submit a short Python notebook computing all dispersion measures for a dataset of your choice.</a:t>
            </a:r>
            <a:endParaRPr lang="en-US" sz="1600" dirty="0"/>
          </a:p>
        </p:txBody>
      </p:sp>
      <p:sp>
        <p:nvSpPr>
          <p:cNvPr id="5" name="Text 3"/>
          <p:cNvSpPr/>
          <p:nvPr/>
        </p:nvSpPr>
        <p:spPr>
          <a:xfrm>
            <a:off x="457200" y="6473952"/>
            <a:ext cx="10728655" cy="274320"/>
          </a:xfrm>
          <a:prstGeom prst="rect">
            <a:avLst/>
          </a:prstGeom>
          <a:noFill/>
          <a:ln/>
        </p:spPr>
        <p:txBody>
          <a:bodyPr wrap="square" rtlCol="0" anchor="ctr"/>
          <a:lstStyle/>
          <a:p>
            <a:pPr marL="0" indent="0" algn="l">
              <a:buNone/>
            </a:pPr>
            <a:r>
              <a:rPr lang="en-US" sz="1100" dirty="0">
                <a:solidFill>
                  <a:srgbClr val="51625F"/>
                </a:solidFill>
                <a:latin typeface="Calibri" pitchFamily="34" charset="0"/>
                <a:ea typeface="Calibri" pitchFamily="34" charset="-122"/>
                <a:cs typeface="Calibri" pitchFamily="34" charset="-120"/>
              </a:rPr>
              <a:t>Presidency University  |  School of AI &amp; Advanced Computing  |   – </a:t>
            </a:r>
            <a:endParaRPr lang="en-US" sz="1100" dirty="0"/>
          </a:p>
        </p:txBody>
      </p:sp>
      <p:sp>
        <p:nvSpPr>
          <p:cNvPr id="6" name="Text 4"/>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7" name="Text 5"/>
          <p:cNvSpPr/>
          <p:nvPr/>
        </p:nvSpPr>
        <p:spPr>
          <a:xfrm>
            <a:off x="11368735" y="6473952"/>
            <a:ext cx="457200" cy="274320"/>
          </a:xfrm>
          <a:prstGeom prst="rect">
            <a:avLst/>
          </a:prstGeom>
          <a:noFill/>
          <a:ln/>
        </p:spPr>
        <p:txBody>
          <a:bodyPr wrap="square" rtlCol="0" anchor="ctr"/>
          <a:lstStyle/>
          <a:p>
            <a:pPr marL="0" indent="0" algn="r">
              <a:buNone/>
            </a:pPr>
            <a:r>
              <a:rPr lang="en-US" sz="1100" dirty="0">
                <a:solidFill>
                  <a:srgbClr val="51625F"/>
                </a:solidFill>
                <a:latin typeface="Calibri" pitchFamily="34" charset="0"/>
                <a:ea typeface="Calibri" pitchFamily="34" charset="-122"/>
                <a:cs typeface="Calibri" pitchFamily="34" charset="-120"/>
              </a:rPr>
              <a:t>34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4576</Words>
  <Application>Microsoft Office PowerPoint</Application>
  <PresentationFormat>Widescreen</PresentationFormat>
  <Paragraphs>405</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Manoj  Sagar K - Assistant Professor - SAIAC</cp:lastModifiedBy>
  <cp:revision>2</cp:revision>
  <dcterms:created xsi:type="dcterms:W3CDTF">2026-09-17T04:48:14Z</dcterms:created>
  <dcterms:modified xsi:type="dcterms:W3CDTF">2026-09-22T16:23:51Z</dcterms:modified>
</cp:coreProperties>
</file>