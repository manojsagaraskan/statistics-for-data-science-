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784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each objective and briefly explain what students will be able to do. Emphasize objective 5 — this session is problem-heavy by design, since central tendency is best learned by computing it repeatedly on different kinds of data (raw lists, frequency tables, class intervals). Mention that these skills are prerequisites for every later analytics module: outlier detection, normalization, and machine learning feature engineering all start from understanding the 'center' of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 2-minute pair discussion. Take 2-3 verbal responses per question — don't spend more than 5 minutes total. The goal is to surface intuitions about averages being misleading (question 1 hints at outliers/skew — a CEO's salary can inflate the mean), about everyday use of central tendency (question 2), and about the difference between a typical value and an extreme value (question 3). Use their answers to transition: 'Today we'll make these intuitions precise using three tools — mean, median, and mode.'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topic in real analytics work. Give a concrete example: in a hospital's patient monitoring system, the mean heart rate over an hour is used for triage — but if there's one sensor glitch spiking the reading, the mean can be misleading while the median stays robust. In ML, missing values in a numeric column are often filled with the column's mean or median before training. Tell students this is not just a 'formula to memorize' — it is a decision students will make repeatedly as data analysts.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'center' is not one fixed idea — it depends on how you define it. The mean uses arithmetic balance, the median uses positional middle, and the mode uses frequency. Use a physical analogy: the mean is like the balance point of a seesaw with weights at each data value; the median is the middle person in a line-up sorted by height; the mode is whichever shoe size a shoe shop sells the most of. This sets up the next slide's comparison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briefly — this is a preview, not the full explanation (that comes in Parts 2-4). Point out the 'best suited for' column will make more sense once we see how outliers affect each measure later in the lecture. Tell students to keep this slide in mind as a mental anchor for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on the board alongside the slide. Emphasize that Σ (sigma) simply means 'sum of'. Give a one-line intuitive example before the worked slides: 'If 3 students scored 10, 20, 30 — the mean is (10+20+30)/3 = 20.' Ask the class to predict the mean of a slightly asymmetric set before you show Worked Example 1, to prime their intuition.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calculation live on the board, sum the numbers column-wise so students can follow. Ask a student to double check the addition. Point out that 57.14 doesn't have to be one of the original data points — that's normal and expected for a mean. Ask: 'Is 57.14 a good summary of this class's performance?' to seed later discussion of outliers.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plants a seed for the outlier discussion later. The reading 45.2°C looks like a sensor glitch or a real heat spike — either way, it pulls the mean up from the ~28-29°C range the other five readings suggest. Ask students: 'Does 31.53°C feel like a typical reading for this hour?' Most will say no. Tell them we will revisit this exact dataset when we compute the median in Part 3, and they'll see the median is far more robust here — that is the whole point of learning multiple measures.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raw data is rarely handed to an analyst directly — it usually arrives as a frequency table (e.g., 'how many students scored each grade'). Walk through the logic: instead of adding xᵢ once per occurrence, we multiply xᵢ by its frequency fᵢ, which is mathematically identical to adding it fᵢ times, just faster. This is the bridge to the grouped-data formula on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small frequency table on the board with an extra fᵢxᵢ column — this visual habit will help students immensely for the grouped continuous case next. Reinforce that Σfᵢ must equal the total sample size (20 here) as a self-check step; if it doesn't match the stated n, there's an arithmetic error.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when raw values inside a class interval (like '10-20') aren't known individually, we assume they are evenly spread and approximate each one using the interval's midpoint. This is an approximation, not an exact mean — worth telling students explicitly, since they sometimes assume grouped-data formulas give exact answers. Midpoint calculation is the step students forget most often, so slow down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table live: class interval | midpoint | frequency | fᵢmᵢ, and total the last column. This is the format students should use in exams. Cross-check Σfᵢ = 40 matches the stated total students. Note the mean 24.5 falls inside the 20-30 interval, which has the highest frequency — a nice sanity check pattern to teach (the mean usually lands near the interval with the most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weighted mean from the frequency mean: frequency is always a count of repetitions, while a weight can represent importance, credit hours, exam contribution percentage, or reliability of a sensor. Preview that Worked Example 5 will compute a GPA — something every student in the room has direct experience with, which makes the abstract formula concrete immediately.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with the unweighted (simple) mean of the same four grade points, which is (9+8+7+9)/4 = 8.25 — coincidentally close here, so pick different numbers on the board live to show a case where they diverge, e.g. if the 7 had weight 6 instead of 3, the weighted mean would drop noticeably. This hammers home that weights change the result whenever they aren't all equal.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Revisit the temperature sensor example from Worked Example 2 explicitly here: the mean of 31.53°C was pulled upward by one anomalous reading of 45.2°C, illustrating the outlier sensitivity demerit directly. Ask the class: 'What summary statistic might handle that 45.2°C reading better?' as a bridge into the Median section.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4-5 minutes to attempt these three individually or in pairs. Walk around if in person, or drop into breakout rooms if online. Problem 2 is deliberately designed like the sensor example — day 4's ₹85,000 is an outlier (perhaps a festival sale) that will pull the mean up; use it to reinforce the same lesson before revealing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briefly, focusing your time on problem 2's interpretation rather than the arithmetic — ask a student to describe in one sentence why 33.4 is a misleading 'typical daily sales' figure. This naturally motivates the median as an alternative, which is the very next topic.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sorting is the mandatory first step — this is the single most common mistake students make, forgetting to sort before finding the 'middle' position. Use a small physical demonstration: ask 5 students to stand up in a random order by height, then physically reorder themselves shortest-to-tallest, and point to the middle (3rd) student as the median.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frequently confuse 'position n/2' with 'the value n/2'. Stress this distinction clearly, ideally with a worked position-numbered list on the board (position 1, 2, 3, 4 under the sorted values) before moving to the worked examples.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this is the same dataset as Worked Example 1, where the mean was 57.14. Here they're very close (58 vs 57.14) because this dataset has no real outliers — a good moment to say 'when mean and median are close, the data is roughly symmetric, and either measure works well.' The gap will be much more dramatic in the very next example.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moment for the whole lecture so far — put the mean (31.53°C) and median (28.9°C) side by side on the board. The median completely ignores the outlier's magnitude (it only cares about its rank, being the largest), so it reflects the five 'normal' readings far better. Ask: 'If you were building an alert system for abnormal field temperature, which statistic would you trust more as the baseline?' Most will now say median — this cements the mean-vs-median trade-off intuitively.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formula-heavy slide of the lecture — slow down significantly. Draw a cumulative frequency column live next to a small class-interval table, and physically point to where n/2 'lands' to identify the median class before touching the formula. Tell students this is the single most exam-tested formula in the central tendency unit.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directly to Worked Example 4's mean of 24.5 — very close here, reinforcing that this particular distribution is fairly symmetric. Recap the cumulative frequency table construction once more since it's the step students most often get wrong under exam pressure.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previous mean-favoring bias: median isn't strictly 'better,' it's better *for skewed data*. Note the graphical method (ogive) as an aside if the course covers graphing separately — no need to demonstrate it now, just mention it exists.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4-5 minutes. Problem 3 is the dramatic outlier case (one very high earner) — let students discover for themselves that mean explodes to a non-representative value while median stays sensible. This exercise usually generates good class discussion; let a student explain their reasoning before you reveal the answer slide.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problem 3, make the point explicit: a mean of ₹29.5 lakh suggests a fairly wealthy neighbourhood, but four of the five households earn ₹6-8 lakh — the mean is distorted entirely by one household. The median of ₹7 lakh matches what four out of five neighbours actually earn. This is exactly why national income statistics are usually reported as medians, not means.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quick categorical example verbally since it's the mode's unique strength: 'If a shoe store sells sizes 6,7,7,8,9,7 in a day, size 7 is the mode — you can't take a "mean shoe size" in the same meaningful way.' Mention bimodal/multimodal briefly with an example: exam marks clustering around both 40 and 80 might indicate two distinct student groups (those who studied and those who didn't).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tally on the board as a simple frequency count. This is the most intuitive of the three measures for students — spend less time here and more on the grouped-data version, which is where marks are usually lost in exams.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students this formula looks intimidating but is mechanical once the modal class is identified. The most common student error is misidentifying f₀ and f₂ — walk through explicitly which neighbouring class is 'before' and which is 'after' the modal class using the same table format as the median example, for consistency.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beautiful teaching moment — all three measures for the same dataset (24.5, 24.29, 24) are nearly identical, which is the signature of a roughly symmetric, bell-shaped distribution. Write all three on the board together and let students notice the closeness themselves before you confirm it. This directly sets up the empirical relationship slide coming up.</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categorical-data point since it's the mode's defining advantage — ask the class for an example of data where mean/median are meaningless but mode isn't (e.g., 'most preferred programming language', 'most common blood type'). This is a good quick-fire question to keep energy up before the practice slide.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minutes since problem 3 requires the full grouped formula. Circulate and check whether students correctly identify f0 and f2 for problem 3 before they compute — that's where most errors happen.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problem 2, use it to reinforce that mode works cleanly on category labels ('Python') where mean/median would be meaningless. For problem 3, walk through the arithmetic once on the board since it's the most calculation-heavy of the three.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students will photograph. Walk down each row and pause on 'Affected by outliers' — this is the exam-favourite comparison point and the one most directly tied to the worked examples earlier (temperature sensor, household income).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an empirical (observation-based), not a proven algebraic, formula — it was noticed by Karl Pearson to approximately hold for moderately skewed real-world distributions. Show the two rearranged forms on the card so students can solve for whichever quantity is missing in an exam question. Verify it loosely against Worked Example 10's numbers: 3(24.29) − 2(24.5) = 72.87 − 49 = 23.87, close to the actual mode of 24 — the small gap is expected since it's an approximation.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pattern: Mode(40) &lt; Median(48) &lt; Mean(52) — this ordering is the signature of a right-skewed (positively skewed) distribution, which is the perfect segue into the next slide on skewness.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two quick freehand curves on the board — a right-skewed hump with mean/median/mode marked in order, and a left-skewed one. Relate right-skew directly back to the household income practice problem (mean 29.5 pulled right by one high earner) and the empirical relationship example just solved.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takeaway of the entire lecture — spend real time here. Ask the class to apply the guide out loud to 2-3 quick scenarios you invent on the spot (e.g., 'average screen time per user', 'most common support ticket category', 'typical house price in a city with a few mansions').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directly to real analytics/research work in medical imaging and hyperspectral imaging — this is exactly the kind of feature engineering step used before feeding data into a classifier for tissue characterization. Mention that in federated learning setups, hospitals often exchange only aggregate statistics (like a regional mean) rather than raw patient images, precisely because central tendency measures compress data into privacy-safe summaries. Keep this connective, not a deep dive — a minute or two is enough.</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Reconnect explicitly to Worked Examples 2 and 7 (the temperature sensor dataset) — tell students that exact scenario is what real IoT dashboards deal with constantly, and choosing mean vs. median for alerting logic is a genuine design decision analytics engineers make. Mention this naturally leads into variance/standard deviation, which is the next topic in the course sequence.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hand-worked formulas directly to the tool students will use in lab sessions and assignments. Live-run this snippet if a Python environment is available in class. Emphasize the last bullet as a practical habit: professional analysts routinely compare mean and median as a two-second 'sanity check' for skew before doing any deeper analysis — exactly the skill built in this lecture.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poll the room: 'which of these mistakes have you made before, even in earlier math classes?' Normalizing these errors as common helps students self-correct rather than feel discouraged. This is a light, fast-paced slide — 2 minutes max.</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3 minutes, then cold-call 2-3 pairs for their answers with reasoning. Expected answers: 1) median (response times are right-skewed with occasional long delays), 2) mode (categorical defect types), 3) mean (temperature is fairly symmetric, no real outliers), 4) median (mansions skew the mean). Don't just accept the answer — always ask 'why', since the reasoning is the actual learning objective.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slide students should revise from before an exam. Go through the whole table once more at speed, pointing back to which worked example demonstrated each cell. Remind them of the empirical relationship (Mode = 3Median − 2Mean) as a bonus shortcut, and the decision guide slide for choosing which measure to report.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attempt these four individually, in silence, without notes if possible — treat this as a low-stakes self-check, not a graded test. Tell them explicitly that it's to check understanding, not for grading, to keep the tone supportive. Then reveal answers on the next slide, pausing longest on Q1 since it requires reasoning rather than recall.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extra time on Q1 — walk through the reverse-engineering logic on the board (total sum before and after removal). For Q4, briefly re-point to the skewness slide's rule of thumb if students hesitate.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another 3-4 minutes. Q4 here is the richest discussion question of the whole quiz — let 1-2 students answer verbally before revealing the model answer, since there's room for reasonable variation in phrasing.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last question, bring the discussion full circle back to the opening icebreaker about a company's ₹40 lakh 'average' salary — this is the exact scenario, now explained with the full statistical vocabulary the class has built over the session. This is a good moment to pause and let that connection land before moving to the summary.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submission format and deadline verbally (not shown on slide, since it will vary by term). Tell students the Python task directly reuses today's Python slide as a template. Mention that next class builds on today: once we know where the 'center' of data is, the natural next question is how spread out the data is around that center — which is exactly variance and standard deviation.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572000" cy="4572000"/>
          </a:xfrm>
          <a:prstGeom prst="ellipse">
            <a:avLst/>
          </a:prstGeom>
          <a:solidFill>
            <a:srgbClr val="0F7173"/>
          </a:solidFill>
          <a:ln/>
        </p:spPr>
      </p:sp>
      <p:sp>
        <p:nvSpPr>
          <p:cNvPr id="3" name="Shape 1"/>
          <p:cNvSpPr/>
          <p:nvPr/>
        </p:nvSpPr>
        <p:spPr>
          <a:xfrm>
            <a:off x="-1645920" y="4206240"/>
            <a:ext cx="3840480" cy="3840480"/>
          </a:xfrm>
          <a:prstGeom prst="ellipse">
            <a:avLst/>
          </a:prstGeom>
          <a:solidFill>
            <a:srgbClr val="0F7173"/>
          </a:solidFill>
          <a:ln/>
        </p:spPr>
      </p:sp>
      <p:sp>
        <p:nvSpPr>
          <p:cNvPr id="4" name="Text 2"/>
          <p:cNvSpPr txBox="1"/>
          <p:nvPr/>
        </p:nvSpPr>
        <p:spPr>
          <a:xfrm>
            <a:off x="822960" y="594360"/>
            <a:ext cx="10424160" cy="457200"/>
          </a:xfrm>
          <a:prstGeom prst="rect">
            <a:avLst/>
          </a:prstGeom>
          <a:noFill/>
          <a:ln/>
        </p:spPr>
        <p:txBody>
          <a:bodyPr wrap="square" lIns="0" tIns="0" rIns="0" bIns="0" rtlCol="0" anchor="ctr"/>
          <a:lstStyle/>
          <a:p>
            <a:pPr marL="0" indent="0">
              <a:buNone/>
            </a:pPr>
            <a:r>
              <a:rPr lang="en-US" sz="2200" b="1" kern="0" spc="200" dirty="0">
                <a:solidFill>
                  <a:srgbClr val="E8A33D"/>
                </a:solidFill>
                <a:latin typeface="Calibri" pitchFamily="34" charset="0"/>
                <a:ea typeface="Calibri" pitchFamily="34" charset="-122"/>
                <a:cs typeface="Calibri" pitchFamily="34" charset="-120"/>
              </a:rPr>
              <a:t>PRESIDENCY UNIVERSITY</a:t>
            </a:r>
            <a:endParaRPr lang="en-US" sz="2200" dirty="0"/>
          </a:p>
        </p:txBody>
      </p:sp>
      <p:sp>
        <p:nvSpPr>
          <p:cNvPr id="5" name="Text 3"/>
          <p:cNvSpPr txBox="1"/>
          <p:nvPr/>
        </p:nvSpPr>
        <p:spPr>
          <a:xfrm>
            <a:off x="822960" y="1051560"/>
            <a:ext cx="10424160" cy="731520"/>
          </a:xfrm>
          <a:prstGeom prst="rect">
            <a:avLst/>
          </a:prstGeom>
          <a:noFill/>
          <a:ln/>
        </p:spPr>
        <p:txBody>
          <a:bodyPr wrap="square" lIns="0" tIns="0" rIns="0" bIns="0" rtlCol="0" anchor="ctr"/>
          <a:lstStyle/>
          <a:p>
            <a:pPr marL="0" indent="0">
              <a:lnSpc>
                <a:spcPct val="115000"/>
              </a:lnSpc>
              <a:buNone/>
            </a:pPr>
            <a:r>
              <a:rPr lang="en-US" sz="2000" dirty="0">
                <a:solidFill>
                  <a:srgbClr val="CFE3E3"/>
                </a:solidFill>
                <a:latin typeface="Calibri" pitchFamily="34" charset="0"/>
                <a:ea typeface="Calibri" pitchFamily="34" charset="-122"/>
                <a:cs typeface="Calibri" pitchFamily="34" charset="-120"/>
              </a:rPr>
              <a:t>School of Artificial Intelligence and Advanced Computing</a:t>
            </a:r>
            <a:endParaRPr lang="en-US" sz="2000" dirty="0"/>
          </a:p>
          <a:p>
            <a:pPr marL="0" indent="0">
              <a:lnSpc>
                <a:spcPct val="115000"/>
              </a:lnSpc>
              <a:buNone/>
            </a:pPr>
            <a:r>
              <a:rPr lang="en-US" sz="2000" dirty="0">
                <a:solidFill>
                  <a:srgbClr val="CFE3E3"/>
                </a:solidFill>
                <a:latin typeface="Calibri" pitchFamily="34" charset="0"/>
                <a:ea typeface="Calibri" pitchFamily="34" charset="-122"/>
                <a:cs typeface="Calibri" pitchFamily="34" charset="-120"/>
              </a:rPr>
              <a:t>Department of AI &amp; Robotics</a:t>
            </a:r>
            <a:endParaRPr lang="en-US" sz="2000" dirty="0"/>
          </a:p>
        </p:txBody>
      </p:sp>
      <p:sp>
        <p:nvSpPr>
          <p:cNvPr id="6" name="Shape 4"/>
          <p:cNvSpPr/>
          <p:nvPr/>
        </p:nvSpPr>
        <p:spPr>
          <a:xfrm>
            <a:off x="914400" y="2651760"/>
            <a:ext cx="1371600" cy="1371600"/>
          </a:xfrm>
          <a:prstGeom prst="ellipse">
            <a:avLst/>
          </a:prstGeom>
          <a:solidFill>
            <a:srgbClr val="FFFFFF"/>
          </a:solidFill>
          <a:ln/>
        </p:spPr>
      </p:sp>
      <p:pic>
        <p:nvPicPr>
          <p:cNvPr id="7" name="Image 0" descr="/home/claude/icons/calculator_teal.png"/>
          <p:cNvPicPr>
            <a:picLocks noChangeAspect="1"/>
          </p:cNvPicPr>
          <p:nvPr/>
        </p:nvPicPr>
        <p:blipFill>
          <a:blip r:embed="rId3"/>
          <a:stretch>
            <a:fillRect/>
          </a:stretch>
        </p:blipFill>
        <p:spPr>
          <a:xfrm>
            <a:off x="1216152" y="2953512"/>
            <a:ext cx="768096" cy="768096"/>
          </a:xfrm>
          <a:prstGeom prst="rect">
            <a:avLst/>
          </a:prstGeom>
        </p:spPr>
      </p:pic>
      <p:sp>
        <p:nvSpPr>
          <p:cNvPr id="8" name="Text 5"/>
          <p:cNvSpPr txBox="1"/>
          <p:nvPr/>
        </p:nvSpPr>
        <p:spPr>
          <a:xfrm>
            <a:off x="2606040" y="2514600"/>
            <a:ext cx="877824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Central Tendency: Mean, Median &amp; Mode</a:t>
            </a:r>
            <a:endParaRPr lang="en-US" sz="4000" dirty="0"/>
          </a:p>
        </p:txBody>
      </p:sp>
      <p:sp>
        <p:nvSpPr>
          <p:cNvPr id="10" name="Text 7"/>
          <p:cNvSpPr txBox="1"/>
          <p:nvPr/>
        </p:nvSpPr>
        <p:spPr>
          <a:xfrm>
            <a:off x="822960" y="5074920"/>
            <a:ext cx="8686800" cy="457200"/>
          </a:xfrm>
          <a:prstGeom prst="rect">
            <a:avLst/>
          </a:prstGeom>
          <a:noFill/>
          <a:ln/>
        </p:spPr>
        <p:txBody>
          <a:bodyPr wrap="square" lIns="0" tIns="0" rIns="0" bIns="0" rtlCol="0" anchor="ctr"/>
          <a:lstStyle/>
          <a:p>
            <a:pPr marL="0" indent="0">
              <a:buNone/>
            </a:pPr>
            <a:r>
              <a:rPr lang="en-US" sz="2000" dirty="0">
                <a:solidFill>
                  <a:srgbClr val="CFE3E3"/>
                </a:solidFill>
                <a:latin typeface="Calibri" pitchFamily="34" charset="0"/>
                <a:ea typeface="Calibri" pitchFamily="34" charset="-122"/>
                <a:cs typeface="Calibri" pitchFamily="34" charset="-120"/>
              </a:rPr>
              <a:t>Faculty: Manoj Sagar  |  2-Hour Lecture Session</a:t>
            </a:r>
            <a:endParaRPr lang="en-US" sz="2000" dirty="0"/>
          </a:p>
        </p:txBody>
      </p:sp>
      <p:sp>
        <p:nvSpPr>
          <p:cNvPr id="11" name="Shape 8"/>
          <p:cNvSpPr/>
          <p:nvPr/>
        </p:nvSpPr>
        <p:spPr>
          <a:xfrm>
            <a:off x="822960" y="5669280"/>
            <a:ext cx="5669280" cy="0"/>
          </a:xfrm>
          <a:prstGeom prst="line">
            <a:avLst/>
          </a:prstGeom>
          <a:noFill/>
          <a:ln w="19050">
            <a:solidFill>
              <a:srgbClr val="0F7173"/>
            </a:solidFill>
            <a:prstDash val="solid"/>
          </a:ln>
        </p:spPr>
      </p:sp>
      <p:sp>
        <p:nvSpPr>
          <p:cNvPr id="12" name="Text 9"/>
          <p:cNvSpPr txBox="1"/>
          <p:nvPr/>
        </p:nvSpPr>
        <p:spPr>
          <a:xfrm>
            <a:off x="822960" y="5852160"/>
            <a:ext cx="8229600" cy="457200"/>
          </a:xfrm>
          <a:prstGeom prst="rect">
            <a:avLst/>
          </a:prstGeom>
          <a:noFill/>
          <a:ln/>
        </p:spPr>
        <p:txBody>
          <a:bodyPr wrap="square" lIns="0" tIns="0" rIns="0" bIns="0" rtlCol="0" anchor="ctr"/>
          <a:lstStyle/>
          <a:p>
            <a:pPr marL="0" indent="0">
              <a:buNone/>
            </a:pPr>
            <a:r>
              <a:rPr lang="en-US" sz="2000" i="1" dirty="0">
                <a:solidFill>
                  <a:srgbClr val="9FC5C5"/>
                </a:solidFill>
                <a:latin typeface="Calibri" pitchFamily="34" charset="0"/>
                <a:ea typeface="Calibri" pitchFamily="34" charset="-122"/>
                <a:cs typeface="Calibri" pitchFamily="34" charset="-120"/>
              </a:rPr>
              <a:t>Descriptive Statistics  •  Measures of Central Tendency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LECTURE ROADMAP</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ullseye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740664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Define central tendency and explain why it matters in </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Compute the mean, median, and mode for raw, discrete, and grouped data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Apply the weighted mean and the empirical mean–median–mode relationship</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Compare the three measures and choose the right one for skewed or outlier-heavy data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Solve 15+ worked and practice problems, and connect the concepts to real analytics workflows</a:t>
            </a:r>
            <a:endParaRPr lang="en-US" sz="2000" dirty="0"/>
          </a:p>
        </p:txBody>
      </p:sp>
      <p:sp>
        <p:nvSpPr>
          <p:cNvPr id="7" name="Shape 4"/>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8" name="Text 5"/>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BY THE END OF CLASS</a:t>
            </a:r>
            <a:endParaRPr lang="en-US" sz="2000" dirty="0"/>
          </a:p>
        </p:txBody>
      </p:sp>
      <p:sp>
        <p:nvSpPr>
          <p:cNvPr id="9" name="Text 6"/>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200" b="1" dirty="0">
                <a:solidFill>
                  <a:srgbClr val="02525C"/>
                </a:solidFill>
                <a:latin typeface="Cambria" pitchFamily="34" charset="0"/>
                <a:ea typeface="Cambria" pitchFamily="34" charset="-122"/>
                <a:cs typeface="Cambria" pitchFamily="34" charset="-120"/>
              </a:rPr>
              <a:t>You will confidently summarize any dataset with a single representative number.</a:t>
            </a:r>
            <a:endParaRPr lang="en-US" sz="2200" dirty="0"/>
          </a:p>
        </p:txBody>
      </p:sp>
      <p:sp>
        <p:nvSpPr>
          <p:cNvPr id="10" name="Shape 7"/>
          <p:cNvSpPr/>
          <p:nvPr/>
        </p:nvSpPr>
        <p:spPr>
          <a:xfrm>
            <a:off x="9532620" y="4869180"/>
            <a:ext cx="777240" cy="777240"/>
          </a:xfrm>
          <a:prstGeom prst="ellipse">
            <a:avLst/>
          </a:prstGeom>
          <a:solidFill>
            <a:srgbClr val="E8A33D"/>
          </a:solidFill>
          <a:ln/>
        </p:spPr>
      </p:sp>
      <p:pic>
        <p:nvPicPr>
          <p:cNvPr id="11" name="Image 1" descr="/home/claude/icons/medal_teal.png"/>
          <p:cNvPicPr>
            <a:picLocks noChangeAspect="1"/>
          </p:cNvPicPr>
          <p:nvPr/>
        </p:nvPicPr>
        <p:blipFill>
          <a:blip r:embed="rId4"/>
          <a:stretch>
            <a:fillRect/>
          </a:stretch>
        </p:blipFill>
        <p:spPr>
          <a:xfrm>
            <a:off x="9703613" y="5040173"/>
            <a:ext cx="435254" cy="435254"/>
          </a:xfrm>
          <a:prstGeom prst="rect">
            <a:avLst/>
          </a:prstGeom>
        </p:spPr>
      </p:pic>
      <p:sp>
        <p:nvSpPr>
          <p:cNvPr id="13" name="Text 8"/>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4" name="Text 9"/>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LET'S WARM UP</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Warm-Up: What's 'Typical'?</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omments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65960"/>
            <a:ext cx="10424160" cy="777240"/>
          </a:xfrm>
          <a:prstGeom prst="roundRect">
            <a:avLst>
              <a:gd name="adj" fmla="val 11765"/>
            </a:avLst>
          </a:prstGeom>
          <a:solidFill>
            <a:srgbClr val="E3F1F1"/>
          </a:solidFill>
          <a:ln w="15875">
            <a:solidFill>
              <a:srgbClr val="E3F1F1"/>
            </a:solidFill>
            <a:prstDash val="solid"/>
          </a:ln>
        </p:spPr>
      </p:sp>
      <p:sp>
        <p:nvSpPr>
          <p:cNvPr id="7" name="Shape 4"/>
          <p:cNvSpPr/>
          <p:nvPr/>
        </p:nvSpPr>
        <p:spPr>
          <a:xfrm>
            <a:off x="800100" y="2103120"/>
            <a:ext cx="502920" cy="502920"/>
          </a:xfrm>
          <a:prstGeom prst="ellipse">
            <a:avLst/>
          </a:prstGeom>
          <a:solidFill>
            <a:srgbClr val="E8A33D"/>
          </a:solidFill>
          <a:ln/>
        </p:spPr>
      </p:sp>
      <p:pic>
        <p:nvPicPr>
          <p:cNvPr id="8" name="Image 1" descr="/home/claude/icons/question_teal.png"/>
          <p:cNvPicPr>
            <a:picLocks noChangeAspect="1"/>
          </p:cNvPicPr>
          <p:nvPr/>
        </p:nvPicPr>
        <p:blipFill>
          <a:blip r:embed="rId4"/>
          <a:stretch>
            <a:fillRect/>
          </a:stretch>
        </p:blipFill>
        <p:spPr>
          <a:xfrm>
            <a:off x="910742" y="2213762"/>
            <a:ext cx="281635" cy="281635"/>
          </a:xfrm>
          <a:prstGeom prst="rect">
            <a:avLst/>
          </a:prstGeom>
        </p:spPr>
      </p:pic>
      <p:sp>
        <p:nvSpPr>
          <p:cNvPr id="9" name="Text 5"/>
          <p:cNvSpPr txBox="1"/>
          <p:nvPr/>
        </p:nvSpPr>
        <p:spPr>
          <a:xfrm>
            <a:off x="1508760" y="2020824"/>
            <a:ext cx="9326880" cy="667512"/>
          </a:xfrm>
          <a:prstGeom prst="rect">
            <a:avLst/>
          </a:prstGeom>
          <a:noFill/>
          <a:ln/>
        </p:spPr>
        <p:txBody>
          <a:bodyPr wrap="square" lIns="0" tIns="0" rIns="0" bIns="0" rtlCol="0" anchor="ctr"/>
          <a:lstStyle/>
          <a:p>
            <a:pPr marL="0" indent="0">
              <a:buNone/>
            </a:pPr>
            <a:r>
              <a:rPr lang="en-US" sz="2000" dirty="0">
                <a:solidFill>
                  <a:srgbClr val="17282A"/>
                </a:solidFill>
                <a:latin typeface="Calibri" pitchFamily="34" charset="0"/>
                <a:ea typeface="Calibri" pitchFamily="34" charset="-122"/>
                <a:cs typeface="Calibri" pitchFamily="34" charset="-120"/>
              </a:rPr>
              <a:t>If I told you the 'average' salary in a company is ₹40 lakh, what questions would you ask before trusting that number?</a:t>
            </a:r>
            <a:endParaRPr lang="en-US" sz="2000" dirty="0"/>
          </a:p>
        </p:txBody>
      </p:sp>
      <p:sp>
        <p:nvSpPr>
          <p:cNvPr id="10" name="Shape 6"/>
          <p:cNvSpPr/>
          <p:nvPr/>
        </p:nvSpPr>
        <p:spPr>
          <a:xfrm>
            <a:off x="548640" y="2880360"/>
            <a:ext cx="10424160" cy="777240"/>
          </a:xfrm>
          <a:prstGeom prst="roundRect">
            <a:avLst>
              <a:gd name="adj" fmla="val 11765"/>
            </a:avLst>
          </a:prstGeom>
          <a:solidFill>
            <a:srgbClr val="FFFFFF"/>
          </a:solidFill>
          <a:ln w="15875">
            <a:solidFill>
              <a:srgbClr val="E3F1F1"/>
            </a:solidFill>
            <a:prstDash val="solid"/>
          </a:ln>
        </p:spPr>
      </p:sp>
      <p:sp>
        <p:nvSpPr>
          <p:cNvPr id="11" name="Shape 7"/>
          <p:cNvSpPr/>
          <p:nvPr/>
        </p:nvSpPr>
        <p:spPr>
          <a:xfrm>
            <a:off x="800100" y="3017520"/>
            <a:ext cx="502920" cy="502920"/>
          </a:xfrm>
          <a:prstGeom prst="ellipse">
            <a:avLst/>
          </a:prstGeom>
          <a:solidFill>
            <a:srgbClr val="E8A33D"/>
          </a:solidFill>
          <a:ln/>
        </p:spPr>
      </p:sp>
      <p:pic>
        <p:nvPicPr>
          <p:cNvPr id="12" name="Image 2" descr="/home/claude/icons/question_teal.png"/>
          <p:cNvPicPr>
            <a:picLocks noChangeAspect="1"/>
          </p:cNvPicPr>
          <p:nvPr/>
        </p:nvPicPr>
        <p:blipFill>
          <a:blip r:embed="rId4"/>
          <a:stretch>
            <a:fillRect/>
          </a:stretch>
        </p:blipFill>
        <p:spPr>
          <a:xfrm>
            <a:off x="910742" y="3128162"/>
            <a:ext cx="281635" cy="281635"/>
          </a:xfrm>
          <a:prstGeom prst="rect">
            <a:avLst/>
          </a:prstGeom>
        </p:spPr>
      </p:pic>
      <p:sp>
        <p:nvSpPr>
          <p:cNvPr id="13" name="Text 8"/>
          <p:cNvSpPr txBox="1"/>
          <p:nvPr/>
        </p:nvSpPr>
        <p:spPr>
          <a:xfrm>
            <a:off x="1508760" y="2935224"/>
            <a:ext cx="9326880" cy="667512"/>
          </a:xfrm>
          <a:prstGeom prst="rect">
            <a:avLst/>
          </a:prstGeom>
          <a:noFill/>
          <a:ln/>
        </p:spPr>
        <p:txBody>
          <a:bodyPr wrap="square" lIns="0" tIns="0" rIns="0" bIns="0" rtlCol="0" anchor="ctr"/>
          <a:lstStyle/>
          <a:p>
            <a:pPr marL="0" indent="0">
              <a:buNone/>
            </a:pPr>
            <a:r>
              <a:rPr lang="en-US" sz="2000" dirty="0">
                <a:solidFill>
                  <a:srgbClr val="17282A"/>
                </a:solidFill>
                <a:latin typeface="Calibri" pitchFamily="34" charset="0"/>
                <a:ea typeface="Calibri" pitchFamily="34" charset="-122"/>
                <a:cs typeface="Calibri" pitchFamily="34" charset="-120"/>
              </a:rPr>
              <a:t>Think of one number you check almost daily (temperature, cricket score average, exam marks). What does that number represent?</a:t>
            </a:r>
            <a:endParaRPr lang="en-US" sz="2000" dirty="0"/>
          </a:p>
        </p:txBody>
      </p:sp>
      <p:sp>
        <p:nvSpPr>
          <p:cNvPr id="14" name="Shape 9"/>
          <p:cNvSpPr/>
          <p:nvPr/>
        </p:nvSpPr>
        <p:spPr>
          <a:xfrm>
            <a:off x="548640" y="3794760"/>
            <a:ext cx="10424160" cy="777240"/>
          </a:xfrm>
          <a:prstGeom prst="roundRect">
            <a:avLst>
              <a:gd name="adj" fmla="val 11765"/>
            </a:avLst>
          </a:prstGeom>
          <a:solidFill>
            <a:srgbClr val="E3F1F1"/>
          </a:solidFill>
          <a:ln w="15875">
            <a:solidFill>
              <a:srgbClr val="E3F1F1"/>
            </a:solidFill>
            <a:prstDash val="solid"/>
          </a:ln>
        </p:spPr>
      </p:sp>
      <p:sp>
        <p:nvSpPr>
          <p:cNvPr id="15" name="Shape 10"/>
          <p:cNvSpPr/>
          <p:nvPr/>
        </p:nvSpPr>
        <p:spPr>
          <a:xfrm>
            <a:off x="800100" y="3931920"/>
            <a:ext cx="502920" cy="502920"/>
          </a:xfrm>
          <a:prstGeom prst="ellipse">
            <a:avLst/>
          </a:prstGeom>
          <a:solidFill>
            <a:srgbClr val="E8A33D"/>
          </a:solidFill>
          <a:ln/>
        </p:spPr>
      </p:sp>
      <p:pic>
        <p:nvPicPr>
          <p:cNvPr id="16" name="Image 3" descr="/home/claude/icons/question_teal.png"/>
          <p:cNvPicPr>
            <a:picLocks noChangeAspect="1"/>
          </p:cNvPicPr>
          <p:nvPr/>
        </p:nvPicPr>
        <p:blipFill>
          <a:blip r:embed="rId4"/>
          <a:stretch>
            <a:fillRect/>
          </a:stretch>
        </p:blipFill>
        <p:spPr>
          <a:xfrm>
            <a:off x="910742" y="4042562"/>
            <a:ext cx="281635" cy="281635"/>
          </a:xfrm>
          <a:prstGeom prst="rect">
            <a:avLst/>
          </a:prstGeom>
        </p:spPr>
      </p:pic>
      <p:sp>
        <p:nvSpPr>
          <p:cNvPr id="17" name="Text 11"/>
          <p:cNvSpPr txBox="1"/>
          <p:nvPr/>
        </p:nvSpPr>
        <p:spPr>
          <a:xfrm>
            <a:off x="1508760" y="3849624"/>
            <a:ext cx="9326880" cy="667512"/>
          </a:xfrm>
          <a:prstGeom prst="rect">
            <a:avLst/>
          </a:prstGeom>
          <a:noFill/>
          <a:ln/>
        </p:spPr>
        <p:txBody>
          <a:bodyPr wrap="square" lIns="0" tIns="0" rIns="0" bIns="0" rtlCol="0" anchor="ctr"/>
          <a:lstStyle/>
          <a:p>
            <a:pPr marL="0" indent="0">
              <a:buNone/>
            </a:pPr>
            <a:r>
              <a:rPr lang="en-US" sz="2000" dirty="0">
                <a:solidFill>
                  <a:srgbClr val="17282A"/>
                </a:solidFill>
                <a:latin typeface="Calibri" pitchFamily="34" charset="0"/>
                <a:ea typeface="Calibri" pitchFamily="34" charset="-122"/>
                <a:cs typeface="Calibri" pitchFamily="34" charset="-120"/>
              </a:rPr>
              <a:t>Which is more common in your friend circle: everyone having a similar height, or one very tall/short friend skewing the 'average' height?</a:t>
            </a:r>
            <a:endParaRPr lang="en-US" sz="2000" dirty="0"/>
          </a:p>
        </p:txBody>
      </p:sp>
      <p:sp>
        <p:nvSpPr>
          <p:cNvPr id="19" name="Text 12"/>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20" name="Text 13"/>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MOTIVATION</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Why Central Tendency Matters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lightbulb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Raw datasets can have thousands of values — a single 'typical' number makes them usable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Dashboards, KPIs, and reports almost always lead with an average or a median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Machine learning pipelines use the mean/median for imputing missing values and scaling features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Healthcare analytics uses central tendency to summarize patient vitals, scan intensities, and trial outcomes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Choosing the wrong measure can silently mislead decisions — this lecture teaches you which one to trust</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F7173"/>
          </a:solidFill>
          <a:ln/>
        </p:spPr>
      </p:sp>
      <p:sp>
        <p:nvSpPr>
          <p:cNvPr id="3" name="Shape 1"/>
          <p:cNvSpPr/>
          <p:nvPr/>
        </p:nvSpPr>
        <p:spPr>
          <a:xfrm>
            <a:off x="9326880" y="2514600"/>
            <a:ext cx="1828800" cy="1828800"/>
          </a:xfrm>
          <a:prstGeom prst="ellipse">
            <a:avLst/>
          </a:prstGeom>
          <a:solidFill>
            <a:srgbClr val="FFFFFF"/>
          </a:solidFill>
          <a:ln/>
        </p:spPr>
      </p:sp>
      <p:pic>
        <p:nvPicPr>
          <p:cNvPr id="4" name="Image 0" descr="/home/claude/icons/brain_teal.png"/>
          <p:cNvPicPr>
            <a:picLocks noChangeAspect="1"/>
          </p:cNvPicPr>
          <p:nvPr/>
        </p:nvPicPr>
        <p:blipFill>
          <a:blip r:embed="rId3"/>
          <a:stretch>
            <a:fillRect/>
          </a:stretch>
        </p:blipFill>
        <p:spPr>
          <a:xfrm>
            <a:off x="9729216" y="2916936"/>
            <a:ext cx="1024128" cy="1024128"/>
          </a:xfrm>
          <a:prstGeom prst="rect">
            <a:avLst/>
          </a:prstGeom>
        </p:spPr>
      </p:pic>
      <p:sp>
        <p:nvSpPr>
          <p:cNvPr id="5" name="Text 2"/>
          <p:cNvSpPr txBox="1"/>
          <p:nvPr/>
        </p:nvSpPr>
        <p:spPr>
          <a:xfrm>
            <a:off x="822960" y="2194560"/>
            <a:ext cx="8229600" cy="457200"/>
          </a:xfrm>
          <a:prstGeom prst="rect">
            <a:avLst/>
          </a:prstGeom>
          <a:noFill/>
          <a:ln/>
        </p:spPr>
        <p:txBody>
          <a:bodyPr wrap="square" lIns="0" tIns="0" rIns="0" bIns="0" rtlCol="0" anchor="ctr"/>
          <a:lstStyle/>
          <a:p>
            <a:pPr marL="0" indent="0">
              <a:buNone/>
            </a:pPr>
            <a:r>
              <a:rPr lang="en-US" sz="2000" b="1" kern="0" spc="200" dirty="0">
                <a:solidFill>
                  <a:srgbClr val="E8A33D"/>
                </a:solidFill>
                <a:latin typeface="Calibri" pitchFamily="34" charset="0"/>
                <a:ea typeface="Calibri" pitchFamily="34" charset="-122"/>
                <a:cs typeface="Calibri" pitchFamily="34" charset="-120"/>
              </a:rPr>
              <a:t>PART 1</a:t>
            </a:r>
            <a:endParaRPr lang="en-US" sz="2000" dirty="0"/>
          </a:p>
        </p:txBody>
      </p:sp>
      <p:sp>
        <p:nvSpPr>
          <p:cNvPr id="6" name="Text 3"/>
          <p:cNvSpPr txBox="1"/>
          <p:nvPr/>
        </p:nvSpPr>
        <p:spPr>
          <a:xfrm>
            <a:off x="822960" y="2697480"/>
            <a:ext cx="8961120" cy="1371600"/>
          </a:xfrm>
          <a:prstGeom prst="rect">
            <a:avLst/>
          </a:prstGeom>
          <a:noFill/>
          <a:ln/>
        </p:spPr>
        <p:txBody>
          <a:bodyPr wrap="square" lIns="0" tIns="0" rIns="0" bIns="0" rtlCol="0" anchor="t"/>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Understanding Central Tendency</a:t>
            </a:r>
            <a:endParaRPr lang="en-US" sz="36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marL="0" indent="0">
              <a:buNone/>
            </a:pPr>
            <a:r>
              <a:rPr lang="en-US" sz="2000" i="1" dirty="0">
                <a:solidFill>
                  <a:srgbClr val="CFE3E3"/>
                </a:solidFill>
                <a:latin typeface="Calibri" pitchFamily="34" charset="0"/>
                <a:ea typeface="Calibri" pitchFamily="34" charset="-122"/>
                <a:cs typeface="Calibri" pitchFamily="34" charset="-120"/>
              </a:rPr>
              <a:t>What it is, and the three ways to measure it</a:t>
            </a:r>
            <a:endParaRPr lang="en-US" sz="2000" dirty="0"/>
          </a:p>
        </p:txBody>
      </p:sp>
      <p:sp>
        <p:nvSpPr>
          <p:cNvPr id="8" name="Text 5"/>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6"/>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CORE CONCEPT</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What Is Central Tendency?</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target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740664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 single value that represents the 'center' or typical value of a dataset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Also called a 'measure of location' — it locates where most data clusters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Reduces a large set of numbers into one summary statistic</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Three classical measures: Mean, Median, and Mode — each defines 'center' differently</a:t>
            </a:r>
            <a:endParaRPr lang="en-US" sz="2000" dirty="0"/>
          </a:p>
        </p:txBody>
      </p:sp>
      <p:sp>
        <p:nvSpPr>
          <p:cNvPr id="7" name="Shape 4"/>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8" name="Text 5"/>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DEFINITION</a:t>
            </a:r>
            <a:endParaRPr lang="en-US" sz="2000" dirty="0"/>
          </a:p>
        </p:txBody>
      </p:sp>
      <p:sp>
        <p:nvSpPr>
          <p:cNvPr id="9" name="Text 6"/>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000" b="1" dirty="0">
                <a:solidFill>
                  <a:srgbClr val="02525C"/>
                </a:solidFill>
                <a:latin typeface="Cambria" pitchFamily="34" charset="0"/>
                <a:ea typeface="Cambria" pitchFamily="34" charset="-122"/>
                <a:cs typeface="Cambria" pitchFamily="34" charset="-120"/>
              </a:rPr>
              <a:t>"A representative value around which the entire dataset tends to concentrate."</a:t>
            </a:r>
            <a:endParaRPr lang="en-US" sz="2000" dirty="0"/>
          </a:p>
        </p:txBody>
      </p:sp>
      <p:sp>
        <p:nvSpPr>
          <p:cNvPr id="10" name="Shape 7"/>
          <p:cNvSpPr/>
          <p:nvPr/>
        </p:nvSpPr>
        <p:spPr>
          <a:xfrm>
            <a:off x="9532620" y="4869180"/>
            <a:ext cx="777240" cy="777240"/>
          </a:xfrm>
          <a:prstGeom prst="ellipse">
            <a:avLst/>
          </a:prstGeom>
          <a:solidFill>
            <a:srgbClr val="E8A33D"/>
          </a:solidFill>
          <a:ln/>
        </p:spPr>
      </p:sp>
      <p:pic>
        <p:nvPicPr>
          <p:cNvPr id="11" name="Image 1" descr="/home/claude/icons/brain_teal.png"/>
          <p:cNvPicPr>
            <a:picLocks noChangeAspect="1"/>
          </p:cNvPicPr>
          <p:nvPr/>
        </p:nvPicPr>
        <p:blipFill>
          <a:blip r:embed="rId4"/>
          <a:stretch>
            <a:fillRect/>
          </a:stretch>
        </p:blipFill>
        <p:spPr>
          <a:xfrm>
            <a:off x="9703613" y="5040173"/>
            <a:ext cx="435254" cy="435254"/>
          </a:xfrm>
          <a:prstGeom prst="rect">
            <a:avLst/>
          </a:prstGeom>
        </p:spPr>
      </p:pic>
      <p:sp>
        <p:nvSpPr>
          <p:cNvPr id="13" name="Text 8"/>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4" name="Text 9"/>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OVERVIEW</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Three Measures at a Glance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bar_white.png"/>
          <p:cNvPicPr>
            <a:picLocks noChangeAspect="1"/>
          </p:cNvPicPr>
          <p:nvPr/>
        </p:nvPicPr>
        <p:blipFill>
          <a:blip r:embed="rId3"/>
          <a:stretch>
            <a:fillRect/>
          </a:stretch>
        </p:blipFill>
        <p:spPr>
          <a:xfrm>
            <a:off x="10866730" y="716890"/>
            <a:ext cx="486461" cy="486461"/>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0881360" cy="4114800"/>
        </p:xfrm>
        <a:graphic>
          <a:graphicData uri="http://schemas.openxmlformats.org/drawingml/2006/table">
            <a:tbl>
              <a:tblPr/>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1028700">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Measure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Defined as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Best suited for</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extLst>
                  <a:ext uri="{0D108BD9-81ED-4DB2-BD59-A6C34878D82A}">
                    <a16:rowId xmlns:a16="http://schemas.microsoft.com/office/drawing/2014/main" val="10000"/>
                  </a:ext>
                </a:extLst>
              </a:tr>
              <a:tr h="10287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Mean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Sum of values ÷ number of values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Symmetric, numeric data without extreme outliers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87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Median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The middle value when data is sorted</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Skewed data or data with outliers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10287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Mode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The most frequently occurring value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Categorical data or finding the most common value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6" name="Text 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7</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F7173"/>
          </a:solidFill>
          <a:ln/>
        </p:spPr>
      </p:sp>
      <p:sp>
        <p:nvSpPr>
          <p:cNvPr id="3" name="Shape 1"/>
          <p:cNvSpPr/>
          <p:nvPr/>
        </p:nvSpPr>
        <p:spPr>
          <a:xfrm>
            <a:off x="9326880" y="2514600"/>
            <a:ext cx="1828800" cy="1828800"/>
          </a:xfrm>
          <a:prstGeom prst="ellipse">
            <a:avLst/>
          </a:prstGeom>
          <a:solidFill>
            <a:srgbClr val="FFFFFF"/>
          </a:solidFill>
          <a:ln/>
        </p:spPr>
      </p:sp>
      <p:pic>
        <p:nvPicPr>
          <p:cNvPr id="4" name="Image 0" descr="/home/claude/icons/calculator_teal.png"/>
          <p:cNvPicPr>
            <a:picLocks noChangeAspect="1"/>
          </p:cNvPicPr>
          <p:nvPr/>
        </p:nvPicPr>
        <p:blipFill>
          <a:blip r:embed="rId3"/>
          <a:stretch>
            <a:fillRect/>
          </a:stretch>
        </p:blipFill>
        <p:spPr>
          <a:xfrm>
            <a:off x="9729216" y="2916936"/>
            <a:ext cx="1024128" cy="1024128"/>
          </a:xfrm>
          <a:prstGeom prst="rect">
            <a:avLst/>
          </a:prstGeom>
        </p:spPr>
      </p:pic>
      <p:sp>
        <p:nvSpPr>
          <p:cNvPr id="5" name="Text 2"/>
          <p:cNvSpPr txBox="1"/>
          <p:nvPr/>
        </p:nvSpPr>
        <p:spPr>
          <a:xfrm>
            <a:off x="822960" y="2194560"/>
            <a:ext cx="8229600" cy="457200"/>
          </a:xfrm>
          <a:prstGeom prst="rect">
            <a:avLst/>
          </a:prstGeom>
          <a:noFill/>
          <a:ln/>
        </p:spPr>
        <p:txBody>
          <a:bodyPr wrap="square" lIns="0" tIns="0" rIns="0" bIns="0" rtlCol="0" anchor="ctr"/>
          <a:lstStyle/>
          <a:p>
            <a:pPr marL="0" indent="0">
              <a:buNone/>
            </a:pPr>
            <a:r>
              <a:rPr lang="en-US" sz="2000" b="1" kern="0" spc="200" dirty="0">
                <a:solidFill>
                  <a:srgbClr val="E8A33D"/>
                </a:solidFill>
                <a:latin typeface="Calibri" pitchFamily="34" charset="0"/>
                <a:ea typeface="Calibri" pitchFamily="34" charset="-122"/>
                <a:cs typeface="Calibri" pitchFamily="34" charset="-120"/>
              </a:rPr>
              <a:t>PART 2</a:t>
            </a:r>
            <a:endParaRPr lang="en-US" sz="2000" dirty="0"/>
          </a:p>
        </p:txBody>
      </p:sp>
      <p:sp>
        <p:nvSpPr>
          <p:cNvPr id="6" name="Text 3"/>
          <p:cNvSpPr txBox="1"/>
          <p:nvPr/>
        </p:nvSpPr>
        <p:spPr>
          <a:xfrm>
            <a:off x="822960" y="2697480"/>
            <a:ext cx="8961120" cy="1371600"/>
          </a:xfrm>
          <a:prstGeom prst="rect">
            <a:avLst/>
          </a:prstGeom>
          <a:noFill/>
          <a:ln/>
        </p:spPr>
        <p:txBody>
          <a:bodyPr wrap="square" lIns="0" tIns="0" rIns="0" bIns="0" rtlCol="0" anchor="t"/>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The Arithmetic Mean</a:t>
            </a:r>
            <a:endParaRPr lang="en-US" sz="36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marL="0" indent="0">
              <a:buNone/>
            </a:pPr>
            <a:r>
              <a:rPr lang="en-US" sz="2000" i="1" dirty="0">
                <a:solidFill>
                  <a:srgbClr val="CFE3E3"/>
                </a:solidFill>
                <a:latin typeface="Calibri" pitchFamily="34" charset="0"/>
                <a:ea typeface="Calibri" pitchFamily="34" charset="-122"/>
                <a:cs typeface="Calibri" pitchFamily="34" charset="-120"/>
              </a:rPr>
              <a:t>Definition, formulas, and five worked examples</a:t>
            </a:r>
            <a:endParaRPr lang="en-US" sz="2000" dirty="0"/>
          </a:p>
        </p:txBody>
      </p:sp>
      <p:sp>
        <p:nvSpPr>
          <p:cNvPr id="8" name="Text 5"/>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6"/>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DEFINITION</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 Ungrouped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alculator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x̄  =  ( Σ xᵢ )  ⁄  n</a:t>
            </a:r>
            <a:endParaRPr lang="en-US" sz="34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x̄ = arithmetic mean (read as 'x-bar')</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Σ xᵢ = sum of all observed values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n = total number of observations</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IN PLAIN WORDS</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200" b="1" dirty="0">
                <a:solidFill>
                  <a:srgbClr val="02525C"/>
                </a:solidFill>
                <a:latin typeface="Cambria" pitchFamily="34" charset="0"/>
                <a:ea typeface="Cambria" pitchFamily="34" charset="-122"/>
                <a:cs typeface="Cambria" pitchFamily="34" charset="-120"/>
              </a:rPr>
              <a:t>Add up everything, then divide by how many values you added.</a:t>
            </a:r>
            <a:endParaRPr lang="en-US" sz="22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brain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9</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1</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of Ungrouped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Find the mean marks (out of 100) of 7 students in a  quiz: 45, 52, 61, 58, 70, 65, 49</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n = 7 students</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Data: 45, 52, 61, 58, 70, 65, 49</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Sum all values: 45+52+61+58+70+65+49 = 400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Apply the formula: x̄ = Σxᵢ / n = 400 / 7</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Compute: x̄ = 57.14 (rounded to 2 decimal places)</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Mean marks ≈ 57.14 / 100</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10</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2</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from a Sensor Dataset</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An IoT temperature sensor in a smart-agriculture field logs 6 readings (°C) in an hour: 28.5, 29.0, 28.8, 45.2, 29.1, 28.6. Find the mean.</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n = 6 readings</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Data: 28.5, 29.0, 28.8, 45.2, 29.1, 28.6 °C</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Sum all values: 28.5+29.0+28.8+45.2+29.1+28.6 = 189.2</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Apply the formula: x̄ = 189.2 / 6</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Compute: x̄ = 31.53 °C</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Mean temperature ≈ 31.53 °C — but is this trustworthy?</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11</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EXTENDING THE FORMULA</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 Discrete Frequency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bar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x̄  =  ( Σ fᵢxᵢ )  ⁄  ( Σ fᵢ )</a:t>
            </a:r>
            <a:endParaRPr lang="en-US" sz="34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xᵢ = each distinct data value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fᵢ = frequency (how many times xᵢ occurs)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Σ fᵢ = total number of observations (= n)</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WHEN TO USE</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200" b="1" dirty="0">
                <a:solidFill>
                  <a:srgbClr val="02525C"/>
                </a:solidFill>
                <a:latin typeface="Cambria" pitchFamily="34" charset="0"/>
                <a:ea typeface="Cambria" pitchFamily="34" charset="-122"/>
                <a:cs typeface="Cambria" pitchFamily="34" charset="-120"/>
              </a:rPr>
              <a:t>When your data is already summarized as a value + frequency table.</a:t>
            </a:r>
            <a:endParaRPr lang="en-US" sz="22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list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12</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3</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of Discrete Frequency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A survey records the number of siblings for 20 students: 0 siblings (5 students), 1 sibling (8), 2 siblings (4), 3 siblings (3). Find the mean number of siblings.</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xᵢ: 0, 1, 2, 3</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fᵢ: 5, 8, 4, 3</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Σfᵢ = 5+8+4+3 = 20</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Compute fᵢxᵢ for each row: 0×5=0, 1×8=8, 2×4=8, 3×3=9</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Sum fᵢxᵢ: 0+8+8+9 = 25</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Apply formula: x̄ = Σfᵢxᵢ / Σfᵢ = 25 / 20 = 1.25</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Mean number of siblings = 1.25</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13</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EXTENDING FURTHER</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 Grouped Continuous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bar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x̄  =  ( Σ fᵢmᵢ )  ⁄  ( Σ fᵢ )</a:t>
            </a:r>
            <a:endParaRPr lang="en-US" sz="34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mᵢ = midpoint of each class interval = (lower + upper) / 2</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fᵢ = frequency of that class interval</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Used when data is grouped into ranges, e.g. marks 0-10, 10-20, ...</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KEY STEP</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000" b="1" dirty="0">
                <a:solidFill>
                  <a:srgbClr val="02525C"/>
                </a:solidFill>
                <a:latin typeface="Cambria" pitchFamily="34" charset="0"/>
                <a:ea typeface="Cambria" pitchFamily="34" charset="-122"/>
                <a:cs typeface="Cambria" pitchFamily="34" charset="-120"/>
              </a:rPr>
              <a:t>Replace each class interval with its midpoint before applying the discrete formula.</a:t>
            </a:r>
            <a:endParaRPr lang="en-US" sz="20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ruler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14</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4</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of Grouped Continuous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Marks of 40 students grouped into class intervals: 0-10 (4), 10-20 (10), 20-30 (14), 30-40 (8), 40-50 (4). Find the mean marks.</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Midpoints mᵢ: 5, 15, 25, 35, 45</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Frequencies fᵢ: 4, 10, 14, 8, 4</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Σfᵢ = 40</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Compute fᵢmᵢ: 20, 150, 350, 280, 180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Sum fᵢmᵢ: 20+150+350+280+180 = 980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Apply formula: x̄ = 980 / 40 = 24.5</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Mean marks = 24.5</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15</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A USEFUL VARIANT</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The Weighted Mean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alance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x̄w  =  ( Σ wᵢxᵢ )  ⁄  ( Σ wᵢ )</a:t>
            </a:r>
            <a:endParaRPr lang="en-US" sz="34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xᵢ = each value; wᵢ = the 'importance' or weight assigned to it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Used when observations don't contribute equally to the average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Same structure as the frequency-mean formula, but wᵢ need not be a count</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REAL EXAMPLE</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000" b="1" dirty="0">
                <a:solidFill>
                  <a:srgbClr val="02525C"/>
                </a:solidFill>
                <a:latin typeface="Cambria" pitchFamily="34" charset="0"/>
                <a:ea typeface="Cambria" pitchFamily="34" charset="-122"/>
                <a:cs typeface="Cambria" pitchFamily="34" charset="-120"/>
              </a:rPr>
              <a:t>Your semester GPA — where each course's grade is weighted by its credit hours.</a:t>
            </a:r>
            <a:endParaRPr lang="en-US" sz="20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medal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5</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Weighted Mean — Semester GPA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A student scores grade points 9, 8, 7, 9 in four courses worth credit hours 4, 3, 3, 2 respectively. Find the credit-weighted GPA.</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Grade points xᵢ: 9, 8, 7, 9</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Credit weights wᵢ: 4, 3, 3, 2</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Σwᵢ = 4+3+3+2 = 12</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Compute wᵢxᵢ: 9×4=36, 8×3=24, 7×3=21, 9×2=18</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Sum wᵢxᵢ: 36+24+21+18 = 99</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Apply formula: x̄w = 99 / 12 = 8.25</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Weighted GPA = 8.25</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17</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EVALUATING THE MEASURE</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Merits &amp; Demerits of the Mean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alance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Uses every data point — mathematically rigorous and well-defined</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Suitable for further algebraic treatment (used in variance, correlation, regression)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Rigidly defined — always gives one unique value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Highly sensitive to outliers and extreme values (recall the sensor example!)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Can produce a value that doesn't exist in the dataset or makes little practical sense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Cannot be computed for open-ended class intervals or purely categorical data</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18</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Practice Time — Mean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question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Q1.  Find the mean of: 12, 18, 9, 25, 16</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Q2.  A shop's daily sales (₹'000) for 5 days: 20, 22, 19, 85, 21. Find the mean and comment on whether it looks typical.</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Q3.  Frequency table — x: 2, 4, 6, 8 with f: 3, 5, 4, 2. Find the mean using Σfx/Σf.</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19</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QUIZ ANSWERS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Practice Answers — Mean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eck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A1.  (12+18+9+25+16)/5 = 80/5 = 16</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A2.  (20+22+19+85+21)/5 = 167/5 = 33.4 — pulled well above the 4 'normal' days (~20.5) by the one outlier day</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A3.  Σfx = 2×3+4×5+6×4+8×2 = 6+20+24+16 = 66; Σf = 14; mean = 66/14 ≈ 4.71</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20</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F7173"/>
          </a:solidFill>
          <a:ln/>
        </p:spPr>
      </p:sp>
      <p:sp>
        <p:nvSpPr>
          <p:cNvPr id="3" name="Shape 1"/>
          <p:cNvSpPr/>
          <p:nvPr/>
        </p:nvSpPr>
        <p:spPr>
          <a:xfrm>
            <a:off x="9326880" y="2514600"/>
            <a:ext cx="1828800" cy="1828800"/>
          </a:xfrm>
          <a:prstGeom prst="ellipse">
            <a:avLst/>
          </a:prstGeom>
          <a:solidFill>
            <a:srgbClr val="FFFFFF"/>
          </a:solidFill>
          <a:ln/>
        </p:spPr>
      </p:sp>
      <p:pic>
        <p:nvPicPr>
          <p:cNvPr id="4" name="Image 0" descr="/home/claude/icons/sort_teal.png"/>
          <p:cNvPicPr>
            <a:picLocks noChangeAspect="1"/>
          </p:cNvPicPr>
          <p:nvPr/>
        </p:nvPicPr>
        <p:blipFill>
          <a:blip r:embed="rId3"/>
          <a:stretch>
            <a:fillRect/>
          </a:stretch>
        </p:blipFill>
        <p:spPr>
          <a:xfrm>
            <a:off x="9729216" y="2916936"/>
            <a:ext cx="1024128" cy="1024128"/>
          </a:xfrm>
          <a:prstGeom prst="rect">
            <a:avLst/>
          </a:prstGeom>
        </p:spPr>
      </p:pic>
      <p:sp>
        <p:nvSpPr>
          <p:cNvPr id="5" name="Text 2"/>
          <p:cNvSpPr txBox="1"/>
          <p:nvPr/>
        </p:nvSpPr>
        <p:spPr>
          <a:xfrm>
            <a:off x="822960" y="2194560"/>
            <a:ext cx="8229600" cy="457200"/>
          </a:xfrm>
          <a:prstGeom prst="rect">
            <a:avLst/>
          </a:prstGeom>
          <a:noFill/>
          <a:ln/>
        </p:spPr>
        <p:txBody>
          <a:bodyPr wrap="square" lIns="0" tIns="0" rIns="0" bIns="0" rtlCol="0" anchor="ctr"/>
          <a:lstStyle/>
          <a:p>
            <a:pPr marL="0" indent="0">
              <a:buNone/>
            </a:pPr>
            <a:r>
              <a:rPr lang="en-US" sz="2000" b="1" kern="0" spc="200" dirty="0">
                <a:solidFill>
                  <a:srgbClr val="E8A33D"/>
                </a:solidFill>
                <a:latin typeface="Calibri" pitchFamily="34" charset="0"/>
                <a:ea typeface="Calibri" pitchFamily="34" charset="-122"/>
                <a:cs typeface="Calibri" pitchFamily="34" charset="-120"/>
              </a:rPr>
              <a:t>PART 3</a:t>
            </a:r>
            <a:endParaRPr lang="en-US" sz="2000" dirty="0"/>
          </a:p>
        </p:txBody>
      </p:sp>
      <p:sp>
        <p:nvSpPr>
          <p:cNvPr id="6" name="Text 3"/>
          <p:cNvSpPr txBox="1"/>
          <p:nvPr/>
        </p:nvSpPr>
        <p:spPr>
          <a:xfrm>
            <a:off x="822960" y="2697480"/>
            <a:ext cx="8961120" cy="1371600"/>
          </a:xfrm>
          <a:prstGeom prst="rect">
            <a:avLst/>
          </a:prstGeom>
          <a:noFill/>
          <a:ln/>
        </p:spPr>
        <p:txBody>
          <a:bodyPr wrap="square" lIns="0" tIns="0" rIns="0" bIns="0" rtlCol="0" anchor="t"/>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The Median</a:t>
            </a:r>
            <a:endParaRPr lang="en-US" sz="36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marL="0" indent="0">
              <a:buNone/>
            </a:pPr>
            <a:r>
              <a:rPr lang="en-US" sz="2000" i="1" dirty="0">
                <a:solidFill>
                  <a:srgbClr val="CFE3E3"/>
                </a:solidFill>
                <a:latin typeface="Calibri" pitchFamily="34" charset="0"/>
                <a:ea typeface="Calibri" pitchFamily="34" charset="-122"/>
                <a:cs typeface="Calibri" pitchFamily="34" charset="-120"/>
              </a:rPr>
              <a:t>The positional middle — and why it resists outliers</a:t>
            </a:r>
            <a:endParaRPr lang="en-US" sz="2000" dirty="0"/>
          </a:p>
        </p:txBody>
      </p:sp>
      <p:sp>
        <p:nvSpPr>
          <p:cNvPr id="8" name="Text 5"/>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6"/>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21</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DEFINITION</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Median — Odd Number of Values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sort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Median  =  value at position  ( n + 1 ) ⁄ 2</a:t>
            </a:r>
            <a:endParaRPr lang="en-US" sz="30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Step 1: Arrange all data in ascending (or descending) order</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Step 2: The value exactly in the middle is the median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Applies when n (total count) is odd</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IN PLAIN WORDS</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400" b="1" dirty="0">
                <a:solidFill>
                  <a:srgbClr val="02525C"/>
                </a:solidFill>
                <a:latin typeface="Cambria" pitchFamily="34" charset="0"/>
                <a:ea typeface="Cambria" pitchFamily="34" charset="-122"/>
                <a:cs typeface="Cambria" pitchFamily="34" charset="-120"/>
              </a:rPr>
              <a:t>Sort the data, then pick the middle value.</a:t>
            </a:r>
            <a:endParaRPr lang="en-US" sz="24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sort_teal.png"/>
          <p:cNvPicPr>
            <a:picLocks noChangeAspect="1"/>
          </p:cNvPicPr>
          <p:nvPr/>
        </p:nvPicPr>
        <p:blipFill>
          <a:blip r:embed="rId3"/>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22</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DEFINITION</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Median — Even Number of Values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sort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Median  =  [ value(n/2) + value(n/2 + 1) ]  ⁄  2</a:t>
            </a:r>
            <a:endParaRPr lang="en-US" sz="26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When n is even, there is no single middle value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Take the average of the two middle values after sorting</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This is the only case where median calculation involves division</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WATCH OUT</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000" b="1" dirty="0">
                <a:solidFill>
                  <a:srgbClr val="02525C"/>
                </a:solidFill>
                <a:latin typeface="Cambria" pitchFamily="34" charset="0"/>
                <a:ea typeface="Cambria" pitchFamily="34" charset="-122"/>
                <a:cs typeface="Cambria" pitchFamily="34" charset="-120"/>
              </a:rPr>
              <a:t>n/2 and n/2+1 are POSITIONS in the sorted list, not data values.</a:t>
            </a:r>
            <a:endParaRPr lang="en-US" sz="20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warning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23</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6</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Median — Odd n (Ungrouped)</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Find the median of the quiz marks from Worked Example 1: 45, 52, 61, 58, 70, 65, 49</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n = 7 (odd)</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Data: 45, 52, 61, 58, 70, 65, 49</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Sort ascending: 45, 49, 52, 58, 61, 65, 70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Median position = (n+1)/2 = (7+1)/2 = 4th value</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The 4th sorted value is 58</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Median marks = 58</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24</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7</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Median — Even n (Revisiting the Sensor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Find the median of the IoT temperature readings from Worked Example 2: 28.5, 29.0, 28.8, 45.2, 29.1, 28.6 °C</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n = 6 (even)</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Data: 28.5, 29.0, 28.8, 45.2, 29.1, 28.6</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Sort ascending: 28.5, 28.6, 28.8, 29.0, 29.1, 45.2</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Middle positions: n/2 = 3rd and n/2+1 = 4th → values 28.8 and 29.0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Median = (28.8 + 29.0) / 2 = 28.9 °C</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Median temperature = 28.9 °C (vs. mean 31.53 °C)</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25</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EXTENDING TO GROUPED DATA</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Median — Grouped Continuous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sort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Median  =  L  +  [ (n/2 − CF) ⁄ f ]  × h</a:t>
            </a:r>
            <a:endParaRPr lang="en-US" sz="28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L = lower boundary of the median class; f = frequency of the median class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CF = cumulative frequency before the median class; h = class width</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Median class = the interval where cumulative frequency first reaches n/2</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3 STEPS</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1800" b="1" dirty="0">
                <a:solidFill>
                  <a:srgbClr val="02525C"/>
                </a:solidFill>
                <a:latin typeface="Cambria" pitchFamily="34" charset="0"/>
                <a:ea typeface="Cambria" pitchFamily="34" charset="-122"/>
                <a:cs typeface="Cambria" pitchFamily="34" charset="-120"/>
              </a:rPr>
              <a:t>1) Build cumulative frequency  2) Locate the median class  3) Apply the formula</a:t>
            </a:r>
            <a:endParaRPr lang="en-US" sz="18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list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26</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8</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Median of Grouped Continuous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Using the same marks distribution as Worked Example 4: 0-10(4), 10-20(10), 20-30(14), 30-40(8), 40-50(4); total n=40. Find the median.</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CF: 4, 14, 28, 36, 40</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n/2 = 20 → median class 20-30</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L=20, f=14, CF(before)=14, h=10</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Median class is 20-30, since CF first reaches/exceeds 20 there</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Median = L + [(n/2 − CF)/f] × h = 20 + [(20−14)/14] × 10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Median = 20 + (6/14)×10 = 20 + 4.29 = 24.29</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Median marks ≈ 24.29 (compare to mean = 24.5)</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27</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EVALUATING THE MEASURE</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Merits &amp; Demerits of the Median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alance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Not affected by extreme values or outliers — robust and stable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Can be computed even for open-ended class intervals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Can be determined graphically (from an ogive curve) as well as by formula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Does not use every data value — ignores the actual magnitude of extremes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Not as algebraically convenient — can't easily be used to derive further statistics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Requires sorting, which is computationally heavier for very large datasets</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28</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Practice Time — Median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question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Q1.  Find the median of: 34, 12, 45, 22, 39 (odd count)</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Q2.  Find the median of: 8, 3, 10, 15, 6, 9 (even count)</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Q3.  Household income (₹ lakh/yr) of 5 neighbours: 6, 7, 6.5, 8, 120. Compute both mean and median — which better represents a 'typical' household?</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29</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QUIZ ANSWERS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Practice Answers — Median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eck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A1.  Sorted: 12,22,34,39,45 → middle (3rd) value = 34</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A2.  Sorted: 3,6,8,9,10,15 → average of 3rd &amp; 4th (8 and 9) = 8.5</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A3.  Mean = (6+7+6.5+8+120)/5 = 147.5/5 = 29.5; Median (sorted: 6,6.5,7,8,120) = 7 → median is far more representative</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30</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F7173"/>
          </a:solidFill>
          <a:ln/>
        </p:spPr>
      </p:sp>
      <p:sp>
        <p:nvSpPr>
          <p:cNvPr id="3" name="Shape 1"/>
          <p:cNvSpPr/>
          <p:nvPr/>
        </p:nvSpPr>
        <p:spPr>
          <a:xfrm>
            <a:off x="9326880" y="2514600"/>
            <a:ext cx="1828800" cy="1828800"/>
          </a:xfrm>
          <a:prstGeom prst="ellipse">
            <a:avLst/>
          </a:prstGeom>
          <a:solidFill>
            <a:srgbClr val="FFFFFF"/>
          </a:solidFill>
          <a:ln/>
        </p:spPr>
      </p:sp>
      <p:pic>
        <p:nvPicPr>
          <p:cNvPr id="4" name="Image 0" descr="/home/claude/icons/chartbar_teal.png"/>
          <p:cNvPicPr>
            <a:picLocks noChangeAspect="1"/>
          </p:cNvPicPr>
          <p:nvPr/>
        </p:nvPicPr>
        <p:blipFill>
          <a:blip r:embed="rId3"/>
          <a:stretch>
            <a:fillRect/>
          </a:stretch>
        </p:blipFill>
        <p:spPr>
          <a:xfrm>
            <a:off x="9729216" y="2916936"/>
            <a:ext cx="1024128" cy="1024128"/>
          </a:xfrm>
          <a:prstGeom prst="rect">
            <a:avLst/>
          </a:prstGeom>
        </p:spPr>
      </p:pic>
      <p:sp>
        <p:nvSpPr>
          <p:cNvPr id="5" name="Text 2"/>
          <p:cNvSpPr txBox="1"/>
          <p:nvPr/>
        </p:nvSpPr>
        <p:spPr>
          <a:xfrm>
            <a:off x="822960" y="2194560"/>
            <a:ext cx="8229600" cy="457200"/>
          </a:xfrm>
          <a:prstGeom prst="rect">
            <a:avLst/>
          </a:prstGeom>
          <a:noFill/>
          <a:ln/>
        </p:spPr>
        <p:txBody>
          <a:bodyPr wrap="square" lIns="0" tIns="0" rIns="0" bIns="0" rtlCol="0" anchor="ctr"/>
          <a:lstStyle/>
          <a:p>
            <a:pPr marL="0" indent="0">
              <a:buNone/>
            </a:pPr>
            <a:r>
              <a:rPr lang="en-US" sz="2000" b="1" kern="0" spc="200" dirty="0">
                <a:solidFill>
                  <a:srgbClr val="E8A33D"/>
                </a:solidFill>
                <a:latin typeface="Calibri" pitchFamily="34" charset="0"/>
                <a:ea typeface="Calibri" pitchFamily="34" charset="-122"/>
                <a:cs typeface="Calibri" pitchFamily="34" charset="-120"/>
              </a:rPr>
              <a:t>PART 4</a:t>
            </a:r>
            <a:endParaRPr lang="en-US" sz="2000" dirty="0"/>
          </a:p>
        </p:txBody>
      </p:sp>
      <p:sp>
        <p:nvSpPr>
          <p:cNvPr id="6" name="Text 3"/>
          <p:cNvSpPr txBox="1"/>
          <p:nvPr/>
        </p:nvSpPr>
        <p:spPr>
          <a:xfrm>
            <a:off x="822960" y="2697480"/>
            <a:ext cx="8961120" cy="1371600"/>
          </a:xfrm>
          <a:prstGeom prst="rect">
            <a:avLst/>
          </a:prstGeom>
          <a:noFill/>
          <a:ln/>
        </p:spPr>
        <p:txBody>
          <a:bodyPr wrap="square" lIns="0" tIns="0" rIns="0" bIns="0" rtlCol="0" anchor="t"/>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The Mode</a:t>
            </a:r>
            <a:endParaRPr lang="en-US" sz="36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marL="0" indent="0">
              <a:buNone/>
            </a:pPr>
            <a:r>
              <a:rPr lang="en-US" sz="2000" i="1" dirty="0">
                <a:solidFill>
                  <a:srgbClr val="CFE3E3"/>
                </a:solidFill>
                <a:latin typeface="Calibri" pitchFamily="34" charset="0"/>
                <a:ea typeface="Calibri" pitchFamily="34" charset="-122"/>
                <a:cs typeface="Calibri" pitchFamily="34" charset="-120"/>
              </a:rPr>
              <a:t>The most frequent value — the only measure that works on categories</a:t>
            </a:r>
            <a:endParaRPr lang="en-US" sz="2000" dirty="0"/>
          </a:p>
        </p:txBody>
      </p:sp>
      <p:sp>
        <p:nvSpPr>
          <p:cNvPr id="8" name="Text 5"/>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6"/>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31</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DEFINITION</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Mode — The Most Frequent Value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bar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740664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The value that occurs most often in a dataset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The only measure of central tendency that can be used with categorical (non-numeric) data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 dataset can be unimodal (1 mode), bimodal (2 modes), or multimodal (many modes)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If every value occurs equally often, the dataset has no unique mode</a:t>
            </a:r>
            <a:endParaRPr lang="en-US" sz="2000" dirty="0"/>
          </a:p>
        </p:txBody>
      </p:sp>
      <p:sp>
        <p:nvSpPr>
          <p:cNvPr id="7" name="Shape 4"/>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8" name="Text 5"/>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IN PLAIN WORDS</a:t>
            </a:r>
            <a:endParaRPr lang="en-US" sz="2000" dirty="0"/>
          </a:p>
        </p:txBody>
      </p:sp>
      <p:sp>
        <p:nvSpPr>
          <p:cNvPr id="9" name="Text 6"/>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400" b="1" dirty="0">
                <a:solidFill>
                  <a:srgbClr val="02525C"/>
                </a:solidFill>
                <a:latin typeface="Cambria" pitchFamily="34" charset="0"/>
                <a:ea typeface="Cambria" pitchFamily="34" charset="-122"/>
                <a:cs typeface="Cambria" pitchFamily="34" charset="-120"/>
              </a:rPr>
              <a:t>Whichever value shows up the most, wins.</a:t>
            </a:r>
            <a:endParaRPr lang="en-US" sz="2400" dirty="0"/>
          </a:p>
        </p:txBody>
      </p:sp>
      <p:sp>
        <p:nvSpPr>
          <p:cNvPr id="10" name="Shape 7"/>
          <p:cNvSpPr/>
          <p:nvPr/>
        </p:nvSpPr>
        <p:spPr>
          <a:xfrm>
            <a:off x="9532620" y="4869180"/>
            <a:ext cx="777240" cy="777240"/>
          </a:xfrm>
          <a:prstGeom prst="ellipse">
            <a:avLst/>
          </a:prstGeom>
          <a:solidFill>
            <a:srgbClr val="E8A33D"/>
          </a:solidFill>
          <a:ln/>
        </p:spPr>
      </p:sp>
      <p:pic>
        <p:nvPicPr>
          <p:cNvPr id="11" name="Image 1" descr="/home/claude/icons/chartbar_teal.png"/>
          <p:cNvPicPr>
            <a:picLocks noChangeAspect="1"/>
          </p:cNvPicPr>
          <p:nvPr/>
        </p:nvPicPr>
        <p:blipFill>
          <a:blip r:embed="rId3"/>
          <a:stretch>
            <a:fillRect/>
          </a:stretch>
        </p:blipFill>
        <p:spPr>
          <a:xfrm>
            <a:off x="9703613" y="5040173"/>
            <a:ext cx="435254" cy="435254"/>
          </a:xfrm>
          <a:prstGeom prst="rect">
            <a:avLst/>
          </a:prstGeom>
        </p:spPr>
      </p:pic>
      <p:sp>
        <p:nvSpPr>
          <p:cNvPr id="13" name="Text 8"/>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4" name="Text 9"/>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32</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9</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Mode of Ungrouped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A shop records shoe sizes sold in a day: 6, 7, 8, 7, 9, 7, 8, 6, 7. Find the mode.</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Data: 6,7,8,7,9,7,8,6,7</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Count each value's frequency</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Tally frequencies: 6→2, 7→4, 8→2, 9→1</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Identify the highest frequency: size 7 occurs 4 times</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No other value ties with 4 occurrences → unimodal</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 = shoe size 7</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33</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EXTENDING TO GROUPED DATA</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Mode — Grouped Continuous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bar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Mode  =  L  +  [ (f₁ − f₀) ⁄ (2f₁ − f₀ − f₂) ]  × h</a:t>
            </a:r>
            <a:endParaRPr lang="en-US" sz="24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L = lower boundary of the modal class (class with highest frequency)</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f₁ = frequency of modal class; f₀ = frequency of class before it; f₂ = frequency of class after it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h = class width</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KEY STEP</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000" b="1" dirty="0">
                <a:solidFill>
                  <a:srgbClr val="02525C"/>
                </a:solidFill>
                <a:latin typeface="Cambria" pitchFamily="34" charset="0"/>
                <a:ea typeface="Cambria" pitchFamily="34" charset="-122"/>
                <a:cs typeface="Cambria" pitchFamily="34" charset="-120"/>
              </a:rPr>
              <a:t>First identify the modal class — the interval with the single highest frequency.</a:t>
            </a:r>
            <a:endParaRPr lang="en-US" sz="20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target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34</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10</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Mode of Grouped Continuous Data</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Using the same marks distribution as Examples 4 &amp; 8: 0-10(4), 10-20(10), 20-30(14), 30-40(8), 40-50(4). Find the mode.</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Modal class = 20-30 (highest frequency, f₁=14)</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f₀ = 10 (class before), f₂ = 8 (class after)</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L = 20, h = 10</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Mode = L + [(f₁−f₀)/(2f₁−f₀−f₂)] × h</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 20 + [(14−10)/(2×14−10−8)] × 10 = 20 + (4/10) × 10</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 20 + 4 = 24</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 = 24 marks (Mean=24.5, Median≈24.29, Mode=24)</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35</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EVALUATING THE MEASURE</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Merits &amp; Demerits of the Mode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alance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Easy to understand — represents the most 'popular' or common value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Not affected by extreme values, similar to the median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The only central tendency measure usable for purely categorical/nominal data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May not exist, or may not be unique (bimodal / multimodal datasets)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Not based on every observation — ignores most of the data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 Grouped-data mode is only an approximation and sensitive to how class intervals are chosen</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36</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Practice Time — Mode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question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Q1.  Find the mode: 4, 5, 4, 6, 7, 4, 5, 8</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Q2.  A survey of favourite data-visualization tools: Excel(12), Tableau(18), Power BI(15), Python(25). Find the mode.</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Q3.  Grouped ages of 50 patients: 20-30(6), 30-40(18), 40-50(16), 50-60(10). Find the modal class and the mode.</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37</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QUIZ ANSWERS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Practice Answers — Mode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eck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A1.  Frequencies: 4→3, 5→2, 6→1, 7→1, 8→1 → Mode = 4</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A2.  Highest count is Python with 25 responses → Mode = Python</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A3.  Modal class = 30-40 (f1=18,f0=6,f2=16); Mode = 30+[(18−6)/(2×18−6−16)]×10 = 30+(12/14)×10 ≈ 38.57 years</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38</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F7173"/>
          </a:solidFill>
          <a:ln/>
        </p:spPr>
      </p:sp>
      <p:sp>
        <p:nvSpPr>
          <p:cNvPr id="3" name="Shape 1"/>
          <p:cNvSpPr/>
          <p:nvPr/>
        </p:nvSpPr>
        <p:spPr>
          <a:xfrm>
            <a:off x="9326880" y="2514600"/>
            <a:ext cx="1828800" cy="1828800"/>
          </a:xfrm>
          <a:prstGeom prst="ellipse">
            <a:avLst/>
          </a:prstGeom>
          <a:solidFill>
            <a:srgbClr val="FFFFFF"/>
          </a:solidFill>
          <a:ln/>
        </p:spPr>
      </p:sp>
      <p:pic>
        <p:nvPicPr>
          <p:cNvPr id="4" name="Image 0" descr="/home/claude/icons/balance_teal.png"/>
          <p:cNvPicPr>
            <a:picLocks noChangeAspect="1"/>
          </p:cNvPicPr>
          <p:nvPr/>
        </p:nvPicPr>
        <p:blipFill>
          <a:blip r:embed="rId3"/>
          <a:stretch>
            <a:fillRect/>
          </a:stretch>
        </p:blipFill>
        <p:spPr>
          <a:xfrm>
            <a:off x="9729216" y="2916936"/>
            <a:ext cx="1024128" cy="1024128"/>
          </a:xfrm>
          <a:prstGeom prst="rect">
            <a:avLst/>
          </a:prstGeom>
        </p:spPr>
      </p:pic>
      <p:sp>
        <p:nvSpPr>
          <p:cNvPr id="5" name="Text 2"/>
          <p:cNvSpPr txBox="1"/>
          <p:nvPr/>
        </p:nvSpPr>
        <p:spPr>
          <a:xfrm>
            <a:off x="822960" y="2194560"/>
            <a:ext cx="8229600" cy="457200"/>
          </a:xfrm>
          <a:prstGeom prst="rect">
            <a:avLst/>
          </a:prstGeom>
          <a:noFill/>
          <a:ln/>
        </p:spPr>
        <p:txBody>
          <a:bodyPr wrap="square" lIns="0" tIns="0" rIns="0" bIns="0" rtlCol="0" anchor="ctr"/>
          <a:lstStyle/>
          <a:p>
            <a:pPr marL="0" indent="0">
              <a:buNone/>
            </a:pPr>
            <a:r>
              <a:rPr lang="en-US" sz="2000" b="1" kern="0" spc="200" dirty="0">
                <a:solidFill>
                  <a:srgbClr val="E8A33D"/>
                </a:solidFill>
                <a:latin typeface="Calibri" pitchFamily="34" charset="0"/>
                <a:ea typeface="Calibri" pitchFamily="34" charset="-122"/>
                <a:cs typeface="Calibri" pitchFamily="34" charset="-120"/>
              </a:rPr>
              <a:t>PART 5</a:t>
            </a:r>
            <a:endParaRPr lang="en-US" sz="2000" dirty="0"/>
          </a:p>
        </p:txBody>
      </p:sp>
      <p:sp>
        <p:nvSpPr>
          <p:cNvPr id="6" name="Text 3"/>
          <p:cNvSpPr txBox="1"/>
          <p:nvPr/>
        </p:nvSpPr>
        <p:spPr>
          <a:xfrm>
            <a:off x="822960" y="2697480"/>
            <a:ext cx="8961120" cy="1371600"/>
          </a:xfrm>
          <a:prstGeom prst="rect">
            <a:avLst/>
          </a:prstGeom>
          <a:noFill/>
          <a:ln/>
        </p:spPr>
        <p:txBody>
          <a:bodyPr wrap="square" lIns="0" tIns="0" rIns="0" bIns="0" rtlCol="0" anchor="t"/>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Comparing &amp; Applying the Measures</a:t>
            </a:r>
            <a:endParaRPr lang="en-US" sz="36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marL="0" indent="0">
              <a:buNone/>
            </a:pPr>
            <a:r>
              <a:rPr lang="en-US" sz="2000" i="1" dirty="0">
                <a:solidFill>
                  <a:srgbClr val="CFE3E3"/>
                </a:solidFill>
                <a:latin typeface="Calibri" pitchFamily="34" charset="0"/>
                <a:ea typeface="Calibri" pitchFamily="34" charset="-122"/>
                <a:cs typeface="Calibri" pitchFamily="34" charset="-120"/>
              </a:rPr>
              <a:t>Putting mean, median, and mode to work together</a:t>
            </a:r>
            <a:endParaRPr lang="en-US" sz="2000" dirty="0"/>
          </a:p>
        </p:txBody>
      </p:sp>
      <p:sp>
        <p:nvSpPr>
          <p:cNvPr id="8" name="Text 5"/>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6"/>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39</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SIDE BY SIDE</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Mean vs. Median vs. Mode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alance_white.png"/>
          <p:cNvPicPr>
            <a:picLocks noChangeAspect="1"/>
          </p:cNvPicPr>
          <p:nvPr/>
        </p:nvPicPr>
        <p:blipFill>
          <a:blip r:embed="rId3"/>
          <a:stretch>
            <a:fillRect/>
          </a:stretch>
        </p:blipFill>
        <p:spPr>
          <a:xfrm>
            <a:off x="10866730" y="716890"/>
            <a:ext cx="486461" cy="486461"/>
          </a:xfrm>
          <a:prstGeom prst="rect">
            <a:avLst/>
          </a:prstGeom>
        </p:spPr>
      </p:pic>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0881360" cy="4114800"/>
        </p:xfrm>
        <a:graphic>
          <a:graphicData uri="http://schemas.openxmlformats.org/drawingml/2006/table">
            <a:tbl>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5800">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Property</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Mean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Median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Mode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extLst>
                  <a:ext uri="{0D108BD9-81ED-4DB2-BD59-A6C34878D82A}">
                    <a16:rowId xmlns:a16="http://schemas.microsoft.com/office/drawing/2014/main" val="10000"/>
                  </a:ext>
                </a:extLst>
              </a:tr>
              <a:tr h="6858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Uses all data?</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Affected by outliers?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Yes — strongly</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6858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Works on categories?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 (needs order)</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Always unique?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Not always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extLst>
                  <a:ext uri="{0D108BD9-81ED-4DB2-BD59-A6C34878D82A}">
                    <a16:rowId xmlns:a16="http://schemas.microsoft.com/office/drawing/2014/main" val="10004"/>
                  </a:ext>
                </a:extLst>
              </a:tr>
              <a:tr h="6858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Used in further stats?</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Yes (variance, SD)</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Limited</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Limited</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40</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A HANDY SHORTCUT</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The Empirical Relationship</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alculator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920240"/>
            <a:ext cx="7406640" cy="1554480"/>
          </a:xfrm>
          <a:prstGeom prst="roundRect">
            <a:avLst>
              <a:gd name="adj" fmla="val 7059"/>
            </a:avLst>
          </a:prstGeom>
          <a:solidFill>
            <a:srgbClr val="02525C"/>
          </a:solidFill>
          <a:ln/>
        </p:spPr>
      </p:sp>
      <p:sp>
        <p:nvSpPr>
          <p:cNvPr id="7" name="Text 4"/>
          <p:cNvSpPr txBox="1"/>
          <p:nvPr/>
        </p:nvSpPr>
        <p:spPr>
          <a:xfrm>
            <a:off x="822960" y="1920240"/>
            <a:ext cx="6858000" cy="15544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Mode  =  3 × Median  −  2 × Mean</a:t>
            </a:r>
            <a:endParaRPr lang="en-US" sz="3200" dirty="0"/>
          </a:p>
        </p:txBody>
      </p:sp>
      <p:sp>
        <p:nvSpPr>
          <p:cNvPr id="8" name="Text 5"/>
          <p:cNvSpPr txBox="1"/>
          <p:nvPr/>
        </p:nvSpPr>
        <p:spPr>
          <a:xfrm>
            <a:off x="548640" y="3749040"/>
            <a:ext cx="7406640" cy="23774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Holds approximately for moderately skewed (asymmetric) distributions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Lets you estimate the mode if only mean and median are known, or vice versa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Does NOT hold for perfectly symmetric or heavily/multi-modal distributions</a:t>
            </a:r>
            <a:endParaRPr lang="en-US" sz="2000" dirty="0"/>
          </a:p>
        </p:txBody>
      </p:sp>
      <p:sp>
        <p:nvSpPr>
          <p:cNvPr id="9" name="Shape 6"/>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10" name="Text 7"/>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REARRANGED FORMS</a:t>
            </a:r>
            <a:endParaRPr lang="en-US" sz="2000" dirty="0"/>
          </a:p>
        </p:txBody>
      </p:sp>
      <p:sp>
        <p:nvSpPr>
          <p:cNvPr id="11" name="Text 8"/>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1800" b="1" dirty="0">
                <a:solidFill>
                  <a:srgbClr val="02525C"/>
                </a:solidFill>
                <a:latin typeface="Cambria" pitchFamily="34" charset="0"/>
                <a:ea typeface="Cambria" pitchFamily="34" charset="-122"/>
                <a:cs typeface="Cambria" pitchFamily="34" charset="-120"/>
              </a:rPr>
              <a:t>Median = (2×Mean + Mode)/3</a:t>
            </a:r>
            <a:endParaRPr lang="en-US" sz="1800" dirty="0"/>
          </a:p>
          <a:p>
            <a:pPr marL="0" indent="0">
              <a:lnSpc>
                <a:spcPct val="115000"/>
              </a:lnSpc>
              <a:buNone/>
            </a:pPr>
            <a:r>
              <a:rPr lang="en-US" sz="1800" b="1" dirty="0">
                <a:solidFill>
                  <a:srgbClr val="02525C"/>
                </a:solidFill>
                <a:latin typeface="Cambria" pitchFamily="34" charset="0"/>
                <a:ea typeface="Cambria" pitchFamily="34" charset="-122"/>
                <a:cs typeface="Cambria" pitchFamily="34" charset="-120"/>
              </a:rPr>
              <a:t>Mean = (3×Median − Mode)/2</a:t>
            </a:r>
            <a:endParaRPr lang="en-US" sz="1800" dirty="0"/>
          </a:p>
        </p:txBody>
      </p:sp>
      <p:sp>
        <p:nvSpPr>
          <p:cNvPr id="12" name="Shape 9"/>
          <p:cNvSpPr/>
          <p:nvPr/>
        </p:nvSpPr>
        <p:spPr>
          <a:xfrm>
            <a:off x="9532620" y="4869180"/>
            <a:ext cx="777240" cy="777240"/>
          </a:xfrm>
          <a:prstGeom prst="ellipse">
            <a:avLst/>
          </a:prstGeom>
          <a:solidFill>
            <a:srgbClr val="E8A33D"/>
          </a:solidFill>
          <a:ln/>
        </p:spPr>
      </p:sp>
      <p:pic>
        <p:nvPicPr>
          <p:cNvPr id="13" name="Image 1" descr="/home/claude/icons/arrows_teal.png"/>
          <p:cNvPicPr>
            <a:picLocks noChangeAspect="1"/>
          </p:cNvPicPr>
          <p:nvPr/>
        </p:nvPicPr>
        <p:blipFill>
          <a:blip r:embed="rId4"/>
          <a:stretch>
            <a:fillRect/>
          </a:stretch>
        </p:blipFill>
        <p:spPr>
          <a:xfrm>
            <a:off x="9703613" y="5040173"/>
            <a:ext cx="435254" cy="435254"/>
          </a:xfrm>
          <a:prstGeom prst="rect">
            <a:avLst/>
          </a:prstGeom>
        </p:spPr>
      </p:pic>
      <p:sp>
        <p:nvSpPr>
          <p:cNvPr id="15" name="Text 10"/>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6" name="Text 11"/>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41</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WORKED EXAMPLE 11</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Applying the Empirical Relationship</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pen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74520"/>
            <a:ext cx="4114800" cy="4343400"/>
          </a:xfrm>
          <a:prstGeom prst="roundRect">
            <a:avLst>
              <a:gd name="adj" fmla="val 2667"/>
            </a:avLst>
          </a:prstGeom>
          <a:solidFill>
            <a:srgbClr val="E3F1F1"/>
          </a:solidFill>
          <a:ln/>
        </p:spPr>
      </p:sp>
      <p:sp>
        <p:nvSpPr>
          <p:cNvPr id="7" name="Text 4"/>
          <p:cNvSpPr txBox="1"/>
          <p:nvPr/>
        </p:nvSpPr>
        <p:spPr>
          <a:xfrm>
            <a:off x="777240" y="205740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PROBLEM</a:t>
            </a:r>
            <a:endParaRPr lang="en-US" sz="2000" dirty="0"/>
          </a:p>
        </p:txBody>
      </p:sp>
      <p:sp>
        <p:nvSpPr>
          <p:cNvPr id="8" name="Text 5"/>
          <p:cNvSpPr txBox="1"/>
          <p:nvPr/>
        </p:nvSpPr>
        <p:spPr>
          <a:xfrm>
            <a:off x="777240" y="2423160"/>
            <a:ext cx="3657600" cy="1554480"/>
          </a:xfrm>
          <a:prstGeom prst="rect">
            <a:avLst/>
          </a:prstGeom>
          <a:noFill/>
          <a:ln/>
        </p:spPr>
        <p:txBody>
          <a:bodyPr wrap="square" lIns="0" tIns="0" rIns="0" bIns="0" rtlCol="0" anchor="t"/>
          <a:lstStyle/>
          <a:p>
            <a:pPr marL="0" indent="0">
              <a:lnSpc>
                <a:spcPct val="112000"/>
              </a:lnSpc>
              <a:buNone/>
            </a:pPr>
            <a:r>
              <a:rPr lang="en-US" sz="2000" dirty="0">
                <a:solidFill>
                  <a:srgbClr val="17282A"/>
                </a:solidFill>
                <a:latin typeface="Calibri" pitchFamily="34" charset="0"/>
                <a:ea typeface="Calibri" pitchFamily="34" charset="-122"/>
                <a:cs typeface="Calibri" pitchFamily="34" charset="-120"/>
              </a:rPr>
              <a:t>For a moderately skewed dataset, the mean is 52 and the median is 48. Estimate the mode.</a:t>
            </a:r>
            <a:endParaRPr lang="en-US" sz="2000" dirty="0"/>
          </a:p>
        </p:txBody>
      </p:sp>
      <p:sp>
        <p:nvSpPr>
          <p:cNvPr id="9" name="Text 6"/>
          <p:cNvSpPr txBox="1"/>
          <p:nvPr/>
        </p:nvSpPr>
        <p:spPr>
          <a:xfrm>
            <a:off x="777240" y="3977640"/>
            <a:ext cx="365760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GIVEN</a:t>
            </a:r>
            <a:endParaRPr lang="en-US" sz="2000" dirty="0"/>
          </a:p>
        </p:txBody>
      </p:sp>
      <p:sp>
        <p:nvSpPr>
          <p:cNvPr id="10" name="Text 7"/>
          <p:cNvSpPr txBox="1"/>
          <p:nvPr/>
        </p:nvSpPr>
        <p:spPr>
          <a:xfrm>
            <a:off x="777240" y="4343400"/>
            <a:ext cx="3657600" cy="18288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Mean = 52</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Median = 48</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Formula: Mode = 3×Median − 2×Mean</a:t>
            </a:r>
            <a:endParaRPr lang="en-US" sz="2000" dirty="0"/>
          </a:p>
        </p:txBody>
      </p:sp>
      <p:sp>
        <p:nvSpPr>
          <p:cNvPr id="11" name="Text 8"/>
          <p:cNvSpPr txBox="1"/>
          <p:nvPr/>
        </p:nvSpPr>
        <p:spPr>
          <a:xfrm>
            <a:off x="4937760" y="1874520"/>
            <a:ext cx="6675120" cy="365760"/>
          </a:xfrm>
          <a:prstGeom prst="rect">
            <a:avLst/>
          </a:prstGeom>
          <a:noFill/>
          <a:ln/>
        </p:spPr>
        <p:txBody>
          <a:bodyPr wrap="square" lIns="0" tIns="0" rIns="0" bIns="0" rtlCol="0" anchor="ctr"/>
          <a:lstStyle/>
          <a:p>
            <a:pPr marL="0" indent="0">
              <a:buNone/>
            </a:pPr>
            <a:r>
              <a:rPr lang="en-US" sz="2000" b="1" kern="0" spc="100" dirty="0">
                <a:solidFill>
                  <a:srgbClr val="B97A1E"/>
                </a:solidFill>
                <a:latin typeface="Calibri" pitchFamily="34" charset="0"/>
                <a:ea typeface="Calibri" pitchFamily="34" charset="-122"/>
                <a:cs typeface="Calibri" pitchFamily="34" charset="-120"/>
              </a:rPr>
              <a:t>STEP-BY-STEP SOLUTION</a:t>
            </a:r>
            <a:endParaRPr lang="en-US" sz="2000" dirty="0"/>
          </a:p>
        </p:txBody>
      </p:sp>
      <p:sp>
        <p:nvSpPr>
          <p:cNvPr id="12" name="Text 9"/>
          <p:cNvSpPr txBox="1"/>
          <p:nvPr/>
        </p:nvSpPr>
        <p:spPr>
          <a:xfrm>
            <a:off x="4937760" y="2286000"/>
            <a:ext cx="6675120" cy="2743200"/>
          </a:xfrm>
          <a:prstGeom prst="rect">
            <a:avLst/>
          </a:prstGeom>
          <a:noFill/>
          <a:ln/>
        </p:spPr>
        <p:txBody>
          <a:bodyPr wrap="square" lIns="0" tIns="0" rIns="0" bIns="0" rtlCol="0" anchor="t"/>
          <a:lstStyle/>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1.  Substitute values: Mode = 3(48) − 2(52)</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2.  Compute: Mode = 144 − 104</a:t>
            </a:r>
            <a:endParaRPr lang="en-US" sz="2000" dirty="0"/>
          </a:p>
          <a:p>
            <a:pPr marL="0" indent="0">
              <a:lnSpc>
                <a:spcPct val="110000"/>
              </a:lnSpc>
              <a:spcAft>
                <a:spcPts val="1200"/>
              </a:spcAft>
              <a:buNone/>
            </a:pPr>
            <a:r>
              <a:rPr lang="en-US" sz="2000" dirty="0">
                <a:solidFill>
                  <a:srgbClr val="17282A"/>
                </a:solidFill>
                <a:latin typeface="Calibri" pitchFamily="34" charset="0"/>
                <a:ea typeface="Calibri" pitchFamily="34" charset="-122"/>
                <a:cs typeface="Calibri" pitchFamily="34" charset="-120"/>
              </a:rPr>
              <a:t>3.  Mode = 40</a:t>
            </a:r>
            <a:endParaRPr lang="en-US" sz="2000" dirty="0"/>
          </a:p>
        </p:txBody>
      </p:sp>
      <p:sp>
        <p:nvSpPr>
          <p:cNvPr id="13" name="Shape 10"/>
          <p:cNvSpPr/>
          <p:nvPr/>
        </p:nvSpPr>
        <p:spPr>
          <a:xfrm>
            <a:off x="4937760" y="5166360"/>
            <a:ext cx="6675120" cy="777240"/>
          </a:xfrm>
          <a:prstGeom prst="roundRect">
            <a:avLst>
              <a:gd name="adj" fmla="val 11765"/>
            </a:avLst>
          </a:prstGeom>
          <a:solidFill>
            <a:srgbClr val="02525C"/>
          </a:solidFill>
          <a:ln/>
        </p:spPr>
      </p:sp>
      <p:sp>
        <p:nvSpPr>
          <p:cNvPr id="14" name="Shape 11"/>
          <p:cNvSpPr/>
          <p:nvPr/>
        </p:nvSpPr>
        <p:spPr>
          <a:xfrm>
            <a:off x="5189220" y="5303520"/>
            <a:ext cx="502920" cy="502920"/>
          </a:xfrm>
          <a:prstGeom prst="ellipse">
            <a:avLst/>
          </a:prstGeom>
          <a:solidFill>
            <a:srgbClr val="E8A33D"/>
          </a:solidFill>
          <a:ln/>
        </p:spPr>
      </p:sp>
      <p:pic>
        <p:nvPicPr>
          <p:cNvPr id="15" name="Image 1" descr="/home/claude/icons/check_teal.png"/>
          <p:cNvPicPr>
            <a:picLocks noChangeAspect="1"/>
          </p:cNvPicPr>
          <p:nvPr/>
        </p:nvPicPr>
        <p:blipFill>
          <a:blip r:embed="rId4"/>
          <a:stretch>
            <a:fillRect/>
          </a:stretch>
        </p:blipFill>
        <p:spPr>
          <a:xfrm>
            <a:off x="5299862" y="5414162"/>
            <a:ext cx="281635" cy="281635"/>
          </a:xfrm>
          <a:prstGeom prst="rect">
            <a:avLst/>
          </a:prstGeom>
        </p:spPr>
      </p:pic>
      <p:sp>
        <p:nvSpPr>
          <p:cNvPr id="16" name="Text 12"/>
          <p:cNvSpPr txBox="1"/>
          <p:nvPr/>
        </p:nvSpPr>
        <p:spPr>
          <a:xfrm>
            <a:off x="5852160" y="5166360"/>
            <a:ext cx="562356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Estimated Mode ≈ 40</a:t>
            </a:r>
            <a:endParaRPr lang="en-US" sz="2000" dirty="0"/>
          </a:p>
        </p:txBody>
      </p:sp>
      <p:sp>
        <p:nvSpPr>
          <p:cNvPr id="18" name="Text 1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9" name="Text 1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42</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READING THE SHAPE OF DATA</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Skewness &amp; the Three Measures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line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740664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Symmetric data: Mean ≈ Median ≈ Mode (as we saw in the marks distribution)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Right-skewed (long tail on the high side): Mean &gt; Median &gt; Mode (e.g., income, house prices)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Left-skewed (long tail on the low side): Mean &lt; Median &lt; Mode (e.g., age at retirement, exam marks near a ceiling)</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The bigger the gap between mean and median, the more skewed the data</a:t>
            </a:r>
            <a:endParaRPr lang="en-US" sz="2000" dirty="0"/>
          </a:p>
        </p:txBody>
      </p:sp>
      <p:sp>
        <p:nvSpPr>
          <p:cNvPr id="7" name="Shape 4"/>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8" name="Text 5"/>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RULE OF THUMB</a:t>
            </a:r>
            <a:endParaRPr lang="en-US" sz="2000" dirty="0"/>
          </a:p>
        </p:txBody>
      </p:sp>
      <p:sp>
        <p:nvSpPr>
          <p:cNvPr id="9" name="Text 6"/>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2000" b="1" dirty="0">
                <a:solidFill>
                  <a:srgbClr val="02525C"/>
                </a:solidFill>
                <a:latin typeface="Cambria" pitchFamily="34" charset="0"/>
                <a:ea typeface="Cambria" pitchFamily="34" charset="-122"/>
                <a:cs typeface="Cambria" pitchFamily="34" charset="-120"/>
              </a:rPr>
              <a:t>Mean chases the tail. Median and Mode stay near the bulk of the data.</a:t>
            </a:r>
            <a:endParaRPr lang="en-US" sz="2000" dirty="0"/>
          </a:p>
        </p:txBody>
      </p:sp>
      <p:sp>
        <p:nvSpPr>
          <p:cNvPr id="10" name="Shape 7"/>
          <p:cNvSpPr/>
          <p:nvPr/>
        </p:nvSpPr>
        <p:spPr>
          <a:xfrm>
            <a:off x="9532620" y="4869180"/>
            <a:ext cx="777240" cy="777240"/>
          </a:xfrm>
          <a:prstGeom prst="ellipse">
            <a:avLst/>
          </a:prstGeom>
          <a:solidFill>
            <a:srgbClr val="E8A33D"/>
          </a:solidFill>
          <a:ln/>
        </p:spPr>
      </p:sp>
      <p:pic>
        <p:nvPicPr>
          <p:cNvPr id="11" name="Image 1" descr="/home/claude/icons/chartline_teal.png"/>
          <p:cNvPicPr>
            <a:picLocks noChangeAspect="1"/>
          </p:cNvPicPr>
          <p:nvPr/>
        </p:nvPicPr>
        <p:blipFill>
          <a:blip r:embed="rId3"/>
          <a:stretch>
            <a:fillRect/>
          </a:stretch>
        </p:blipFill>
        <p:spPr>
          <a:xfrm>
            <a:off x="9703613" y="5040173"/>
            <a:ext cx="435254" cy="435254"/>
          </a:xfrm>
          <a:prstGeom prst="rect">
            <a:avLst/>
          </a:prstGeom>
        </p:spPr>
      </p:pic>
      <p:sp>
        <p:nvSpPr>
          <p:cNvPr id="13" name="Text 8"/>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4" name="Text 9"/>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43</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DECISION GUIDE</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Choosing the Right Measure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target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Symmetric numeric data, no outliers → use the Mean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Skewed numeric data or known outliers (income, response time, sensor faults) → use the Median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Categorical / nominal data (most popular product, tool, blood group) → use the Mode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Reporting to a general audience where robustness matters more than precision → prefer the Median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Feeding a value into further statistical formulas (variance, regression) → the Mean is usually required</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44</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CASE STUDY 1</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Central Tendency in Medical Imaging Analytics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hospital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740664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Chest CT / hyperspectral tissue scans generate thousands of pixel intensity values per image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The mean pixel intensity of a region-of-interest is used as a baseline feature for tissue classification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 single noisy or saturated pixel can distort the mean — the median intensity is often preferred for robustness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In federated / privacy-preserving healthcare ML, only summary statistics like the mean are shared across hospitals — not raw scans</a:t>
            </a:r>
            <a:endParaRPr lang="en-US" sz="2000" dirty="0"/>
          </a:p>
        </p:txBody>
      </p:sp>
      <p:sp>
        <p:nvSpPr>
          <p:cNvPr id="7" name="Shape 4"/>
          <p:cNvSpPr/>
          <p:nvPr/>
        </p:nvSpPr>
        <p:spPr>
          <a:xfrm>
            <a:off x="8229600" y="1874520"/>
            <a:ext cx="3383280" cy="4023360"/>
          </a:xfrm>
          <a:prstGeom prst="roundRect">
            <a:avLst>
              <a:gd name="adj" fmla="val 3243"/>
            </a:avLst>
          </a:prstGeom>
          <a:solidFill>
            <a:srgbClr val="E3F1F1"/>
          </a:solidFill>
          <a:ln/>
          <a:effectLst>
            <a:outerShdw blurRad="76200" dist="25400" dir="5400000" algn="bl" rotWithShape="0">
              <a:srgbClr val="1B3A3A">
                <a:alpha val="18000"/>
              </a:srgbClr>
            </a:outerShdw>
          </a:effectLst>
        </p:spPr>
      </p:sp>
      <p:sp>
        <p:nvSpPr>
          <p:cNvPr id="8" name="Text 5"/>
          <p:cNvSpPr txBox="1"/>
          <p:nvPr/>
        </p:nvSpPr>
        <p:spPr>
          <a:xfrm>
            <a:off x="8458200" y="2057400"/>
            <a:ext cx="2926080" cy="365760"/>
          </a:xfrm>
          <a:prstGeom prst="rect">
            <a:avLst/>
          </a:prstGeom>
          <a:noFill/>
          <a:ln/>
        </p:spPr>
        <p:txBody>
          <a:bodyPr wrap="square" lIns="0" tIns="0" rIns="0" bIns="0" rtlCol="0" anchor="ctr"/>
          <a:lstStyle/>
          <a:p>
            <a:pPr marL="0" indent="0">
              <a:buNone/>
            </a:pPr>
            <a:r>
              <a:rPr lang="en-US" sz="2000" b="1" kern="0" spc="100" dirty="0">
                <a:solidFill>
                  <a:srgbClr val="0F7173"/>
                </a:solidFill>
                <a:latin typeface="Calibri" pitchFamily="34" charset="0"/>
                <a:ea typeface="Calibri" pitchFamily="34" charset="-122"/>
                <a:cs typeface="Calibri" pitchFamily="34" charset="-120"/>
              </a:rPr>
              <a:t>TAKEAWAY</a:t>
            </a:r>
            <a:endParaRPr lang="en-US" sz="2000" dirty="0"/>
          </a:p>
        </p:txBody>
      </p:sp>
      <p:sp>
        <p:nvSpPr>
          <p:cNvPr id="9" name="Text 6"/>
          <p:cNvSpPr txBox="1"/>
          <p:nvPr/>
        </p:nvSpPr>
        <p:spPr>
          <a:xfrm>
            <a:off x="8458200" y="2468880"/>
            <a:ext cx="2926080" cy="3017520"/>
          </a:xfrm>
          <a:prstGeom prst="rect">
            <a:avLst/>
          </a:prstGeom>
          <a:noFill/>
          <a:ln/>
        </p:spPr>
        <p:txBody>
          <a:bodyPr wrap="square" lIns="0" tIns="0" rIns="0" bIns="0" rtlCol="0" anchor="t"/>
          <a:lstStyle/>
          <a:p>
            <a:pPr marL="0" indent="0">
              <a:lnSpc>
                <a:spcPct val="115000"/>
              </a:lnSpc>
              <a:buNone/>
            </a:pPr>
            <a:r>
              <a:rPr lang="en-US" sz="1800" b="1" dirty="0">
                <a:solidFill>
                  <a:srgbClr val="02525C"/>
                </a:solidFill>
                <a:latin typeface="Cambria" pitchFamily="34" charset="0"/>
                <a:ea typeface="Cambria" pitchFamily="34" charset="-122"/>
                <a:cs typeface="Cambria" pitchFamily="34" charset="-120"/>
              </a:rPr>
              <a:t>Choosing mean vs. median for a scan region can directly affect a diagnostic model's accuracy.</a:t>
            </a:r>
            <a:endParaRPr lang="en-US" sz="1800" dirty="0"/>
          </a:p>
        </p:txBody>
      </p:sp>
      <p:sp>
        <p:nvSpPr>
          <p:cNvPr id="10" name="Shape 7"/>
          <p:cNvSpPr/>
          <p:nvPr/>
        </p:nvSpPr>
        <p:spPr>
          <a:xfrm>
            <a:off x="9532620" y="4869180"/>
            <a:ext cx="777240" cy="777240"/>
          </a:xfrm>
          <a:prstGeom prst="ellipse">
            <a:avLst/>
          </a:prstGeom>
          <a:solidFill>
            <a:srgbClr val="E8A33D"/>
          </a:solidFill>
          <a:ln/>
        </p:spPr>
      </p:sp>
      <p:pic>
        <p:nvPicPr>
          <p:cNvPr id="11" name="Image 1" descr="/home/claude/icons/hospital_teal.png"/>
          <p:cNvPicPr>
            <a:picLocks noChangeAspect="1"/>
          </p:cNvPicPr>
          <p:nvPr/>
        </p:nvPicPr>
        <p:blipFill>
          <a:blip r:embed="rId3"/>
          <a:stretch>
            <a:fillRect/>
          </a:stretch>
        </p:blipFill>
        <p:spPr>
          <a:xfrm>
            <a:off x="9703613" y="5040173"/>
            <a:ext cx="435254" cy="435254"/>
          </a:xfrm>
          <a:prstGeom prst="rect">
            <a:avLst/>
          </a:prstGeom>
        </p:spPr>
      </p:pic>
      <p:sp>
        <p:nvSpPr>
          <p:cNvPr id="13" name="Text 8"/>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4" name="Text 9"/>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45</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CASE STUDY 2</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Central Tendency in IoT &amp; Sensor Analytics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artline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Smart-agriculture and industrial IoT systems stream continuous sensor data (temperature, humidity, vibration)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Dashboards typically show a rolling mean to smooth short-term noise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 sudden shift in the median (not just the mean) often signals a genuine sensor fault or environmental event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Central tendency measures are the first step before computing spread (variance, standard deviation) for anomaly detection</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46</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FROM FORMULA TO CODE</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Central Tendency in Python</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laptop_white.png"/>
          <p:cNvPicPr>
            <a:picLocks noChangeAspect="1"/>
          </p:cNvPicPr>
          <p:nvPr/>
        </p:nvPicPr>
        <p:blipFill>
          <a:blip r:embed="rId3"/>
          <a:stretch>
            <a:fillRect/>
          </a:stretch>
        </p:blipFill>
        <p:spPr>
          <a:xfrm>
            <a:off x="10866730" y="716890"/>
            <a:ext cx="486461" cy="486461"/>
          </a:xfrm>
          <a:prstGeom prst="rect">
            <a:avLst/>
          </a:prstGeom>
        </p:spPr>
      </p:pic>
      <p:sp>
        <p:nvSpPr>
          <p:cNvPr id="6" name="Shape 3"/>
          <p:cNvSpPr/>
          <p:nvPr/>
        </p:nvSpPr>
        <p:spPr>
          <a:xfrm>
            <a:off x="548640" y="1828800"/>
            <a:ext cx="10881360" cy="2743200"/>
          </a:xfrm>
          <a:prstGeom prst="roundRect">
            <a:avLst>
              <a:gd name="adj" fmla="val 4000"/>
            </a:avLst>
          </a:prstGeom>
          <a:solidFill>
            <a:srgbClr val="02525C"/>
          </a:solidFill>
          <a:ln/>
        </p:spPr>
      </p:sp>
      <p:sp>
        <p:nvSpPr>
          <p:cNvPr id="7" name="Text 4"/>
          <p:cNvSpPr txBox="1"/>
          <p:nvPr/>
        </p:nvSpPr>
        <p:spPr>
          <a:xfrm>
            <a:off x="868680" y="1993392"/>
            <a:ext cx="10241280" cy="2423160"/>
          </a:xfrm>
          <a:prstGeom prst="rect">
            <a:avLst/>
          </a:prstGeom>
          <a:noFill/>
          <a:ln/>
        </p:spPr>
        <p:txBody>
          <a:bodyPr wrap="square" lIns="0" tIns="0" rIns="0" bIns="0" rtlCol="0" anchor="t"/>
          <a:lstStyle/>
          <a:p>
            <a:pPr marL="0" indent="0">
              <a:lnSpc>
                <a:spcPct val="105000"/>
              </a:lnSpc>
              <a:buNone/>
            </a:pPr>
            <a:r>
              <a:rPr lang="en-US" sz="2000" dirty="0">
                <a:solidFill>
                  <a:srgbClr val="E9F5F5"/>
                </a:solidFill>
                <a:latin typeface="Courier New" pitchFamily="34" charset="0"/>
                <a:ea typeface="Courier New" pitchFamily="34" charset="-122"/>
                <a:cs typeface="Courier New" pitchFamily="34" charset="-120"/>
              </a:rPr>
              <a:t>import pandas as pd</a:t>
            </a:r>
            <a:endParaRPr lang="en-US" sz="2000" dirty="0"/>
          </a:p>
          <a:p>
            <a:pPr marL="0" indent="0">
              <a:lnSpc>
                <a:spcPct val="105000"/>
              </a:lnSpc>
              <a:buNone/>
            </a:pPr>
            <a:endParaRPr lang="en-US" sz="2000" dirty="0"/>
          </a:p>
          <a:p>
            <a:pPr marL="0" indent="0">
              <a:lnSpc>
                <a:spcPct val="105000"/>
              </a:lnSpc>
              <a:buNone/>
            </a:pPr>
            <a:r>
              <a:rPr lang="en-US" sz="2000" dirty="0">
                <a:solidFill>
                  <a:srgbClr val="E9F5F5"/>
                </a:solidFill>
                <a:latin typeface="Courier New" pitchFamily="34" charset="0"/>
                <a:ea typeface="Courier New" pitchFamily="34" charset="-122"/>
                <a:cs typeface="Courier New" pitchFamily="34" charset="-120"/>
              </a:rPr>
              <a:t>data = pd.Series([45, 52, 61, 58, 70, 65, 49])</a:t>
            </a:r>
            <a:endParaRPr lang="en-US" sz="2000" dirty="0"/>
          </a:p>
          <a:p>
            <a:pPr marL="0" indent="0">
              <a:lnSpc>
                <a:spcPct val="105000"/>
              </a:lnSpc>
              <a:buNone/>
            </a:pPr>
            <a:endParaRPr lang="en-US" sz="2000" dirty="0"/>
          </a:p>
          <a:p>
            <a:pPr marL="0" indent="0">
              <a:lnSpc>
                <a:spcPct val="105000"/>
              </a:lnSpc>
              <a:buNone/>
            </a:pPr>
            <a:r>
              <a:rPr lang="en-US" sz="2000" dirty="0">
                <a:solidFill>
                  <a:srgbClr val="E9F5F5"/>
                </a:solidFill>
                <a:latin typeface="Courier New" pitchFamily="34" charset="0"/>
                <a:ea typeface="Courier New" pitchFamily="34" charset="-122"/>
                <a:cs typeface="Courier New" pitchFamily="34" charset="-120"/>
              </a:rPr>
              <a:t>print(data.mean())    # 57.142857...</a:t>
            </a:r>
            <a:endParaRPr lang="en-US" sz="2000" dirty="0"/>
          </a:p>
          <a:p>
            <a:pPr marL="0" indent="0">
              <a:lnSpc>
                <a:spcPct val="105000"/>
              </a:lnSpc>
              <a:buNone/>
            </a:pPr>
            <a:r>
              <a:rPr lang="en-US" sz="2000" dirty="0">
                <a:solidFill>
                  <a:srgbClr val="E9F5F5"/>
                </a:solidFill>
                <a:latin typeface="Courier New" pitchFamily="34" charset="0"/>
                <a:ea typeface="Courier New" pitchFamily="34" charset="-122"/>
                <a:cs typeface="Courier New" pitchFamily="34" charset="-120"/>
              </a:rPr>
              <a:t>print(data.median())  # 58.0</a:t>
            </a:r>
            <a:endParaRPr lang="en-US" sz="2000" dirty="0"/>
          </a:p>
          <a:p>
            <a:pPr marL="0" indent="0">
              <a:lnSpc>
                <a:spcPct val="105000"/>
              </a:lnSpc>
              <a:buNone/>
            </a:pPr>
            <a:r>
              <a:rPr lang="en-US" sz="2000" dirty="0">
                <a:solidFill>
                  <a:srgbClr val="E9F5F5"/>
                </a:solidFill>
                <a:latin typeface="Courier New" pitchFamily="34" charset="0"/>
                <a:ea typeface="Courier New" pitchFamily="34" charset="-122"/>
                <a:cs typeface="Courier New" pitchFamily="34" charset="-120"/>
              </a:rPr>
              <a:t>print(data.mode()[0]) # most frequent value</a:t>
            </a:r>
            <a:endParaRPr lang="en-US" sz="2000" dirty="0"/>
          </a:p>
        </p:txBody>
      </p:sp>
      <p:sp>
        <p:nvSpPr>
          <p:cNvPr id="8" name="Text 5"/>
          <p:cNvSpPr txBox="1"/>
          <p:nvPr/>
        </p:nvSpPr>
        <p:spPr>
          <a:xfrm>
            <a:off x="548640" y="4754880"/>
            <a:ext cx="10881360" cy="146304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pandas gives mean(), median(), and mode() as one-line Series methods</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Under the hood, pandas applies the exact same formulas taught in this lecture</a:t>
            </a:r>
            <a:endParaRPr lang="en-US" sz="2000" dirty="0"/>
          </a:p>
          <a:p>
            <a:pPr marL="342900" indent="-342900">
              <a:lnSpc>
                <a:spcPct val="108000"/>
              </a:lnSpc>
              <a:spcAft>
                <a:spcPts val="1000"/>
              </a:spcAft>
              <a:buSzPct val="100000"/>
              <a:buChar char="▪"/>
            </a:pPr>
            <a:r>
              <a:rPr lang="en-US" sz="2000" dirty="0">
                <a:solidFill>
                  <a:srgbClr val="17282A"/>
                </a:solidFill>
                <a:latin typeface="Calibri" pitchFamily="34" charset="0"/>
                <a:ea typeface="Calibri" pitchFamily="34" charset="-122"/>
                <a:cs typeface="Calibri" pitchFamily="34" charset="-120"/>
              </a:rPr>
              <a:t>Always compare mean vs. median in code — a large gap flags skew or outliers</a:t>
            </a:r>
            <a:endParaRPr lang="en-US" sz="2000" dirty="0"/>
          </a:p>
        </p:txBody>
      </p:sp>
      <p:sp>
        <p:nvSpPr>
          <p:cNvPr id="10" name="Text 6"/>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11" name="Text 7"/>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47</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AVOID THESE PITFALLS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Common Misconceptions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warning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"The mean is always the best average" — false; it fails badly on skewed/outlier data</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Forgetting to sort data before finding the median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Confusing a position (n/2) with a value in even-n median calculations</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Using the raw class limits instead of the midpoint when computing grouped mean</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Assuming every dataset has exactly one mode</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48</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QUICK ACTIVITY</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Think–Pair–Share: Pick the Right Measure</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omments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In pairs, decide which measure (mean/median/mode) you'd report for each scenario, and why:</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1) Typical response time of a customer-support chatbot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2) Most common defect type on a manufacturing line</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3) Average temperature reported on a weather app</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4) Typical house price in a city with a few multi-crore mansions</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49</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RECAP</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Summary — Key Formulas</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lipboard_white.png"/>
          <p:cNvPicPr>
            <a:picLocks noChangeAspect="1"/>
          </p:cNvPicPr>
          <p:nvPr/>
        </p:nvPicPr>
        <p:blipFill>
          <a:blip r:embed="rId3"/>
          <a:stretch>
            <a:fillRect/>
          </a:stretch>
        </p:blipFill>
        <p:spPr>
          <a:xfrm>
            <a:off x="10866730" y="716890"/>
            <a:ext cx="486461" cy="486461"/>
          </a:xfrm>
          <a:prstGeom prst="rect">
            <a:avLst/>
          </a:prstGeom>
        </p:spPr>
      </p:pic>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0881360" cy="4114800"/>
        </p:xfrm>
        <a:graphic>
          <a:graphicData uri="http://schemas.openxmlformats.org/drawingml/2006/table">
            <a:tbl>
              <a:tblPr/>
              <a:tblGrid>
                <a:gridCol w="20116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1028700">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Measure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Ungrouped Data</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Grouped Data</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02525C"/>
                    </a:solidFill>
                  </a:tcPr>
                </a:tc>
                <a:extLst>
                  <a:ext uri="{0D108BD9-81ED-4DB2-BD59-A6C34878D82A}">
                    <a16:rowId xmlns:a16="http://schemas.microsoft.com/office/drawing/2014/main" val="10000"/>
                  </a:ext>
                </a:extLst>
              </a:tr>
              <a:tr h="10287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Mean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x̄ = Σxᵢ / 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x̄ = Σfᵢmᵢ / Σfᵢ</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87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Median</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Middle value @ (n+1)/2</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L + [(n/2−CF)/f] × h</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1028700">
                <a:tc>
                  <a:txBody>
                    <a:bodyPr/>
                    <a:lstStyle/>
                    <a:p>
                      <a:pPr marL="0" indent="0" algn="l">
                        <a:buNone/>
                      </a:pPr>
                      <a:r>
                        <a:rPr lang="en-US" sz="2000" b="1" dirty="0">
                          <a:solidFill>
                            <a:srgbClr val="17282A"/>
                          </a:solidFill>
                          <a:latin typeface="Calibri" pitchFamily="34" charset="0"/>
                          <a:ea typeface="Calibri" pitchFamily="34" charset="-122"/>
                          <a:cs typeface="Calibri" pitchFamily="34" charset="-120"/>
                        </a:rPr>
                        <a:t>Mode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Highest-frequency value</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7282A"/>
                          </a:solidFill>
                          <a:latin typeface="Calibri" pitchFamily="34" charset="0"/>
                          <a:ea typeface="Calibri" pitchFamily="34" charset="-122"/>
                          <a:cs typeface="Calibri" pitchFamily="34" charset="-120"/>
                        </a:rPr>
                        <a:t>L + [(f₁−f₀)/(2f₁−f₀−f₂)] × h</a:t>
                      </a:r>
                      <a:endParaRPr lang="en-US" sz="2000" dirty="0">
                        <a:latin typeface="Calibri" charset="0"/>
                        <a:ea typeface="Calibri" charset="0"/>
                        <a:cs typeface="Calibri" charset="0"/>
                      </a:endParaRPr>
                    </a:p>
                  </a:txBody>
                  <a:tcPr anchor="ctr">
                    <a:lnL w="9525" cap="flat" cmpd="sng" algn="ctr">
                      <a:solidFill>
                        <a:srgbClr val="CFE3E3"/>
                      </a:solidFill>
                      <a:prstDash val="solid"/>
                      <a:round/>
                      <a:headEnd type="none" w="med" len="med"/>
                      <a:tailEnd type="none" w="med" len="med"/>
                    </a:lnL>
                    <a:lnR w="9525" cap="flat" cmpd="sng" algn="ctr">
                      <a:solidFill>
                        <a:srgbClr val="CFE3E3"/>
                      </a:solidFill>
                      <a:prstDash val="solid"/>
                      <a:round/>
                      <a:headEnd type="none" w="med" len="med"/>
                      <a:tailEnd type="none" w="med" len="med"/>
                    </a:lnR>
                    <a:lnT w="9525" cap="flat" cmpd="sng" algn="ctr">
                      <a:solidFill>
                        <a:srgbClr val="CFE3E3"/>
                      </a:solidFill>
                      <a:prstDash val="solid"/>
                      <a:round/>
                      <a:headEnd type="none" w="med" len="med"/>
                      <a:tailEnd type="none" w="med" len="med"/>
                    </a:lnT>
                    <a:lnB w="9525" cap="flat" cmpd="sng" algn="ctr">
                      <a:solidFill>
                        <a:srgbClr val="CF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3"/>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4"/>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50</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Central Tendency — Quiz (1 of 2)</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question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Q1.  The mean of 5 numbers is 20. If one number is removed, the new mean (of 4 numbers) is 18. What was the removed number?</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Q2.  True or False: The median is more affected by outliers than the mean.</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Q3.  Which measure of central tendency is the only one usable for purely categorical data?</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Q4.  For a right-skewed distribution, which is typically largest: Mean, Median, or Mode?</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51</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QUIZ ANSWERS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Quiz Answers (1 of 2)</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eck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A1.  Original sum = 5×20 = 100; new sum = 4×18 = 72; removed number = 100−72 = 28</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A2.  False — the median is the LESS affected (more robust) measure; the mean is more affected by outliers</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A3.  The Mode — it works on category labels, not just numbers</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A4.  Mean (Mean &gt; Median &gt; Mode is the signature order of right/positive skew)</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52</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Central Tendency — Quiz (2 of 2)</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question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Q1.  True or False: A dataset can have more than one mode.</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Q2.  Given Mean = 60 and Mode = 48, estimate the Median using the empirical relationship.</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Q3.  For grouped data, what does 'CF' stand for in the median formula, and why is it needed?</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Q4.  A company reports 'average' employee salary using the mean, and it seems unusually high compared to what employees say they earn. What explanation fits, and what alternative measure would you suggest?</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53</a:t>
            </a:r>
            <a:endParaRPr lang="en-US"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QUIZ ANSWERS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Quiz Answers (2 of 2)</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check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920240"/>
            <a:ext cx="10881360" cy="4297680"/>
          </a:xfrm>
          <a:prstGeom prst="rect">
            <a:avLst/>
          </a:prstGeom>
          <a:noFill/>
          <a:ln/>
        </p:spPr>
        <p:txBody>
          <a:bodyPr wrap="square" lIns="0" tIns="0" rIns="0" bIns="0" rtlCol="0" anchor="t"/>
          <a:lstStyle/>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A1.  True — datasets can be bimodal or multimodal, or have no unique mode at all</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A2.  Median = (2×Mean + Mode)/3 = (2×60 + 48)/3 = 168/3 = 56</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A3.  CF = cumulative frequency before the median class; it locates exactly where the n/2-th value falls within that class</a:t>
            </a:r>
            <a:endParaRPr lang="en-US" sz="2000" dirty="0"/>
          </a:p>
          <a:p>
            <a:pPr marL="0" indent="0">
              <a:lnSpc>
                <a:spcPct val="112000"/>
              </a:lnSpc>
              <a:spcAft>
                <a:spcPts val="1400"/>
              </a:spcAft>
              <a:buNone/>
            </a:pPr>
            <a:r>
              <a:rPr lang="en-US" sz="2000" dirty="0">
                <a:solidFill>
                  <a:srgbClr val="17282A"/>
                </a:solidFill>
                <a:latin typeface="Calibri" pitchFamily="34" charset="0"/>
                <a:ea typeface="Calibri" pitchFamily="34" charset="-122"/>
                <a:cs typeface="Calibri" pitchFamily="34" charset="-120"/>
              </a:rPr>
              <a:t>A4.  The mean is likely pulled upward by a small number of very high earners (e.g., senior executives) — the median salary would better represent what a typical employee earns</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54</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601200" cy="384048"/>
          </a:xfrm>
          <a:prstGeom prst="rect">
            <a:avLst/>
          </a:prstGeom>
          <a:noFill/>
          <a:ln/>
        </p:spPr>
        <p:txBody>
          <a:bodyPr wrap="square" lIns="0" tIns="0" rIns="0" bIns="0" rtlCol="0" anchor="ctr"/>
          <a:lstStyle/>
          <a:p>
            <a:pPr marL="0" indent="0">
              <a:buNone/>
            </a:pPr>
            <a:r>
              <a:rPr lang="en-US" sz="2000" b="1" kern="0" spc="200" dirty="0">
                <a:solidFill>
                  <a:srgbClr val="B97A1E"/>
                </a:solidFill>
                <a:latin typeface="Calibri" pitchFamily="34" charset="0"/>
                <a:ea typeface="Calibri" pitchFamily="34" charset="-122"/>
                <a:cs typeface="Calibri" pitchFamily="34" charset="-120"/>
              </a:rPr>
              <a:t>BEFORE NEXT CLASS</a:t>
            </a:r>
            <a:endParaRPr lang="en-US" sz="2000" dirty="0"/>
          </a:p>
        </p:txBody>
      </p:sp>
      <p:sp>
        <p:nvSpPr>
          <p:cNvPr id="3" name="Text 1"/>
          <p:cNvSpPr txBox="1"/>
          <p:nvPr/>
        </p:nvSpPr>
        <p:spPr>
          <a:xfrm>
            <a:off x="548640" y="749808"/>
            <a:ext cx="10424160" cy="868680"/>
          </a:xfrm>
          <a:prstGeom prst="rect">
            <a:avLst/>
          </a:prstGeom>
          <a:noFill/>
          <a:ln/>
        </p:spPr>
        <p:txBody>
          <a:bodyPr wrap="square" lIns="0" tIns="0" rIns="0" bIns="0" rtlCol="0" anchor="t"/>
          <a:lstStyle/>
          <a:p>
            <a:pPr marL="0" indent="0">
              <a:buNone/>
            </a:pPr>
            <a:r>
              <a:rPr lang="en-US" sz="3000" b="1" dirty="0">
                <a:solidFill>
                  <a:srgbClr val="02525C"/>
                </a:solidFill>
                <a:latin typeface="Cambria" pitchFamily="34" charset="0"/>
                <a:ea typeface="Cambria" pitchFamily="34" charset="-122"/>
                <a:cs typeface="Cambria" pitchFamily="34" charset="-120"/>
              </a:rPr>
              <a:t>Assignment &amp; Further Reading</a:t>
            </a:r>
            <a:endParaRPr lang="en-US" sz="3000" dirty="0"/>
          </a:p>
        </p:txBody>
      </p:sp>
      <p:sp>
        <p:nvSpPr>
          <p:cNvPr id="4" name="Shape 2"/>
          <p:cNvSpPr/>
          <p:nvPr/>
        </p:nvSpPr>
        <p:spPr>
          <a:xfrm>
            <a:off x="10675620" y="525780"/>
            <a:ext cx="868680" cy="868680"/>
          </a:xfrm>
          <a:prstGeom prst="ellipse">
            <a:avLst/>
          </a:prstGeom>
          <a:solidFill>
            <a:srgbClr val="02525C"/>
          </a:solidFill>
          <a:ln/>
        </p:spPr>
      </p:sp>
      <p:pic>
        <p:nvPicPr>
          <p:cNvPr id="5" name="Image 0" descr="/home/claude/icons/book_white.png"/>
          <p:cNvPicPr>
            <a:picLocks noChangeAspect="1"/>
          </p:cNvPicPr>
          <p:nvPr/>
        </p:nvPicPr>
        <p:blipFill>
          <a:blip r:embed="rId3"/>
          <a:stretch>
            <a:fillRect/>
          </a:stretch>
        </p:blipFill>
        <p:spPr>
          <a:xfrm>
            <a:off x="10866730" y="716890"/>
            <a:ext cx="486461" cy="486461"/>
          </a:xfrm>
          <a:prstGeom prst="rect">
            <a:avLst/>
          </a:prstGeom>
        </p:spPr>
      </p:pic>
      <p:sp>
        <p:nvSpPr>
          <p:cNvPr id="6" name="Text 3"/>
          <p:cNvSpPr txBox="1"/>
          <p:nvPr/>
        </p:nvSpPr>
        <p:spPr>
          <a:xfrm>
            <a:off x="548640" y="1874520"/>
            <a:ext cx="10881360" cy="4206240"/>
          </a:xfrm>
          <a:prstGeom prst="rect">
            <a:avLst/>
          </a:prstGeom>
          <a:noFill/>
          <a:ln/>
        </p:spPr>
        <p:txBody>
          <a:bodyPr wrap="square" lIns="0" tIns="0" rIns="0" bIns="0" rtlCol="0" anchor="t"/>
          <a:lstStyle/>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Solve 5 additional grouped-data problems (mean, median, mode) from the course problem set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Using any public dataset (e.g., a CSV of exam scores or sensor logs), compute mean/median/mode in Python with pandas and compare them</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Write 3-4 sentences: pick one real dataset from your own life or project and justify which central tendency measure best represents it</a:t>
            </a:r>
            <a:endParaRPr lang="en-US" sz="2000" dirty="0"/>
          </a:p>
          <a:p>
            <a:pPr marL="342900" indent="-342900">
              <a:lnSpc>
                <a:spcPct val="108000"/>
              </a:lnSpc>
              <a:spcAft>
                <a:spcPts val="1600"/>
              </a:spcAft>
              <a:buSzPct val="100000"/>
              <a:buChar char="▪"/>
            </a:pPr>
            <a:r>
              <a:rPr lang="en-US" sz="2000" dirty="0">
                <a:solidFill>
                  <a:srgbClr val="17282A"/>
                </a:solidFill>
                <a:latin typeface="Calibri" pitchFamily="34" charset="0"/>
                <a:ea typeface="Calibri" pitchFamily="34" charset="-122"/>
                <a:cs typeface="Calibri" pitchFamily="34" charset="-120"/>
              </a:rPr>
              <a:t>Preview reading: measures of dispersion (range, variance, standard deviation) — the natural next step after central tendency</a:t>
            </a:r>
            <a:endParaRPr lang="en-US" sz="2000" dirty="0"/>
          </a:p>
        </p:txBody>
      </p:sp>
      <p:sp>
        <p:nvSpPr>
          <p:cNvPr id="8" name="Text 4"/>
          <p:cNvSpPr txBox="1"/>
          <p:nvPr/>
        </p:nvSpPr>
        <p:spPr>
          <a:xfrm>
            <a:off x="548640" y="6355080"/>
            <a:ext cx="7772400" cy="365760"/>
          </a:xfrm>
          <a:prstGeom prst="rect">
            <a:avLst/>
          </a:prstGeom>
          <a:noFill/>
          <a:ln/>
        </p:spPr>
        <p:txBody>
          <a:bodyPr wrap="square" lIns="0" tIns="0" rIns="0" bIns="0" rtlCol="0" anchor="ctr"/>
          <a:lstStyle/>
          <a:p>
            <a:pPr marL="0" indent="0" algn="l">
              <a:buNone/>
            </a:pPr>
            <a:r>
              <a:rPr lang="en-US" sz="2000" dirty="0">
                <a:solidFill>
                  <a:srgbClr val="5B7373"/>
                </a:solidFill>
                <a:latin typeface="Calibri" pitchFamily="34" charset="0"/>
                <a:ea typeface="Calibri" pitchFamily="34" charset="-122"/>
                <a:cs typeface="Calibri" pitchFamily="34" charset="-120"/>
              </a:rPr>
              <a:t>  |    |  Presidency University</a:t>
            </a:r>
            <a:endParaRPr lang="en-US" sz="2000" dirty="0"/>
          </a:p>
        </p:txBody>
      </p:sp>
      <p:sp>
        <p:nvSpPr>
          <p:cNvPr id="9" name="Text 5"/>
          <p:cNvSpPr txBox="1"/>
          <p:nvPr/>
        </p:nvSpPr>
        <p:spPr>
          <a:xfrm>
            <a:off x="11155680" y="6355080"/>
            <a:ext cx="457200" cy="365760"/>
          </a:xfrm>
          <a:prstGeom prst="rect">
            <a:avLst/>
          </a:prstGeom>
          <a:noFill/>
          <a:ln/>
        </p:spPr>
        <p:txBody>
          <a:bodyPr wrap="square" lIns="0" tIns="0" rIns="0" bIns="0" rtlCol="0" anchor="ctr"/>
          <a:lstStyle/>
          <a:p>
            <a:pPr marL="0" indent="0" algn="r">
              <a:buNone/>
            </a:pPr>
            <a:r>
              <a:rPr lang="en-US" sz="2000" dirty="0">
                <a:solidFill>
                  <a:srgbClr val="5B7373"/>
                </a:solidFill>
                <a:latin typeface="Calibri" pitchFamily="34" charset="0"/>
                <a:ea typeface="Calibri" pitchFamily="34" charset="-122"/>
                <a:cs typeface="Calibri" pitchFamily="34" charset="-120"/>
              </a:rPr>
              <a:t>55</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02525C"/>
        </a:solidFill>
        <a:effectLst/>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0F7173"/>
          </a:solidFill>
          <a:ln/>
        </p:spPr>
      </p:sp>
      <p:sp>
        <p:nvSpPr>
          <p:cNvPr id="3" name="Shape 1"/>
          <p:cNvSpPr/>
          <p:nvPr/>
        </p:nvSpPr>
        <p:spPr>
          <a:xfrm>
            <a:off x="5349240" y="1920240"/>
            <a:ext cx="1463040" cy="1463040"/>
          </a:xfrm>
          <a:prstGeom prst="ellipse">
            <a:avLst/>
          </a:prstGeom>
          <a:solidFill>
            <a:srgbClr val="FFFFFF"/>
          </a:solidFill>
          <a:ln/>
        </p:spPr>
      </p:sp>
      <p:pic>
        <p:nvPicPr>
          <p:cNvPr id="4" name="Image 0" descr="/home/claude/icons/graduation_teal.png"/>
          <p:cNvPicPr>
            <a:picLocks noChangeAspect="1"/>
          </p:cNvPicPr>
          <p:nvPr/>
        </p:nvPicPr>
        <p:blipFill>
          <a:blip r:embed="rId3"/>
          <a:stretch>
            <a:fillRect/>
          </a:stretch>
        </p:blipFill>
        <p:spPr>
          <a:xfrm>
            <a:off x="5671109" y="2242109"/>
            <a:ext cx="819302" cy="819302"/>
          </a:xfrm>
          <a:prstGeom prst="rect">
            <a:avLst/>
          </a:prstGeom>
        </p:spPr>
      </p:pic>
      <p:sp>
        <p:nvSpPr>
          <p:cNvPr id="5" name="Text 2"/>
          <p:cNvSpPr txBox="1"/>
          <p:nvPr/>
        </p:nvSpPr>
        <p:spPr>
          <a:xfrm>
            <a:off x="1508760" y="3566160"/>
            <a:ext cx="9144000"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6" name="Text 3"/>
          <p:cNvSpPr txBox="1"/>
          <p:nvPr/>
        </p:nvSpPr>
        <p:spPr>
          <a:xfrm>
            <a:off x="1508760" y="4343400"/>
            <a:ext cx="9144000" cy="548640"/>
          </a:xfrm>
          <a:prstGeom prst="rect">
            <a:avLst/>
          </a:prstGeom>
          <a:noFill/>
          <a:ln/>
        </p:spPr>
        <p:txBody>
          <a:bodyPr wrap="square" lIns="0" tIns="0" rIns="0" bIns="0" rtlCol="0" anchor="ctr"/>
          <a:lstStyle/>
          <a:p>
            <a:pPr marL="0" indent="0" algn="ctr">
              <a:buNone/>
            </a:pPr>
            <a:r>
              <a:rPr lang="en-US" sz="2200" dirty="0">
                <a:solidFill>
                  <a:srgbClr val="E8A33D"/>
                </a:solidFill>
                <a:latin typeface="Calibri" pitchFamily="34" charset="0"/>
                <a:ea typeface="Calibri" pitchFamily="34" charset="-122"/>
                <a:cs typeface="Calibri" pitchFamily="34" charset="-120"/>
              </a:rPr>
              <a:t>Questions &amp; Discussion</a:t>
            </a:r>
            <a:endParaRPr lang="en-US" sz="2200" dirty="0"/>
          </a:p>
        </p:txBody>
      </p:sp>
      <p:sp>
        <p:nvSpPr>
          <p:cNvPr id="7" name="Text 4"/>
          <p:cNvSpPr txBox="1"/>
          <p:nvPr/>
        </p:nvSpPr>
        <p:spPr>
          <a:xfrm>
            <a:off x="822960" y="6035040"/>
            <a:ext cx="10515600" cy="457200"/>
          </a:xfrm>
          <a:prstGeom prst="rect">
            <a:avLst/>
          </a:prstGeom>
          <a:noFill/>
          <a:ln/>
        </p:spPr>
        <p:txBody>
          <a:bodyPr wrap="square" lIns="0" tIns="0" rIns="0" bIns="0" rtlCol="0" anchor="ctr"/>
          <a:lstStyle/>
          <a:p>
            <a:pPr marL="0" indent="0" algn="ctr">
              <a:buNone/>
            </a:pPr>
            <a:r>
              <a:rPr lang="en-US" sz="2000" dirty="0">
                <a:solidFill>
                  <a:srgbClr val="CFE3E3"/>
                </a:solidFill>
                <a:latin typeface="Calibri" pitchFamily="34" charset="0"/>
                <a:ea typeface="Calibri" pitchFamily="34" charset="-122"/>
                <a:cs typeface="Calibri" pitchFamily="34" charset="-120"/>
              </a:rPr>
              <a:t>Manoj Sagar  |  Department of AI &amp; Robotics, School of Artificial Intelligence and Advanced Computing  |  Presidency University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8144</Words>
  <Application>Microsoft Office PowerPoint</Application>
  <PresentationFormat>Widescreen</PresentationFormat>
  <Paragraphs>678</Paragraphs>
  <Slides>56</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4</cp:revision>
  <dcterms:created xsi:type="dcterms:W3CDTF">2026-09-15T09:07:43Z</dcterms:created>
  <dcterms:modified xsi:type="dcterms:W3CDTF">2026-09-17T08:50:08Z</dcterms:modified>
</cp:coreProperties>
</file>