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026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warmly and introduce yourself. Frame today's session: this </a:t>
            </a:r>
            <a:r>
              <a:rPr lang="en-US"/>
              <a:t>is    , </a:t>
            </a:r>
            <a:r>
              <a:rPr lang="en-US" dirty="0"/>
              <a:t>and this lecture lays the foundation for everything else this semester. Before we can visualize or model data, we must understand what KIND of data we are looking at, because that single choice quietly controls every statistic and chart we use later. Keep energy high — this is lecture one of a foundational block.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today's session in the course structure. Remind students this specific building block — data types and measurement scales — will resurface in nearly every later module, from visualization to hypothesis testing to machine learning feature engineering. One focused hour, foundational but essential.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Frame it as a promise: "By the end of this hour, you will be able to look at any column of data and immediately know how it should be measured, summarized, and visualized." This previews the arc: definitions, data types, measurement scales, then descriptive statistics and visualization tied back to those types.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 pair-share — about 3 minutes. Take 2-3 quick verbal responses per question rather than a full discussion; this activates intuition, it does not teach yet. Use their answers to segue into the main content: they already sense a difference between "labels" and "numbers you can do arithmetic on" — that intuitive distinction is exactly what we formalize today as data types and measurement scales.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hospital example: averaging patient IDs is nonsensical because ID numbers are labels, not quantities, even though they look numeric. Ask the class: "Can anyone think of another number that looks quantitative but is really just a label?" Good answers: phone numbers, pin codes, jersey numbers, Aadhaar numbers. This motivates the need for a formal classification system, which is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boundary with a simple rule of thumb: descriptive statistics stays inside your dataset, inferential statistics reaches beyond it to a wider population. Reassure students this course module is entirely about descriptive statistics — inferential methods come later in the semester. Point out that even inferential statistics depends on correctly identifying data types first, so nothing here is wasted effort.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and show students the bigger picture of the whole course. Point to each stage briefly, then land firmly on stage two — "Classify" — and explain that everything from stage three onward silently depends on getting this step right. If you misclassify a variable here, every downstream statistic and chart can be wrong, even if the arithmetic is technically correct.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master map for the next several slides. Every variable in any dataset falls somewhere in this tree. First split: qualitative (words / categories / labels) versus quantitative (numbers that measure or count something). Each branch further splits into two: qualitative into nominal and ordinal; quantitative into discrete and continuous. We will now walk down each branch one at a time with concrete examples.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checkpoint slide — pause and let students copy it down. Walk left to right for each row. Emphasize the last column especially: this is the practical takeaway that determines what statistics they are allowed to compute later in the course. Ask a quick check-of-understanding: "Is 'movie genre' nominal or ordinal?" (Nominal — no inherent order.)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measurement scales as a more precise, four-level refinement of the data-type tree we just built. Emphasize the key idea on screen: each scale is strictly more informative than the last, and each one keeps everything the previous scale could do while adding a new capability. We will go through each of the four levels one at a time, always asking the same question: "What new operation becomes valid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most exam-relevant slide in the lecture — tell students explicitly. Walk column by column: order, equal intervals, true zero — each scale adds exactly one "yes" as we move down. Ask a check question: "Temperature in Kelvin — is that interval or ratio?" (Ratio — Kelvin's zero is absolute zero, a true zero, unlike Celsius.) This is a great point to pause for questions since it is genuinely the trickiest distinction in the lecture (interval vs. ratio).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live rather than just reading answers. Cover the last column, show only column and sample values, and ask students to call out the type before revealing. Spend extra time on the trickiest two: "No. of Backlogs" is discrete AND ratio (0 backlogs is a true zero); "Body Temperature in Celsius" is continuous AND interval (0°C is not a true absence of temperature) — this cements the interval-vs-ratio distinction from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today's classification work to the rest of the course. Walk through each bullet and explicitly name what's coming next in the syllabus. Stress the boxed statement — it is the single most important takeaway of the lecture.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all three measures together before computing them, so students see the family first. Highlight the italic line under each card — this ties directly back to the scales we just covered. Mode is universal (works even on nominal data like blood group); median needs at least ordinal data; mean needs interval or ratio data.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every step live, do not just show the final answer. For mean, actually add the 9 numbers aloud. For median, remind students that for an ODD count of values the median is the single middle term after sorting; for an EVEN count, it is the average of the two middle terms — mention that difference explicitly since it is a common source of exam errors. For mode, note that a dataset can be unimodal, bimodal, or have no mode at all.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dispersion with a quick thought experiment: two sections both average 70% on a test, but one section has scores tightly clustered 65-75, while the other ranges from 20 to 100. The mean alone hides this difference. Explain squaring deviations in variance prevents positive and negative deviations from cancelling out, and that we take the square root (standard deviation) afterward to return to the original units.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six steps slowly and out loud, pausing after step 2 so everyone sees why deviations sum to zero (a useful sanity check students can use to catch arithmetic mistakes). After step 6, always translate the final number back into plain English using the interpretation box — a std. deviation number alone means little to a fresher until it is connected back to real-world units and context.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the visualization half of the lecture, and stress it is an application of everything covered so far. Ask the class to predict the right-hand column before you reveal it, one row at a time, using what they now know about nominal/ordinal/discrete/continuous data. This turns a content slide into a quick participatory check of understanding.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bar chart and pie chart if you have slides/whiteboard handy, or sketch quickly. Emphasize the ordering point for bar charts: for nominal data order bars by frequency (descending) for readability; for ordinal data always keep the natural order (Poor → Excellent), never sort by frequency, or you destroy the information the order carries.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slide directly with the previous one on categorical charts. The key visual tell: histogram bars touch each other (continuity of the number line), while bar chart bars have gaps (discrete, unordered categories). For box plots, briefly define quartiles: Q1 is the 25th percentile, Q3 is the 75th percentile, and the box spans the middle 50% of the data (the interquartile range).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pitfall and, where possible, ask "who has seen this mistake before, maybe in a report or dashboard?" These are the exact mistakes examiners look for in exam answers, and the exact mistakes that quietly break real analyses in industry. Pause after the Celsius one — it is consistently the one students find least intuitive.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to classify all six individually or in pairs, then reveal answers verbally: siblings = discrete/ratio; T-shirt size = ordinal; Aadhaar number = nominal; weight = continuous/ratio; movie genre = nominal; exam rank = ordinal. Use any disagreement as a teaching moment tied back to the definitions and the permissible-operations table from earlier.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entire lecture in under 3 minutes using this slide as a checklist. Ask if there are any final questions before moving to the quiz. This is also a good moment to remind students that this topic will be referenced repeatedly for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answer individually or in pairs on paper or a shared doc; this is a low-stakes comprehension check, not a graded assessment — say so explicitly to reduce anxiety. After time is up, move directly to the answers slide and go through each question, inviting volunteers to share their reasoning before you confirm the correct answer.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spending a little more time on A2 and A5 since these connect directly to the two most common misconceptions covered earlier. Encourage students to note down any question they got wrong for review before the next class, and clarify that the quiz reflects only comprehension, not grading.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on a forward-looking note. Clarify the assignment expectations concretely — remind students which dataset the course project uses, and that the one-page classification is meant to be quick (just type + scale for each column, with a one-line justification). Thank the class and open the floor for any last questions.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2"/>
        </a:solidFill>
        <a:effectLst/>
      </p:bgPr>
    </p:bg>
    <p:spTree>
      <p:nvGrpSpPr>
        <p:cNvPr id="1" name=""/>
        <p:cNvGrpSpPr/>
        <p:nvPr/>
      </p:nvGrpSpPr>
      <p:grpSpPr>
        <a:xfrm>
          <a:off x="0" y="0"/>
          <a:ext cx="0" cy="0"/>
          <a:chOff x="0" y="0"/>
          <a:chExt cx="0" cy="0"/>
        </a:xfrm>
      </p:grpSpPr>
      <p:sp>
        <p:nvSpPr>
          <p:cNvPr id="2" name="Shape 0"/>
          <p:cNvSpPr/>
          <p:nvPr/>
        </p:nvSpPr>
        <p:spPr>
          <a:xfrm>
            <a:off x="9052560" y="-1005840"/>
            <a:ext cx="3108960" cy="3108960"/>
          </a:xfrm>
          <a:prstGeom prst="ellipse">
            <a:avLst/>
          </a:prstGeom>
          <a:solidFill>
            <a:srgbClr val="128277">
              <a:alpha val="12000"/>
            </a:srgbClr>
          </a:solidFill>
          <a:ln/>
        </p:spPr>
      </p:sp>
      <p:sp>
        <p:nvSpPr>
          <p:cNvPr id="3" name="Shape 1"/>
          <p:cNvSpPr/>
          <p:nvPr/>
        </p:nvSpPr>
        <p:spPr>
          <a:xfrm>
            <a:off x="10149840" y="4846320"/>
            <a:ext cx="2377440" cy="2377440"/>
          </a:xfrm>
          <a:prstGeom prst="ellipse">
            <a:avLst/>
          </a:prstGeom>
          <a:solidFill>
            <a:srgbClr val="128277">
              <a:alpha val="10000"/>
            </a:srgbClr>
          </a:solidFill>
          <a:ln/>
        </p:spPr>
      </p:sp>
      <p:sp>
        <p:nvSpPr>
          <p:cNvPr id="4" name="Shape 2"/>
          <p:cNvSpPr/>
          <p:nvPr/>
        </p:nvSpPr>
        <p:spPr>
          <a:xfrm>
            <a:off x="-365760" y="5394960"/>
            <a:ext cx="1828800" cy="1828800"/>
          </a:xfrm>
          <a:prstGeom prst="ellipse">
            <a:avLst/>
          </a:prstGeom>
          <a:solidFill>
            <a:srgbClr val="128277">
              <a:alpha val="10000"/>
            </a:srgbClr>
          </a:solidFill>
          <a:ln/>
        </p:spPr>
      </p:sp>
      <p:sp>
        <p:nvSpPr>
          <p:cNvPr id="5" name="Text 3"/>
          <p:cNvSpPr txBox="1"/>
          <p:nvPr/>
        </p:nvSpPr>
        <p:spPr>
          <a:xfrm>
            <a:off x="822960" y="640080"/>
            <a:ext cx="10515600" cy="365760"/>
          </a:xfrm>
          <a:prstGeom prst="rect">
            <a:avLst/>
          </a:prstGeom>
          <a:noFill/>
          <a:ln/>
        </p:spPr>
        <p:txBody>
          <a:bodyPr wrap="square" lIns="0" tIns="0" rIns="0" bIns="0" rtlCol="0" anchor="ctr"/>
          <a:lstStyle/>
          <a:p>
            <a:pPr marL="0" indent="0">
              <a:buNone/>
            </a:pPr>
            <a:r>
              <a:rPr lang="en-US" sz="1400" dirty="0">
                <a:solidFill>
                  <a:srgbClr val="5FBDB0"/>
                </a:solidFill>
                <a:latin typeface="Calibri" pitchFamily="34" charset="0"/>
                <a:ea typeface="Calibri" pitchFamily="34" charset="-122"/>
                <a:cs typeface="Calibri" pitchFamily="34" charset="-120"/>
              </a:rPr>
              <a:t>School of Artificial Intelligence and Advanced Computing</a:t>
            </a:r>
            <a:endParaRPr lang="en-US" sz="1400" dirty="0"/>
          </a:p>
        </p:txBody>
      </p:sp>
      <p:sp>
        <p:nvSpPr>
          <p:cNvPr id="6" name="Text 4"/>
          <p:cNvSpPr txBox="1"/>
          <p:nvPr/>
        </p:nvSpPr>
        <p:spPr>
          <a:xfrm>
            <a:off x="822960" y="960120"/>
            <a:ext cx="105156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Presidency University</a:t>
            </a:r>
            <a:endParaRPr lang="en-US" sz="2400" dirty="0"/>
          </a:p>
        </p:txBody>
      </p:sp>
      <p:sp>
        <p:nvSpPr>
          <p:cNvPr id="7" name="Shape 5"/>
          <p:cNvSpPr/>
          <p:nvPr/>
        </p:nvSpPr>
        <p:spPr>
          <a:xfrm>
            <a:off x="822960" y="2194560"/>
            <a:ext cx="1005840" cy="1005840"/>
          </a:xfrm>
          <a:prstGeom prst="ellipse">
            <a:avLst/>
          </a:prstGeom>
          <a:solidFill>
            <a:srgbClr val="128277"/>
          </a:solidFill>
          <a:ln/>
        </p:spPr>
      </p:sp>
      <p:pic>
        <p:nvPicPr>
          <p:cNvPr id="8" name="Image 0" descr="preencoded.png"/>
          <p:cNvPicPr>
            <a:picLocks noChangeAspect="1"/>
          </p:cNvPicPr>
          <p:nvPr/>
        </p:nvPicPr>
        <p:blipFill>
          <a:blip r:embed="rId3"/>
          <a:stretch>
            <a:fillRect/>
          </a:stretch>
        </p:blipFill>
        <p:spPr>
          <a:xfrm>
            <a:off x="953719" y="2325319"/>
            <a:ext cx="744322" cy="744322"/>
          </a:xfrm>
          <a:prstGeom prst="rect">
            <a:avLst/>
          </a:prstGeom>
        </p:spPr>
      </p:pic>
      <p:sp>
        <p:nvSpPr>
          <p:cNvPr id="9" name="Text 6"/>
          <p:cNvSpPr txBox="1"/>
          <p:nvPr/>
        </p:nvSpPr>
        <p:spPr>
          <a:xfrm>
            <a:off x="2103120" y="2148840"/>
            <a:ext cx="9235440" cy="15544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Descriptive Statistics and Data Visualization: Data Types and Measurement Scales</a:t>
            </a:r>
            <a:endParaRPr lang="en-US" sz="3200" dirty="0"/>
          </a:p>
        </p:txBody>
      </p:sp>
      <p:sp>
        <p:nvSpPr>
          <p:cNvPr id="10" name="Text 7"/>
          <p:cNvSpPr txBox="1"/>
          <p:nvPr/>
        </p:nvSpPr>
        <p:spPr>
          <a:xfrm>
            <a:off x="822960" y="3977640"/>
            <a:ext cx="7315200" cy="365760"/>
          </a:xfrm>
          <a:prstGeom prst="rect">
            <a:avLst/>
          </a:prstGeom>
          <a:noFill/>
          <a:ln/>
        </p:spPr>
        <p:txBody>
          <a:bodyPr wrap="square" lIns="0" tIns="0" rIns="0" bIns="0" rtlCol="0" anchor="ctr"/>
          <a:lstStyle/>
          <a:p>
            <a:pPr marL="0" indent="0">
              <a:buNone/>
            </a:pPr>
            <a:r>
              <a:rPr lang="en-US" sz="1800" dirty="0">
                <a:solidFill>
                  <a:srgbClr val="5FBDB0"/>
                </a:solidFill>
                <a:latin typeface="Calibri" pitchFamily="34" charset="0"/>
                <a:ea typeface="Calibri" pitchFamily="34" charset="-122"/>
                <a:cs typeface="Calibri" pitchFamily="34" charset="-120"/>
              </a:rPr>
              <a:t> </a:t>
            </a:r>
            <a:endParaRPr lang="en-US" sz="1800" dirty="0"/>
          </a:p>
        </p:txBody>
      </p:sp>
      <p:sp>
        <p:nvSpPr>
          <p:cNvPr id="11" name="Text 8"/>
          <p:cNvSpPr txBox="1"/>
          <p:nvPr/>
        </p:nvSpPr>
        <p:spPr>
          <a:xfrm>
            <a:off x="822960" y="4343400"/>
            <a:ext cx="7315200" cy="320040"/>
          </a:xfrm>
          <a:prstGeom prst="rect">
            <a:avLst/>
          </a:prstGeom>
          <a:noFill/>
          <a:ln/>
        </p:spPr>
        <p:txBody>
          <a:bodyPr wrap="square" lIns="0" tIns="0" rIns="0" bIns="0" rtlCol="0" anchor="ctr"/>
          <a:lstStyle/>
          <a:p>
            <a:pPr marL="0" indent="0">
              <a:buNone/>
            </a:pPr>
            <a:r>
              <a:rPr lang="en-US" sz="1300" dirty="0">
                <a:solidFill>
                  <a:srgbClr val="DCE7E7"/>
                </a:solidFill>
                <a:latin typeface="Calibri" pitchFamily="34" charset="0"/>
                <a:ea typeface="Calibri" pitchFamily="34" charset="-122"/>
                <a:cs typeface="Calibri" pitchFamily="34" charset="-120"/>
              </a:rPr>
              <a:t>Department of AI &amp; Robotics</a:t>
            </a:r>
            <a:endParaRPr lang="en-US" sz="1300" dirty="0"/>
          </a:p>
        </p:txBody>
      </p:sp>
      <p:sp>
        <p:nvSpPr>
          <p:cNvPr id="12" name="Text 9"/>
          <p:cNvSpPr txBox="1"/>
          <p:nvPr/>
        </p:nvSpPr>
        <p:spPr>
          <a:xfrm>
            <a:off x="822960" y="6126480"/>
            <a:ext cx="7315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Manoj Sagar, Assistant Professor</a:t>
            </a:r>
            <a:endParaRPr lang="en-US" sz="1300" dirty="0"/>
          </a:p>
        </p:txBody>
      </p:sp>
      <p:sp>
        <p:nvSpPr>
          <p:cNvPr id="13" name="Text 10"/>
          <p:cNvSpPr txBox="1"/>
          <p:nvPr/>
        </p:nvSpPr>
        <p:spPr>
          <a:xfrm>
            <a:off x="822960" y="6400800"/>
            <a:ext cx="7315200" cy="274320"/>
          </a:xfrm>
          <a:prstGeom prst="rect">
            <a:avLst/>
          </a:prstGeom>
          <a:noFill/>
          <a:ln/>
        </p:spPr>
        <p:txBody>
          <a:bodyPr wrap="square" lIns="0" tIns="0" rIns="0" bIns="0" rtlCol="0" anchor="ctr"/>
          <a:lstStyle/>
          <a:p>
            <a:pPr marL="0" indent="0">
              <a:buNone/>
            </a:pPr>
            <a:r>
              <a:rPr lang="en-US" sz="1100" dirty="0">
                <a:solidFill>
                  <a:srgbClr val="5FBDB0"/>
                </a:solidFill>
                <a:latin typeface="Calibri" pitchFamily="34" charset="0"/>
                <a:ea typeface="Calibri" pitchFamily="34" charset="-122"/>
                <a:cs typeface="Calibri" pitchFamily="34" charset="-120"/>
              </a:rPr>
              <a:t>Semester: Odd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9"/>
        </a:solidFill>
        <a:effectLst/>
      </p:bgPr>
    </p:bg>
    <p:spTree>
      <p:nvGrpSpPr>
        <p:cNvPr id="1" name=""/>
        <p:cNvGrpSpPr/>
        <p:nvPr/>
      </p:nvGrpSpPr>
      <p:grpSpPr>
        <a:xfrm>
          <a:off x="0" y="0"/>
          <a:ext cx="0" cy="0"/>
          <a:chOff x="0" y="0"/>
          <a:chExt cx="0" cy="0"/>
        </a:xfrm>
      </p:grpSpPr>
      <p:sp>
        <p:nvSpPr>
          <p:cNvPr id="2" name="Shape 0"/>
          <p:cNvSpPr/>
          <p:nvPr/>
        </p:nvSpPr>
        <p:spPr>
          <a:xfrm>
            <a:off x="5166360" y="640080"/>
            <a:ext cx="1463040" cy="1463040"/>
          </a:xfrm>
          <a:prstGeom prst="ellipse">
            <a:avLst/>
          </a:prstGeom>
          <a:solidFill>
            <a:srgbClr val="DCEDEC"/>
          </a:solidFill>
          <a:ln/>
        </p:spPr>
      </p:sp>
      <p:pic>
        <p:nvPicPr>
          <p:cNvPr id="3" name="Image 0" descr="preencoded.png"/>
          <p:cNvPicPr>
            <a:picLocks noChangeAspect="1"/>
          </p:cNvPicPr>
          <p:nvPr/>
        </p:nvPicPr>
        <p:blipFill>
          <a:blip r:embed="rId3"/>
          <a:stretch>
            <a:fillRect/>
          </a:stretch>
        </p:blipFill>
        <p:spPr>
          <a:xfrm>
            <a:off x="5356555" y="830275"/>
            <a:ext cx="1082650" cy="1082650"/>
          </a:xfrm>
          <a:prstGeom prst="rect">
            <a:avLst/>
          </a:prstGeom>
        </p:spPr>
      </p:pic>
      <p:sp>
        <p:nvSpPr>
          <p:cNvPr id="4" name="Text 1"/>
          <p:cNvSpPr txBox="1"/>
          <p:nvPr/>
        </p:nvSpPr>
        <p:spPr>
          <a:xfrm>
            <a:off x="731520" y="2286000"/>
            <a:ext cx="10698480" cy="548640"/>
          </a:xfrm>
          <a:prstGeom prst="rect">
            <a:avLst/>
          </a:prstGeom>
          <a:noFill/>
          <a:ln/>
        </p:spPr>
        <p:txBody>
          <a:bodyPr wrap="square" lIns="0" tIns="0" rIns="0" bIns="0" rtlCol="0" anchor="ctr"/>
          <a:lstStyle/>
          <a:p>
            <a:pPr marL="0" indent="0" algn="ctr">
              <a:buNone/>
            </a:pPr>
            <a:r>
              <a:rPr lang="en-US" sz="2800" b="1" dirty="0">
                <a:solidFill>
                  <a:srgbClr val="0B3D42"/>
                </a:solidFill>
                <a:latin typeface="Cambria" pitchFamily="34" charset="0"/>
                <a:ea typeface="Cambria" pitchFamily="34" charset="-122"/>
                <a:cs typeface="Cambria" pitchFamily="34" charset="-120"/>
              </a:rPr>
              <a:t>Presidency University</a:t>
            </a:r>
            <a:endParaRPr lang="en-US" sz="2800" dirty="0"/>
          </a:p>
        </p:txBody>
      </p:sp>
      <p:sp>
        <p:nvSpPr>
          <p:cNvPr id="5" name="Text 2"/>
          <p:cNvSpPr txBox="1"/>
          <p:nvPr/>
        </p:nvSpPr>
        <p:spPr>
          <a:xfrm>
            <a:off x="731520" y="2880360"/>
            <a:ext cx="10698480" cy="365760"/>
          </a:xfrm>
          <a:prstGeom prst="rect">
            <a:avLst/>
          </a:prstGeom>
          <a:noFill/>
          <a:ln/>
        </p:spPr>
        <p:txBody>
          <a:bodyPr wrap="square" lIns="0" tIns="0" rIns="0" bIns="0" rtlCol="0" anchor="ctr"/>
          <a:lstStyle/>
          <a:p>
            <a:pPr marL="0" indent="0" algn="ctr">
              <a:buNone/>
            </a:pPr>
            <a:r>
              <a:rPr lang="en-US" sz="1600" dirty="0">
                <a:solidFill>
                  <a:srgbClr val="17262A"/>
                </a:solidFill>
                <a:latin typeface="Calibri" pitchFamily="34" charset="0"/>
                <a:ea typeface="Calibri" pitchFamily="34" charset="-122"/>
                <a:cs typeface="Calibri" pitchFamily="34" charset="-120"/>
              </a:rPr>
              <a:t>School of Artificial Intelligence and Advanced Computing</a:t>
            </a:r>
            <a:endParaRPr lang="en-US" sz="1600" dirty="0"/>
          </a:p>
        </p:txBody>
      </p:sp>
      <p:sp>
        <p:nvSpPr>
          <p:cNvPr id="6" name="Text 3"/>
          <p:cNvSpPr txBox="1"/>
          <p:nvPr/>
        </p:nvSpPr>
        <p:spPr>
          <a:xfrm>
            <a:off x="731520" y="3246120"/>
            <a:ext cx="10698480" cy="365760"/>
          </a:xfrm>
          <a:prstGeom prst="rect">
            <a:avLst/>
          </a:prstGeom>
          <a:noFill/>
          <a:ln/>
        </p:spPr>
        <p:txBody>
          <a:bodyPr wrap="square" lIns="0" tIns="0" rIns="0" bIns="0" rtlCol="0" anchor="ctr"/>
          <a:lstStyle/>
          <a:p>
            <a:pPr marL="0" indent="0" algn="ctr">
              <a:buNone/>
            </a:pPr>
            <a:r>
              <a:rPr lang="en-US" sz="1600" dirty="0">
                <a:solidFill>
                  <a:srgbClr val="4D6165"/>
                </a:solidFill>
                <a:latin typeface="Calibri" pitchFamily="34" charset="0"/>
                <a:ea typeface="Calibri" pitchFamily="34" charset="-122"/>
                <a:cs typeface="Calibri" pitchFamily="34" charset="-120"/>
              </a:rPr>
              <a:t>Department of AI &amp; Robotics</a:t>
            </a:r>
            <a:endParaRPr lang="en-US" sz="1600" dirty="0"/>
          </a:p>
        </p:txBody>
      </p:sp>
      <p:sp>
        <p:nvSpPr>
          <p:cNvPr id="7" name="Shape 4"/>
          <p:cNvSpPr/>
          <p:nvPr/>
        </p:nvSpPr>
        <p:spPr>
          <a:xfrm>
            <a:off x="790956" y="4023360"/>
            <a:ext cx="3291840" cy="1737360"/>
          </a:xfrm>
          <a:prstGeom prst="roundRect">
            <a:avLst>
              <a:gd name="adj" fmla="val 6316"/>
            </a:avLst>
          </a:prstGeom>
          <a:solidFill>
            <a:srgbClr val="FFFFFF"/>
          </a:solidFill>
          <a:ln w="12700">
            <a:solidFill>
              <a:srgbClr val="E1E8E8"/>
            </a:solidFill>
            <a:prstDash val="solid"/>
          </a:ln>
          <a:effectLst>
            <a:outerShdw blurRad="76200" dist="25400" dir="5400000" algn="bl" rotWithShape="0">
              <a:srgbClr val="1E2761">
                <a:alpha val="15000"/>
              </a:srgbClr>
            </a:outerShdw>
          </a:effectLst>
        </p:spPr>
      </p:sp>
      <p:pic>
        <p:nvPicPr>
          <p:cNvPr id="8" name="Image 1" descr="preencoded.png"/>
          <p:cNvPicPr>
            <a:picLocks noChangeAspect="1"/>
          </p:cNvPicPr>
          <p:nvPr/>
        </p:nvPicPr>
        <p:blipFill>
          <a:blip r:embed="rId4"/>
          <a:stretch>
            <a:fillRect/>
          </a:stretch>
        </p:blipFill>
        <p:spPr>
          <a:xfrm>
            <a:off x="1019556" y="4251960"/>
            <a:ext cx="502920" cy="502920"/>
          </a:xfrm>
          <a:prstGeom prst="rect">
            <a:avLst/>
          </a:prstGeom>
        </p:spPr>
      </p:pic>
      <p:sp>
        <p:nvSpPr>
          <p:cNvPr id="9" name="Text 5"/>
          <p:cNvSpPr txBox="1"/>
          <p:nvPr/>
        </p:nvSpPr>
        <p:spPr>
          <a:xfrm>
            <a:off x="1019556" y="4892040"/>
            <a:ext cx="2834640" cy="274320"/>
          </a:xfrm>
          <a:prstGeom prst="rect">
            <a:avLst/>
          </a:prstGeom>
          <a:noFill/>
          <a:ln/>
        </p:spPr>
        <p:txBody>
          <a:bodyPr wrap="square" lIns="0" tIns="0" rIns="0" bIns="0" rtlCol="0" anchor="ctr"/>
          <a:lstStyle/>
          <a:p>
            <a:pPr marL="0" indent="0">
              <a:buNone/>
            </a:pPr>
            <a:r>
              <a:rPr lang="en-US" sz="1100" b="1" dirty="0">
                <a:solidFill>
                  <a:srgbClr val="4D6165"/>
                </a:solidFill>
                <a:latin typeface="Calibri" pitchFamily="34" charset="0"/>
                <a:ea typeface="Calibri" pitchFamily="34" charset="-122"/>
                <a:cs typeface="Calibri" pitchFamily="34" charset="-120"/>
              </a:rPr>
              <a:t>COURSE</a:t>
            </a:r>
            <a:endParaRPr lang="en-US" sz="1100" dirty="0"/>
          </a:p>
        </p:txBody>
      </p:sp>
      <p:sp>
        <p:nvSpPr>
          <p:cNvPr id="10" name="Text 6"/>
          <p:cNvSpPr txBox="1"/>
          <p:nvPr/>
        </p:nvSpPr>
        <p:spPr>
          <a:xfrm>
            <a:off x="1019556" y="5166360"/>
            <a:ext cx="2834640" cy="457200"/>
          </a:xfrm>
          <a:prstGeom prst="rect">
            <a:avLst/>
          </a:prstGeom>
          <a:noFill/>
          <a:ln/>
        </p:spPr>
        <p:txBody>
          <a:bodyPr wrap="square" lIns="0" tIns="0" rIns="0" bIns="0" rtlCol="0" anchor="ctr"/>
          <a:lstStyle/>
          <a:p>
            <a:pPr marL="0" indent="0">
              <a:buNone/>
            </a:pPr>
            <a:r>
              <a:rPr lang="en-US" sz="1400" dirty="0">
                <a:solidFill>
                  <a:srgbClr val="17262A"/>
                </a:solidFill>
                <a:latin typeface="Calibri" pitchFamily="34" charset="0"/>
                <a:ea typeface="Calibri" pitchFamily="34" charset="-122"/>
                <a:cs typeface="Calibri" pitchFamily="34" charset="-120"/>
              </a:rPr>
              <a:t>  (DSC4000 Statics for Data Science )</a:t>
            </a:r>
            <a:endParaRPr lang="en-US" sz="1400" dirty="0"/>
          </a:p>
        </p:txBody>
      </p:sp>
      <p:sp>
        <p:nvSpPr>
          <p:cNvPr id="11" name="Shape 7"/>
          <p:cNvSpPr/>
          <p:nvPr/>
        </p:nvSpPr>
        <p:spPr>
          <a:xfrm>
            <a:off x="4448556" y="4023360"/>
            <a:ext cx="3291840" cy="1737360"/>
          </a:xfrm>
          <a:prstGeom prst="roundRect">
            <a:avLst>
              <a:gd name="adj" fmla="val 6316"/>
            </a:avLst>
          </a:prstGeom>
          <a:solidFill>
            <a:srgbClr val="FFFFFF"/>
          </a:solidFill>
          <a:ln w="12700">
            <a:solidFill>
              <a:srgbClr val="E1E8E8"/>
            </a:solidFill>
            <a:prstDash val="solid"/>
          </a:ln>
          <a:effectLst>
            <a:outerShdw blurRad="76200" dist="25400" dir="5400000" algn="bl" rotWithShape="0">
              <a:srgbClr val="1E2761">
                <a:alpha val="15000"/>
              </a:srgbClr>
            </a:outerShdw>
          </a:effectLst>
        </p:spPr>
      </p:sp>
      <p:pic>
        <p:nvPicPr>
          <p:cNvPr id="12" name="Image 2" descr="preencoded.png"/>
          <p:cNvPicPr>
            <a:picLocks noChangeAspect="1"/>
          </p:cNvPicPr>
          <p:nvPr/>
        </p:nvPicPr>
        <p:blipFill>
          <a:blip r:embed="rId5"/>
          <a:stretch>
            <a:fillRect/>
          </a:stretch>
        </p:blipFill>
        <p:spPr>
          <a:xfrm>
            <a:off x="4677156" y="4251960"/>
            <a:ext cx="502920" cy="502920"/>
          </a:xfrm>
          <a:prstGeom prst="rect">
            <a:avLst/>
          </a:prstGeom>
        </p:spPr>
      </p:pic>
      <p:sp>
        <p:nvSpPr>
          <p:cNvPr id="13" name="Text 8"/>
          <p:cNvSpPr txBox="1"/>
          <p:nvPr/>
        </p:nvSpPr>
        <p:spPr>
          <a:xfrm>
            <a:off x="4677156" y="4892040"/>
            <a:ext cx="2834640" cy="274320"/>
          </a:xfrm>
          <a:prstGeom prst="rect">
            <a:avLst/>
          </a:prstGeom>
          <a:noFill/>
          <a:ln/>
        </p:spPr>
        <p:txBody>
          <a:bodyPr wrap="square" lIns="0" tIns="0" rIns="0" bIns="0" rtlCol="0" anchor="ctr"/>
          <a:lstStyle/>
          <a:p>
            <a:pPr marL="0" indent="0">
              <a:buNone/>
            </a:pPr>
            <a:r>
              <a:rPr lang="en-US" sz="1100" b="1" dirty="0">
                <a:solidFill>
                  <a:srgbClr val="4D6165"/>
                </a:solidFill>
                <a:latin typeface="Calibri" pitchFamily="34" charset="0"/>
                <a:ea typeface="Calibri" pitchFamily="34" charset="-122"/>
                <a:cs typeface="Calibri" pitchFamily="34" charset="-120"/>
              </a:rPr>
              <a:t>FACULTY</a:t>
            </a:r>
            <a:endParaRPr lang="en-US" sz="1100" dirty="0"/>
          </a:p>
        </p:txBody>
      </p:sp>
      <p:sp>
        <p:nvSpPr>
          <p:cNvPr id="14" name="Text 9"/>
          <p:cNvSpPr txBox="1"/>
          <p:nvPr/>
        </p:nvSpPr>
        <p:spPr>
          <a:xfrm>
            <a:off x="4677156" y="5166360"/>
            <a:ext cx="2834640" cy="457200"/>
          </a:xfrm>
          <a:prstGeom prst="rect">
            <a:avLst/>
          </a:prstGeom>
          <a:noFill/>
          <a:ln/>
        </p:spPr>
        <p:txBody>
          <a:bodyPr wrap="square" lIns="0" tIns="0" rIns="0" bIns="0" rtlCol="0" anchor="ctr"/>
          <a:lstStyle/>
          <a:p>
            <a:pPr marL="0" indent="0">
              <a:buNone/>
            </a:pPr>
            <a:r>
              <a:rPr lang="en-US" sz="1400" dirty="0">
                <a:solidFill>
                  <a:srgbClr val="17262A"/>
                </a:solidFill>
                <a:latin typeface="Calibri" pitchFamily="34" charset="0"/>
                <a:ea typeface="Calibri" pitchFamily="34" charset="-122"/>
                <a:cs typeface="Calibri" pitchFamily="34" charset="-120"/>
              </a:rPr>
              <a:t>Manoj Sagar</a:t>
            </a:r>
            <a:endParaRPr lang="en-US" sz="1400" dirty="0"/>
          </a:p>
        </p:txBody>
      </p:sp>
      <p:sp>
        <p:nvSpPr>
          <p:cNvPr id="15" name="Shape 10"/>
          <p:cNvSpPr/>
          <p:nvPr/>
        </p:nvSpPr>
        <p:spPr>
          <a:xfrm>
            <a:off x="8106156" y="4023360"/>
            <a:ext cx="3291840" cy="1737360"/>
          </a:xfrm>
          <a:prstGeom prst="roundRect">
            <a:avLst>
              <a:gd name="adj" fmla="val 6316"/>
            </a:avLst>
          </a:prstGeom>
          <a:solidFill>
            <a:srgbClr val="FFFFFF"/>
          </a:solidFill>
          <a:ln w="12700">
            <a:solidFill>
              <a:srgbClr val="E1E8E8"/>
            </a:solidFill>
            <a:prstDash val="solid"/>
          </a:ln>
          <a:effectLst>
            <a:outerShdw blurRad="76200" dist="25400" dir="5400000" algn="bl" rotWithShape="0">
              <a:srgbClr val="1E2761">
                <a:alpha val="15000"/>
              </a:srgbClr>
            </a:outerShdw>
          </a:effectLst>
        </p:spPr>
      </p:sp>
      <p:pic>
        <p:nvPicPr>
          <p:cNvPr id="16" name="Image 3" descr="preencoded.png"/>
          <p:cNvPicPr>
            <a:picLocks noChangeAspect="1"/>
          </p:cNvPicPr>
          <p:nvPr/>
        </p:nvPicPr>
        <p:blipFill>
          <a:blip r:embed="rId6"/>
          <a:stretch>
            <a:fillRect/>
          </a:stretch>
        </p:blipFill>
        <p:spPr>
          <a:xfrm>
            <a:off x="8334756" y="4251960"/>
            <a:ext cx="502920" cy="502920"/>
          </a:xfrm>
          <a:prstGeom prst="rect">
            <a:avLst/>
          </a:prstGeom>
        </p:spPr>
      </p:pic>
      <p:sp>
        <p:nvSpPr>
          <p:cNvPr id="17" name="Text 11"/>
          <p:cNvSpPr txBox="1"/>
          <p:nvPr/>
        </p:nvSpPr>
        <p:spPr>
          <a:xfrm>
            <a:off x="8334756" y="4892040"/>
            <a:ext cx="2834640" cy="274320"/>
          </a:xfrm>
          <a:prstGeom prst="rect">
            <a:avLst/>
          </a:prstGeom>
          <a:noFill/>
          <a:ln/>
        </p:spPr>
        <p:txBody>
          <a:bodyPr wrap="square" lIns="0" tIns="0" rIns="0" bIns="0" rtlCol="0" anchor="ctr"/>
          <a:lstStyle/>
          <a:p>
            <a:pPr marL="0" indent="0">
              <a:buNone/>
            </a:pPr>
            <a:r>
              <a:rPr lang="en-US" sz="1100" b="1" dirty="0">
                <a:solidFill>
                  <a:srgbClr val="4D6165"/>
                </a:solidFill>
                <a:latin typeface="Calibri" pitchFamily="34" charset="0"/>
                <a:ea typeface="Calibri" pitchFamily="34" charset="-122"/>
                <a:cs typeface="Calibri" pitchFamily="34" charset="-120"/>
              </a:rPr>
              <a:t>SESSION</a:t>
            </a:r>
            <a:endParaRPr lang="en-US" sz="1100" dirty="0"/>
          </a:p>
        </p:txBody>
      </p:sp>
      <p:sp>
        <p:nvSpPr>
          <p:cNvPr id="18" name="Text 12"/>
          <p:cNvSpPr txBox="1"/>
          <p:nvPr/>
        </p:nvSpPr>
        <p:spPr>
          <a:xfrm>
            <a:off x="8334756" y="5166360"/>
            <a:ext cx="2834640" cy="457200"/>
          </a:xfrm>
          <a:prstGeom prst="rect">
            <a:avLst/>
          </a:prstGeom>
          <a:noFill/>
          <a:ln/>
        </p:spPr>
        <p:txBody>
          <a:bodyPr wrap="square" lIns="0" tIns="0" rIns="0" bIns="0" rtlCol="0" anchor="ctr"/>
          <a:lstStyle/>
          <a:p>
            <a:pPr marL="0" indent="0">
              <a:buNone/>
            </a:pPr>
            <a:r>
              <a:rPr lang="en-US" sz="1400" dirty="0">
                <a:solidFill>
                  <a:srgbClr val="17262A"/>
                </a:solidFill>
                <a:latin typeface="Calibri" pitchFamily="34" charset="0"/>
                <a:ea typeface="Calibri" pitchFamily="34" charset="-122"/>
                <a:cs typeface="Calibri" pitchFamily="34" charset="-120"/>
              </a:rPr>
              <a:t>60-minute lecture</a:t>
            </a:r>
            <a:endParaRPr lang="en-US" sz="1400" dirty="0"/>
          </a:p>
        </p:txBody>
      </p:sp>
      <p:sp>
        <p:nvSpPr>
          <p:cNvPr id="19" name="Text 13"/>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0" name="Text 14"/>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Learning Objectives</a:t>
            </a:r>
            <a:endParaRPr lang="en-US" sz="3000" dirty="0"/>
          </a:p>
        </p:txBody>
      </p:sp>
      <p:sp>
        <p:nvSpPr>
          <p:cNvPr id="3" name="Shape 1"/>
          <p:cNvSpPr/>
          <p:nvPr/>
        </p:nvSpPr>
        <p:spPr>
          <a:xfrm>
            <a:off x="548640" y="1371600"/>
            <a:ext cx="566928" cy="566928"/>
          </a:xfrm>
          <a:prstGeom prst="ellipse">
            <a:avLst/>
          </a:prstGeom>
          <a:solidFill>
            <a:srgbClr val="128277"/>
          </a:solidFill>
          <a:ln/>
        </p:spPr>
      </p:sp>
      <p:pic>
        <p:nvPicPr>
          <p:cNvPr id="4" name="Image 0" descr="preencoded.png"/>
          <p:cNvPicPr>
            <a:picLocks noChangeAspect="1"/>
          </p:cNvPicPr>
          <p:nvPr/>
        </p:nvPicPr>
        <p:blipFill>
          <a:blip r:embed="rId3"/>
          <a:stretch>
            <a:fillRect/>
          </a:stretch>
        </p:blipFill>
        <p:spPr>
          <a:xfrm>
            <a:off x="622341" y="1445301"/>
            <a:ext cx="419527" cy="419527"/>
          </a:xfrm>
          <a:prstGeom prst="rect">
            <a:avLst/>
          </a:prstGeom>
        </p:spPr>
      </p:pic>
      <p:sp>
        <p:nvSpPr>
          <p:cNvPr id="5" name="Text 2"/>
          <p:cNvSpPr txBox="1"/>
          <p:nvPr/>
        </p:nvSpPr>
        <p:spPr>
          <a:xfrm>
            <a:off x="1371600" y="1389888"/>
            <a:ext cx="9875520" cy="548640"/>
          </a:xfrm>
          <a:prstGeom prst="rect">
            <a:avLst/>
          </a:prstGeom>
          <a:noFill/>
          <a:ln/>
        </p:spPr>
        <p:txBody>
          <a:bodyPr wrap="square" lIns="0" tIns="0" rIns="0" bIns="0" rtlCol="0" anchor="ctr"/>
          <a:lstStyle/>
          <a:p>
            <a:pPr marL="0" indent="0">
              <a:buNone/>
            </a:pPr>
            <a:r>
              <a:rPr lang="en-US" sz="1700" dirty="0">
                <a:solidFill>
                  <a:srgbClr val="17262A"/>
                </a:solidFill>
                <a:latin typeface="Calibri" pitchFamily="34" charset="0"/>
                <a:ea typeface="Calibri" pitchFamily="34" charset="-122"/>
                <a:cs typeface="Calibri" pitchFamily="34" charset="-120"/>
              </a:rPr>
              <a:t>Distinguish descriptive statistics from inferential statistics</a:t>
            </a:r>
            <a:endParaRPr lang="en-US" sz="1700" dirty="0"/>
          </a:p>
        </p:txBody>
      </p:sp>
      <p:sp>
        <p:nvSpPr>
          <p:cNvPr id="6" name="Shape 3"/>
          <p:cNvSpPr/>
          <p:nvPr/>
        </p:nvSpPr>
        <p:spPr>
          <a:xfrm>
            <a:off x="548640" y="2331720"/>
            <a:ext cx="566928" cy="566928"/>
          </a:xfrm>
          <a:prstGeom prst="ellipse">
            <a:avLst/>
          </a:prstGeom>
          <a:solidFill>
            <a:srgbClr val="128277"/>
          </a:solidFill>
          <a:ln/>
        </p:spPr>
      </p:sp>
      <p:pic>
        <p:nvPicPr>
          <p:cNvPr id="7" name="Image 1" descr="preencoded.png"/>
          <p:cNvPicPr>
            <a:picLocks noChangeAspect="1"/>
          </p:cNvPicPr>
          <p:nvPr/>
        </p:nvPicPr>
        <p:blipFill>
          <a:blip r:embed="rId4"/>
          <a:stretch>
            <a:fillRect/>
          </a:stretch>
        </p:blipFill>
        <p:spPr>
          <a:xfrm>
            <a:off x="622341" y="2405421"/>
            <a:ext cx="419527" cy="419527"/>
          </a:xfrm>
          <a:prstGeom prst="rect">
            <a:avLst/>
          </a:prstGeom>
        </p:spPr>
      </p:pic>
      <p:sp>
        <p:nvSpPr>
          <p:cNvPr id="8" name="Text 4"/>
          <p:cNvSpPr txBox="1"/>
          <p:nvPr/>
        </p:nvSpPr>
        <p:spPr>
          <a:xfrm>
            <a:off x="1371600" y="2350008"/>
            <a:ext cx="9875520" cy="548640"/>
          </a:xfrm>
          <a:prstGeom prst="rect">
            <a:avLst/>
          </a:prstGeom>
          <a:noFill/>
          <a:ln/>
        </p:spPr>
        <p:txBody>
          <a:bodyPr wrap="square" lIns="0" tIns="0" rIns="0" bIns="0" rtlCol="0" anchor="ctr"/>
          <a:lstStyle/>
          <a:p>
            <a:pPr marL="0" indent="0">
              <a:buNone/>
            </a:pPr>
            <a:r>
              <a:rPr lang="en-US" sz="1700" dirty="0">
                <a:solidFill>
                  <a:srgbClr val="17262A"/>
                </a:solidFill>
                <a:latin typeface="Calibri" pitchFamily="34" charset="0"/>
                <a:ea typeface="Calibri" pitchFamily="34" charset="-122"/>
                <a:cs typeface="Calibri" pitchFamily="34" charset="-120"/>
              </a:rPr>
              <a:t>Classify data as qualitative or quantitative, and further into sub-types</a:t>
            </a:r>
            <a:endParaRPr lang="en-US" sz="1700" dirty="0"/>
          </a:p>
        </p:txBody>
      </p:sp>
      <p:sp>
        <p:nvSpPr>
          <p:cNvPr id="9" name="Shape 5"/>
          <p:cNvSpPr/>
          <p:nvPr/>
        </p:nvSpPr>
        <p:spPr>
          <a:xfrm>
            <a:off x="548640" y="3291840"/>
            <a:ext cx="566928" cy="566928"/>
          </a:xfrm>
          <a:prstGeom prst="ellipse">
            <a:avLst/>
          </a:prstGeom>
          <a:solidFill>
            <a:srgbClr val="128277"/>
          </a:solidFill>
          <a:ln/>
        </p:spPr>
      </p:sp>
      <p:pic>
        <p:nvPicPr>
          <p:cNvPr id="10" name="Image 2" descr="preencoded.png"/>
          <p:cNvPicPr>
            <a:picLocks noChangeAspect="1"/>
          </p:cNvPicPr>
          <p:nvPr/>
        </p:nvPicPr>
        <p:blipFill>
          <a:blip r:embed="rId5"/>
          <a:stretch>
            <a:fillRect/>
          </a:stretch>
        </p:blipFill>
        <p:spPr>
          <a:xfrm>
            <a:off x="622341" y="3365541"/>
            <a:ext cx="419527" cy="419527"/>
          </a:xfrm>
          <a:prstGeom prst="rect">
            <a:avLst/>
          </a:prstGeom>
        </p:spPr>
      </p:pic>
      <p:sp>
        <p:nvSpPr>
          <p:cNvPr id="11" name="Text 6"/>
          <p:cNvSpPr txBox="1"/>
          <p:nvPr/>
        </p:nvSpPr>
        <p:spPr>
          <a:xfrm>
            <a:off x="1371600" y="3310128"/>
            <a:ext cx="9875520" cy="548640"/>
          </a:xfrm>
          <a:prstGeom prst="rect">
            <a:avLst/>
          </a:prstGeom>
          <a:noFill/>
          <a:ln/>
        </p:spPr>
        <p:txBody>
          <a:bodyPr wrap="square" lIns="0" tIns="0" rIns="0" bIns="0" rtlCol="0" anchor="ctr"/>
          <a:lstStyle/>
          <a:p>
            <a:pPr marL="0" indent="0">
              <a:buNone/>
            </a:pPr>
            <a:r>
              <a:rPr lang="en-US" sz="1700" dirty="0">
                <a:solidFill>
                  <a:srgbClr val="17262A"/>
                </a:solidFill>
                <a:latin typeface="Calibri" pitchFamily="34" charset="0"/>
                <a:ea typeface="Calibri" pitchFamily="34" charset="-122"/>
                <a:cs typeface="Calibri" pitchFamily="34" charset="-120"/>
              </a:rPr>
              <a:t>Identify the four measurement scales: nominal, ordinal, interval, ratio</a:t>
            </a:r>
            <a:endParaRPr lang="en-US" sz="1700" dirty="0"/>
          </a:p>
        </p:txBody>
      </p:sp>
      <p:sp>
        <p:nvSpPr>
          <p:cNvPr id="12" name="Shape 7"/>
          <p:cNvSpPr/>
          <p:nvPr/>
        </p:nvSpPr>
        <p:spPr>
          <a:xfrm>
            <a:off x="548640" y="4251960"/>
            <a:ext cx="566928" cy="566928"/>
          </a:xfrm>
          <a:prstGeom prst="ellipse">
            <a:avLst/>
          </a:prstGeom>
          <a:solidFill>
            <a:srgbClr val="128277"/>
          </a:solidFill>
          <a:ln/>
        </p:spPr>
      </p:sp>
      <p:pic>
        <p:nvPicPr>
          <p:cNvPr id="13" name="Image 3" descr="preencoded.png"/>
          <p:cNvPicPr>
            <a:picLocks noChangeAspect="1"/>
          </p:cNvPicPr>
          <p:nvPr/>
        </p:nvPicPr>
        <p:blipFill>
          <a:blip r:embed="rId6"/>
          <a:stretch>
            <a:fillRect/>
          </a:stretch>
        </p:blipFill>
        <p:spPr>
          <a:xfrm>
            <a:off x="622341" y="4325661"/>
            <a:ext cx="419527" cy="419527"/>
          </a:xfrm>
          <a:prstGeom prst="rect">
            <a:avLst/>
          </a:prstGeom>
        </p:spPr>
      </p:pic>
      <p:sp>
        <p:nvSpPr>
          <p:cNvPr id="14" name="Text 8"/>
          <p:cNvSpPr txBox="1"/>
          <p:nvPr/>
        </p:nvSpPr>
        <p:spPr>
          <a:xfrm>
            <a:off x="1371600" y="4270248"/>
            <a:ext cx="9875520" cy="548640"/>
          </a:xfrm>
          <a:prstGeom prst="rect">
            <a:avLst/>
          </a:prstGeom>
          <a:noFill/>
          <a:ln/>
        </p:spPr>
        <p:txBody>
          <a:bodyPr wrap="square" lIns="0" tIns="0" rIns="0" bIns="0" rtlCol="0" anchor="ctr"/>
          <a:lstStyle/>
          <a:p>
            <a:pPr marL="0" indent="0">
              <a:buNone/>
            </a:pPr>
            <a:r>
              <a:rPr lang="en-US" sz="1700" dirty="0">
                <a:solidFill>
                  <a:srgbClr val="17262A"/>
                </a:solidFill>
                <a:latin typeface="Calibri" pitchFamily="34" charset="0"/>
                <a:ea typeface="Calibri" pitchFamily="34" charset="-122"/>
                <a:cs typeface="Calibri" pitchFamily="34" charset="-120"/>
              </a:rPr>
              <a:t>Choose the correct statistic and chart type based on data type and scale</a:t>
            </a:r>
            <a:endParaRPr lang="en-US" sz="1700" dirty="0"/>
          </a:p>
        </p:txBody>
      </p:sp>
      <p:sp>
        <p:nvSpPr>
          <p:cNvPr id="15"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6"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42"/>
        </a:solidFill>
        <a:effectLst/>
      </p:bgPr>
    </p:bg>
    <p:spTree>
      <p:nvGrpSpPr>
        <p:cNvPr id="1" name=""/>
        <p:cNvGrpSpPr/>
        <p:nvPr/>
      </p:nvGrpSpPr>
      <p:grpSpPr>
        <a:xfrm>
          <a:off x="0" y="0"/>
          <a:ext cx="0" cy="0"/>
          <a:chOff x="0" y="0"/>
          <a:chExt cx="0" cy="0"/>
        </a:xfrm>
      </p:grpSpPr>
      <p:sp>
        <p:nvSpPr>
          <p:cNvPr id="2" name="Shape 0"/>
          <p:cNvSpPr/>
          <p:nvPr/>
        </p:nvSpPr>
        <p:spPr>
          <a:xfrm>
            <a:off x="640080" y="502920"/>
            <a:ext cx="1005840" cy="100584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770839" y="633679"/>
            <a:ext cx="744322" cy="744322"/>
          </a:xfrm>
          <a:prstGeom prst="rect">
            <a:avLst/>
          </a:prstGeom>
        </p:spPr>
      </p:pic>
      <p:sp>
        <p:nvSpPr>
          <p:cNvPr id="4" name="Text 1"/>
          <p:cNvSpPr txBox="1"/>
          <p:nvPr/>
        </p:nvSpPr>
        <p:spPr>
          <a:xfrm>
            <a:off x="1920240" y="548640"/>
            <a:ext cx="9509760" cy="8229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Icebreaker — Warm-Up</a:t>
            </a:r>
            <a:endParaRPr lang="en-US" sz="2800" dirty="0"/>
          </a:p>
        </p:txBody>
      </p:sp>
      <p:sp>
        <p:nvSpPr>
          <p:cNvPr id="5" name="Text 2"/>
          <p:cNvSpPr txBox="1"/>
          <p:nvPr/>
        </p:nvSpPr>
        <p:spPr>
          <a:xfrm>
            <a:off x="914400" y="1737360"/>
            <a:ext cx="10332720" cy="4206240"/>
          </a:xfrm>
          <a:prstGeom prst="rect">
            <a:avLst/>
          </a:prstGeom>
          <a:noFill/>
          <a:ln/>
        </p:spPr>
        <p:txBody>
          <a:bodyPr wrap="square" lIns="0" tIns="0" rIns="0" bIns="0" rtlCol="0" anchor="t"/>
          <a:lstStyle/>
          <a:p>
            <a:pPr marL="342900" indent="-342900">
              <a:lnSpc>
                <a:spcPct val="105000"/>
              </a:lnSpc>
              <a:spcAft>
                <a:spcPts val="2400"/>
              </a:spcAft>
              <a:buSzPct val="100000"/>
              <a:buChar char="▪"/>
            </a:pPr>
            <a:r>
              <a:rPr lang="en-US" sz="1800" dirty="0">
                <a:solidFill>
                  <a:srgbClr val="FFFFFF"/>
                </a:solidFill>
                <a:latin typeface="Calibri" pitchFamily="34" charset="0"/>
                <a:ea typeface="Calibri" pitchFamily="34" charset="-122"/>
                <a:cs typeface="Calibri" pitchFamily="34" charset="-120"/>
              </a:rPr>
              <a:t>Think of your last online shopping order. Which details are numbers, and which are just labels or categories?</a:t>
            </a:r>
            <a:endParaRPr lang="en-US" sz="1800" dirty="0"/>
          </a:p>
          <a:p>
            <a:pPr marL="342900" indent="-342900">
              <a:lnSpc>
                <a:spcPct val="105000"/>
              </a:lnSpc>
              <a:spcAft>
                <a:spcPts val="2400"/>
              </a:spcAft>
              <a:buSzPct val="100000"/>
              <a:buChar char="▪"/>
            </a:pPr>
            <a:r>
              <a:rPr lang="en-US" sz="1800" dirty="0">
                <a:solidFill>
                  <a:srgbClr val="FFFFFF"/>
                </a:solidFill>
                <a:latin typeface="Calibri" pitchFamily="34" charset="0"/>
                <a:ea typeface="Calibri" pitchFamily="34" charset="-122"/>
                <a:cs typeface="Calibri" pitchFamily="34" charset="-120"/>
              </a:rPr>
              <a:t>Is "customer rating: 4 out of 5 stars" the same kind of information as "delivery time: 4 days"? Why or why not?</a:t>
            </a:r>
            <a:endParaRPr lang="en-US" sz="1800" dirty="0"/>
          </a:p>
          <a:p>
            <a:pPr marL="342900" indent="-342900">
              <a:lnSpc>
                <a:spcPct val="105000"/>
              </a:lnSpc>
              <a:spcAft>
                <a:spcPts val="2400"/>
              </a:spcAft>
              <a:buSzPct val="100000"/>
              <a:buChar char="▪"/>
            </a:pPr>
            <a:r>
              <a:rPr lang="en-US" sz="1800" dirty="0">
                <a:solidFill>
                  <a:srgbClr val="FFFFFF"/>
                </a:solidFill>
                <a:latin typeface="Calibri" pitchFamily="34" charset="0"/>
                <a:ea typeface="Calibri" pitchFamily="34" charset="-122"/>
                <a:cs typeface="Calibri" pitchFamily="34" charset="-120"/>
              </a:rPr>
              <a:t>Can you sensibly average a set of pin codes? Can you average a set of exam scores? What is different about them?</a:t>
            </a:r>
            <a:endParaRPr lang="en-US" sz="1800" dirty="0"/>
          </a:p>
        </p:txBody>
      </p:sp>
      <p:sp>
        <p:nvSpPr>
          <p:cNvPr id="6" name="Text 3"/>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7" name="Text 4"/>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Why This Topic Matters</a:t>
            </a:r>
            <a:endParaRPr lang="en-US" sz="3000" dirty="0"/>
          </a:p>
        </p:txBody>
      </p:sp>
      <p:sp>
        <p:nvSpPr>
          <p:cNvPr id="3" name="Shape 1"/>
          <p:cNvSpPr/>
          <p:nvPr/>
        </p:nvSpPr>
        <p:spPr>
          <a:xfrm>
            <a:off x="457200" y="1280160"/>
            <a:ext cx="6766560" cy="4983480"/>
          </a:xfrm>
          <a:prstGeom prst="roundRect">
            <a:avLst>
              <a:gd name="adj" fmla="val 1835"/>
            </a:avLst>
          </a:prstGeom>
          <a:solidFill>
            <a:srgbClr val="F7F9F9"/>
          </a:solidFill>
          <a:ln/>
        </p:spPr>
      </p:sp>
      <p:sp>
        <p:nvSpPr>
          <p:cNvPr id="4" name="Text 2"/>
          <p:cNvSpPr txBox="1"/>
          <p:nvPr/>
        </p:nvSpPr>
        <p:spPr>
          <a:xfrm>
            <a:off x="777240" y="1554480"/>
            <a:ext cx="6217920" cy="4572000"/>
          </a:xfrm>
          <a:prstGeom prst="rect">
            <a:avLst/>
          </a:prstGeom>
          <a:noFill/>
          <a:ln/>
        </p:spPr>
        <p:txBody>
          <a:bodyPr wrap="square" lIns="0" tIns="0" rIns="0" bIns="0" rtlCol="0" anchor="t"/>
          <a:lstStyle/>
          <a:p>
            <a:pPr marL="342900" indent="-342900">
              <a:lnSpc>
                <a:spcPct val="105000"/>
              </a:lnSpc>
              <a:spcAft>
                <a:spcPts val="1800"/>
              </a:spcAft>
              <a:buSzPct val="100000"/>
              <a:buChar char="▪"/>
            </a:pPr>
            <a:r>
              <a:rPr lang="en-US" sz="1550" dirty="0">
                <a:solidFill>
                  <a:srgbClr val="17262A"/>
                </a:solidFill>
                <a:latin typeface="Calibri" pitchFamily="34" charset="0"/>
                <a:ea typeface="Calibri" pitchFamily="34" charset="-122"/>
                <a:cs typeface="Calibri" pitchFamily="34" charset="-120"/>
              </a:rPr>
              <a:t>The wrong statistic on the wrong data type gives a meaningless — or actively misleading — answer</a:t>
            </a:r>
            <a:endParaRPr lang="en-US" sz="1550" dirty="0"/>
          </a:p>
          <a:p>
            <a:pPr marL="342900" indent="-342900">
              <a:lnSpc>
                <a:spcPct val="105000"/>
              </a:lnSpc>
              <a:spcAft>
                <a:spcPts val="1800"/>
              </a:spcAft>
              <a:buSzPct val="100000"/>
              <a:buChar char="▪"/>
            </a:pPr>
            <a:r>
              <a:rPr lang="en-US" sz="1550" dirty="0">
                <a:solidFill>
                  <a:srgbClr val="17262A"/>
                </a:solidFill>
                <a:latin typeface="Calibri" pitchFamily="34" charset="0"/>
                <a:ea typeface="Calibri" pitchFamily="34" charset="-122"/>
                <a:cs typeface="Calibri" pitchFamily="34" charset="-120"/>
              </a:rPr>
              <a:t>Software (Excel, Python, Power BI) will happily compute an "average" of postal codes if you let it</a:t>
            </a:r>
            <a:endParaRPr lang="en-US" sz="1550" dirty="0"/>
          </a:p>
          <a:p>
            <a:pPr marL="342900" indent="-342900">
              <a:lnSpc>
                <a:spcPct val="105000"/>
              </a:lnSpc>
              <a:spcAft>
                <a:spcPts val="1800"/>
              </a:spcAft>
              <a:buSzPct val="100000"/>
              <a:buChar char="▪"/>
            </a:pPr>
            <a:r>
              <a:rPr lang="en-US" sz="1550" dirty="0">
                <a:solidFill>
                  <a:srgbClr val="17262A"/>
                </a:solidFill>
                <a:latin typeface="Calibri" pitchFamily="34" charset="0"/>
                <a:ea typeface="Calibri" pitchFamily="34" charset="-122"/>
                <a:cs typeface="Calibri" pitchFamily="34" charset="-120"/>
              </a:rPr>
              <a:t>Every charting library implicitly asks: is this variable categorical or numeric?</a:t>
            </a:r>
            <a:endParaRPr lang="en-US" sz="1550" dirty="0"/>
          </a:p>
          <a:p>
            <a:pPr marL="342900" indent="-342900">
              <a:lnSpc>
                <a:spcPct val="105000"/>
              </a:lnSpc>
              <a:spcAft>
                <a:spcPts val="1800"/>
              </a:spcAft>
              <a:buSzPct val="100000"/>
              <a:buChar char="▪"/>
            </a:pPr>
            <a:r>
              <a:rPr lang="en-US" sz="1550" dirty="0">
                <a:solidFill>
                  <a:srgbClr val="17262A"/>
                </a:solidFill>
                <a:latin typeface="Calibri" pitchFamily="34" charset="0"/>
                <a:ea typeface="Calibri" pitchFamily="34" charset="-122"/>
                <a:cs typeface="Calibri" pitchFamily="34" charset="-120"/>
              </a:rPr>
              <a:t>Getting this right is the single biggest predictor of whether a beginner’s analysis is trustworthy</a:t>
            </a:r>
            <a:endParaRPr lang="en-US" sz="1550" dirty="0"/>
          </a:p>
        </p:txBody>
      </p:sp>
      <p:sp>
        <p:nvSpPr>
          <p:cNvPr id="5" name="Shape 3"/>
          <p:cNvSpPr/>
          <p:nvPr/>
        </p:nvSpPr>
        <p:spPr>
          <a:xfrm>
            <a:off x="7452360" y="1280160"/>
            <a:ext cx="4251960" cy="4983480"/>
          </a:xfrm>
          <a:prstGeom prst="roundRect">
            <a:avLst>
              <a:gd name="adj" fmla="val 2151"/>
            </a:avLst>
          </a:prstGeom>
          <a:solidFill>
            <a:srgbClr val="0B3D42"/>
          </a:solidFill>
          <a:ln/>
        </p:spPr>
      </p:sp>
      <p:pic>
        <p:nvPicPr>
          <p:cNvPr id="6" name="Image 0" descr="preencoded.png"/>
          <p:cNvPicPr>
            <a:picLocks noChangeAspect="1"/>
          </p:cNvPicPr>
          <p:nvPr/>
        </p:nvPicPr>
        <p:blipFill>
          <a:blip r:embed="rId3"/>
          <a:stretch>
            <a:fillRect/>
          </a:stretch>
        </p:blipFill>
        <p:spPr>
          <a:xfrm>
            <a:off x="7772400" y="1554480"/>
            <a:ext cx="502920" cy="502920"/>
          </a:xfrm>
          <a:prstGeom prst="rect">
            <a:avLst/>
          </a:prstGeom>
        </p:spPr>
      </p:pic>
      <p:sp>
        <p:nvSpPr>
          <p:cNvPr id="7" name="Text 4"/>
          <p:cNvSpPr txBox="1"/>
          <p:nvPr/>
        </p:nvSpPr>
        <p:spPr>
          <a:xfrm>
            <a:off x="8412480" y="160020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Real Example</a:t>
            </a:r>
            <a:endParaRPr lang="en-US" sz="1600" dirty="0"/>
          </a:p>
        </p:txBody>
      </p:sp>
      <p:sp>
        <p:nvSpPr>
          <p:cNvPr id="8" name="Text 5"/>
          <p:cNvSpPr txBox="1"/>
          <p:nvPr/>
        </p:nvSpPr>
        <p:spPr>
          <a:xfrm>
            <a:off x="7772400" y="2331720"/>
            <a:ext cx="3657600" cy="2743200"/>
          </a:xfrm>
          <a:prstGeom prst="rect">
            <a:avLst/>
          </a:prstGeom>
          <a:noFill/>
          <a:ln/>
        </p:spPr>
        <p:txBody>
          <a:bodyPr wrap="square" lIns="0" tIns="0" rIns="0" bIns="0" rtlCol="0" anchor="t"/>
          <a:lstStyle/>
          <a:p>
            <a:pPr marL="0" indent="0">
              <a:lnSpc>
                <a:spcPct val="120000"/>
              </a:lnSpc>
              <a:buNone/>
            </a:pPr>
            <a:r>
              <a:rPr lang="en-US" sz="1450" dirty="0">
                <a:solidFill>
                  <a:srgbClr val="F2F6F6"/>
                </a:solidFill>
                <a:latin typeface="Calibri" pitchFamily="34" charset="0"/>
                <a:ea typeface="Calibri" pitchFamily="34" charset="-122"/>
                <a:cs typeface="Calibri" pitchFamily="34" charset="-120"/>
              </a:rPr>
              <a:t>A hospital dashboard once reported the "average" patient ID as 50,482.6 — a number with zero clinical meaning, because ID is a nominal label, not a quantity.</a:t>
            </a:r>
            <a:endParaRPr lang="en-US" sz="1450" dirty="0"/>
          </a:p>
        </p:txBody>
      </p:sp>
      <p:sp>
        <p:nvSpPr>
          <p:cNvPr id="9" name="Text 6"/>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0" name="Text 7"/>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Statistics: Descriptive vs. Inferential</a:t>
            </a:r>
            <a:endParaRPr lang="en-US" sz="3000" dirty="0"/>
          </a:p>
        </p:txBody>
      </p:sp>
      <p:sp>
        <p:nvSpPr>
          <p:cNvPr id="3" name="Shape 1"/>
          <p:cNvSpPr/>
          <p:nvPr/>
        </p:nvSpPr>
        <p:spPr>
          <a:xfrm>
            <a:off x="548640" y="1417320"/>
            <a:ext cx="5303520" cy="4846320"/>
          </a:xfrm>
          <a:prstGeom prst="roundRect">
            <a:avLst>
              <a:gd name="adj" fmla="val 1887"/>
            </a:avLst>
          </a:prstGeom>
          <a:solidFill>
            <a:srgbClr val="F7F9F9"/>
          </a:solidFill>
          <a:ln/>
        </p:spPr>
      </p:sp>
      <p:sp>
        <p:nvSpPr>
          <p:cNvPr id="4" name="Shape 2"/>
          <p:cNvSpPr/>
          <p:nvPr/>
        </p:nvSpPr>
        <p:spPr>
          <a:xfrm>
            <a:off x="868680" y="1737360"/>
            <a:ext cx="777240" cy="777240"/>
          </a:xfrm>
          <a:prstGeom prst="ellipse">
            <a:avLst/>
          </a:prstGeom>
          <a:solidFill>
            <a:srgbClr val="128277"/>
          </a:solidFill>
          <a:ln/>
        </p:spPr>
      </p:sp>
      <p:pic>
        <p:nvPicPr>
          <p:cNvPr id="5" name="Image 0" descr="preencoded.png"/>
          <p:cNvPicPr>
            <a:picLocks noChangeAspect="1"/>
          </p:cNvPicPr>
          <p:nvPr/>
        </p:nvPicPr>
        <p:blipFill>
          <a:blip r:embed="rId3"/>
          <a:stretch>
            <a:fillRect/>
          </a:stretch>
        </p:blipFill>
        <p:spPr>
          <a:xfrm>
            <a:off x="969721" y="1838401"/>
            <a:ext cx="575158" cy="575158"/>
          </a:xfrm>
          <a:prstGeom prst="rect">
            <a:avLst/>
          </a:prstGeom>
        </p:spPr>
      </p:pic>
      <p:sp>
        <p:nvSpPr>
          <p:cNvPr id="6" name="Text 3"/>
          <p:cNvSpPr txBox="1"/>
          <p:nvPr/>
        </p:nvSpPr>
        <p:spPr>
          <a:xfrm>
            <a:off x="1828800" y="1783080"/>
            <a:ext cx="3749040" cy="685800"/>
          </a:xfrm>
          <a:prstGeom prst="rect">
            <a:avLst/>
          </a:prstGeom>
          <a:noFill/>
          <a:ln/>
        </p:spPr>
        <p:txBody>
          <a:bodyPr wrap="square" lIns="0" tIns="0" rIns="0" bIns="0" rtlCol="0" anchor="ctr"/>
          <a:lstStyle/>
          <a:p>
            <a:pPr marL="0" indent="0">
              <a:buNone/>
            </a:pPr>
            <a:r>
              <a:rPr lang="en-US" sz="1900" b="1" dirty="0">
                <a:solidFill>
                  <a:srgbClr val="0B3D42"/>
                </a:solidFill>
                <a:latin typeface="Cambria" pitchFamily="34" charset="0"/>
                <a:ea typeface="Cambria" pitchFamily="34" charset="-122"/>
                <a:cs typeface="Cambria" pitchFamily="34" charset="-120"/>
              </a:rPr>
              <a:t>Descriptive Statistics</a:t>
            </a:r>
            <a:endParaRPr lang="en-US" sz="1900" dirty="0"/>
          </a:p>
        </p:txBody>
      </p:sp>
      <p:sp>
        <p:nvSpPr>
          <p:cNvPr id="7" name="Text 4"/>
          <p:cNvSpPr txBox="1"/>
          <p:nvPr/>
        </p:nvSpPr>
        <p:spPr>
          <a:xfrm>
            <a:off x="868680" y="2697480"/>
            <a:ext cx="466344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50" dirty="0">
                <a:solidFill>
                  <a:srgbClr val="17262A"/>
                </a:solidFill>
                <a:latin typeface="Calibri" pitchFamily="34" charset="0"/>
                <a:ea typeface="Calibri" pitchFamily="34" charset="-122"/>
                <a:cs typeface="Calibri" pitchFamily="34" charset="-120"/>
              </a:rPr>
              <a:t>Organizes, summarizes, and presents data</a:t>
            </a:r>
            <a:endParaRPr lang="en-US" sz="1450" dirty="0"/>
          </a:p>
          <a:p>
            <a:pPr marL="342900" indent="-342900">
              <a:lnSpc>
                <a:spcPct val="105000"/>
              </a:lnSpc>
              <a:spcAft>
                <a:spcPts val="1600"/>
              </a:spcAft>
              <a:buSzPct val="100000"/>
              <a:buChar char="▪"/>
            </a:pPr>
            <a:r>
              <a:rPr lang="en-US" sz="1450" dirty="0">
                <a:solidFill>
                  <a:srgbClr val="17262A"/>
                </a:solidFill>
                <a:latin typeface="Calibri" pitchFamily="34" charset="0"/>
                <a:ea typeface="Calibri" pitchFamily="34" charset="-122"/>
                <a:cs typeface="Calibri" pitchFamily="34" charset="-120"/>
              </a:rPr>
              <a:t>Describes what is actually in your dataset</a:t>
            </a:r>
            <a:endParaRPr lang="en-US" sz="1450" dirty="0"/>
          </a:p>
          <a:p>
            <a:pPr marL="342900" indent="-342900">
              <a:lnSpc>
                <a:spcPct val="105000"/>
              </a:lnSpc>
              <a:spcAft>
                <a:spcPts val="1600"/>
              </a:spcAft>
              <a:buSzPct val="100000"/>
              <a:buChar char="▪"/>
            </a:pPr>
            <a:r>
              <a:rPr lang="en-US" sz="1450" dirty="0">
                <a:solidFill>
                  <a:srgbClr val="17262A"/>
                </a:solidFill>
                <a:latin typeface="Calibri" pitchFamily="34" charset="0"/>
                <a:ea typeface="Calibri" pitchFamily="34" charset="-122"/>
                <a:cs typeface="Calibri" pitchFamily="34" charset="-120"/>
              </a:rPr>
              <a:t>Tools: mean, median, mode, std. dev., charts</a:t>
            </a:r>
            <a:endParaRPr lang="en-US" sz="1450" dirty="0"/>
          </a:p>
          <a:p>
            <a:pPr marL="342900" indent="-342900">
              <a:lnSpc>
                <a:spcPct val="105000"/>
              </a:lnSpc>
              <a:spcAft>
                <a:spcPts val="1600"/>
              </a:spcAft>
              <a:buSzPct val="100000"/>
              <a:buChar char="▪"/>
            </a:pPr>
            <a:r>
              <a:rPr lang="en-US" sz="1450" dirty="0">
                <a:solidFill>
                  <a:srgbClr val="17262A"/>
                </a:solidFill>
                <a:latin typeface="Calibri" pitchFamily="34" charset="0"/>
                <a:ea typeface="Calibri" pitchFamily="34" charset="-122"/>
                <a:cs typeface="Calibri" pitchFamily="34" charset="-120"/>
              </a:rPr>
              <a:t>Example: "Our class average is 72%"</a:t>
            </a:r>
            <a:endParaRPr lang="en-US" sz="1450" dirty="0"/>
          </a:p>
        </p:txBody>
      </p:sp>
      <p:sp>
        <p:nvSpPr>
          <p:cNvPr id="8" name="Shape 5"/>
          <p:cNvSpPr/>
          <p:nvPr/>
        </p:nvSpPr>
        <p:spPr>
          <a:xfrm>
            <a:off x="6309360" y="1417320"/>
            <a:ext cx="5303520" cy="4846320"/>
          </a:xfrm>
          <a:prstGeom prst="roundRect">
            <a:avLst>
              <a:gd name="adj" fmla="val 1887"/>
            </a:avLst>
          </a:prstGeom>
          <a:solidFill>
            <a:srgbClr val="0F2E31"/>
          </a:solidFill>
          <a:ln/>
        </p:spPr>
      </p:sp>
      <p:sp>
        <p:nvSpPr>
          <p:cNvPr id="9" name="Shape 6"/>
          <p:cNvSpPr/>
          <p:nvPr/>
        </p:nvSpPr>
        <p:spPr>
          <a:xfrm>
            <a:off x="6629400" y="1737360"/>
            <a:ext cx="777240" cy="777240"/>
          </a:xfrm>
          <a:prstGeom prst="ellipse">
            <a:avLst/>
          </a:prstGeom>
          <a:solidFill>
            <a:srgbClr val="C97F1F"/>
          </a:solidFill>
          <a:ln/>
        </p:spPr>
      </p:sp>
      <p:pic>
        <p:nvPicPr>
          <p:cNvPr id="10" name="Image 1" descr="preencoded.png"/>
          <p:cNvPicPr>
            <a:picLocks noChangeAspect="1"/>
          </p:cNvPicPr>
          <p:nvPr/>
        </p:nvPicPr>
        <p:blipFill>
          <a:blip r:embed="rId4"/>
          <a:stretch>
            <a:fillRect/>
          </a:stretch>
        </p:blipFill>
        <p:spPr>
          <a:xfrm>
            <a:off x="6730441" y="1838401"/>
            <a:ext cx="575158" cy="575158"/>
          </a:xfrm>
          <a:prstGeom prst="rect">
            <a:avLst/>
          </a:prstGeom>
        </p:spPr>
      </p:pic>
      <p:sp>
        <p:nvSpPr>
          <p:cNvPr id="11" name="Text 7"/>
          <p:cNvSpPr txBox="1"/>
          <p:nvPr/>
        </p:nvSpPr>
        <p:spPr>
          <a:xfrm>
            <a:off x="7589520" y="1783080"/>
            <a:ext cx="3749040" cy="6858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Inferential Statistics</a:t>
            </a:r>
            <a:endParaRPr lang="en-US" sz="1900" dirty="0"/>
          </a:p>
        </p:txBody>
      </p:sp>
      <p:sp>
        <p:nvSpPr>
          <p:cNvPr id="12" name="Text 8"/>
          <p:cNvSpPr txBox="1"/>
          <p:nvPr/>
        </p:nvSpPr>
        <p:spPr>
          <a:xfrm>
            <a:off x="6629400" y="2697480"/>
            <a:ext cx="466344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50" dirty="0">
                <a:solidFill>
                  <a:srgbClr val="F2F6F6"/>
                </a:solidFill>
                <a:latin typeface="Calibri" pitchFamily="34" charset="0"/>
                <a:ea typeface="Calibri" pitchFamily="34" charset="-122"/>
                <a:cs typeface="Calibri" pitchFamily="34" charset="-120"/>
              </a:rPr>
              <a:t>Uses a sample to draw conclusions about a population</a:t>
            </a:r>
            <a:endParaRPr lang="en-US" sz="1450" dirty="0"/>
          </a:p>
          <a:p>
            <a:pPr marL="342900" indent="-342900">
              <a:lnSpc>
                <a:spcPct val="105000"/>
              </a:lnSpc>
              <a:spcAft>
                <a:spcPts val="1600"/>
              </a:spcAft>
              <a:buSzPct val="100000"/>
              <a:buChar char="▪"/>
            </a:pPr>
            <a:r>
              <a:rPr lang="en-US" sz="1450" dirty="0">
                <a:solidFill>
                  <a:srgbClr val="F2F6F6"/>
                </a:solidFill>
                <a:latin typeface="Calibri" pitchFamily="34" charset="0"/>
                <a:ea typeface="Calibri" pitchFamily="34" charset="-122"/>
                <a:cs typeface="Calibri" pitchFamily="34" charset="-120"/>
              </a:rPr>
              <a:t>Involves probability, hypothesis testing, estimation</a:t>
            </a:r>
            <a:endParaRPr lang="en-US" sz="1450" dirty="0"/>
          </a:p>
          <a:p>
            <a:pPr marL="342900" indent="-342900">
              <a:lnSpc>
                <a:spcPct val="105000"/>
              </a:lnSpc>
              <a:spcAft>
                <a:spcPts val="1600"/>
              </a:spcAft>
              <a:buSzPct val="100000"/>
              <a:buChar char="▪"/>
            </a:pPr>
            <a:r>
              <a:rPr lang="en-US" sz="1450" dirty="0">
                <a:solidFill>
                  <a:srgbClr val="F2F6F6"/>
                </a:solidFill>
                <a:latin typeface="Calibri" pitchFamily="34" charset="0"/>
                <a:ea typeface="Calibri" pitchFamily="34" charset="-122"/>
                <a:cs typeface="Calibri" pitchFamily="34" charset="-120"/>
              </a:rPr>
              <a:t>Tools: confidence intervals, t-tests, regression</a:t>
            </a:r>
            <a:endParaRPr lang="en-US" sz="1450" dirty="0"/>
          </a:p>
          <a:p>
            <a:pPr marL="342900" indent="-342900">
              <a:lnSpc>
                <a:spcPct val="105000"/>
              </a:lnSpc>
              <a:spcAft>
                <a:spcPts val="1600"/>
              </a:spcAft>
              <a:buSzPct val="100000"/>
              <a:buChar char="▪"/>
            </a:pPr>
            <a:r>
              <a:rPr lang="en-US" sz="1450" dirty="0">
                <a:solidFill>
                  <a:srgbClr val="F2F6F6"/>
                </a:solidFill>
                <a:latin typeface="Calibri" pitchFamily="34" charset="0"/>
                <a:ea typeface="Calibri" pitchFamily="34" charset="-122"/>
                <a:cs typeface="Calibri" pitchFamily="34" charset="-120"/>
              </a:rPr>
              <a:t>Example: "72% is likely representative of all students"</a:t>
            </a:r>
            <a:endParaRPr lang="en-US" sz="1450" dirty="0"/>
          </a:p>
        </p:txBody>
      </p:sp>
      <p:sp>
        <p:nvSpPr>
          <p:cNvPr id="13" name="Text 9"/>
          <p:cNvSpPr txBox="1"/>
          <p:nvPr/>
        </p:nvSpPr>
        <p:spPr>
          <a:xfrm>
            <a:off x="548640" y="6355080"/>
            <a:ext cx="11064240" cy="32004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Today’s focus: the building blocks of descriptive statistics — starting with data types.</a:t>
            </a:r>
            <a:endParaRPr lang="en-US" sz="1250" dirty="0"/>
          </a:p>
        </p:txBody>
      </p:sp>
      <p:sp>
        <p:nvSpPr>
          <p:cNvPr id="14" name="Text 10"/>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5" name="Text 11"/>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Where This Fits: The   Pipeline</a:t>
            </a:r>
            <a:endParaRPr lang="en-US" sz="3000" dirty="0"/>
          </a:p>
        </p:txBody>
      </p:sp>
      <p:sp>
        <p:nvSpPr>
          <p:cNvPr id="3" name="Shape 1"/>
          <p:cNvSpPr/>
          <p:nvPr/>
        </p:nvSpPr>
        <p:spPr>
          <a:xfrm>
            <a:off x="457200" y="2194560"/>
            <a:ext cx="2011680" cy="2377440"/>
          </a:xfrm>
          <a:prstGeom prst="roundRect">
            <a:avLst>
              <a:gd name="adj" fmla="val 4545"/>
            </a:avLst>
          </a:prstGeom>
          <a:solidFill>
            <a:srgbClr val="F7F9F9"/>
          </a:solidFill>
          <a:ln w="12700">
            <a:solidFill>
              <a:srgbClr val="E1E8E8"/>
            </a:solidFill>
            <a:prstDash val="solid"/>
          </a:ln>
        </p:spPr>
      </p:sp>
      <p:sp>
        <p:nvSpPr>
          <p:cNvPr id="4" name="Shape 2"/>
          <p:cNvSpPr/>
          <p:nvPr/>
        </p:nvSpPr>
        <p:spPr>
          <a:xfrm>
            <a:off x="1097280" y="2423160"/>
            <a:ext cx="731520" cy="731520"/>
          </a:xfrm>
          <a:prstGeom prst="ellipse">
            <a:avLst/>
          </a:prstGeom>
          <a:solidFill>
            <a:srgbClr val="128277"/>
          </a:solidFill>
          <a:ln/>
        </p:spPr>
      </p:sp>
      <p:pic>
        <p:nvPicPr>
          <p:cNvPr id="5" name="Image 0" descr="preencoded.png"/>
          <p:cNvPicPr>
            <a:picLocks noChangeAspect="1"/>
          </p:cNvPicPr>
          <p:nvPr/>
        </p:nvPicPr>
        <p:blipFill>
          <a:blip r:embed="rId3"/>
          <a:stretch>
            <a:fillRect/>
          </a:stretch>
        </p:blipFill>
        <p:spPr>
          <a:xfrm>
            <a:off x="1192378" y="2518258"/>
            <a:ext cx="541325" cy="541325"/>
          </a:xfrm>
          <a:prstGeom prst="rect">
            <a:avLst/>
          </a:prstGeom>
        </p:spPr>
      </p:pic>
      <p:sp>
        <p:nvSpPr>
          <p:cNvPr id="6" name="Text 3"/>
          <p:cNvSpPr txBox="1"/>
          <p:nvPr/>
        </p:nvSpPr>
        <p:spPr>
          <a:xfrm>
            <a:off x="548640" y="3246120"/>
            <a:ext cx="1828800" cy="365760"/>
          </a:xfrm>
          <a:prstGeom prst="rect">
            <a:avLst/>
          </a:prstGeom>
          <a:noFill/>
          <a:ln/>
        </p:spPr>
        <p:txBody>
          <a:bodyPr wrap="square" lIns="0" tIns="0" rIns="0" bIns="0" rtlCol="0" anchor="ctr"/>
          <a:lstStyle/>
          <a:p>
            <a:pPr marL="0" indent="0" algn="ctr">
              <a:buNone/>
            </a:pPr>
            <a:r>
              <a:rPr lang="en-US" sz="1500" b="1" dirty="0">
                <a:solidFill>
                  <a:srgbClr val="0B3D42"/>
                </a:solidFill>
                <a:latin typeface="Cambria" pitchFamily="34" charset="0"/>
                <a:ea typeface="Cambria" pitchFamily="34" charset="-122"/>
                <a:cs typeface="Cambria" pitchFamily="34" charset="-120"/>
              </a:rPr>
              <a:t>Collect</a:t>
            </a:r>
            <a:endParaRPr lang="en-US" sz="1500" dirty="0"/>
          </a:p>
        </p:txBody>
      </p:sp>
      <p:sp>
        <p:nvSpPr>
          <p:cNvPr id="7" name="Text 4"/>
          <p:cNvSpPr txBox="1"/>
          <p:nvPr/>
        </p:nvSpPr>
        <p:spPr>
          <a:xfrm>
            <a:off x="566928" y="3611880"/>
            <a:ext cx="1792224" cy="868680"/>
          </a:xfrm>
          <a:prstGeom prst="rect">
            <a:avLst/>
          </a:prstGeom>
          <a:noFill/>
          <a:ln/>
        </p:spPr>
        <p:txBody>
          <a:bodyPr wrap="square" lIns="0" tIns="0" rIns="0" bIns="0" rtlCol="0" anchor="ctr"/>
          <a:lstStyle/>
          <a:p>
            <a:pPr marL="0" indent="0" algn="ctr">
              <a:buNone/>
            </a:pPr>
            <a:r>
              <a:rPr lang="en-US" sz="1050" dirty="0">
                <a:solidFill>
                  <a:srgbClr val="4D6165"/>
                </a:solidFill>
                <a:latin typeface="Calibri" pitchFamily="34" charset="0"/>
                <a:ea typeface="Calibri" pitchFamily="34" charset="-122"/>
                <a:cs typeface="Calibri" pitchFamily="34" charset="-120"/>
              </a:rPr>
              <a:t>Raw data from surveys, sensors, logs, transactions</a:t>
            </a:r>
            <a:endParaRPr lang="en-US" sz="1050" dirty="0"/>
          </a:p>
        </p:txBody>
      </p:sp>
      <p:sp>
        <p:nvSpPr>
          <p:cNvPr id="8" name="Text 5"/>
          <p:cNvSpPr txBox="1"/>
          <p:nvPr/>
        </p:nvSpPr>
        <p:spPr>
          <a:xfrm>
            <a:off x="2468880" y="2971800"/>
            <a:ext cx="297180" cy="548640"/>
          </a:xfrm>
          <a:prstGeom prst="rect">
            <a:avLst/>
          </a:prstGeom>
          <a:noFill/>
          <a:ln/>
        </p:spPr>
        <p:txBody>
          <a:bodyPr wrap="square" lIns="0" tIns="0" rIns="0" bIns="0" rtlCol="0" anchor="ctr"/>
          <a:lstStyle/>
          <a:p>
            <a:pPr marL="0" indent="0" algn="ctr">
              <a:buNone/>
            </a:pPr>
            <a:r>
              <a:rPr lang="en-US" sz="2200" b="1" dirty="0">
                <a:solidFill>
                  <a:srgbClr val="128277"/>
                </a:solidFill>
              </a:rPr>
              <a:t>→</a:t>
            </a:r>
            <a:endParaRPr lang="en-US" sz="2200" dirty="0"/>
          </a:p>
        </p:txBody>
      </p:sp>
      <p:sp>
        <p:nvSpPr>
          <p:cNvPr id="9" name="Shape 6"/>
          <p:cNvSpPr/>
          <p:nvPr/>
        </p:nvSpPr>
        <p:spPr>
          <a:xfrm>
            <a:off x="2766060" y="2194560"/>
            <a:ext cx="2011680" cy="2377440"/>
          </a:xfrm>
          <a:prstGeom prst="roundRect">
            <a:avLst>
              <a:gd name="adj" fmla="val 4545"/>
            </a:avLst>
          </a:prstGeom>
          <a:solidFill>
            <a:srgbClr val="F2A541"/>
          </a:solidFill>
          <a:ln w="25400">
            <a:solidFill>
              <a:srgbClr val="C97F1F"/>
            </a:solidFill>
            <a:prstDash val="solid"/>
          </a:ln>
          <a:effectLst>
            <a:outerShdw blurRad="101600" dist="38100" dir="5400000" algn="bl" rotWithShape="0">
              <a:srgbClr val="000000">
                <a:alpha val="25000"/>
              </a:srgbClr>
            </a:outerShdw>
          </a:effectLst>
        </p:spPr>
      </p:sp>
      <p:sp>
        <p:nvSpPr>
          <p:cNvPr id="10" name="Shape 7"/>
          <p:cNvSpPr/>
          <p:nvPr/>
        </p:nvSpPr>
        <p:spPr>
          <a:xfrm>
            <a:off x="3406140" y="2423160"/>
            <a:ext cx="731520" cy="73152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3501238" y="2518258"/>
            <a:ext cx="541325" cy="541325"/>
          </a:xfrm>
          <a:prstGeom prst="rect">
            <a:avLst/>
          </a:prstGeom>
        </p:spPr>
      </p:pic>
      <p:sp>
        <p:nvSpPr>
          <p:cNvPr id="12" name="Text 8"/>
          <p:cNvSpPr txBox="1"/>
          <p:nvPr/>
        </p:nvSpPr>
        <p:spPr>
          <a:xfrm>
            <a:off x="2857500" y="3246120"/>
            <a:ext cx="1828800" cy="365760"/>
          </a:xfrm>
          <a:prstGeom prst="rect">
            <a:avLst/>
          </a:prstGeom>
          <a:noFill/>
          <a:ln/>
        </p:spPr>
        <p:txBody>
          <a:bodyPr wrap="square" lIns="0" tIns="0" rIns="0" bIns="0" rtlCol="0" anchor="ctr"/>
          <a:lstStyle/>
          <a:p>
            <a:pPr marL="0" indent="0" algn="ctr">
              <a:buNone/>
            </a:pPr>
            <a:r>
              <a:rPr lang="en-US" sz="1500" b="1" dirty="0">
                <a:solidFill>
                  <a:srgbClr val="0B3D42"/>
                </a:solidFill>
                <a:latin typeface="Cambria" pitchFamily="34" charset="0"/>
                <a:ea typeface="Cambria" pitchFamily="34" charset="-122"/>
                <a:cs typeface="Cambria" pitchFamily="34" charset="-120"/>
              </a:rPr>
              <a:t>Classify</a:t>
            </a:r>
            <a:endParaRPr lang="en-US" sz="1500" dirty="0"/>
          </a:p>
        </p:txBody>
      </p:sp>
      <p:sp>
        <p:nvSpPr>
          <p:cNvPr id="13" name="Text 9"/>
          <p:cNvSpPr txBox="1"/>
          <p:nvPr/>
        </p:nvSpPr>
        <p:spPr>
          <a:xfrm>
            <a:off x="2875788" y="3611880"/>
            <a:ext cx="1792224" cy="868680"/>
          </a:xfrm>
          <a:prstGeom prst="rect">
            <a:avLst/>
          </a:prstGeom>
          <a:noFill/>
          <a:ln/>
        </p:spPr>
        <p:txBody>
          <a:bodyPr wrap="square" lIns="0" tIns="0" rIns="0" bIns="0" rtlCol="0" anchor="ctr"/>
          <a:lstStyle/>
          <a:p>
            <a:pPr marL="0" indent="0" algn="ctr">
              <a:buNone/>
            </a:pPr>
            <a:r>
              <a:rPr lang="en-US" sz="1050" dirty="0">
                <a:solidFill>
                  <a:srgbClr val="4D6165"/>
                </a:solidFill>
                <a:latin typeface="Calibri" pitchFamily="34" charset="0"/>
                <a:ea typeface="Calibri" pitchFamily="34" charset="-122"/>
                <a:cs typeface="Calibri" pitchFamily="34" charset="-120"/>
              </a:rPr>
              <a:t>Identify data types &amp; measurement scales (TODAY)</a:t>
            </a:r>
            <a:endParaRPr lang="en-US" sz="1050" dirty="0"/>
          </a:p>
        </p:txBody>
      </p:sp>
      <p:sp>
        <p:nvSpPr>
          <p:cNvPr id="14" name="Text 10"/>
          <p:cNvSpPr txBox="1"/>
          <p:nvPr/>
        </p:nvSpPr>
        <p:spPr>
          <a:xfrm>
            <a:off x="4777740" y="2971800"/>
            <a:ext cx="297180" cy="548640"/>
          </a:xfrm>
          <a:prstGeom prst="rect">
            <a:avLst/>
          </a:prstGeom>
          <a:noFill/>
          <a:ln/>
        </p:spPr>
        <p:txBody>
          <a:bodyPr wrap="square" lIns="0" tIns="0" rIns="0" bIns="0" rtlCol="0" anchor="ctr"/>
          <a:lstStyle/>
          <a:p>
            <a:pPr marL="0" indent="0" algn="ctr">
              <a:buNone/>
            </a:pPr>
            <a:r>
              <a:rPr lang="en-US" sz="2200" b="1" dirty="0">
                <a:solidFill>
                  <a:srgbClr val="128277"/>
                </a:solidFill>
              </a:rPr>
              <a:t>→</a:t>
            </a:r>
            <a:endParaRPr lang="en-US" sz="2200" dirty="0"/>
          </a:p>
        </p:txBody>
      </p:sp>
      <p:sp>
        <p:nvSpPr>
          <p:cNvPr id="15" name="Shape 11"/>
          <p:cNvSpPr/>
          <p:nvPr/>
        </p:nvSpPr>
        <p:spPr>
          <a:xfrm>
            <a:off x="5074920" y="2194560"/>
            <a:ext cx="2011680" cy="2377440"/>
          </a:xfrm>
          <a:prstGeom prst="roundRect">
            <a:avLst>
              <a:gd name="adj" fmla="val 4545"/>
            </a:avLst>
          </a:prstGeom>
          <a:solidFill>
            <a:srgbClr val="F7F9F9"/>
          </a:solidFill>
          <a:ln w="12700">
            <a:solidFill>
              <a:srgbClr val="E1E8E8"/>
            </a:solidFill>
            <a:prstDash val="solid"/>
          </a:ln>
        </p:spPr>
      </p:sp>
      <p:sp>
        <p:nvSpPr>
          <p:cNvPr id="16" name="Shape 12"/>
          <p:cNvSpPr/>
          <p:nvPr/>
        </p:nvSpPr>
        <p:spPr>
          <a:xfrm>
            <a:off x="5715000" y="2423160"/>
            <a:ext cx="731520" cy="731520"/>
          </a:xfrm>
          <a:prstGeom prst="ellipse">
            <a:avLst/>
          </a:prstGeom>
          <a:solidFill>
            <a:srgbClr val="128277"/>
          </a:solidFill>
          <a:ln/>
        </p:spPr>
      </p:sp>
      <p:pic>
        <p:nvPicPr>
          <p:cNvPr id="17" name="Image 2" descr="preencoded.png"/>
          <p:cNvPicPr>
            <a:picLocks noChangeAspect="1"/>
          </p:cNvPicPr>
          <p:nvPr/>
        </p:nvPicPr>
        <p:blipFill>
          <a:blip r:embed="rId5"/>
          <a:stretch>
            <a:fillRect/>
          </a:stretch>
        </p:blipFill>
        <p:spPr>
          <a:xfrm>
            <a:off x="5810098" y="2518258"/>
            <a:ext cx="541325" cy="541325"/>
          </a:xfrm>
          <a:prstGeom prst="rect">
            <a:avLst/>
          </a:prstGeom>
        </p:spPr>
      </p:pic>
      <p:sp>
        <p:nvSpPr>
          <p:cNvPr id="18" name="Text 13"/>
          <p:cNvSpPr txBox="1"/>
          <p:nvPr/>
        </p:nvSpPr>
        <p:spPr>
          <a:xfrm>
            <a:off x="5166360" y="3246120"/>
            <a:ext cx="1828800" cy="365760"/>
          </a:xfrm>
          <a:prstGeom prst="rect">
            <a:avLst/>
          </a:prstGeom>
          <a:noFill/>
          <a:ln/>
        </p:spPr>
        <p:txBody>
          <a:bodyPr wrap="square" lIns="0" tIns="0" rIns="0" bIns="0" rtlCol="0" anchor="ctr"/>
          <a:lstStyle/>
          <a:p>
            <a:pPr marL="0" indent="0" algn="ctr">
              <a:buNone/>
            </a:pPr>
            <a:r>
              <a:rPr lang="en-US" sz="1500" b="1" dirty="0">
                <a:solidFill>
                  <a:srgbClr val="0B3D42"/>
                </a:solidFill>
                <a:latin typeface="Cambria" pitchFamily="34" charset="0"/>
                <a:ea typeface="Cambria" pitchFamily="34" charset="-122"/>
                <a:cs typeface="Cambria" pitchFamily="34" charset="-120"/>
              </a:rPr>
              <a:t>Summarize</a:t>
            </a:r>
            <a:endParaRPr lang="en-US" sz="1500" dirty="0"/>
          </a:p>
        </p:txBody>
      </p:sp>
      <p:sp>
        <p:nvSpPr>
          <p:cNvPr id="19" name="Text 14"/>
          <p:cNvSpPr txBox="1"/>
          <p:nvPr/>
        </p:nvSpPr>
        <p:spPr>
          <a:xfrm>
            <a:off x="5184648" y="3611880"/>
            <a:ext cx="1792224" cy="868680"/>
          </a:xfrm>
          <a:prstGeom prst="rect">
            <a:avLst/>
          </a:prstGeom>
          <a:noFill/>
          <a:ln/>
        </p:spPr>
        <p:txBody>
          <a:bodyPr wrap="square" lIns="0" tIns="0" rIns="0" bIns="0" rtlCol="0" anchor="ctr"/>
          <a:lstStyle/>
          <a:p>
            <a:pPr marL="0" indent="0" algn="ctr">
              <a:buNone/>
            </a:pPr>
            <a:r>
              <a:rPr lang="en-US" sz="1050" dirty="0">
                <a:solidFill>
                  <a:srgbClr val="4D6165"/>
                </a:solidFill>
                <a:latin typeface="Calibri" pitchFamily="34" charset="0"/>
                <a:ea typeface="Calibri" pitchFamily="34" charset="-122"/>
                <a:cs typeface="Calibri" pitchFamily="34" charset="-120"/>
              </a:rPr>
              <a:t>Compute descriptive statistics</a:t>
            </a:r>
            <a:endParaRPr lang="en-US" sz="1050" dirty="0"/>
          </a:p>
        </p:txBody>
      </p:sp>
      <p:sp>
        <p:nvSpPr>
          <p:cNvPr id="20" name="Text 15"/>
          <p:cNvSpPr txBox="1"/>
          <p:nvPr/>
        </p:nvSpPr>
        <p:spPr>
          <a:xfrm>
            <a:off x="7086600" y="2971800"/>
            <a:ext cx="297180" cy="548640"/>
          </a:xfrm>
          <a:prstGeom prst="rect">
            <a:avLst/>
          </a:prstGeom>
          <a:noFill/>
          <a:ln/>
        </p:spPr>
        <p:txBody>
          <a:bodyPr wrap="square" lIns="0" tIns="0" rIns="0" bIns="0" rtlCol="0" anchor="ctr"/>
          <a:lstStyle/>
          <a:p>
            <a:pPr marL="0" indent="0" algn="ctr">
              <a:buNone/>
            </a:pPr>
            <a:r>
              <a:rPr lang="en-US" sz="2200" b="1" dirty="0">
                <a:solidFill>
                  <a:srgbClr val="128277"/>
                </a:solidFill>
              </a:rPr>
              <a:t>→</a:t>
            </a:r>
            <a:endParaRPr lang="en-US" sz="2200" dirty="0"/>
          </a:p>
        </p:txBody>
      </p:sp>
      <p:sp>
        <p:nvSpPr>
          <p:cNvPr id="21" name="Shape 16"/>
          <p:cNvSpPr/>
          <p:nvPr/>
        </p:nvSpPr>
        <p:spPr>
          <a:xfrm>
            <a:off x="7383780" y="2194560"/>
            <a:ext cx="2011680" cy="2377440"/>
          </a:xfrm>
          <a:prstGeom prst="roundRect">
            <a:avLst>
              <a:gd name="adj" fmla="val 4545"/>
            </a:avLst>
          </a:prstGeom>
          <a:solidFill>
            <a:srgbClr val="F7F9F9"/>
          </a:solidFill>
          <a:ln w="12700">
            <a:solidFill>
              <a:srgbClr val="E1E8E8"/>
            </a:solidFill>
            <a:prstDash val="solid"/>
          </a:ln>
        </p:spPr>
      </p:sp>
      <p:sp>
        <p:nvSpPr>
          <p:cNvPr id="22" name="Shape 17"/>
          <p:cNvSpPr/>
          <p:nvPr/>
        </p:nvSpPr>
        <p:spPr>
          <a:xfrm>
            <a:off x="8023860" y="2423160"/>
            <a:ext cx="731520" cy="731520"/>
          </a:xfrm>
          <a:prstGeom prst="ellipse">
            <a:avLst/>
          </a:prstGeom>
          <a:solidFill>
            <a:srgbClr val="128277"/>
          </a:solidFill>
          <a:ln/>
        </p:spPr>
      </p:sp>
      <p:pic>
        <p:nvPicPr>
          <p:cNvPr id="23" name="Image 3" descr="preencoded.png"/>
          <p:cNvPicPr>
            <a:picLocks noChangeAspect="1"/>
          </p:cNvPicPr>
          <p:nvPr/>
        </p:nvPicPr>
        <p:blipFill>
          <a:blip r:embed="rId6"/>
          <a:stretch>
            <a:fillRect/>
          </a:stretch>
        </p:blipFill>
        <p:spPr>
          <a:xfrm>
            <a:off x="8118958" y="2518258"/>
            <a:ext cx="541325" cy="541325"/>
          </a:xfrm>
          <a:prstGeom prst="rect">
            <a:avLst/>
          </a:prstGeom>
        </p:spPr>
      </p:pic>
      <p:sp>
        <p:nvSpPr>
          <p:cNvPr id="24" name="Text 18"/>
          <p:cNvSpPr txBox="1"/>
          <p:nvPr/>
        </p:nvSpPr>
        <p:spPr>
          <a:xfrm>
            <a:off x="7475220" y="3246120"/>
            <a:ext cx="1828800" cy="365760"/>
          </a:xfrm>
          <a:prstGeom prst="rect">
            <a:avLst/>
          </a:prstGeom>
          <a:noFill/>
          <a:ln/>
        </p:spPr>
        <p:txBody>
          <a:bodyPr wrap="square" lIns="0" tIns="0" rIns="0" bIns="0" rtlCol="0" anchor="ctr"/>
          <a:lstStyle/>
          <a:p>
            <a:pPr marL="0" indent="0" algn="ctr">
              <a:buNone/>
            </a:pPr>
            <a:r>
              <a:rPr lang="en-US" sz="1500" b="1" dirty="0">
                <a:solidFill>
                  <a:srgbClr val="0B3D42"/>
                </a:solidFill>
                <a:latin typeface="Cambria" pitchFamily="34" charset="0"/>
                <a:ea typeface="Cambria" pitchFamily="34" charset="-122"/>
                <a:cs typeface="Cambria" pitchFamily="34" charset="-120"/>
              </a:rPr>
              <a:t>Visualize</a:t>
            </a:r>
            <a:endParaRPr lang="en-US" sz="1500" dirty="0"/>
          </a:p>
        </p:txBody>
      </p:sp>
      <p:sp>
        <p:nvSpPr>
          <p:cNvPr id="25" name="Text 19"/>
          <p:cNvSpPr txBox="1"/>
          <p:nvPr/>
        </p:nvSpPr>
        <p:spPr>
          <a:xfrm>
            <a:off x="7493508" y="3611880"/>
            <a:ext cx="1792224" cy="868680"/>
          </a:xfrm>
          <a:prstGeom prst="rect">
            <a:avLst/>
          </a:prstGeom>
          <a:noFill/>
          <a:ln/>
        </p:spPr>
        <p:txBody>
          <a:bodyPr wrap="square" lIns="0" tIns="0" rIns="0" bIns="0" rtlCol="0" anchor="ctr"/>
          <a:lstStyle/>
          <a:p>
            <a:pPr marL="0" indent="0" algn="ctr">
              <a:buNone/>
            </a:pPr>
            <a:r>
              <a:rPr lang="en-US" sz="1050" dirty="0">
                <a:solidFill>
                  <a:srgbClr val="4D6165"/>
                </a:solidFill>
                <a:latin typeface="Calibri" pitchFamily="34" charset="0"/>
                <a:ea typeface="Calibri" pitchFamily="34" charset="-122"/>
                <a:cs typeface="Calibri" pitchFamily="34" charset="-120"/>
              </a:rPr>
              <a:t>Choose the right chart for the data</a:t>
            </a:r>
            <a:endParaRPr lang="en-US" sz="1050" dirty="0"/>
          </a:p>
        </p:txBody>
      </p:sp>
      <p:sp>
        <p:nvSpPr>
          <p:cNvPr id="26" name="Text 20"/>
          <p:cNvSpPr txBox="1"/>
          <p:nvPr/>
        </p:nvSpPr>
        <p:spPr>
          <a:xfrm>
            <a:off x="9395460" y="2971800"/>
            <a:ext cx="297180" cy="548640"/>
          </a:xfrm>
          <a:prstGeom prst="rect">
            <a:avLst/>
          </a:prstGeom>
          <a:noFill/>
          <a:ln/>
        </p:spPr>
        <p:txBody>
          <a:bodyPr wrap="square" lIns="0" tIns="0" rIns="0" bIns="0" rtlCol="0" anchor="ctr"/>
          <a:lstStyle/>
          <a:p>
            <a:pPr marL="0" indent="0" algn="ctr">
              <a:buNone/>
            </a:pPr>
            <a:r>
              <a:rPr lang="en-US" sz="2200" b="1" dirty="0">
                <a:solidFill>
                  <a:srgbClr val="128277"/>
                </a:solidFill>
              </a:rPr>
              <a:t>→</a:t>
            </a:r>
            <a:endParaRPr lang="en-US" sz="2200" dirty="0"/>
          </a:p>
        </p:txBody>
      </p:sp>
      <p:sp>
        <p:nvSpPr>
          <p:cNvPr id="27" name="Shape 21"/>
          <p:cNvSpPr/>
          <p:nvPr/>
        </p:nvSpPr>
        <p:spPr>
          <a:xfrm>
            <a:off x="9692640" y="2194560"/>
            <a:ext cx="2011680" cy="2377440"/>
          </a:xfrm>
          <a:prstGeom prst="roundRect">
            <a:avLst>
              <a:gd name="adj" fmla="val 4545"/>
            </a:avLst>
          </a:prstGeom>
          <a:solidFill>
            <a:srgbClr val="F7F9F9"/>
          </a:solidFill>
          <a:ln w="12700">
            <a:solidFill>
              <a:srgbClr val="E1E8E8"/>
            </a:solidFill>
            <a:prstDash val="solid"/>
          </a:ln>
        </p:spPr>
      </p:sp>
      <p:sp>
        <p:nvSpPr>
          <p:cNvPr id="28" name="Shape 22"/>
          <p:cNvSpPr/>
          <p:nvPr/>
        </p:nvSpPr>
        <p:spPr>
          <a:xfrm>
            <a:off x="10332720" y="2423160"/>
            <a:ext cx="731520" cy="731520"/>
          </a:xfrm>
          <a:prstGeom prst="ellipse">
            <a:avLst/>
          </a:prstGeom>
          <a:solidFill>
            <a:srgbClr val="128277"/>
          </a:solidFill>
          <a:ln/>
        </p:spPr>
      </p:sp>
      <p:pic>
        <p:nvPicPr>
          <p:cNvPr id="29" name="Image 4" descr="preencoded.png"/>
          <p:cNvPicPr>
            <a:picLocks noChangeAspect="1"/>
          </p:cNvPicPr>
          <p:nvPr/>
        </p:nvPicPr>
        <p:blipFill>
          <a:blip r:embed="rId7"/>
          <a:stretch>
            <a:fillRect/>
          </a:stretch>
        </p:blipFill>
        <p:spPr>
          <a:xfrm>
            <a:off x="10427818" y="2518258"/>
            <a:ext cx="541325" cy="541325"/>
          </a:xfrm>
          <a:prstGeom prst="rect">
            <a:avLst/>
          </a:prstGeom>
        </p:spPr>
      </p:pic>
      <p:sp>
        <p:nvSpPr>
          <p:cNvPr id="30" name="Text 23"/>
          <p:cNvSpPr txBox="1"/>
          <p:nvPr/>
        </p:nvSpPr>
        <p:spPr>
          <a:xfrm>
            <a:off x="9784080" y="3246120"/>
            <a:ext cx="1828800" cy="365760"/>
          </a:xfrm>
          <a:prstGeom prst="rect">
            <a:avLst/>
          </a:prstGeom>
          <a:noFill/>
          <a:ln/>
        </p:spPr>
        <p:txBody>
          <a:bodyPr wrap="square" lIns="0" tIns="0" rIns="0" bIns="0" rtlCol="0" anchor="ctr"/>
          <a:lstStyle/>
          <a:p>
            <a:pPr marL="0" indent="0" algn="ctr">
              <a:buNone/>
            </a:pPr>
            <a:r>
              <a:rPr lang="en-US" sz="1500" b="1" dirty="0">
                <a:solidFill>
                  <a:srgbClr val="0B3D42"/>
                </a:solidFill>
                <a:latin typeface="Cambria" pitchFamily="34" charset="0"/>
                <a:ea typeface="Cambria" pitchFamily="34" charset="-122"/>
                <a:cs typeface="Cambria" pitchFamily="34" charset="-120"/>
              </a:rPr>
              <a:t>Model / Infer</a:t>
            </a:r>
            <a:endParaRPr lang="en-US" sz="1500" dirty="0"/>
          </a:p>
        </p:txBody>
      </p:sp>
      <p:sp>
        <p:nvSpPr>
          <p:cNvPr id="31" name="Text 24"/>
          <p:cNvSpPr txBox="1"/>
          <p:nvPr/>
        </p:nvSpPr>
        <p:spPr>
          <a:xfrm>
            <a:off x="9802368" y="3611880"/>
            <a:ext cx="1792224" cy="868680"/>
          </a:xfrm>
          <a:prstGeom prst="rect">
            <a:avLst/>
          </a:prstGeom>
          <a:noFill/>
          <a:ln/>
        </p:spPr>
        <p:txBody>
          <a:bodyPr wrap="square" lIns="0" tIns="0" rIns="0" bIns="0" rtlCol="0" anchor="ctr"/>
          <a:lstStyle/>
          <a:p>
            <a:pPr marL="0" indent="0" algn="ctr">
              <a:buNone/>
            </a:pPr>
            <a:r>
              <a:rPr lang="en-US" sz="1050" dirty="0">
                <a:solidFill>
                  <a:srgbClr val="4D6165"/>
                </a:solidFill>
                <a:latin typeface="Calibri" pitchFamily="34" charset="0"/>
                <a:ea typeface="Calibri" pitchFamily="34" charset="-122"/>
                <a:cs typeface="Calibri" pitchFamily="34" charset="-120"/>
              </a:rPr>
              <a:t>Apply inferential statistics &amp; ML (later)</a:t>
            </a:r>
            <a:endParaRPr lang="en-US" sz="1050" dirty="0"/>
          </a:p>
        </p:txBody>
      </p:sp>
      <p:sp>
        <p:nvSpPr>
          <p:cNvPr id="32" name="Text 25"/>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33" name="Text 26"/>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Data Types: The Big Picture</a:t>
            </a:r>
            <a:endParaRPr lang="en-US" sz="3000" dirty="0"/>
          </a:p>
        </p:txBody>
      </p:sp>
      <p:sp>
        <p:nvSpPr>
          <p:cNvPr id="3" name="Shape 1"/>
          <p:cNvSpPr/>
          <p:nvPr/>
        </p:nvSpPr>
        <p:spPr>
          <a:xfrm>
            <a:off x="4663440" y="1371600"/>
            <a:ext cx="2834640" cy="731520"/>
          </a:xfrm>
          <a:prstGeom prst="roundRect">
            <a:avLst>
              <a:gd name="adj" fmla="val 10000"/>
            </a:avLst>
          </a:prstGeom>
          <a:solidFill>
            <a:srgbClr val="0B3D42"/>
          </a:solidFill>
          <a:ln/>
        </p:spPr>
      </p:sp>
      <p:sp>
        <p:nvSpPr>
          <p:cNvPr id="4" name="Text 2"/>
          <p:cNvSpPr txBox="1"/>
          <p:nvPr/>
        </p:nvSpPr>
        <p:spPr>
          <a:xfrm>
            <a:off x="4663440" y="1371600"/>
            <a:ext cx="283464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DATA</a:t>
            </a:r>
            <a:endParaRPr lang="en-US" sz="2000" dirty="0"/>
          </a:p>
        </p:txBody>
      </p:sp>
      <p:sp>
        <p:nvSpPr>
          <p:cNvPr id="5" name="Shape 3"/>
          <p:cNvSpPr/>
          <p:nvPr/>
        </p:nvSpPr>
        <p:spPr>
          <a:xfrm>
            <a:off x="6080760" y="2103120"/>
            <a:ext cx="0" cy="365760"/>
          </a:xfrm>
          <a:prstGeom prst="line">
            <a:avLst/>
          </a:prstGeom>
          <a:noFill/>
          <a:ln w="19050">
            <a:solidFill>
              <a:srgbClr val="4D6165"/>
            </a:solidFill>
            <a:prstDash val="solid"/>
          </a:ln>
        </p:spPr>
      </p:sp>
      <p:sp>
        <p:nvSpPr>
          <p:cNvPr id="6" name="Shape 4"/>
          <p:cNvSpPr/>
          <p:nvPr/>
        </p:nvSpPr>
        <p:spPr>
          <a:xfrm>
            <a:off x="2651760" y="2468880"/>
            <a:ext cx="6217920" cy="0"/>
          </a:xfrm>
          <a:prstGeom prst="line">
            <a:avLst/>
          </a:prstGeom>
          <a:noFill/>
          <a:ln w="19050">
            <a:solidFill>
              <a:srgbClr val="4D6165"/>
            </a:solidFill>
            <a:prstDash val="solid"/>
          </a:ln>
        </p:spPr>
      </p:sp>
      <p:sp>
        <p:nvSpPr>
          <p:cNvPr id="7" name="Shape 5"/>
          <p:cNvSpPr/>
          <p:nvPr/>
        </p:nvSpPr>
        <p:spPr>
          <a:xfrm>
            <a:off x="2651760" y="2468880"/>
            <a:ext cx="0" cy="320040"/>
          </a:xfrm>
          <a:prstGeom prst="line">
            <a:avLst/>
          </a:prstGeom>
          <a:noFill/>
          <a:ln w="19050">
            <a:solidFill>
              <a:srgbClr val="4D6165"/>
            </a:solidFill>
            <a:prstDash val="solid"/>
          </a:ln>
        </p:spPr>
      </p:sp>
      <p:sp>
        <p:nvSpPr>
          <p:cNvPr id="8" name="Shape 6"/>
          <p:cNvSpPr/>
          <p:nvPr/>
        </p:nvSpPr>
        <p:spPr>
          <a:xfrm>
            <a:off x="8869680" y="2468880"/>
            <a:ext cx="0" cy="320040"/>
          </a:xfrm>
          <a:prstGeom prst="line">
            <a:avLst/>
          </a:prstGeom>
          <a:noFill/>
          <a:ln w="19050">
            <a:solidFill>
              <a:srgbClr val="4D6165"/>
            </a:solidFill>
            <a:prstDash val="solid"/>
          </a:ln>
        </p:spPr>
      </p:sp>
      <p:sp>
        <p:nvSpPr>
          <p:cNvPr id="9" name="Shape 7"/>
          <p:cNvSpPr/>
          <p:nvPr/>
        </p:nvSpPr>
        <p:spPr>
          <a:xfrm>
            <a:off x="1417320" y="2788920"/>
            <a:ext cx="2834640" cy="868680"/>
          </a:xfrm>
          <a:prstGeom prst="roundRect">
            <a:avLst>
              <a:gd name="adj" fmla="val 8421"/>
            </a:avLst>
          </a:prstGeom>
          <a:solidFill>
            <a:srgbClr val="C97F1F"/>
          </a:solidFill>
          <a:ln/>
        </p:spPr>
      </p:sp>
      <p:sp>
        <p:nvSpPr>
          <p:cNvPr id="10" name="Text 8"/>
          <p:cNvSpPr txBox="1"/>
          <p:nvPr/>
        </p:nvSpPr>
        <p:spPr>
          <a:xfrm>
            <a:off x="1417320" y="2788920"/>
            <a:ext cx="2834640" cy="8686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QUALITATIVE</a:t>
            </a:r>
            <a:endParaRPr lang="en-US" sz="1500" dirty="0"/>
          </a:p>
          <a:p>
            <a:pPr marL="0" indent="0" algn="ctr">
              <a:buNone/>
            </a:pPr>
            <a:r>
              <a:rPr lang="en-US" sz="1500" b="1" dirty="0">
                <a:solidFill>
                  <a:srgbClr val="FFFFFF"/>
                </a:solidFill>
                <a:latin typeface="Cambria" pitchFamily="34" charset="0"/>
                <a:ea typeface="Cambria" pitchFamily="34" charset="-122"/>
                <a:cs typeface="Cambria" pitchFamily="34" charset="-120"/>
              </a:rPr>
              <a:t>(Categorical)</a:t>
            </a:r>
            <a:endParaRPr lang="en-US" sz="1500" dirty="0"/>
          </a:p>
        </p:txBody>
      </p:sp>
      <p:sp>
        <p:nvSpPr>
          <p:cNvPr id="11" name="Shape 9"/>
          <p:cNvSpPr/>
          <p:nvPr/>
        </p:nvSpPr>
        <p:spPr>
          <a:xfrm>
            <a:off x="2834640" y="3657600"/>
            <a:ext cx="0" cy="228600"/>
          </a:xfrm>
          <a:prstGeom prst="line">
            <a:avLst/>
          </a:prstGeom>
          <a:noFill/>
          <a:ln w="15875">
            <a:solidFill>
              <a:srgbClr val="4D6165"/>
            </a:solidFill>
            <a:prstDash val="solid"/>
          </a:ln>
        </p:spPr>
      </p:sp>
      <p:sp>
        <p:nvSpPr>
          <p:cNvPr id="12" name="Shape 10"/>
          <p:cNvSpPr/>
          <p:nvPr/>
        </p:nvSpPr>
        <p:spPr>
          <a:xfrm>
            <a:off x="1417320" y="3977640"/>
            <a:ext cx="1371600" cy="1371600"/>
          </a:xfrm>
          <a:prstGeom prst="roundRect">
            <a:avLst>
              <a:gd name="adj" fmla="val 5333"/>
            </a:avLst>
          </a:prstGeom>
          <a:solidFill>
            <a:srgbClr val="F7F9F9"/>
          </a:solidFill>
          <a:ln w="19050">
            <a:solidFill>
              <a:srgbClr val="C97F1F"/>
            </a:solidFill>
            <a:prstDash val="solid"/>
          </a:ln>
        </p:spPr>
      </p:sp>
      <p:sp>
        <p:nvSpPr>
          <p:cNvPr id="13" name="Text 11"/>
          <p:cNvSpPr txBox="1"/>
          <p:nvPr/>
        </p:nvSpPr>
        <p:spPr>
          <a:xfrm>
            <a:off x="1417320" y="3977640"/>
            <a:ext cx="1371600" cy="457200"/>
          </a:xfrm>
          <a:prstGeom prst="rect">
            <a:avLst/>
          </a:prstGeom>
          <a:noFill/>
          <a:ln/>
        </p:spPr>
        <p:txBody>
          <a:bodyPr wrap="square" lIns="0" tIns="0" rIns="0" bIns="0" rtlCol="0" anchor="ctr"/>
          <a:lstStyle/>
          <a:p>
            <a:pPr marL="0" indent="0" algn="ctr">
              <a:buNone/>
            </a:pPr>
            <a:r>
              <a:rPr lang="en-US" sz="1400" b="1" dirty="0">
                <a:solidFill>
                  <a:srgbClr val="0B3D42"/>
                </a:solidFill>
                <a:latin typeface="Cambria" pitchFamily="34" charset="0"/>
                <a:ea typeface="Cambria" pitchFamily="34" charset="-122"/>
                <a:cs typeface="Cambria" pitchFamily="34" charset="-120"/>
              </a:rPr>
              <a:t>Nominal</a:t>
            </a:r>
            <a:endParaRPr lang="en-US" sz="1400" dirty="0"/>
          </a:p>
        </p:txBody>
      </p:sp>
      <p:sp>
        <p:nvSpPr>
          <p:cNvPr id="14" name="Shape 12"/>
          <p:cNvSpPr/>
          <p:nvPr/>
        </p:nvSpPr>
        <p:spPr>
          <a:xfrm>
            <a:off x="2834640" y="3657600"/>
            <a:ext cx="0" cy="228600"/>
          </a:xfrm>
          <a:prstGeom prst="line">
            <a:avLst/>
          </a:prstGeom>
          <a:noFill/>
          <a:ln w="15875">
            <a:solidFill>
              <a:srgbClr val="4D6165"/>
            </a:solidFill>
            <a:prstDash val="solid"/>
          </a:ln>
        </p:spPr>
      </p:sp>
      <p:sp>
        <p:nvSpPr>
          <p:cNvPr id="15" name="Shape 13"/>
          <p:cNvSpPr/>
          <p:nvPr/>
        </p:nvSpPr>
        <p:spPr>
          <a:xfrm>
            <a:off x="2926080" y="3977640"/>
            <a:ext cx="1371600" cy="1371600"/>
          </a:xfrm>
          <a:prstGeom prst="roundRect">
            <a:avLst>
              <a:gd name="adj" fmla="val 5333"/>
            </a:avLst>
          </a:prstGeom>
          <a:solidFill>
            <a:srgbClr val="F7F9F9"/>
          </a:solidFill>
          <a:ln w="19050">
            <a:solidFill>
              <a:srgbClr val="C97F1F"/>
            </a:solidFill>
            <a:prstDash val="solid"/>
          </a:ln>
        </p:spPr>
      </p:sp>
      <p:sp>
        <p:nvSpPr>
          <p:cNvPr id="16" name="Text 14"/>
          <p:cNvSpPr txBox="1"/>
          <p:nvPr/>
        </p:nvSpPr>
        <p:spPr>
          <a:xfrm>
            <a:off x="2926080" y="3977640"/>
            <a:ext cx="1371600" cy="457200"/>
          </a:xfrm>
          <a:prstGeom prst="rect">
            <a:avLst/>
          </a:prstGeom>
          <a:noFill/>
          <a:ln/>
        </p:spPr>
        <p:txBody>
          <a:bodyPr wrap="square" lIns="0" tIns="0" rIns="0" bIns="0" rtlCol="0" anchor="ctr"/>
          <a:lstStyle/>
          <a:p>
            <a:pPr marL="0" indent="0" algn="ctr">
              <a:buNone/>
            </a:pPr>
            <a:r>
              <a:rPr lang="en-US" sz="1400" b="1" dirty="0">
                <a:solidFill>
                  <a:srgbClr val="0B3D42"/>
                </a:solidFill>
                <a:latin typeface="Cambria" pitchFamily="34" charset="0"/>
                <a:ea typeface="Cambria" pitchFamily="34" charset="-122"/>
                <a:cs typeface="Cambria" pitchFamily="34" charset="-120"/>
              </a:rPr>
              <a:t>Ordinal</a:t>
            </a:r>
            <a:endParaRPr lang="en-US" sz="1400" dirty="0"/>
          </a:p>
        </p:txBody>
      </p:sp>
      <p:sp>
        <p:nvSpPr>
          <p:cNvPr id="17" name="Shape 15"/>
          <p:cNvSpPr/>
          <p:nvPr/>
        </p:nvSpPr>
        <p:spPr>
          <a:xfrm>
            <a:off x="7452360" y="2788920"/>
            <a:ext cx="2834640" cy="868680"/>
          </a:xfrm>
          <a:prstGeom prst="roundRect">
            <a:avLst>
              <a:gd name="adj" fmla="val 8421"/>
            </a:avLst>
          </a:prstGeom>
          <a:solidFill>
            <a:srgbClr val="128277"/>
          </a:solidFill>
          <a:ln/>
        </p:spPr>
      </p:sp>
      <p:sp>
        <p:nvSpPr>
          <p:cNvPr id="18" name="Text 16"/>
          <p:cNvSpPr txBox="1"/>
          <p:nvPr/>
        </p:nvSpPr>
        <p:spPr>
          <a:xfrm>
            <a:off x="7452360" y="2788920"/>
            <a:ext cx="2834640" cy="8686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QUANTITATIVE</a:t>
            </a:r>
            <a:endParaRPr lang="en-US" sz="1500" dirty="0"/>
          </a:p>
          <a:p>
            <a:pPr marL="0" indent="0" algn="ctr">
              <a:buNone/>
            </a:pPr>
            <a:r>
              <a:rPr lang="en-US" sz="1500" b="1" dirty="0">
                <a:solidFill>
                  <a:srgbClr val="FFFFFF"/>
                </a:solidFill>
                <a:latin typeface="Cambria" pitchFamily="34" charset="0"/>
                <a:ea typeface="Cambria" pitchFamily="34" charset="-122"/>
                <a:cs typeface="Cambria" pitchFamily="34" charset="-120"/>
              </a:rPr>
              <a:t>(Numerical)</a:t>
            </a:r>
            <a:endParaRPr lang="en-US" sz="1500" dirty="0"/>
          </a:p>
        </p:txBody>
      </p:sp>
      <p:sp>
        <p:nvSpPr>
          <p:cNvPr id="19" name="Shape 17"/>
          <p:cNvSpPr/>
          <p:nvPr/>
        </p:nvSpPr>
        <p:spPr>
          <a:xfrm>
            <a:off x="8869680" y="3657600"/>
            <a:ext cx="0" cy="228600"/>
          </a:xfrm>
          <a:prstGeom prst="line">
            <a:avLst/>
          </a:prstGeom>
          <a:noFill/>
          <a:ln w="15875">
            <a:solidFill>
              <a:srgbClr val="4D6165"/>
            </a:solidFill>
            <a:prstDash val="solid"/>
          </a:ln>
        </p:spPr>
      </p:sp>
      <p:sp>
        <p:nvSpPr>
          <p:cNvPr id="20" name="Shape 18"/>
          <p:cNvSpPr/>
          <p:nvPr/>
        </p:nvSpPr>
        <p:spPr>
          <a:xfrm>
            <a:off x="7452360" y="3977640"/>
            <a:ext cx="1371600" cy="1371600"/>
          </a:xfrm>
          <a:prstGeom prst="roundRect">
            <a:avLst>
              <a:gd name="adj" fmla="val 5333"/>
            </a:avLst>
          </a:prstGeom>
          <a:solidFill>
            <a:srgbClr val="F7F9F9"/>
          </a:solidFill>
          <a:ln w="19050">
            <a:solidFill>
              <a:srgbClr val="128277"/>
            </a:solidFill>
            <a:prstDash val="solid"/>
          </a:ln>
        </p:spPr>
      </p:sp>
      <p:sp>
        <p:nvSpPr>
          <p:cNvPr id="21" name="Text 19"/>
          <p:cNvSpPr txBox="1"/>
          <p:nvPr/>
        </p:nvSpPr>
        <p:spPr>
          <a:xfrm>
            <a:off x="7452360" y="3977640"/>
            <a:ext cx="1371600" cy="457200"/>
          </a:xfrm>
          <a:prstGeom prst="rect">
            <a:avLst/>
          </a:prstGeom>
          <a:noFill/>
          <a:ln/>
        </p:spPr>
        <p:txBody>
          <a:bodyPr wrap="square" lIns="0" tIns="0" rIns="0" bIns="0" rtlCol="0" anchor="ctr"/>
          <a:lstStyle/>
          <a:p>
            <a:pPr marL="0" indent="0" algn="ctr">
              <a:buNone/>
            </a:pPr>
            <a:r>
              <a:rPr lang="en-US" sz="1400" b="1" dirty="0">
                <a:solidFill>
                  <a:srgbClr val="0B3D42"/>
                </a:solidFill>
                <a:latin typeface="Cambria" pitchFamily="34" charset="0"/>
                <a:ea typeface="Cambria" pitchFamily="34" charset="-122"/>
                <a:cs typeface="Cambria" pitchFamily="34" charset="-120"/>
              </a:rPr>
              <a:t>Discrete</a:t>
            </a:r>
            <a:endParaRPr lang="en-US" sz="1400" dirty="0"/>
          </a:p>
        </p:txBody>
      </p:sp>
      <p:sp>
        <p:nvSpPr>
          <p:cNvPr id="22" name="Shape 20"/>
          <p:cNvSpPr/>
          <p:nvPr/>
        </p:nvSpPr>
        <p:spPr>
          <a:xfrm>
            <a:off x="8869680" y="3657600"/>
            <a:ext cx="0" cy="228600"/>
          </a:xfrm>
          <a:prstGeom prst="line">
            <a:avLst/>
          </a:prstGeom>
          <a:noFill/>
          <a:ln w="15875">
            <a:solidFill>
              <a:srgbClr val="4D6165"/>
            </a:solidFill>
            <a:prstDash val="solid"/>
          </a:ln>
        </p:spPr>
      </p:sp>
      <p:sp>
        <p:nvSpPr>
          <p:cNvPr id="23" name="Shape 21"/>
          <p:cNvSpPr/>
          <p:nvPr/>
        </p:nvSpPr>
        <p:spPr>
          <a:xfrm>
            <a:off x="8961120" y="3977640"/>
            <a:ext cx="1371600" cy="1371600"/>
          </a:xfrm>
          <a:prstGeom prst="roundRect">
            <a:avLst>
              <a:gd name="adj" fmla="val 5333"/>
            </a:avLst>
          </a:prstGeom>
          <a:solidFill>
            <a:srgbClr val="F7F9F9"/>
          </a:solidFill>
          <a:ln w="19050">
            <a:solidFill>
              <a:srgbClr val="128277"/>
            </a:solidFill>
            <a:prstDash val="solid"/>
          </a:ln>
        </p:spPr>
      </p:sp>
      <p:sp>
        <p:nvSpPr>
          <p:cNvPr id="24" name="Text 22"/>
          <p:cNvSpPr txBox="1"/>
          <p:nvPr/>
        </p:nvSpPr>
        <p:spPr>
          <a:xfrm>
            <a:off x="8961120" y="3977640"/>
            <a:ext cx="1371600" cy="457200"/>
          </a:xfrm>
          <a:prstGeom prst="rect">
            <a:avLst/>
          </a:prstGeom>
          <a:noFill/>
          <a:ln/>
        </p:spPr>
        <p:txBody>
          <a:bodyPr wrap="square" lIns="0" tIns="0" rIns="0" bIns="0" rtlCol="0" anchor="ctr"/>
          <a:lstStyle/>
          <a:p>
            <a:pPr marL="0" indent="0" algn="ctr">
              <a:buNone/>
            </a:pPr>
            <a:r>
              <a:rPr lang="en-US" sz="1400" b="1" dirty="0">
                <a:solidFill>
                  <a:srgbClr val="0B3D42"/>
                </a:solidFill>
                <a:latin typeface="Cambria" pitchFamily="34" charset="0"/>
                <a:ea typeface="Cambria" pitchFamily="34" charset="-122"/>
                <a:cs typeface="Cambria" pitchFamily="34" charset="-120"/>
              </a:rPr>
              <a:t>Continuous</a:t>
            </a:r>
            <a:endParaRPr lang="en-US" sz="1400" dirty="0"/>
          </a:p>
        </p:txBody>
      </p:sp>
      <p:sp>
        <p:nvSpPr>
          <p:cNvPr id="25" name="Text 23"/>
          <p:cNvSpPr txBox="1"/>
          <p:nvPr/>
        </p:nvSpPr>
        <p:spPr>
          <a:xfrm>
            <a:off x="1417320" y="5440680"/>
            <a:ext cx="2834640" cy="27432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Categories / labels</a:t>
            </a:r>
            <a:endParaRPr lang="en-US" sz="1100" dirty="0"/>
          </a:p>
        </p:txBody>
      </p:sp>
      <p:sp>
        <p:nvSpPr>
          <p:cNvPr id="26" name="Text 24"/>
          <p:cNvSpPr txBox="1"/>
          <p:nvPr/>
        </p:nvSpPr>
        <p:spPr>
          <a:xfrm>
            <a:off x="7452360" y="5440680"/>
            <a:ext cx="2834640" cy="27432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Countable / measurable</a:t>
            </a:r>
            <a:endParaRPr lang="en-US" sz="1100" dirty="0"/>
          </a:p>
        </p:txBody>
      </p:sp>
      <p:sp>
        <p:nvSpPr>
          <p:cNvPr id="27" name="Text 25"/>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8" name="Text 26"/>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9 · Qualitative — Nominal Data</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Categories with NO natural order</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128277"/>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Nominal data classifies observations into named categories where no category is "more" or "less" than another.</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Categories are mutually exclusive and unordered</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Can only count frequencies — "how many of each"</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No meaningful ranking, and no arithmetic is valid</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Represented in analysis using labels or codes (not true numbers)</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Blood group (A, B, AB, O)</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Gender</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Color of a product</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City of residence</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Brand of a laptop</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You cannot say "O is greater than A" — the labels simply differ.</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C97F1F"/>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10 · Qualitative — Ordinal Data</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Categories WITH a meaningful order, but unequal gaps</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C97F1F"/>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Ordinal data has categories that can be ranked, but the distance between ranks is not necessarily equal or measurable.</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Order matters: we can say "higher" or "lower"</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The gap between categories is not quantifiable</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Median and mode are valid; mean is usually not meaningful</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Common in surveys, ratings, and grading systems</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Customer satisfaction (Poor, Fair, Good, Excellent)</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Education level (School, UG, PG, PhD)</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Movie star rating (1–5 stars)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Exam grade (A, B, C, D, F)</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"Excellent" &gt; "Good", but we cannot say by how much.</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11 · Quantitative — Discrete Data</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Countable numeric values, usually whole numbers</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128277"/>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Discrete data can take only specific, separate (countable) values — typically obtained by counting.</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Values are countable — often (but not always) integers</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There are gaps between possible values (no fractions "in between")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Arithmetic operations are meaningful</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Answers the question: "How many?"</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Number of students in a class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Number of cars sold in a month</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Number of children in a family</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Number of support tickets raised</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You can have 3 or 4 children, never 3.5.</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C97F1F"/>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12 · Quantitative — Continuous Data</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Measurable values that can take any value in a range</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C97F1F"/>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Continuous data can take any numeric value within a range — typically obtained by measuring, limited only by the precision of the instrument.</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Infinitely divisible — decimals and fractions are meaningful</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Obtained by measuring (not counting)</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Full range of arithmetic and statistics applies</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Answers the question: "How much?"</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Height and weight of students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Temperature of a city</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Time taken to run 100 m</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Monthly electricity bill (₹)</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Height can be 165.3 cm, 165.34 cm, and so on.</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Data Types at a Glance</a:t>
            </a:r>
            <a:endParaRPr lang="en-US" sz="3000" dirty="0"/>
          </a:p>
        </p:txBody>
      </p:sp>
      <p:sp>
        <p:nvSpPr>
          <p:cNvPr id="3" name="Shape 1"/>
          <p:cNvSpPr/>
          <p:nvPr/>
        </p:nvSpPr>
        <p:spPr>
          <a:xfrm>
            <a:off x="457200" y="1554480"/>
            <a:ext cx="1737360" cy="502920"/>
          </a:xfrm>
          <a:prstGeom prst="rect">
            <a:avLst/>
          </a:prstGeom>
          <a:solidFill>
            <a:srgbClr val="0B3D42"/>
          </a:solidFill>
          <a:ln w="9525">
            <a:solidFill>
              <a:srgbClr val="FFFFFF"/>
            </a:solidFill>
            <a:prstDash val="solid"/>
          </a:ln>
        </p:spPr>
      </p:sp>
      <p:sp>
        <p:nvSpPr>
          <p:cNvPr id="4" name="Text 2"/>
          <p:cNvSpPr txBox="1"/>
          <p:nvPr/>
        </p:nvSpPr>
        <p:spPr>
          <a:xfrm>
            <a:off x="548640" y="1554480"/>
            <a:ext cx="155448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Type</a:t>
            </a:r>
            <a:endParaRPr lang="en-US" sz="1350" dirty="0"/>
          </a:p>
        </p:txBody>
      </p:sp>
      <p:sp>
        <p:nvSpPr>
          <p:cNvPr id="5" name="Shape 3"/>
          <p:cNvSpPr/>
          <p:nvPr/>
        </p:nvSpPr>
        <p:spPr>
          <a:xfrm>
            <a:off x="2194560" y="1554480"/>
            <a:ext cx="3474720" cy="502920"/>
          </a:xfrm>
          <a:prstGeom prst="rect">
            <a:avLst/>
          </a:prstGeom>
          <a:solidFill>
            <a:srgbClr val="0B3D42"/>
          </a:solidFill>
          <a:ln w="9525">
            <a:solidFill>
              <a:srgbClr val="FFFFFF"/>
            </a:solidFill>
            <a:prstDash val="solid"/>
          </a:ln>
        </p:spPr>
      </p:sp>
      <p:sp>
        <p:nvSpPr>
          <p:cNvPr id="6" name="Text 4"/>
          <p:cNvSpPr txBox="1"/>
          <p:nvPr/>
        </p:nvSpPr>
        <p:spPr>
          <a:xfrm>
            <a:off x="2286000" y="1554480"/>
            <a:ext cx="329184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Definition</a:t>
            </a:r>
            <a:endParaRPr lang="en-US" sz="1350" dirty="0"/>
          </a:p>
        </p:txBody>
      </p:sp>
      <p:sp>
        <p:nvSpPr>
          <p:cNvPr id="7" name="Shape 5"/>
          <p:cNvSpPr/>
          <p:nvPr/>
        </p:nvSpPr>
        <p:spPr>
          <a:xfrm>
            <a:off x="5669280" y="1554480"/>
            <a:ext cx="3017520" cy="502920"/>
          </a:xfrm>
          <a:prstGeom prst="rect">
            <a:avLst/>
          </a:prstGeom>
          <a:solidFill>
            <a:srgbClr val="0B3D42"/>
          </a:solidFill>
          <a:ln w="9525">
            <a:solidFill>
              <a:srgbClr val="FFFFFF"/>
            </a:solidFill>
            <a:prstDash val="solid"/>
          </a:ln>
        </p:spPr>
      </p:sp>
      <p:sp>
        <p:nvSpPr>
          <p:cNvPr id="8" name="Text 6"/>
          <p:cNvSpPr txBox="1"/>
          <p:nvPr/>
        </p:nvSpPr>
        <p:spPr>
          <a:xfrm>
            <a:off x="5760720" y="1554480"/>
            <a:ext cx="283464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Example</a:t>
            </a:r>
            <a:endParaRPr lang="en-US" sz="1350" dirty="0"/>
          </a:p>
        </p:txBody>
      </p:sp>
      <p:sp>
        <p:nvSpPr>
          <p:cNvPr id="9" name="Shape 7"/>
          <p:cNvSpPr/>
          <p:nvPr/>
        </p:nvSpPr>
        <p:spPr>
          <a:xfrm>
            <a:off x="8686800" y="1554480"/>
            <a:ext cx="3017520" cy="502920"/>
          </a:xfrm>
          <a:prstGeom prst="rect">
            <a:avLst/>
          </a:prstGeom>
          <a:solidFill>
            <a:srgbClr val="0B3D42"/>
          </a:solidFill>
          <a:ln w="9525">
            <a:solidFill>
              <a:srgbClr val="FFFFFF"/>
            </a:solidFill>
            <a:prstDash val="solid"/>
          </a:ln>
        </p:spPr>
      </p:sp>
      <p:sp>
        <p:nvSpPr>
          <p:cNvPr id="10" name="Text 8"/>
          <p:cNvSpPr txBox="1"/>
          <p:nvPr/>
        </p:nvSpPr>
        <p:spPr>
          <a:xfrm>
            <a:off x="8778240" y="1554480"/>
            <a:ext cx="283464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Valid Operations</a:t>
            </a:r>
            <a:endParaRPr lang="en-US" sz="1350" dirty="0"/>
          </a:p>
        </p:txBody>
      </p:sp>
      <p:sp>
        <p:nvSpPr>
          <p:cNvPr id="11" name="Shape 9"/>
          <p:cNvSpPr/>
          <p:nvPr/>
        </p:nvSpPr>
        <p:spPr>
          <a:xfrm>
            <a:off x="457200" y="2057400"/>
            <a:ext cx="1737360" cy="777240"/>
          </a:xfrm>
          <a:prstGeom prst="rect">
            <a:avLst/>
          </a:prstGeom>
          <a:solidFill>
            <a:srgbClr val="FFFFFF"/>
          </a:solidFill>
          <a:ln w="9525">
            <a:solidFill>
              <a:srgbClr val="E1E8E8"/>
            </a:solidFill>
            <a:prstDash val="solid"/>
          </a:ln>
        </p:spPr>
      </p:sp>
      <p:sp>
        <p:nvSpPr>
          <p:cNvPr id="12" name="Text 10"/>
          <p:cNvSpPr txBox="1"/>
          <p:nvPr/>
        </p:nvSpPr>
        <p:spPr>
          <a:xfrm>
            <a:off x="548640" y="205740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Nominal</a:t>
            </a:r>
            <a:endParaRPr lang="en-US" sz="1300" dirty="0"/>
          </a:p>
        </p:txBody>
      </p:sp>
      <p:sp>
        <p:nvSpPr>
          <p:cNvPr id="13" name="Shape 11"/>
          <p:cNvSpPr/>
          <p:nvPr/>
        </p:nvSpPr>
        <p:spPr>
          <a:xfrm>
            <a:off x="2194560" y="2057400"/>
            <a:ext cx="3474720" cy="777240"/>
          </a:xfrm>
          <a:prstGeom prst="rect">
            <a:avLst/>
          </a:prstGeom>
          <a:solidFill>
            <a:srgbClr val="FFFFFF"/>
          </a:solidFill>
          <a:ln w="9525">
            <a:solidFill>
              <a:srgbClr val="E1E8E8"/>
            </a:solidFill>
            <a:prstDash val="solid"/>
          </a:ln>
        </p:spPr>
      </p:sp>
      <p:sp>
        <p:nvSpPr>
          <p:cNvPr id="14" name="Text 12"/>
          <p:cNvSpPr txBox="1"/>
          <p:nvPr/>
        </p:nvSpPr>
        <p:spPr>
          <a:xfrm>
            <a:off x="2286000" y="2057400"/>
            <a:ext cx="32918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Unordered categories</a:t>
            </a:r>
            <a:endParaRPr lang="en-US" sz="1250" dirty="0"/>
          </a:p>
        </p:txBody>
      </p:sp>
      <p:sp>
        <p:nvSpPr>
          <p:cNvPr id="15" name="Shape 13"/>
          <p:cNvSpPr/>
          <p:nvPr/>
        </p:nvSpPr>
        <p:spPr>
          <a:xfrm>
            <a:off x="5669280" y="2057400"/>
            <a:ext cx="3017520" cy="777240"/>
          </a:xfrm>
          <a:prstGeom prst="rect">
            <a:avLst/>
          </a:prstGeom>
          <a:solidFill>
            <a:srgbClr val="FFFFFF"/>
          </a:solidFill>
          <a:ln w="9525">
            <a:solidFill>
              <a:srgbClr val="E1E8E8"/>
            </a:solidFill>
            <a:prstDash val="solid"/>
          </a:ln>
        </p:spPr>
      </p:sp>
      <p:sp>
        <p:nvSpPr>
          <p:cNvPr id="16" name="Text 14"/>
          <p:cNvSpPr txBox="1"/>
          <p:nvPr/>
        </p:nvSpPr>
        <p:spPr>
          <a:xfrm>
            <a:off x="5760720" y="205740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Blood group, gender</a:t>
            </a:r>
            <a:endParaRPr lang="en-US" sz="1250" dirty="0"/>
          </a:p>
        </p:txBody>
      </p:sp>
      <p:sp>
        <p:nvSpPr>
          <p:cNvPr id="17" name="Shape 15"/>
          <p:cNvSpPr/>
          <p:nvPr/>
        </p:nvSpPr>
        <p:spPr>
          <a:xfrm>
            <a:off x="8686800" y="2057400"/>
            <a:ext cx="3017520" cy="777240"/>
          </a:xfrm>
          <a:prstGeom prst="rect">
            <a:avLst/>
          </a:prstGeom>
          <a:solidFill>
            <a:srgbClr val="FFFFFF"/>
          </a:solidFill>
          <a:ln w="9525">
            <a:solidFill>
              <a:srgbClr val="E1E8E8"/>
            </a:solidFill>
            <a:prstDash val="solid"/>
          </a:ln>
        </p:spPr>
      </p:sp>
      <p:sp>
        <p:nvSpPr>
          <p:cNvPr id="18" name="Text 16"/>
          <p:cNvSpPr txBox="1"/>
          <p:nvPr/>
        </p:nvSpPr>
        <p:spPr>
          <a:xfrm>
            <a:off x="8778240" y="205740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Count, mode</a:t>
            </a:r>
            <a:endParaRPr lang="en-US" sz="1250" dirty="0"/>
          </a:p>
        </p:txBody>
      </p:sp>
      <p:sp>
        <p:nvSpPr>
          <p:cNvPr id="19" name="Shape 17"/>
          <p:cNvSpPr/>
          <p:nvPr/>
        </p:nvSpPr>
        <p:spPr>
          <a:xfrm>
            <a:off x="457200" y="2834640"/>
            <a:ext cx="1737360" cy="777240"/>
          </a:xfrm>
          <a:prstGeom prst="rect">
            <a:avLst/>
          </a:prstGeom>
          <a:solidFill>
            <a:srgbClr val="F7F9F9"/>
          </a:solidFill>
          <a:ln w="9525">
            <a:solidFill>
              <a:srgbClr val="E1E8E8"/>
            </a:solidFill>
            <a:prstDash val="solid"/>
          </a:ln>
        </p:spPr>
      </p:sp>
      <p:sp>
        <p:nvSpPr>
          <p:cNvPr id="20" name="Text 18"/>
          <p:cNvSpPr txBox="1"/>
          <p:nvPr/>
        </p:nvSpPr>
        <p:spPr>
          <a:xfrm>
            <a:off x="548640" y="283464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Ordinal</a:t>
            </a:r>
            <a:endParaRPr lang="en-US" sz="1300" dirty="0"/>
          </a:p>
        </p:txBody>
      </p:sp>
      <p:sp>
        <p:nvSpPr>
          <p:cNvPr id="21" name="Shape 19"/>
          <p:cNvSpPr/>
          <p:nvPr/>
        </p:nvSpPr>
        <p:spPr>
          <a:xfrm>
            <a:off x="2194560" y="2834640"/>
            <a:ext cx="3474720" cy="777240"/>
          </a:xfrm>
          <a:prstGeom prst="rect">
            <a:avLst/>
          </a:prstGeom>
          <a:solidFill>
            <a:srgbClr val="F7F9F9"/>
          </a:solidFill>
          <a:ln w="9525">
            <a:solidFill>
              <a:srgbClr val="E1E8E8"/>
            </a:solidFill>
            <a:prstDash val="solid"/>
          </a:ln>
        </p:spPr>
      </p:sp>
      <p:sp>
        <p:nvSpPr>
          <p:cNvPr id="22" name="Text 20"/>
          <p:cNvSpPr txBox="1"/>
          <p:nvPr/>
        </p:nvSpPr>
        <p:spPr>
          <a:xfrm>
            <a:off x="2286000" y="2834640"/>
            <a:ext cx="32918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Ordered categories, unequal gaps</a:t>
            </a:r>
            <a:endParaRPr lang="en-US" sz="1250" dirty="0"/>
          </a:p>
        </p:txBody>
      </p:sp>
      <p:sp>
        <p:nvSpPr>
          <p:cNvPr id="23" name="Shape 21"/>
          <p:cNvSpPr/>
          <p:nvPr/>
        </p:nvSpPr>
        <p:spPr>
          <a:xfrm>
            <a:off x="5669280" y="2834640"/>
            <a:ext cx="3017520" cy="777240"/>
          </a:xfrm>
          <a:prstGeom prst="rect">
            <a:avLst/>
          </a:prstGeom>
          <a:solidFill>
            <a:srgbClr val="F7F9F9"/>
          </a:solidFill>
          <a:ln w="9525">
            <a:solidFill>
              <a:srgbClr val="E1E8E8"/>
            </a:solidFill>
            <a:prstDash val="solid"/>
          </a:ln>
        </p:spPr>
      </p:sp>
      <p:sp>
        <p:nvSpPr>
          <p:cNvPr id="24" name="Text 22"/>
          <p:cNvSpPr txBox="1"/>
          <p:nvPr/>
        </p:nvSpPr>
        <p:spPr>
          <a:xfrm>
            <a:off x="5760720" y="283464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Satisfaction rating</a:t>
            </a:r>
            <a:endParaRPr lang="en-US" sz="1250" dirty="0"/>
          </a:p>
        </p:txBody>
      </p:sp>
      <p:sp>
        <p:nvSpPr>
          <p:cNvPr id="25" name="Shape 23"/>
          <p:cNvSpPr/>
          <p:nvPr/>
        </p:nvSpPr>
        <p:spPr>
          <a:xfrm>
            <a:off x="8686800" y="2834640"/>
            <a:ext cx="3017520" cy="777240"/>
          </a:xfrm>
          <a:prstGeom prst="rect">
            <a:avLst/>
          </a:prstGeom>
          <a:solidFill>
            <a:srgbClr val="F7F9F9"/>
          </a:solidFill>
          <a:ln w="9525">
            <a:solidFill>
              <a:srgbClr val="E1E8E8"/>
            </a:solidFill>
            <a:prstDash val="solid"/>
          </a:ln>
        </p:spPr>
      </p:sp>
      <p:sp>
        <p:nvSpPr>
          <p:cNvPr id="26" name="Text 24"/>
          <p:cNvSpPr txBox="1"/>
          <p:nvPr/>
        </p:nvSpPr>
        <p:spPr>
          <a:xfrm>
            <a:off x="8778240" y="283464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Count, mode, median</a:t>
            </a:r>
            <a:endParaRPr lang="en-US" sz="1250" dirty="0"/>
          </a:p>
        </p:txBody>
      </p:sp>
      <p:sp>
        <p:nvSpPr>
          <p:cNvPr id="27" name="Shape 25"/>
          <p:cNvSpPr/>
          <p:nvPr/>
        </p:nvSpPr>
        <p:spPr>
          <a:xfrm>
            <a:off x="457200" y="3611880"/>
            <a:ext cx="1737360" cy="777240"/>
          </a:xfrm>
          <a:prstGeom prst="rect">
            <a:avLst/>
          </a:prstGeom>
          <a:solidFill>
            <a:srgbClr val="FFFFFF"/>
          </a:solidFill>
          <a:ln w="9525">
            <a:solidFill>
              <a:srgbClr val="E1E8E8"/>
            </a:solidFill>
            <a:prstDash val="solid"/>
          </a:ln>
        </p:spPr>
      </p:sp>
      <p:sp>
        <p:nvSpPr>
          <p:cNvPr id="28" name="Text 26"/>
          <p:cNvSpPr txBox="1"/>
          <p:nvPr/>
        </p:nvSpPr>
        <p:spPr>
          <a:xfrm>
            <a:off x="548640" y="361188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Discrete</a:t>
            </a:r>
            <a:endParaRPr lang="en-US" sz="1300" dirty="0"/>
          </a:p>
        </p:txBody>
      </p:sp>
      <p:sp>
        <p:nvSpPr>
          <p:cNvPr id="29" name="Shape 27"/>
          <p:cNvSpPr/>
          <p:nvPr/>
        </p:nvSpPr>
        <p:spPr>
          <a:xfrm>
            <a:off x="2194560" y="3611880"/>
            <a:ext cx="3474720" cy="777240"/>
          </a:xfrm>
          <a:prstGeom prst="rect">
            <a:avLst/>
          </a:prstGeom>
          <a:solidFill>
            <a:srgbClr val="FFFFFF"/>
          </a:solidFill>
          <a:ln w="9525">
            <a:solidFill>
              <a:srgbClr val="E1E8E8"/>
            </a:solidFill>
            <a:prstDash val="solid"/>
          </a:ln>
        </p:spPr>
      </p:sp>
      <p:sp>
        <p:nvSpPr>
          <p:cNvPr id="30" name="Text 28"/>
          <p:cNvSpPr txBox="1"/>
          <p:nvPr/>
        </p:nvSpPr>
        <p:spPr>
          <a:xfrm>
            <a:off x="2286000" y="3611880"/>
            <a:ext cx="32918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Countable numeric values</a:t>
            </a:r>
            <a:endParaRPr lang="en-US" sz="1250" dirty="0"/>
          </a:p>
        </p:txBody>
      </p:sp>
      <p:sp>
        <p:nvSpPr>
          <p:cNvPr id="31" name="Shape 29"/>
          <p:cNvSpPr/>
          <p:nvPr/>
        </p:nvSpPr>
        <p:spPr>
          <a:xfrm>
            <a:off x="5669280" y="3611880"/>
            <a:ext cx="3017520" cy="777240"/>
          </a:xfrm>
          <a:prstGeom prst="rect">
            <a:avLst/>
          </a:prstGeom>
          <a:solidFill>
            <a:srgbClr val="FFFFFF"/>
          </a:solidFill>
          <a:ln w="9525">
            <a:solidFill>
              <a:srgbClr val="E1E8E8"/>
            </a:solidFill>
            <a:prstDash val="solid"/>
          </a:ln>
        </p:spPr>
      </p:sp>
      <p:sp>
        <p:nvSpPr>
          <p:cNvPr id="32" name="Text 30"/>
          <p:cNvSpPr txBox="1"/>
          <p:nvPr/>
        </p:nvSpPr>
        <p:spPr>
          <a:xfrm>
            <a:off x="5760720" y="361188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 of children</a:t>
            </a:r>
            <a:endParaRPr lang="en-US" sz="1250" dirty="0"/>
          </a:p>
        </p:txBody>
      </p:sp>
      <p:sp>
        <p:nvSpPr>
          <p:cNvPr id="33" name="Shape 31"/>
          <p:cNvSpPr/>
          <p:nvPr/>
        </p:nvSpPr>
        <p:spPr>
          <a:xfrm>
            <a:off x="8686800" y="3611880"/>
            <a:ext cx="3017520" cy="777240"/>
          </a:xfrm>
          <a:prstGeom prst="rect">
            <a:avLst/>
          </a:prstGeom>
          <a:solidFill>
            <a:srgbClr val="FFFFFF"/>
          </a:solidFill>
          <a:ln w="9525">
            <a:solidFill>
              <a:srgbClr val="E1E8E8"/>
            </a:solidFill>
            <a:prstDash val="solid"/>
          </a:ln>
        </p:spPr>
      </p:sp>
      <p:sp>
        <p:nvSpPr>
          <p:cNvPr id="34" name="Text 32"/>
          <p:cNvSpPr txBox="1"/>
          <p:nvPr/>
        </p:nvSpPr>
        <p:spPr>
          <a:xfrm>
            <a:off x="8778240" y="361188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All arithmetic</a:t>
            </a:r>
            <a:endParaRPr lang="en-US" sz="1250" dirty="0"/>
          </a:p>
        </p:txBody>
      </p:sp>
      <p:sp>
        <p:nvSpPr>
          <p:cNvPr id="35" name="Shape 33"/>
          <p:cNvSpPr/>
          <p:nvPr/>
        </p:nvSpPr>
        <p:spPr>
          <a:xfrm>
            <a:off x="457200" y="4389120"/>
            <a:ext cx="1737360" cy="777240"/>
          </a:xfrm>
          <a:prstGeom prst="rect">
            <a:avLst/>
          </a:prstGeom>
          <a:solidFill>
            <a:srgbClr val="F7F9F9"/>
          </a:solidFill>
          <a:ln w="9525">
            <a:solidFill>
              <a:srgbClr val="E1E8E8"/>
            </a:solidFill>
            <a:prstDash val="solid"/>
          </a:ln>
        </p:spPr>
      </p:sp>
      <p:sp>
        <p:nvSpPr>
          <p:cNvPr id="36" name="Text 34"/>
          <p:cNvSpPr txBox="1"/>
          <p:nvPr/>
        </p:nvSpPr>
        <p:spPr>
          <a:xfrm>
            <a:off x="548640" y="438912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Continuous</a:t>
            </a:r>
            <a:endParaRPr lang="en-US" sz="1300" dirty="0"/>
          </a:p>
        </p:txBody>
      </p:sp>
      <p:sp>
        <p:nvSpPr>
          <p:cNvPr id="37" name="Shape 35"/>
          <p:cNvSpPr/>
          <p:nvPr/>
        </p:nvSpPr>
        <p:spPr>
          <a:xfrm>
            <a:off x="2194560" y="4389120"/>
            <a:ext cx="3474720" cy="777240"/>
          </a:xfrm>
          <a:prstGeom prst="rect">
            <a:avLst/>
          </a:prstGeom>
          <a:solidFill>
            <a:srgbClr val="F7F9F9"/>
          </a:solidFill>
          <a:ln w="9525">
            <a:solidFill>
              <a:srgbClr val="E1E8E8"/>
            </a:solidFill>
            <a:prstDash val="solid"/>
          </a:ln>
        </p:spPr>
      </p:sp>
      <p:sp>
        <p:nvSpPr>
          <p:cNvPr id="38" name="Text 36"/>
          <p:cNvSpPr txBox="1"/>
          <p:nvPr/>
        </p:nvSpPr>
        <p:spPr>
          <a:xfrm>
            <a:off x="2286000" y="4389120"/>
            <a:ext cx="32918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Measurable numeric values</a:t>
            </a:r>
            <a:endParaRPr lang="en-US" sz="1250" dirty="0"/>
          </a:p>
        </p:txBody>
      </p:sp>
      <p:sp>
        <p:nvSpPr>
          <p:cNvPr id="39" name="Shape 37"/>
          <p:cNvSpPr/>
          <p:nvPr/>
        </p:nvSpPr>
        <p:spPr>
          <a:xfrm>
            <a:off x="5669280" y="4389120"/>
            <a:ext cx="3017520" cy="777240"/>
          </a:xfrm>
          <a:prstGeom prst="rect">
            <a:avLst/>
          </a:prstGeom>
          <a:solidFill>
            <a:srgbClr val="F7F9F9"/>
          </a:solidFill>
          <a:ln w="9525">
            <a:solidFill>
              <a:srgbClr val="E1E8E8"/>
            </a:solidFill>
            <a:prstDash val="solid"/>
          </a:ln>
        </p:spPr>
      </p:sp>
      <p:sp>
        <p:nvSpPr>
          <p:cNvPr id="40" name="Text 38"/>
          <p:cNvSpPr txBox="1"/>
          <p:nvPr/>
        </p:nvSpPr>
        <p:spPr>
          <a:xfrm>
            <a:off x="5760720" y="438912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Height, temperature</a:t>
            </a:r>
            <a:endParaRPr lang="en-US" sz="1250" dirty="0"/>
          </a:p>
        </p:txBody>
      </p:sp>
      <p:sp>
        <p:nvSpPr>
          <p:cNvPr id="41" name="Shape 39"/>
          <p:cNvSpPr/>
          <p:nvPr/>
        </p:nvSpPr>
        <p:spPr>
          <a:xfrm>
            <a:off x="8686800" y="4389120"/>
            <a:ext cx="3017520" cy="777240"/>
          </a:xfrm>
          <a:prstGeom prst="rect">
            <a:avLst/>
          </a:prstGeom>
          <a:solidFill>
            <a:srgbClr val="F7F9F9"/>
          </a:solidFill>
          <a:ln w="9525">
            <a:solidFill>
              <a:srgbClr val="E1E8E8"/>
            </a:solidFill>
            <a:prstDash val="solid"/>
          </a:ln>
        </p:spPr>
      </p:sp>
      <p:sp>
        <p:nvSpPr>
          <p:cNvPr id="42" name="Text 40"/>
          <p:cNvSpPr txBox="1"/>
          <p:nvPr/>
        </p:nvSpPr>
        <p:spPr>
          <a:xfrm>
            <a:off x="8778240" y="4389120"/>
            <a:ext cx="28346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All arithmetic</a:t>
            </a:r>
            <a:endParaRPr lang="en-US" sz="1250" dirty="0"/>
          </a:p>
        </p:txBody>
      </p:sp>
      <p:sp>
        <p:nvSpPr>
          <p:cNvPr id="43" name="Text 41"/>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44" name="Text 42"/>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Measurement Scales: A Finer Lens</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Data type tells us the category; measurement scale tells us what we can compute</a:t>
            </a:r>
            <a:endParaRPr lang="en-US" sz="1400" dirty="0"/>
          </a:p>
        </p:txBody>
      </p:sp>
      <p:sp>
        <p:nvSpPr>
          <p:cNvPr id="4" name="Shape 2"/>
          <p:cNvSpPr/>
          <p:nvPr/>
        </p:nvSpPr>
        <p:spPr>
          <a:xfrm>
            <a:off x="457200" y="2377440"/>
            <a:ext cx="2468880" cy="2651760"/>
          </a:xfrm>
          <a:prstGeom prst="roundRect">
            <a:avLst>
              <a:gd name="adj" fmla="val 3704"/>
            </a:avLst>
          </a:prstGeom>
          <a:solidFill>
            <a:srgbClr val="F7F9F9"/>
          </a:solidFill>
          <a:ln w="12700">
            <a:solidFill>
              <a:srgbClr val="E1E8E8"/>
            </a:solidFill>
            <a:prstDash val="solid"/>
          </a:ln>
        </p:spPr>
      </p:sp>
      <p:sp>
        <p:nvSpPr>
          <p:cNvPr id="5" name="Shape 3"/>
          <p:cNvSpPr/>
          <p:nvPr/>
        </p:nvSpPr>
        <p:spPr>
          <a:xfrm>
            <a:off x="1325880" y="2697480"/>
            <a:ext cx="731520" cy="731520"/>
          </a:xfrm>
          <a:prstGeom prst="ellipse">
            <a:avLst/>
          </a:prstGeom>
          <a:solidFill>
            <a:srgbClr val="C97F1F"/>
          </a:solidFill>
          <a:ln/>
        </p:spPr>
      </p:sp>
      <p:pic>
        <p:nvPicPr>
          <p:cNvPr id="6" name="Image 0" descr="preencoded.png"/>
          <p:cNvPicPr>
            <a:picLocks noChangeAspect="1"/>
          </p:cNvPicPr>
          <p:nvPr/>
        </p:nvPicPr>
        <p:blipFill>
          <a:blip r:embed="rId3"/>
          <a:stretch>
            <a:fillRect/>
          </a:stretch>
        </p:blipFill>
        <p:spPr>
          <a:xfrm>
            <a:off x="1420978" y="2792578"/>
            <a:ext cx="541325" cy="541325"/>
          </a:xfrm>
          <a:prstGeom prst="rect">
            <a:avLst/>
          </a:prstGeom>
        </p:spPr>
      </p:pic>
      <p:sp>
        <p:nvSpPr>
          <p:cNvPr id="7" name="Text 4"/>
          <p:cNvSpPr txBox="1"/>
          <p:nvPr/>
        </p:nvSpPr>
        <p:spPr>
          <a:xfrm>
            <a:off x="457200" y="3611880"/>
            <a:ext cx="2468880" cy="457200"/>
          </a:xfrm>
          <a:prstGeom prst="rect">
            <a:avLst/>
          </a:prstGeom>
          <a:noFill/>
          <a:ln/>
        </p:spPr>
        <p:txBody>
          <a:bodyPr wrap="square" lIns="0" tIns="0" rIns="0" bIns="0" rtlCol="0" anchor="ctr"/>
          <a:lstStyle/>
          <a:p>
            <a:pPr marL="0" indent="0" algn="ctr">
              <a:buNone/>
            </a:pPr>
            <a:r>
              <a:rPr lang="en-US" sz="1700" b="1" dirty="0">
                <a:solidFill>
                  <a:srgbClr val="0B3D42"/>
                </a:solidFill>
                <a:latin typeface="Cambria" pitchFamily="34" charset="0"/>
                <a:ea typeface="Cambria" pitchFamily="34" charset="-122"/>
                <a:cs typeface="Cambria" pitchFamily="34" charset="-120"/>
              </a:rPr>
              <a:t>Nominal</a:t>
            </a:r>
            <a:endParaRPr lang="en-US" sz="1700" dirty="0"/>
          </a:p>
        </p:txBody>
      </p:sp>
      <p:sp>
        <p:nvSpPr>
          <p:cNvPr id="8" name="Text 5"/>
          <p:cNvSpPr txBox="1"/>
          <p:nvPr/>
        </p:nvSpPr>
        <p:spPr>
          <a:xfrm>
            <a:off x="457200" y="4069080"/>
            <a:ext cx="2468880" cy="36576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Level 1</a:t>
            </a:r>
            <a:endParaRPr lang="en-US" sz="1100" dirty="0"/>
          </a:p>
        </p:txBody>
      </p:sp>
      <p:sp>
        <p:nvSpPr>
          <p:cNvPr id="9" name="Text 6"/>
          <p:cNvSpPr txBox="1"/>
          <p:nvPr/>
        </p:nvSpPr>
        <p:spPr>
          <a:xfrm>
            <a:off x="2926080" y="3383280"/>
            <a:ext cx="457200" cy="457200"/>
          </a:xfrm>
          <a:prstGeom prst="rect">
            <a:avLst/>
          </a:prstGeom>
          <a:noFill/>
          <a:ln/>
        </p:spPr>
        <p:txBody>
          <a:bodyPr wrap="square" lIns="0" tIns="0" rIns="0" bIns="0" rtlCol="0" anchor="ctr"/>
          <a:lstStyle/>
          <a:p>
            <a:pPr marL="0" indent="0" algn="ctr">
              <a:buNone/>
            </a:pPr>
            <a:r>
              <a:rPr lang="en-US" sz="2000" b="1" dirty="0">
                <a:solidFill>
                  <a:srgbClr val="128277"/>
                </a:solidFill>
              </a:rPr>
              <a:t>→</a:t>
            </a:r>
            <a:endParaRPr lang="en-US" sz="2000" dirty="0"/>
          </a:p>
        </p:txBody>
      </p:sp>
      <p:sp>
        <p:nvSpPr>
          <p:cNvPr id="10" name="Shape 7"/>
          <p:cNvSpPr/>
          <p:nvPr/>
        </p:nvSpPr>
        <p:spPr>
          <a:xfrm>
            <a:off x="3383280" y="2377440"/>
            <a:ext cx="2468880" cy="2651760"/>
          </a:xfrm>
          <a:prstGeom prst="roundRect">
            <a:avLst>
              <a:gd name="adj" fmla="val 3704"/>
            </a:avLst>
          </a:prstGeom>
          <a:solidFill>
            <a:srgbClr val="F7F9F9"/>
          </a:solidFill>
          <a:ln w="12700">
            <a:solidFill>
              <a:srgbClr val="E1E8E8"/>
            </a:solidFill>
            <a:prstDash val="solid"/>
          </a:ln>
        </p:spPr>
      </p:sp>
      <p:sp>
        <p:nvSpPr>
          <p:cNvPr id="11" name="Shape 8"/>
          <p:cNvSpPr/>
          <p:nvPr/>
        </p:nvSpPr>
        <p:spPr>
          <a:xfrm>
            <a:off x="4251960" y="2697480"/>
            <a:ext cx="731520" cy="731520"/>
          </a:xfrm>
          <a:prstGeom prst="ellipse">
            <a:avLst/>
          </a:prstGeom>
          <a:solidFill>
            <a:srgbClr val="128277"/>
          </a:solidFill>
          <a:ln/>
        </p:spPr>
      </p:sp>
      <p:pic>
        <p:nvPicPr>
          <p:cNvPr id="12" name="Image 1" descr="preencoded.png"/>
          <p:cNvPicPr>
            <a:picLocks noChangeAspect="1"/>
          </p:cNvPicPr>
          <p:nvPr/>
        </p:nvPicPr>
        <p:blipFill>
          <a:blip r:embed="rId4"/>
          <a:stretch>
            <a:fillRect/>
          </a:stretch>
        </p:blipFill>
        <p:spPr>
          <a:xfrm>
            <a:off x="4347058" y="2792578"/>
            <a:ext cx="541325" cy="541325"/>
          </a:xfrm>
          <a:prstGeom prst="rect">
            <a:avLst/>
          </a:prstGeom>
        </p:spPr>
      </p:pic>
      <p:sp>
        <p:nvSpPr>
          <p:cNvPr id="13" name="Text 9"/>
          <p:cNvSpPr txBox="1"/>
          <p:nvPr/>
        </p:nvSpPr>
        <p:spPr>
          <a:xfrm>
            <a:off x="3383280" y="3611880"/>
            <a:ext cx="2468880" cy="457200"/>
          </a:xfrm>
          <a:prstGeom prst="rect">
            <a:avLst/>
          </a:prstGeom>
          <a:noFill/>
          <a:ln/>
        </p:spPr>
        <p:txBody>
          <a:bodyPr wrap="square" lIns="0" tIns="0" rIns="0" bIns="0" rtlCol="0" anchor="ctr"/>
          <a:lstStyle/>
          <a:p>
            <a:pPr marL="0" indent="0" algn="ctr">
              <a:buNone/>
            </a:pPr>
            <a:r>
              <a:rPr lang="en-US" sz="1700" b="1" dirty="0">
                <a:solidFill>
                  <a:srgbClr val="0B3D42"/>
                </a:solidFill>
                <a:latin typeface="Cambria" pitchFamily="34" charset="0"/>
                <a:ea typeface="Cambria" pitchFamily="34" charset="-122"/>
                <a:cs typeface="Cambria" pitchFamily="34" charset="-120"/>
              </a:rPr>
              <a:t>Ordinal</a:t>
            </a:r>
            <a:endParaRPr lang="en-US" sz="1700" dirty="0"/>
          </a:p>
        </p:txBody>
      </p:sp>
      <p:sp>
        <p:nvSpPr>
          <p:cNvPr id="14" name="Text 10"/>
          <p:cNvSpPr txBox="1"/>
          <p:nvPr/>
        </p:nvSpPr>
        <p:spPr>
          <a:xfrm>
            <a:off x="3383280" y="4069080"/>
            <a:ext cx="2468880" cy="36576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Level 2</a:t>
            </a:r>
            <a:endParaRPr lang="en-US" sz="1100" dirty="0"/>
          </a:p>
        </p:txBody>
      </p:sp>
      <p:sp>
        <p:nvSpPr>
          <p:cNvPr id="15" name="Text 11"/>
          <p:cNvSpPr txBox="1"/>
          <p:nvPr/>
        </p:nvSpPr>
        <p:spPr>
          <a:xfrm>
            <a:off x="5852160" y="3383280"/>
            <a:ext cx="457200" cy="457200"/>
          </a:xfrm>
          <a:prstGeom prst="rect">
            <a:avLst/>
          </a:prstGeom>
          <a:noFill/>
          <a:ln/>
        </p:spPr>
        <p:txBody>
          <a:bodyPr wrap="square" lIns="0" tIns="0" rIns="0" bIns="0" rtlCol="0" anchor="ctr"/>
          <a:lstStyle/>
          <a:p>
            <a:pPr marL="0" indent="0" algn="ctr">
              <a:buNone/>
            </a:pPr>
            <a:r>
              <a:rPr lang="en-US" sz="2000" b="1" dirty="0">
                <a:solidFill>
                  <a:srgbClr val="128277"/>
                </a:solidFill>
              </a:rPr>
              <a:t>→</a:t>
            </a:r>
            <a:endParaRPr lang="en-US" sz="2000" dirty="0"/>
          </a:p>
        </p:txBody>
      </p:sp>
      <p:sp>
        <p:nvSpPr>
          <p:cNvPr id="16" name="Shape 12"/>
          <p:cNvSpPr/>
          <p:nvPr/>
        </p:nvSpPr>
        <p:spPr>
          <a:xfrm>
            <a:off x="6309360" y="2377440"/>
            <a:ext cx="2468880" cy="2651760"/>
          </a:xfrm>
          <a:prstGeom prst="roundRect">
            <a:avLst>
              <a:gd name="adj" fmla="val 3704"/>
            </a:avLst>
          </a:prstGeom>
          <a:solidFill>
            <a:srgbClr val="F7F9F9"/>
          </a:solidFill>
          <a:ln w="12700">
            <a:solidFill>
              <a:srgbClr val="E1E8E8"/>
            </a:solidFill>
            <a:prstDash val="solid"/>
          </a:ln>
        </p:spPr>
      </p:sp>
      <p:sp>
        <p:nvSpPr>
          <p:cNvPr id="17" name="Shape 13"/>
          <p:cNvSpPr/>
          <p:nvPr/>
        </p:nvSpPr>
        <p:spPr>
          <a:xfrm>
            <a:off x="7178040" y="2697480"/>
            <a:ext cx="731520" cy="731520"/>
          </a:xfrm>
          <a:prstGeom prst="ellipse">
            <a:avLst/>
          </a:prstGeom>
          <a:solidFill>
            <a:srgbClr val="0B3D42"/>
          </a:solidFill>
          <a:ln/>
        </p:spPr>
      </p:sp>
      <p:pic>
        <p:nvPicPr>
          <p:cNvPr id="18" name="Image 2" descr="preencoded.png"/>
          <p:cNvPicPr>
            <a:picLocks noChangeAspect="1"/>
          </p:cNvPicPr>
          <p:nvPr/>
        </p:nvPicPr>
        <p:blipFill>
          <a:blip r:embed="rId5"/>
          <a:stretch>
            <a:fillRect/>
          </a:stretch>
        </p:blipFill>
        <p:spPr>
          <a:xfrm>
            <a:off x="7273138" y="2792578"/>
            <a:ext cx="541325" cy="541325"/>
          </a:xfrm>
          <a:prstGeom prst="rect">
            <a:avLst/>
          </a:prstGeom>
        </p:spPr>
      </p:pic>
      <p:sp>
        <p:nvSpPr>
          <p:cNvPr id="19" name="Text 14"/>
          <p:cNvSpPr txBox="1"/>
          <p:nvPr/>
        </p:nvSpPr>
        <p:spPr>
          <a:xfrm>
            <a:off x="6309360" y="3611880"/>
            <a:ext cx="2468880" cy="457200"/>
          </a:xfrm>
          <a:prstGeom prst="rect">
            <a:avLst/>
          </a:prstGeom>
          <a:noFill/>
          <a:ln/>
        </p:spPr>
        <p:txBody>
          <a:bodyPr wrap="square" lIns="0" tIns="0" rIns="0" bIns="0" rtlCol="0" anchor="ctr"/>
          <a:lstStyle/>
          <a:p>
            <a:pPr marL="0" indent="0" algn="ctr">
              <a:buNone/>
            </a:pPr>
            <a:r>
              <a:rPr lang="en-US" sz="1700" b="1" dirty="0">
                <a:solidFill>
                  <a:srgbClr val="0B3D42"/>
                </a:solidFill>
                <a:latin typeface="Cambria" pitchFamily="34" charset="0"/>
                <a:ea typeface="Cambria" pitchFamily="34" charset="-122"/>
                <a:cs typeface="Cambria" pitchFamily="34" charset="-120"/>
              </a:rPr>
              <a:t>Interval</a:t>
            </a:r>
            <a:endParaRPr lang="en-US" sz="1700" dirty="0"/>
          </a:p>
        </p:txBody>
      </p:sp>
      <p:sp>
        <p:nvSpPr>
          <p:cNvPr id="20" name="Text 15"/>
          <p:cNvSpPr txBox="1"/>
          <p:nvPr/>
        </p:nvSpPr>
        <p:spPr>
          <a:xfrm>
            <a:off x="6309360" y="4069080"/>
            <a:ext cx="2468880" cy="36576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Level 3</a:t>
            </a:r>
            <a:endParaRPr lang="en-US" sz="1100" dirty="0"/>
          </a:p>
        </p:txBody>
      </p:sp>
      <p:sp>
        <p:nvSpPr>
          <p:cNvPr id="21" name="Text 16"/>
          <p:cNvSpPr txBox="1"/>
          <p:nvPr/>
        </p:nvSpPr>
        <p:spPr>
          <a:xfrm>
            <a:off x="8778240" y="3383280"/>
            <a:ext cx="457200" cy="457200"/>
          </a:xfrm>
          <a:prstGeom prst="rect">
            <a:avLst/>
          </a:prstGeom>
          <a:noFill/>
          <a:ln/>
        </p:spPr>
        <p:txBody>
          <a:bodyPr wrap="square" lIns="0" tIns="0" rIns="0" bIns="0" rtlCol="0" anchor="ctr"/>
          <a:lstStyle/>
          <a:p>
            <a:pPr marL="0" indent="0" algn="ctr">
              <a:buNone/>
            </a:pPr>
            <a:r>
              <a:rPr lang="en-US" sz="2000" b="1" dirty="0">
                <a:solidFill>
                  <a:srgbClr val="128277"/>
                </a:solidFill>
              </a:rPr>
              <a:t>→</a:t>
            </a:r>
            <a:endParaRPr lang="en-US" sz="2000" dirty="0"/>
          </a:p>
        </p:txBody>
      </p:sp>
      <p:sp>
        <p:nvSpPr>
          <p:cNvPr id="22" name="Shape 17"/>
          <p:cNvSpPr/>
          <p:nvPr/>
        </p:nvSpPr>
        <p:spPr>
          <a:xfrm>
            <a:off x="9235440" y="2377440"/>
            <a:ext cx="2468880" cy="2651760"/>
          </a:xfrm>
          <a:prstGeom prst="roundRect">
            <a:avLst>
              <a:gd name="adj" fmla="val 3704"/>
            </a:avLst>
          </a:prstGeom>
          <a:solidFill>
            <a:srgbClr val="F7F9F9"/>
          </a:solidFill>
          <a:ln w="12700">
            <a:solidFill>
              <a:srgbClr val="E1E8E8"/>
            </a:solidFill>
            <a:prstDash val="solid"/>
          </a:ln>
        </p:spPr>
      </p:sp>
      <p:sp>
        <p:nvSpPr>
          <p:cNvPr id="23" name="Shape 18"/>
          <p:cNvSpPr/>
          <p:nvPr/>
        </p:nvSpPr>
        <p:spPr>
          <a:xfrm>
            <a:off x="10104120" y="2697480"/>
            <a:ext cx="731520" cy="731520"/>
          </a:xfrm>
          <a:prstGeom prst="ellipse">
            <a:avLst/>
          </a:prstGeom>
          <a:solidFill>
            <a:srgbClr val="F2A541"/>
          </a:solidFill>
          <a:ln/>
        </p:spPr>
      </p:sp>
      <p:pic>
        <p:nvPicPr>
          <p:cNvPr id="24" name="Image 3" descr="preencoded.png"/>
          <p:cNvPicPr>
            <a:picLocks noChangeAspect="1"/>
          </p:cNvPicPr>
          <p:nvPr/>
        </p:nvPicPr>
        <p:blipFill>
          <a:blip r:embed="rId6"/>
          <a:stretch>
            <a:fillRect/>
          </a:stretch>
        </p:blipFill>
        <p:spPr>
          <a:xfrm>
            <a:off x="10199218" y="2792578"/>
            <a:ext cx="541325" cy="541325"/>
          </a:xfrm>
          <a:prstGeom prst="rect">
            <a:avLst/>
          </a:prstGeom>
        </p:spPr>
      </p:pic>
      <p:sp>
        <p:nvSpPr>
          <p:cNvPr id="25" name="Text 19"/>
          <p:cNvSpPr txBox="1"/>
          <p:nvPr/>
        </p:nvSpPr>
        <p:spPr>
          <a:xfrm>
            <a:off x="9235440" y="3611880"/>
            <a:ext cx="2468880" cy="457200"/>
          </a:xfrm>
          <a:prstGeom prst="rect">
            <a:avLst/>
          </a:prstGeom>
          <a:noFill/>
          <a:ln/>
        </p:spPr>
        <p:txBody>
          <a:bodyPr wrap="square" lIns="0" tIns="0" rIns="0" bIns="0" rtlCol="0" anchor="ctr"/>
          <a:lstStyle/>
          <a:p>
            <a:pPr marL="0" indent="0" algn="ctr">
              <a:buNone/>
            </a:pPr>
            <a:r>
              <a:rPr lang="en-US" sz="1700" b="1" dirty="0">
                <a:solidFill>
                  <a:srgbClr val="0B3D42"/>
                </a:solidFill>
                <a:latin typeface="Cambria" pitchFamily="34" charset="0"/>
                <a:ea typeface="Cambria" pitchFamily="34" charset="-122"/>
                <a:cs typeface="Cambria" pitchFamily="34" charset="-120"/>
              </a:rPr>
              <a:t>Ratio</a:t>
            </a:r>
            <a:endParaRPr lang="en-US" sz="1700" dirty="0"/>
          </a:p>
        </p:txBody>
      </p:sp>
      <p:sp>
        <p:nvSpPr>
          <p:cNvPr id="26" name="Text 20"/>
          <p:cNvSpPr txBox="1"/>
          <p:nvPr/>
        </p:nvSpPr>
        <p:spPr>
          <a:xfrm>
            <a:off x="9235440" y="4069080"/>
            <a:ext cx="2468880" cy="365760"/>
          </a:xfrm>
          <a:prstGeom prst="rect">
            <a:avLst/>
          </a:prstGeom>
          <a:noFill/>
          <a:ln/>
        </p:spPr>
        <p:txBody>
          <a:bodyPr wrap="square" lIns="0" tIns="0" rIns="0" bIns="0" rtlCol="0" anchor="ctr"/>
          <a:lstStyle/>
          <a:p>
            <a:pPr marL="0" indent="0" algn="ctr">
              <a:buNone/>
            </a:pPr>
            <a:r>
              <a:rPr lang="en-US" sz="1100" i="1" dirty="0">
                <a:solidFill>
                  <a:srgbClr val="4D6165"/>
                </a:solidFill>
                <a:latin typeface="Calibri" pitchFamily="34" charset="0"/>
                <a:ea typeface="Calibri" pitchFamily="34" charset="-122"/>
                <a:cs typeface="Calibri" pitchFamily="34" charset="-120"/>
              </a:rPr>
              <a:t>Level 4</a:t>
            </a:r>
            <a:endParaRPr lang="en-US" sz="1100" dirty="0"/>
          </a:p>
        </p:txBody>
      </p:sp>
      <p:sp>
        <p:nvSpPr>
          <p:cNvPr id="27" name="Text 21"/>
          <p:cNvSpPr txBox="1"/>
          <p:nvPr/>
        </p:nvSpPr>
        <p:spPr>
          <a:xfrm>
            <a:off x="457200" y="5394960"/>
            <a:ext cx="11247120" cy="365760"/>
          </a:xfrm>
          <a:prstGeom prst="rect">
            <a:avLst/>
          </a:prstGeom>
          <a:noFill/>
          <a:ln/>
        </p:spPr>
        <p:txBody>
          <a:bodyPr wrap="square" lIns="0" tIns="0" rIns="0" bIns="0" rtlCol="0" anchor="ctr"/>
          <a:lstStyle/>
          <a:p>
            <a:pPr marL="0" indent="0" algn="ctr">
              <a:buNone/>
            </a:pPr>
            <a:r>
              <a:rPr lang="en-US" sz="1300" i="1" dirty="0">
                <a:solidFill>
                  <a:srgbClr val="4D6165"/>
                </a:solidFill>
                <a:latin typeface="Calibri" pitchFamily="34" charset="0"/>
                <a:ea typeface="Calibri" pitchFamily="34" charset="-122"/>
                <a:cs typeface="Calibri" pitchFamily="34" charset="-120"/>
              </a:rPr>
              <a:t>Increasing information content →  each scale keeps the properties of the ones before it, and adds one more</a:t>
            </a:r>
            <a:endParaRPr lang="en-US" sz="1300" dirty="0"/>
          </a:p>
        </p:txBody>
      </p:sp>
      <p:sp>
        <p:nvSpPr>
          <p:cNvPr id="28" name="Text 22"/>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9" name="Text 23"/>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15 · Nominal Scale</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Level 1 — Identification only</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128277"/>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The most basic scale: numbers or labels are used purely to name or identify categories. No order, no distance, no true zero.</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equality / inequality (=, ≠)</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statistics: frequency count, mode, chi-square test</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Not permitted: ranking, addition, subtraction, ratios</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Even if labeled with numbers, those numbers are just codes</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Jersey numbers of players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Pin codes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Marital status codes (1 = Single, 2 = Married)</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Player #10 is not "more" than Player #7 — the numbers are just ID tags.</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C97F1F"/>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16 · Ordinal Scale</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Level 2 — Identification + meaningful order</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C97F1F"/>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Adds rank order on top of nominal identification. We know which value is higher, but not by how much.</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equality, and ranking (&lt;, &gt;)</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statistics: median, percentile, rank correlation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Not permitted: addition, subtraction, or meaningful averages</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The gap between "1st" and "2nd" need not equal the gap between "2nd" and "3rd"</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Race finishing positions (1st, 2nd, 3rd)</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Likert scale (Strongly Disagree → Strongly Agree)</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Socio-economic class (Low, Middle, High)</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1st place may have finished 2 seconds ahead of 2nd, but 2nd was 30 seconds ahead of 3rd.</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17 · Interval Scale</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Level 3 — Order + equal intervals, but no true zero</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128277"/>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Adds equal, meaningful distances between values. Differences are interpretable, but there is no true "zero point" — zero does not mean "none."</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equality, ranking, addition, subtraction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statistics: mean, standard deviation, correlation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Not permitted: ratios (cannot say "twice as much")</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Zero is arbitrary — it does not represent total absence</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Temperature in °C or °F</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Calendar year (e.g., 2026 AD)</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IQ score</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40°C is not "twice as hot" as 20°C, because 0°C does not mean "no temperature."</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868680"/>
          </a:xfrm>
          <a:prstGeom prst="ellipse">
            <a:avLst/>
          </a:prstGeom>
          <a:solidFill>
            <a:srgbClr val="C97F1F"/>
          </a:solidFill>
          <a:ln/>
        </p:spPr>
      </p:sp>
      <p:pic>
        <p:nvPicPr>
          <p:cNvPr id="3" name="Image 0" descr="preencoded.png"/>
          <p:cNvPicPr>
            <a:picLocks noChangeAspect="1"/>
          </p:cNvPicPr>
          <p:nvPr/>
        </p:nvPicPr>
        <p:blipFill>
          <a:blip r:embed="rId3"/>
          <a:stretch>
            <a:fillRect/>
          </a:stretch>
        </p:blipFill>
        <p:spPr>
          <a:xfrm>
            <a:off x="615848" y="478688"/>
            <a:ext cx="642823" cy="642823"/>
          </a:xfrm>
          <a:prstGeom prst="rect">
            <a:avLst/>
          </a:prstGeom>
        </p:spPr>
      </p:pic>
      <p:sp>
        <p:nvSpPr>
          <p:cNvPr id="4" name="Text 1"/>
          <p:cNvSpPr txBox="1"/>
          <p:nvPr/>
        </p:nvSpPr>
        <p:spPr>
          <a:xfrm>
            <a:off x="1554480" y="365760"/>
            <a:ext cx="9966960" cy="502920"/>
          </a:xfrm>
          <a:prstGeom prst="rect">
            <a:avLst/>
          </a:prstGeom>
          <a:noFill/>
          <a:ln/>
        </p:spPr>
        <p:txBody>
          <a:bodyPr wrap="square" lIns="0" tIns="0" rIns="0" bIns="0" rtlCol="0" anchor="ctr"/>
          <a:lstStyle/>
          <a:p>
            <a:pPr marL="0" indent="0">
              <a:buNone/>
            </a:pPr>
            <a:r>
              <a:rPr lang="en-US" sz="2600" b="1" dirty="0">
                <a:solidFill>
                  <a:srgbClr val="0B3D42"/>
                </a:solidFill>
                <a:latin typeface="Cambria" pitchFamily="34" charset="0"/>
                <a:ea typeface="Cambria" pitchFamily="34" charset="-122"/>
                <a:cs typeface="Cambria" pitchFamily="34" charset="-120"/>
              </a:rPr>
              <a:t>18 · Ratio Scale</a:t>
            </a:r>
            <a:endParaRPr lang="en-US" sz="2600" dirty="0"/>
          </a:p>
        </p:txBody>
      </p:sp>
      <p:sp>
        <p:nvSpPr>
          <p:cNvPr id="5" name="Text 2"/>
          <p:cNvSpPr txBox="1"/>
          <p:nvPr/>
        </p:nvSpPr>
        <p:spPr>
          <a:xfrm>
            <a:off x="1554480" y="841248"/>
            <a:ext cx="996696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Level 4 — Everything above, PLUS a true, meaningful zero</a:t>
            </a:r>
            <a:endParaRPr lang="en-US" sz="1400" dirty="0"/>
          </a:p>
        </p:txBody>
      </p:sp>
      <p:sp>
        <p:nvSpPr>
          <p:cNvPr id="6" name="Shape 3"/>
          <p:cNvSpPr/>
          <p:nvPr/>
        </p:nvSpPr>
        <p:spPr>
          <a:xfrm>
            <a:off x="502920" y="1417320"/>
            <a:ext cx="6675120" cy="1051560"/>
          </a:xfrm>
          <a:prstGeom prst="roundRect">
            <a:avLst>
              <a:gd name="adj" fmla="val 6957"/>
            </a:avLst>
          </a:prstGeom>
          <a:solidFill>
            <a:srgbClr val="F7F9F9"/>
          </a:solidFill>
          <a:ln w="15875">
            <a:solidFill>
              <a:srgbClr val="C97F1F"/>
            </a:solidFill>
            <a:prstDash val="solid"/>
          </a:ln>
        </p:spPr>
      </p:sp>
      <p:sp>
        <p:nvSpPr>
          <p:cNvPr id="7" name="Text 4"/>
          <p:cNvSpPr txBox="1"/>
          <p:nvPr/>
        </p:nvSpPr>
        <p:spPr>
          <a:xfrm>
            <a:off x="777240" y="1508760"/>
            <a:ext cx="6126480" cy="868680"/>
          </a:xfrm>
          <a:prstGeom prst="rect">
            <a:avLst/>
          </a:prstGeom>
          <a:noFill/>
          <a:ln/>
        </p:spPr>
        <p:txBody>
          <a:bodyPr wrap="square" lIns="0" tIns="0" rIns="0" bIns="0" rtlCol="0" anchor="ctr"/>
          <a:lstStyle/>
          <a:p>
            <a:pPr marL="0" indent="0">
              <a:buNone/>
            </a:pPr>
            <a:r>
              <a:rPr lang="en-US" sz="1450" i="1" dirty="0">
                <a:solidFill>
                  <a:srgbClr val="17262A"/>
                </a:solidFill>
                <a:latin typeface="Calibri" pitchFamily="34" charset="0"/>
                <a:ea typeface="Calibri" pitchFamily="34" charset="-122"/>
                <a:cs typeface="Calibri" pitchFamily="34" charset="-120"/>
              </a:rPr>
              <a:t>The most informative scale. Has all the properties of interval data, plus an absolute zero that represents "none" of the quantity.</a:t>
            </a:r>
            <a:endParaRPr lang="en-US" sz="1450" dirty="0"/>
          </a:p>
        </p:txBody>
      </p:sp>
      <p:sp>
        <p:nvSpPr>
          <p:cNvPr id="8" name="Text 5"/>
          <p:cNvSpPr txBox="1"/>
          <p:nvPr/>
        </p:nvSpPr>
        <p:spPr>
          <a:xfrm>
            <a:off x="502920" y="2697480"/>
            <a:ext cx="6675120" cy="3291840"/>
          </a:xfrm>
          <a:prstGeom prst="rect">
            <a:avLst/>
          </a:prstGeom>
          <a:noFill/>
          <a:ln/>
        </p:spPr>
        <p:txBody>
          <a:bodyPr wrap="square" lIns="0" tIns="0" rIns="0" bIns="0" rtlCol="0" anchor="t"/>
          <a:lstStyle/>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equality, ranking, addition, subtraction, multiplication, division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Permitted statistics: mean, standard deviation, geometric mean, coefficient of variation</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Ratios ARE meaningful: "twice as much" makes sense</a:t>
            </a:r>
            <a:endParaRPr lang="en-US" sz="1500" dirty="0"/>
          </a:p>
          <a:p>
            <a:pPr marL="342900" indent="-342900">
              <a:lnSpc>
                <a:spcPct val="105000"/>
              </a:lnSpc>
              <a:spcAft>
                <a:spcPts val="1400"/>
              </a:spcAft>
              <a:buSzPct val="100000"/>
              <a:buChar char="▪"/>
            </a:pPr>
            <a:r>
              <a:rPr lang="en-US" sz="1500" dirty="0">
                <a:solidFill>
                  <a:srgbClr val="17262A"/>
                </a:solidFill>
                <a:latin typeface="Calibri" pitchFamily="34" charset="0"/>
                <a:ea typeface="Calibri" pitchFamily="34" charset="-122"/>
                <a:cs typeface="Calibri" pitchFamily="34" charset="-120"/>
              </a:rPr>
              <a:t>Most physical measurements are ratio scale</a:t>
            </a:r>
            <a:endParaRPr lang="en-US" sz="1500" dirty="0"/>
          </a:p>
        </p:txBody>
      </p:sp>
      <p:sp>
        <p:nvSpPr>
          <p:cNvPr id="9" name="Shape 6"/>
          <p:cNvSpPr/>
          <p:nvPr/>
        </p:nvSpPr>
        <p:spPr>
          <a:xfrm>
            <a:off x="7452360" y="1417320"/>
            <a:ext cx="4251960" cy="4572000"/>
          </a:xfrm>
          <a:prstGeom prst="roundRect">
            <a:avLst>
              <a:gd name="adj" fmla="val 2151"/>
            </a:avLst>
          </a:prstGeom>
          <a:solidFill>
            <a:srgbClr val="0B3D42"/>
          </a:solidFill>
          <a:ln/>
        </p:spPr>
      </p:sp>
      <p:pic>
        <p:nvPicPr>
          <p:cNvPr id="10" name="Image 1" descr="preencoded.png"/>
          <p:cNvPicPr>
            <a:picLocks noChangeAspect="1"/>
          </p:cNvPicPr>
          <p:nvPr/>
        </p:nvPicPr>
        <p:blipFill>
          <a:blip r:embed="rId4"/>
          <a:stretch>
            <a:fillRect/>
          </a:stretch>
        </p:blipFill>
        <p:spPr>
          <a:xfrm>
            <a:off x="7772400" y="1645920"/>
            <a:ext cx="457200" cy="457200"/>
          </a:xfrm>
          <a:prstGeom prst="rect">
            <a:avLst/>
          </a:prstGeom>
        </p:spPr>
      </p:pic>
      <p:sp>
        <p:nvSpPr>
          <p:cNvPr id="11" name="Text 7"/>
          <p:cNvSpPr txBox="1"/>
          <p:nvPr/>
        </p:nvSpPr>
        <p:spPr>
          <a:xfrm>
            <a:off x="8366760" y="16916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Example</a:t>
            </a:r>
            <a:endParaRPr lang="en-US" sz="1500" dirty="0"/>
          </a:p>
        </p:txBody>
      </p:sp>
      <p:sp>
        <p:nvSpPr>
          <p:cNvPr id="12" name="Text 8"/>
          <p:cNvSpPr txBox="1"/>
          <p:nvPr/>
        </p:nvSpPr>
        <p:spPr>
          <a:xfrm>
            <a:off x="7772400" y="2240280"/>
            <a:ext cx="3611880" cy="3566160"/>
          </a:xfrm>
          <a:prstGeom prst="rect">
            <a:avLst/>
          </a:prstGeom>
          <a:noFill/>
          <a:ln/>
        </p:spPr>
        <p:txBody>
          <a:bodyPr wrap="square" lIns="0" tIns="0" rIns="0" bIns="0" rtlCol="0" anchor="t"/>
          <a:lstStyle/>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Height, weight, age, income</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Number of items sold</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Time taken (seconds)</a:t>
            </a: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Distance traveled (km)</a:t>
            </a:r>
            <a:endParaRPr lang="en-US" sz="1350" dirty="0"/>
          </a:p>
          <a:p>
            <a:pPr marL="0" indent="0">
              <a:lnSpc>
                <a:spcPct val="115000"/>
              </a:lnSpc>
              <a:buNone/>
            </a:pPr>
            <a:endParaRPr lang="en-US" sz="1350" dirty="0"/>
          </a:p>
          <a:p>
            <a:pPr marL="0" indent="0">
              <a:lnSpc>
                <a:spcPct val="115000"/>
              </a:lnSpc>
              <a:buNone/>
            </a:pPr>
            <a:r>
              <a:rPr lang="en-US" sz="1350" dirty="0">
                <a:solidFill>
                  <a:srgbClr val="F2F6F6"/>
                </a:solidFill>
                <a:latin typeface="Calibri" pitchFamily="34" charset="0"/>
                <a:ea typeface="Calibri" pitchFamily="34" charset="-122"/>
                <a:cs typeface="Calibri" pitchFamily="34" charset="-120"/>
              </a:rPr>
              <a:t>₹40,000 salary is genuinely twice ₹20,000 — and ₹0 truly means no income.</a:t>
            </a:r>
            <a:endParaRPr lang="en-US" sz="135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Comparing the Four Scales: What’s Allowed?</a:t>
            </a:r>
            <a:endParaRPr lang="en-US" sz="3000" dirty="0"/>
          </a:p>
        </p:txBody>
      </p:sp>
      <p:sp>
        <p:nvSpPr>
          <p:cNvPr id="3" name="Shape 1"/>
          <p:cNvSpPr/>
          <p:nvPr/>
        </p:nvSpPr>
        <p:spPr>
          <a:xfrm>
            <a:off x="457200" y="1554480"/>
            <a:ext cx="1737360" cy="502920"/>
          </a:xfrm>
          <a:prstGeom prst="rect">
            <a:avLst/>
          </a:prstGeom>
          <a:solidFill>
            <a:srgbClr val="0B3D42"/>
          </a:solidFill>
          <a:ln w="9525">
            <a:solidFill>
              <a:srgbClr val="FFFFFF"/>
            </a:solidFill>
            <a:prstDash val="solid"/>
          </a:ln>
        </p:spPr>
      </p:sp>
      <p:sp>
        <p:nvSpPr>
          <p:cNvPr id="4" name="Text 2"/>
          <p:cNvSpPr txBox="1"/>
          <p:nvPr/>
        </p:nvSpPr>
        <p:spPr>
          <a:xfrm>
            <a:off x="548640" y="1554480"/>
            <a:ext cx="155448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Scale</a:t>
            </a:r>
            <a:endParaRPr lang="en-US" sz="1350" dirty="0"/>
          </a:p>
        </p:txBody>
      </p:sp>
      <p:sp>
        <p:nvSpPr>
          <p:cNvPr id="5" name="Shape 3"/>
          <p:cNvSpPr/>
          <p:nvPr/>
        </p:nvSpPr>
        <p:spPr>
          <a:xfrm>
            <a:off x="2194560" y="1554480"/>
            <a:ext cx="1554480" cy="502920"/>
          </a:xfrm>
          <a:prstGeom prst="rect">
            <a:avLst/>
          </a:prstGeom>
          <a:solidFill>
            <a:srgbClr val="0B3D42"/>
          </a:solidFill>
          <a:ln w="9525">
            <a:solidFill>
              <a:srgbClr val="FFFFFF"/>
            </a:solidFill>
            <a:prstDash val="solid"/>
          </a:ln>
        </p:spPr>
      </p:sp>
      <p:sp>
        <p:nvSpPr>
          <p:cNvPr id="6" name="Text 4"/>
          <p:cNvSpPr txBox="1"/>
          <p:nvPr/>
        </p:nvSpPr>
        <p:spPr>
          <a:xfrm>
            <a:off x="2286000" y="1554480"/>
            <a:ext cx="13716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Order?</a:t>
            </a:r>
            <a:endParaRPr lang="en-US" sz="1350" dirty="0"/>
          </a:p>
        </p:txBody>
      </p:sp>
      <p:sp>
        <p:nvSpPr>
          <p:cNvPr id="7" name="Shape 5"/>
          <p:cNvSpPr/>
          <p:nvPr/>
        </p:nvSpPr>
        <p:spPr>
          <a:xfrm>
            <a:off x="3749040" y="1554480"/>
            <a:ext cx="2286000" cy="502920"/>
          </a:xfrm>
          <a:prstGeom prst="rect">
            <a:avLst/>
          </a:prstGeom>
          <a:solidFill>
            <a:srgbClr val="0B3D42"/>
          </a:solidFill>
          <a:ln w="9525">
            <a:solidFill>
              <a:srgbClr val="FFFFFF"/>
            </a:solidFill>
            <a:prstDash val="solid"/>
          </a:ln>
        </p:spPr>
      </p:sp>
      <p:sp>
        <p:nvSpPr>
          <p:cNvPr id="8" name="Text 6"/>
          <p:cNvSpPr txBox="1"/>
          <p:nvPr/>
        </p:nvSpPr>
        <p:spPr>
          <a:xfrm>
            <a:off x="3840480" y="1554480"/>
            <a:ext cx="21031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Equal Intervals?</a:t>
            </a:r>
            <a:endParaRPr lang="en-US" sz="1350" dirty="0"/>
          </a:p>
        </p:txBody>
      </p:sp>
      <p:sp>
        <p:nvSpPr>
          <p:cNvPr id="9" name="Shape 7"/>
          <p:cNvSpPr/>
          <p:nvPr/>
        </p:nvSpPr>
        <p:spPr>
          <a:xfrm>
            <a:off x="6035040" y="1554480"/>
            <a:ext cx="1737360" cy="502920"/>
          </a:xfrm>
          <a:prstGeom prst="rect">
            <a:avLst/>
          </a:prstGeom>
          <a:solidFill>
            <a:srgbClr val="0B3D42"/>
          </a:solidFill>
          <a:ln w="9525">
            <a:solidFill>
              <a:srgbClr val="FFFFFF"/>
            </a:solidFill>
            <a:prstDash val="solid"/>
          </a:ln>
        </p:spPr>
      </p:sp>
      <p:sp>
        <p:nvSpPr>
          <p:cNvPr id="10" name="Text 8"/>
          <p:cNvSpPr txBox="1"/>
          <p:nvPr/>
        </p:nvSpPr>
        <p:spPr>
          <a:xfrm>
            <a:off x="6126480" y="1554480"/>
            <a:ext cx="155448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True Zero?</a:t>
            </a:r>
            <a:endParaRPr lang="en-US" sz="1350" dirty="0"/>
          </a:p>
        </p:txBody>
      </p:sp>
      <p:sp>
        <p:nvSpPr>
          <p:cNvPr id="11" name="Shape 9"/>
          <p:cNvSpPr/>
          <p:nvPr/>
        </p:nvSpPr>
        <p:spPr>
          <a:xfrm>
            <a:off x="7772400" y="1554480"/>
            <a:ext cx="3931920" cy="502920"/>
          </a:xfrm>
          <a:prstGeom prst="rect">
            <a:avLst/>
          </a:prstGeom>
          <a:solidFill>
            <a:srgbClr val="0B3D42"/>
          </a:solidFill>
          <a:ln w="9525">
            <a:solidFill>
              <a:srgbClr val="FFFFFF"/>
            </a:solidFill>
            <a:prstDash val="solid"/>
          </a:ln>
        </p:spPr>
      </p:sp>
      <p:sp>
        <p:nvSpPr>
          <p:cNvPr id="12" name="Text 10"/>
          <p:cNvSpPr txBox="1"/>
          <p:nvPr/>
        </p:nvSpPr>
        <p:spPr>
          <a:xfrm>
            <a:off x="7863840" y="1554480"/>
            <a:ext cx="374904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Example Statistic</a:t>
            </a:r>
            <a:endParaRPr lang="en-US" sz="1350" dirty="0"/>
          </a:p>
        </p:txBody>
      </p:sp>
      <p:sp>
        <p:nvSpPr>
          <p:cNvPr id="13" name="Shape 11"/>
          <p:cNvSpPr/>
          <p:nvPr/>
        </p:nvSpPr>
        <p:spPr>
          <a:xfrm>
            <a:off x="457200" y="2057400"/>
            <a:ext cx="1737360" cy="777240"/>
          </a:xfrm>
          <a:prstGeom prst="rect">
            <a:avLst/>
          </a:prstGeom>
          <a:solidFill>
            <a:srgbClr val="FFFFFF"/>
          </a:solidFill>
          <a:ln w="9525">
            <a:solidFill>
              <a:srgbClr val="E1E8E8"/>
            </a:solidFill>
            <a:prstDash val="solid"/>
          </a:ln>
        </p:spPr>
      </p:sp>
      <p:sp>
        <p:nvSpPr>
          <p:cNvPr id="14" name="Text 12"/>
          <p:cNvSpPr txBox="1"/>
          <p:nvPr/>
        </p:nvSpPr>
        <p:spPr>
          <a:xfrm>
            <a:off x="548640" y="205740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Nominal</a:t>
            </a:r>
            <a:endParaRPr lang="en-US" sz="1300" dirty="0"/>
          </a:p>
        </p:txBody>
      </p:sp>
      <p:sp>
        <p:nvSpPr>
          <p:cNvPr id="15" name="Shape 13"/>
          <p:cNvSpPr/>
          <p:nvPr/>
        </p:nvSpPr>
        <p:spPr>
          <a:xfrm>
            <a:off x="2194560" y="2057400"/>
            <a:ext cx="1554480" cy="777240"/>
          </a:xfrm>
          <a:prstGeom prst="rect">
            <a:avLst/>
          </a:prstGeom>
          <a:solidFill>
            <a:srgbClr val="FFFFFF"/>
          </a:solidFill>
          <a:ln w="9525">
            <a:solidFill>
              <a:srgbClr val="E1E8E8"/>
            </a:solidFill>
            <a:prstDash val="solid"/>
          </a:ln>
        </p:spPr>
      </p:sp>
      <p:sp>
        <p:nvSpPr>
          <p:cNvPr id="16" name="Text 14"/>
          <p:cNvSpPr txBox="1"/>
          <p:nvPr/>
        </p:nvSpPr>
        <p:spPr>
          <a:xfrm>
            <a:off x="2286000" y="2057400"/>
            <a:ext cx="137160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17" name="Shape 15"/>
          <p:cNvSpPr/>
          <p:nvPr/>
        </p:nvSpPr>
        <p:spPr>
          <a:xfrm>
            <a:off x="3749040" y="2057400"/>
            <a:ext cx="2286000" cy="777240"/>
          </a:xfrm>
          <a:prstGeom prst="rect">
            <a:avLst/>
          </a:prstGeom>
          <a:solidFill>
            <a:srgbClr val="FFFFFF"/>
          </a:solidFill>
          <a:ln w="9525">
            <a:solidFill>
              <a:srgbClr val="E1E8E8"/>
            </a:solidFill>
            <a:prstDash val="solid"/>
          </a:ln>
        </p:spPr>
      </p:sp>
      <p:sp>
        <p:nvSpPr>
          <p:cNvPr id="18" name="Text 16"/>
          <p:cNvSpPr txBox="1"/>
          <p:nvPr/>
        </p:nvSpPr>
        <p:spPr>
          <a:xfrm>
            <a:off x="3840480" y="2057400"/>
            <a:ext cx="210312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19" name="Shape 17"/>
          <p:cNvSpPr/>
          <p:nvPr/>
        </p:nvSpPr>
        <p:spPr>
          <a:xfrm>
            <a:off x="6035040" y="2057400"/>
            <a:ext cx="1737360" cy="777240"/>
          </a:xfrm>
          <a:prstGeom prst="rect">
            <a:avLst/>
          </a:prstGeom>
          <a:solidFill>
            <a:srgbClr val="FFFFFF"/>
          </a:solidFill>
          <a:ln w="9525">
            <a:solidFill>
              <a:srgbClr val="E1E8E8"/>
            </a:solidFill>
            <a:prstDash val="solid"/>
          </a:ln>
        </p:spPr>
      </p:sp>
      <p:sp>
        <p:nvSpPr>
          <p:cNvPr id="20" name="Text 18"/>
          <p:cNvSpPr txBox="1"/>
          <p:nvPr/>
        </p:nvSpPr>
        <p:spPr>
          <a:xfrm>
            <a:off x="6126480" y="2057400"/>
            <a:ext cx="155448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21" name="Shape 19"/>
          <p:cNvSpPr/>
          <p:nvPr/>
        </p:nvSpPr>
        <p:spPr>
          <a:xfrm>
            <a:off x="7772400" y="2057400"/>
            <a:ext cx="3931920" cy="777240"/>
          </a:xfrm>
          <a:prstGeom prst="rect">
            <a:avLst/>
          </a:prstGeom>
          <a:solidFill>
            <a:srgbClr val="FFFFFF"/>
          </a:solidFill>
          <a:ln w="9525">
            <a:solidFill>
              <a:srgbClr val="E1E8E8"/>
            </a:solidFill>
            <a:prstDash val="solid"/>
          </a:ln>
        </p:spPr>
      </p:sp>
      <p:sp>
        <p:nvSpPr>
          <p:cNvPr id="22" name="Text 20"/>
          <p:cNvSpPr txBox="1"/>
          <p:nvPr/>
        </p:nvSpPr>
        <p:spPr>
          <a:xfrm>
            <a:off x="7863840" y="2057400"/>
            <a:ext cx="37490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Mode, frequency</a:t>
            </a:r>
            <a:endParaRPr lang="en-US" sz="1250" dirty="0"/>
          </a:p>
        </p:txBody>
      </p:sp>
      <p:sp>
        <p:nvSpPr>
          <p:cNvPr id="23" name="Shape 21"/>
          <p:cNvSpPr/>
          <p:nvPr/>
        </p:nvSpPr>
        <p:spPr>
          <a:xfrm>
            <a:off x="457200" y="2834640"/>
            <a:ext cx="1737360" cy="777240"/>
          </a:xfrm>
          <a:prstGeom prst="rect">
            <a:avLst/>
          </a:prstGeom>
          <a:solidFill>
            <a:srgbClr val="F7F9F9"/>
          </a:solidFill>
          <a:ln w="9525">
            <a:solidFill>
              <a:srgbClr val="E1E8E8"/>
            </a:solidFill>
            <a:prstDash val="solid"/>
          </a:ln>
        </p:spPr>
      </p:sp>
      <p:sp>
        <p:nvSpPr>
          <p:cNvPr id="24" name="Text 22"/>
          <p:cNvSpPr txBox="1"/>
          <p:nvPr/>
        </p:nvSpPr>
        <p:spPr>
          <a:xfrm>
            <a:off x="548640" y="283464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Ordinal</a:t>
            </a:r>
            <a:endParaRPr lang="en-US" sz="1300" dirty="0"/>
          </a:p>
        </p:txBody>
      </p:sp>
      <p:sp>
        <p:nvSpPr>
          <p:cNvPr id="25" name="Shape 23"/>
          <p:cNvSpPr/>
          <p:nvPr/>
        </p:nvSpPr>
        <p:spPr>
          <a:xfrm>
            <a:off x="2194560" y="2834640"/>
            <a:ext cx="1554480" cy="777240"/>
          </a:xfrm>
          <a:prstGeom prst="rect">
            <a:avLst/>
          </a:prstGeom>
          <a:solidFill>
            <a:srgbClr val="F7F9F9"/>
          </a:solidFill>
          <a:ln w="9525">
            <a:solidFill>
              <a:srgbClr val="E1E8E8"/>
            </a:solidFill>
            <a:prstDash val="solid"/>
          </a:ln>
        </p:spPr>
      </p:sp>
      <p:sp>
        <p:nvSpPr>
          <p:cNvPr id="26" name="Text 24"/>
          <p:cNvSpPr txBox="1"/>
          <p:nvPr/>
        </p:nvSpPr>
        <p:spPr>
          <a:xfrm>
            <a:off x="2286000" y="2834640"/>
            <a:ext cx="137160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27" name="Shape 25"/>
          <p:cNvSpPr/>
          <p:nvPr/>
        </p:nvSpPr>
        <p:spPr>
          <a:xfrm>
            <a:off x="3749040" y="2834640"/>
            <a:ext cx="2286000" cy="777240"/>
          </a:xfrm>
          <a:prstGeom prst="rect">
            <a:avLst/>
          </a:prstGeom>
          <a:solidFill>
            <a:srgbClr val="F7F9F9"/>
          </a:solidFill>
          <a:ln w="9525">
            <a:solidFill>
              <a:srgbClr val="E1E8E8"/>
            </a:solidFill>
            <a:prstDash val="solid"/>
          </a:ln>
        </p:spPr>
      </p:sp>
      <p:sp>
        <p:nvSpPr>
          <p:cNvPr id="28" name="Text 26"/>
          <p:cNvSpPr txBox="1"/>
          <p:nvPr/>
        </p:nvSpPr>
        <p:spPr>
          <a:xfrm>
            <a:off x="3840480" y="2834640"/>
            <a:ext cx="210312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29" name="Shape 27"/>
          <p:cNvSpPr/>
          <p:nvPr/>
        </p:nvSpPr>
        <p:spPr>
          <a:xfrm>
            <a:off x="6035040" y="2834640"/>
            <a:ext cx="1737360" cy="777240"/>
          </a:xfrm>
          <a:prstGeom prst="rect">
            <a:avLst/>
          </a:prstGeom>
          <a:solidFill>
            <a:srgbClr val="F7F9F9"/>
          </a:solidFill>
          <a:ln w="9525">
            <a:solidFill>
              <a:srgbClr val="E1E8E8"/>
            </a:solidFill>
            <a:prstDash val="solid"/>
          </a:ln>
        </p:spPr>
      </p:sp>
      <p:sp>
        <p:nvSpPr>
          <p:cNvPr id="30" name="Text 28"/>
          <p:cNvSpPr txBox="1"/>
          <p:nvPr/>
        </p:nvSpPr>
        <p:spPr>
          <a:xfrm>
            <a:off x="6126480" y="2834640"/>
            <a:ext cx="155448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31" name="Shape 29"/>
          <p:cNvSpPr/>
          <p:nvPr/>
        </p:nvSpPr>
        <p:spPr>
          <a:xfrm>
            <a:off x="7772400" y="2834640"/>
            <a:ext cx="3931920" cy="777240"/>
          </a:xfrm>
          <a:prstGeom prst="rect">
            <a:avLst/>
          </a:prstGeom>
          <a:solidFill>
            <a:srgbClr val="F7F9F9"/>
          </a:solidFill>
          <a:ln w="9525">
            <a:solidFill>
              <a:srgbClr val="E1E8E8"/>
            </a:solidFill>
            <a:prstDash val="solid"/>
          </a:ln>
        </p:spPr>
      </p:sp>
      <p:sp>
        <p:nvSpPr>
          <p:cNvPr id="32" name="Text 30"/>
          <p:cNvSpPr txBox="1"/>
          <p:nvPr/>
        </p:nvSpPr>
        <p:spPr>
          <a:xfrm>
            <a:off x="7863840" y="2834640"/>
            <a:ext cx="37490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Median, percentile</a:t>
            </a:r>
            <a:endParaRPr lang="en-US" sz="1250" dirty="0"/>
          </a:p>
        </p:txBody>
      </p:sp>
      <p:sp>
        <p:nvSpPr>
          <p:cNvPr id="33" name="Shape 31"/>
          <p:cNvSpPr/>
          <p:nvPr/>
        </p:nvSpPr>
        <p:spPr>
          <a:xfrm>
            <a:off x="457200" y="3611880"/>
            <a:ext cx="1737360" cy="777240"/>
          </a:xfrm>
          <a:prstGeom prst="rect">
            <a:avLst/>
          </a:prstGeom>
          <a:solidFill>
            <a:srgbClr val="FFFFFF"/>
          </a:solidFill>
          <a:ln w="9525">
            <a:solidFill>
              <a:srgbClr val="E1E8E8"/>
            </a:solidFill>
            <a:prstDash val="solid"/>
          </a:ln>
        </p:spPr>
      </p:sp>
      <p:sp>
        <p:nvSpPr>
          <p:cNvPr id="34" name="Text 32"/>
          <p:cNvSpPr txBox="1"/>
          <p:nvPr/>
        </p:nvSpPr>
        <p:spPr>
          <a:xfrm>
            <a:off x="548640" y="361188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Interval</a:t>
            </a:r>
            <a:endParaRPr lang="en-US" sz="1300" dirty="0"/>
          </a:p>
        </p:txBody>
      </p:sp>
      <p:sp>
        <p:nvSpPr>
          <p:cNvPr id="35" name="Shape 33"/>
          <p:cNvSpPr/>
          <p:nvPr/>
        </p:nvSpPr>
        <p:spPr>
          <a:xfrm>
            <a:off x="2194560" y="3611880"/>
            <a:ext cx="1554480" cy="777240"/>
          </a:xfrm>
          <a:prstGeom prst="rect">
            <a:avLst/>
          </a:prstGeom>
          <a:solidFill>
            <a:srgbClr val="FFFFFF"/>
          </a:solidFill>
          <a:ln w="9525">
            <a:solidFill>
              <a:srgbClr val="E1E8E8"/>
            </a:solidFill>
            <a:prstDash val="solid"/>
          </a:ln>
        </p:spPr>
      </p:sp>
      <p:sp>
        <p:nvSpPr>
          <p:cNvPr id="36" name="Text 34"/>
          <p:cNvSpPr txBox="1"/>
          <p:nvPr/>
        </p:nvSpPr>
        <p:spPr>
          <a:xfrm>
            <a:off x="2286000" y="3611880"/>
            <a:ext cx="137160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37" name="Shape 35"/>
          <p:cNvSpPr/>
          <p:nvPr/>
        </p:nvSpPr>
        <p:spPr>
          <a:xfrm>
            <a:off x="3749040" y="3611880"/>
            <a:ext cx="2286000" cy="777240"/>
          </a:xfrm>
          <a:prstGeom prst="rect">
            <a:avLst/>
          </a:prstGeom>
          <a:solidFill>
            <a:srgbClr val="FFFFFF"/>
          </a:solidFill>
          <a:ln w="9525">
            <a:solidFill>
              <a:srgbClr val="E1E8E8"/>
            </a:solidFill>
            <a:prstDash val="solid"/>
          </a:ln>
        </p:spPr>
      </p:sp>
      <p:sp>
        <p:nvSpPr>
          <p:cNvPr id="38" name="Text 36"/>
          <p:cNvSpPr txBox="1"/>
          <p:nvPr/>
        </p:nvSpPr>
        <p:spPr>
          <a:xfrm>
            <a:off x="3840480" y="3611880"/>
            <a:ext cx="210312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39" name="Shape 37"/>
          <p:cNvSpPr/>
          <p:nvPr/>
        </p:nvSpPr>
        <p:spPr>
          <a:xfrm>
            <a:off x="6035040" y="3611880"/>
            <a:ext cx="1737360" cy="777240"/>
          </a:xfrm>
          <a:prstGeom prst="rect">
            <a:avLst/>
          </a:prstGeom>
          <a:solidFill>
            <a:srgbClr val="FFFFFF"/>
          </a:solidFill>
          <a:ln w="9525">
            <a:solidFill>
              <a:srgbClr val="E1E8E8"/>
            </a:solidFill>
            <a:prstDash val="solid"/>
          </a:ln>
        </p:spPr>
      </p:sp>
      <p:sp>
        <p:nvSpPr>
          <p:cNvPr id="40" name="Text 38"/>
          <p:cNvSpPr txBox="1"/>
          <p:nvPr/>
        </p:nvSpPr>
        <p:spPr>
          <a:xfrm>
            <a:off x="6126480" y="3611880"/>
            <a:ext cx="155448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No</a:t>
            </a:r>
            <a:endParaRPr lang="en-US" sz="1250" dirty="0"/>
          </a:p>
        </p:txBody>
      </p:sp>
      <p:sp>
        <p:nvSpPr>
          <p:cNvPr id="41" name="Shape 39"/>
          <p:cNvSpPr/>
          <p:nvPr/>
        </p:nvSpPr>
        <p:spPr>
          <a:xfrm>
            <a:off x="7772400" y="3611880"/>
            <a:ext cx="3931920" cy="777240"/>
          </a:xfrm>
          <a:prstGeom prst="rect">
            <a:avLst/>
          </a:prstGeom>
          <a:solidFill>
            <a:srgbClr val="FFFFFF"/>
          </a:solidFill>
          <a:ln w="9525">
            <a:solidFill>
              <a:srgbClr val="E1E8E8"/>
            </a:solidFill>
            <a:prstDash val="solid"/>
          </a:ln>
        </p:spPr>
      </p:sp>
      <p:sp>
        <p:nvSpPr>
          <p:cNvPr id="42" name="Text 40"/>
          <p:cNvSpPr txBox="1"/>
          <p:nvPr/>
        </p:nvSpPr>
        <p:spPr>
          <a:xfrm>
            <a:off x="7863840" y="3611880"/>
            <a:ext cx="37490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Mean, std. deviation</a:t>
            </a:r>
            <a:endParaRPr lang="en-US" sz="1250" dirty="0"/>
          </a:p>
        </p:txBody>
      </p:sp>
      <p:sp>
        <p:nvSpPr>
          <p:cNvPr id="43" name="Shape 41"/>
          <p:cNvSpPr/>
          <p:nvPr/>
        </p:nvSpPr>
        <p:spPr>
          <a:xfrm>
            <a:off x="457200" y="4389120"/>
            <a:ext cx="1737360" cy="777240"/>
          </a:xfrm>
          <a:prstGeom prst="rect">
            <a:avLst/>
          </a:prstGeom>
          <a:solidFill>
            <a:srgbClr val="F7F9F9"/>
          </a:solidFill>
          <a:ln w="9525">
            <a:solidFill>
              <a:srgbClr val="E1E8E8"/>
            </a:solidFill>
            <a:prstDash val="solid"/>
          </a:ln>
        </p:spPr>
      </p:sp>
      <p:sp>
        <p:nvSpPr>
          <p:cNvPr id="44" name="Text 42"/>
          <p:cNvSpPr txBox="1"/>
          <p:nvPr/>
        </p:nvSpPr>
        <p:spPr>
          <a:xfrm>
            <a:off x="548640" y="4389120"/>
            <a:ext cx="1554480" cy="777240"/>
          </a:xfrm>
          <a:prstGeom prst="rect">
            <a:avLst/>
          </a:prstGeom>
          <a:noFill/>
          <a:ln/>
        </p:spPr>
        <p:txBody>
          <a:bodyPr wrap="square" lIns="0" tIns="0" rIns="0" bIns="0" rtlCol="0" anchor="ctr"/>
          <a:lstStyle/>
          <a:p>
            <a:pPr marL="0" indent="0">
              <a:buNone/>
            </a:pPr>
            <a:r>
              <a:rPr lang="en-US" sz="1300" b="1" dirty="0">
                <a:solidFill>
                  <a:srgbClr val="17262A"/>
                </a:solidFill>
                <a:latin typeface="Calibri" pitchFamily="34" charset="0"/>
                <a:ea typeface="Calibri" pitchFamily="34" charset="-122"/>
                <a:cs typeface="Calibri" pitchFamily="34" charset="-120"/>
              </a:rPr>
              <a:t>Ratio</a:t>
            </a:r>
            <a:endParaRPr lang="en-US" sz="1300" dirty="0"/>
          </a:p>
        </p:txBody>
      </p:sp>
      <p:sp>
        <p:nvSpPr>
          <p:cNvPr id="45" name="Shape 43"/>
          <p:cNvSpPr/>
          <p:nvPr/>
        </p:nvSpPr>
        <p:spPr>
          <a:xfrm>
            <a:off x="2194560" y="4389120"/>
            <a:ext cx="1554480" cy="777240"/>
          </a:xfrm>
          <a:prstGeom prst="rect">
            <a:avLst/>
          </a:prstGeom>
          <a:solidFill>
            <a:srgbClr val="F7F9F9"/>
          </a:solidFill>
          <a:ln w="9525">
            <a:solidFill>
              <a:srgbClr val="E1E8E8"/>
            </a:solidFill>
            <a:prstDash val="solid"/>
          </a:ln>
        </p:spPr>
      </p:sp>
      <p:sp>
        <p:nvSpPr>
          <p:cNvPr id="46" name="Text 44"/>
          <p:cNvSpPr txBox="1"/>
          <p:nvPr/>
        </p:nvSpPr>
        <p:spPr>
          <a:xfrm>
            <a:off x="2286000" y="4389120"/>
            <a:ext cx="137160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47" name="Shape 45"/>
          <p:cNvSpPr/>
          <p:nvPr/>
        </p:nvSpPr>
        <p:spPr>
          <a:xfrm>
            <a:off x="3749040" y="4389120"/>
            <a:ext cx="2286000" cy="777240"/>
          </a:xfrm>
          <a:prstGeom prst="rect">
            <a:avLst/>
          </a:prstGeom>
          <a:solidFill>
            <a:srgbClr val="F7F9F9"/>
          </a:solidFill>
          <a:ln w="9525">
            <a:solidFill>
              <a:srgbClr val="E1E8E8"/>
            </a:solidFill>
            <a:prstDash val="solid"/>
          </a:ln>
        </p:spPr>
      </p:sp>
      <p:sp>
        <p:nvSpPr>
          <p:cNvPr id="48" name="Text 46"/>
          <p:cNvSpPr txBox="1"/>
          <p:nvPr/>
        </p:nvSpPr>
        <p:spPr>
          <a:xfrm>
            <a:off x="3840480" y="4389120"/>
            <a:ext cx="210312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49" name="Shape 47"/>
          <p:cNvSpPr/>
          <p:nvPr/>
        </p:nvSpPr>
        <p:spPr>
          <a:xfrm>
            <a:off x="6035040" y="4389120"/>
            <a:ext cx="1737360" cy="777240"/>
          </a:xfrm>
          <a:prstGeom prst="rect">
            <a:avLst/>
          </a:prstGeom>
          <a:solidFill>
            <a:srgbClr val="F7F9F9"/>
          </a:solidFill>
          <a:ln w="9525">
            <a:solidFill>
              <a:srgbClr val="E1E8E8"/>
            </a:solidFill>
            <a:prstDash val="solid"/>
          </a:ln>
        </p:spPr>
      </p:sp>
      <p:sp>
        <p:nvSpPr>
          <p:cNvPr id="50" name="Text 48"/>
          <p:cNvSpPr txBox="1"/>
          <p:nvPr/>
        </p:nvSpPr>
        <p:spPr>
          <a:xfrm>
            <a:off x="6126480" y="4389120"/>
            <a:ext cx="155448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Yes</a:t>
            </a:r>
            <a:endParaRPr lang="en-US" sz="1250" dirty="0"/>
          </a:p>
        </p:txBody>
      </p:sp>
      <p:sp>
        <p:nvSpPr>
          <p:cNvPr id="51" name="Shape 49"/>
          <p:cNvSpPr/>
          <p:nvPr/>
        </p:nvSpPr>
        <p:spPr>
          <a:xfrm>
            <a:off x="7772400" y="4389120"/>
            <a:ext cx="3931920" cy="777240"/>
          </a:xfrm>
          <a:prstGeom prst="rect">
            <a:avLst/>
          </a:prstGeom>
          <a:solidFill>
            <a:srgbClr val="F7F9F9"/>
          </a:solidFill>
          <a:ln w="9525">
            <a:solidFill>
              <a:srgbClr val="E1E8E8"/>
            </a:solidFill>
            <a:prstDash val="solid"/>
          </a:ln>
        </p:spPr>
      </p:sp>
      <p:sp>
        <p:nvSpPr>
          <p:cNvPr id="52" name="Text 50"/>
          <p:cNvSpPr txBox="1"/>
          <p:nvPr/>
        </p:nvSpPr>
        <p:spPr>
          <a:xfrm>
            <a:off x="7863840" y="4389120"/>
            <a:ext cx="3749040" cy="777240"/>
          </a:xfrm>
          <a:prstGeom prst="rect">
            <a:avLst/>
          </a:prstGeom>
          <a:noFill/>
          <a:ln/>
        </p:spPr>
        <p:txBody>
          <a:bodyPr wrap="square" lIns="0" tIns="0" rIns="0" bIns="0" rtlCol="0" anchor="ctr"/>
          <a:lstStyle/>
          <a:p>
            <a:pPr marL="0" indent="0">
              <a:buNone/>
            </a:pPr>
            <a:r>
              <a:rPr lang="en-US" sz="1250" dirty="0">
                <a:solidFill>
                  <a:srgbClr val="17262A"/>
                </a:solidFill>
                <a:latin typeface="Calibri" pitchFamily="34" charset="0"/>
                <a:ea typeface="Calibri" pitchFamily="34" charset="-122"/>
                <a:cs typeface="Calibri" pitchFamily="34" charset="-120"/>
              </a:rPr>
              <a:t>Mean, geometric mean, CV</a:t>
            </a:r>
            <a:endParaRPr lang="en-US" sz="1250" dirty="0"/>
          </a:p>
        </p:txBody>
      </p:sp>
      <p:sp>
        <p:nvSpPr>
          <p:cNvPr id="53" name="Text 51"/>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54" name="Text 52"/>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Worked Example: Classify This Dataset</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A student survey with five columns — what is each one?</a:t>
            </a:r>
            <a:endParaRPr lang="en-US" sz="1400" dirty="0"/>
          </a:p>
        </p:txBody>
      </p:sp>
      <p:sp>
        <p:nvSpPr>
          <p:cNvPr id="4" name="Shape 2"/>
          <p:cNvSpPr/>
          <p:nvPr/>
        </p:nvSpPr>
        <p:spPr>
          <a:xfrm>
            <a:off x="457200" y="1508760"/>
            <a:ext cx="11247120" cy="804672"/>
          </a:xfrm>
          <a:prstGeom prst="roundRect">
            <a:avLst>
              <a:gd name="adj" fmla="val 7955"/>
            </a:avLst>
          </a:prstGeom>
          <a:solidFill>
            <a:srgbClr val="F7F9F9"/>
          </a:solidFill>
          <a:ln/>
        </p:spPr>
      </p:sp>
      <p:sp>
        <p:nvSpPr>
          <p:cNvPr id="5" name="Text 3"/>
          <p:cNvSpPr txBox="1"/>
          <p:nvPr/>
        </p:nvSpPr>
        <p:spPr>
          <a:xfrm>
            <a:off x="685800" y="1508760"/>
            <a:ext cx="3017520" cy="804672"/>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Student ID</a:t>
            </a:r>
            <a:endParaRPr lang="en-US" sz="1400" dirty="0"/>
          </a:p>
        </p:txBody>
      </p:sp>
      <p:sp>
        <p:nvSpPr>
          <p:cNvPr id="6" name="Text 4"/>
          <p:cNvSpPr txBox="1"/>
          <p:nvPr/>
        </p:nvSpPr>
        <p:spPr>
          <a:xfrm>
            <a:off x="3749040" y="1508760"/>
            <a:ext cx="3474720" cy="804672"/>
          </a:xfrm>
          <a:prstGeom prst="rect">
            <a:avLst/>
          </a:prstGeom>
          <a:noFill/>
          <a:ln/>
        </p:spPr>
        <p:txBody>
          <a:bodyPr wrap="square" lIns="0" tIns="0" rIns="0" bIns="0" rtlCol="0" anchor="ctr"/>
          <a:lstStyle/>
          <a:p>
            <a:pPr marL="0" indent="0">
              <a:buNone/>
            </a:pPr>
            <a:r>
              <a:rPr lang="en-US" sz="1300" i="1" dirty="0">
                <a:solidFill>
                  <a:srgbClr val="4D6165"/>
                </a:solidFill>
                <a:latin typeface="Calibri" pitchFamily="34" charset="0"/>
                <a:ea typeface="Calibri" pitchFamily="34" charset="-122"/>
                <a:cs typeface="Calibri" pitchFamily="34" charset="-120"/>
              </a:rPr>
              <a:t>1024, 1025, 1026 …</a:t>
            </a:r>
            <a:endParaRPr lang="en-US" sz="1300" dirty="0"/>
          </a:p>
        </p:txBody>
      </p:sp>
      <p:sp>
        <p:nvSpPr>
          <p:cNvPr id="7" name="Shape 5"/>
          <p:cNvSpPr/>
          <p:nvPr/>
        </p:nvSpPr>
        <p:spPr>
          <a:xfrm>
            <a:off x="7452360" y="1636776"/>
            <a:ext cx="3566160" cy="548640"/>
          </a:xfrm>
          <a:prstGeom prst="roundRect">
            <a:avLst>
              <a:gd name="adj" fmla="val 50000"/>
            </a:avLst>
          </a:prstGeom>
          <a:solidFill>
            <a:srgbClr val="C97F1F"/>
          </a:solidFill>
          <a:ln/>
        </p:spPr>
      </p:sp>
      <p:sp>
        <p:nvSpPr>
          <p:cNvPr id="8" name="Text 6"/>
          <p:cNvSpPr txBox="1"/>
          <p:nvPr/>
        </p:nvSpPr>
        <p:spPr>
          <a:xfrm>
            <a:off x="7452360" y="1636776"/>
            <a:ext cx="3566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Nominal</a:t>
            </a:r>
            <a:endParaRPr lang="en-US" sz="1300" dirty="0"/>
          </a:p>
        </p:txBody>
      </p:sp>
      <p:sp>
        <p:nvSpPr>
          <p:cNvPr id="9" name="Shape 7"/>
          <p:cNvSpPr/>
          <p:nvPr/>
        </p:nvSpPr>
        <p:spPr>
          <a:xfrm>
            <a:off x="457200" y="2441448"/>
            <a:ext cx="11247120" cy="804672"/>
          </a:xfrm>
          <a:prstGeom prst="roundRect">
            <a:avLst>
              <a:gd name="adj" fmla="val 7955"/>
            </a:avLst>
          </a:prstGeom>
          <a:solidFill>
            <a:srgbClr val="F7F9F9"/>
          </a:solidFill>
          <a:ln/>
        </p:spPr>
      </p:sp>
      <p:sp>
        <p:nvSpPr>
          <p:cNvPr id="10" name="Text 8"/>
          <p:cNvSpPr txBox="1"/>
          <p:nvPr/>
        </p:nvSpPr>
        <p:spPr>
          <a:xfrm>
            <a:off x="685800" y="2441448"/>
            <a:ext cx="3017520" cy="804672"/>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Grade (A/B/C/D)</a:t>
            </a:r>
            <a:endParaRPr lang="en-US" sz="1400" dirty="0"/>
          </a:p>
        </p:txBody>
      </p:sp>
      <p:sp>
        <p:nvSpPr>
          <p:cNvPr id="11" name="Text 9"/>
          <p:cNvSpPr txBox="1"/>
          <p:nvPr/>
        </p:nvSpPr>
        <p:spPr>
          <a:xfrm>
            <a:off x="3749040" y="2441448"/>
            <a:ext cx="3474720" cy="804672"/>
          </a:xfrm>
          <a:prstGeom prst="rect">
            <a:avLst/>
          </a:prstGeom>
          <a:noFill/>
          <a:ln/>
        </p:spPr>
        <p:txBody>
          <a:bodyPr wrap="square" lIns="0" tIns="0" rIns="0" bIns="0" rtlCol="0" anchor="ctr"/>
          <a:lstStyle/>
          <a:p>
            <a:pPr marL="0" indent="0">
              <a:buNone/>
            </a:pPr>
            <a:r>
              <a:rPr lang="en-US" sz="1300" i="1" dirty="0">
                <a:solidFill>
                  <a:srgbClr val="4D6165"/>
                </a:solidFill>
                <a:latin typeface="Calibri" pitchFamily="34" charset="0"/>
                <a:ea typeface="Calibri" pitchFamily="34" charset="-122"/>
                <a:cs typeface="Calibri" pitchFamily="34" charset="-120"/>
              </a:rPr>
              <a:t>A, B, C …</a:t>
            </a:r>
            <a:endParaRPr lang="en-US" sz="1300" dirty="0"/>
          </a:p>
        </p:txBody>
      </p:sp>
      <p:sp>
        <p:nvSpPr>
          <p:cNvPr id="12" name="Shape 10"/>
          <p:cNvSpPr/>
          <p:nvPr/>
        </p:nvSpPr>
        <p:spPr>
          <a:xfrm>
            <a:off x="7452360" y="2569464"/>
            <a:ext cx="3566160" cy="548640"/>
          </a:xfrm>
          <a:prstGeom prst="roundRect">
            <a:avLst>
              <a:gd name="adj" fmla="val 50000"/>
            </a:avLst>
          </a:prstGeom>
          <a:solidFill>
            <a:srgbClr val="128277"/>
          </a:solidFill>
          <a:ln/>
        </p:spPr>
      </p:sp>
      <p:sp>
        <p:nvSpPr>
          <p:cNvPr id="13" name="Text 11"/>
          <p:cNvSpPr txBox="1"/>
          <p:nvPr/>
        </p:nvSpPr>
        <p:spPr>
          <a:xfrm>
            <a:off x="7452360" y="2569464"/>
            <a:ext cx="3566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Ordinal</a:t>
            </a:r>
            <a:endParaRPr lang="en-US" sz="1300" dirty="0"/>
          </a:p>
        </p:txBody>
      </p:sp>
      <p:sp>
        <p:nvSpPr>
          <p:cNvPr id="14" name="Shape 12"/>
          <p:cNvSpPr/>
          <p:nvPr/>
        </p:nvSpPr>
        <p:spPr>
          <a:xfrm>
            <a:off x="457200" y="3374136"/>
            <a:ext cx="11247120" cy="804672"/>
          </a:xfrm>
          <a:prstGeom prst="roundRect">
            <a:avLst>
              <a:gd name="adj" fmla="val 7955"/>
            </a:avLst>
          </a:prstGeom>
          <a:solidFill>
            <a:srgbClr val="F7F9F9"/>
          </a:solidFill>
          <a:ln/>
        </p:spPr>
      </p:sp>
      <p:sp>
        <p:nvSpPr>
          <p:cNvPr id="15" name="Text 13"/>
          <p:cNvSpPr txBox="1"/>
          <p:nvPr/>
        </p:nvSpPr>
        <p:spPr>
          <a:xfrm>
            <a:off x="685800" y="3374136"/>
            <a:ext cx="3017520" cy="804672"/>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No. of Backlogs</a:t>
            </a:r>
            <a:endParaRPr lang="en-US" sz="1400" dirty="0"/>
          </a:p>
        </p:txBody>
      </p:sp>
      <p:sp>
        <p:nvSpPr>
          <p:cNvPr id="16" name="Text 14"/>
          <p:cNvSpPr txBox="1"/>
          <p:nvPr/>
        </p:nvSpPr>
        <p:spPr>
          <a:xfrm>
            <a:off x="3749040" y="3374136"/>
            <a:ext cx="3474720" cy="804672"/>
          </a:xfrm>
          <a:prstGeom prst="rect">
            <a:avLst/>
          </a:prstGeom>
          <a:noFill/>
          <a:ln/>
        </p:spPr>
        <p:txBody>
          <a:bodyPr wrap="square" lIns="0" tIns="0" rIns="0" bIns="0" rtlCol="0" anchor="ctr"/>
          <a:lstStyle/>
          <a:p>
            <a:pPr marL="0" indent="0">
              <a:buNone/>
            </a:pPr>
            <a:r>
              <a:rPr lang="en-US" sz="1300" i="1" dirty="0">
                <a:solidFill>
                  <a:srgbClr val="4D6165"/>
                </a:solidFill>
                <a:latin typeface="Calibri" pitchFamily="34" charset="0"/>
                <a:ea typeface="Calibri" pitchFamily="34" charset="-122"/>
                <a:cs typeface="Calibri" pitchFamily="34" charset="-120"/>
              </a:rPr>
              <a:t>0, 1, 2, 3 …</a:t>
            </a:r>
            <a:endParaRPr lang="en-US" sz="1300" dirty="0"/>
          </a:p>
        </p:txBody>
      </p:sp>
      <p:sp>
        <p:nvSpPr>
          <p:cNvPr id="17" name="Shape 15"/>
          <p:cNvSpPr/>
          <p:nvPr/>
        </p:nvSpPr>
        <p:spPr>
          <a:xfrm>
            <a:off x="7452360" y="3502152"/>
            <a:ext cx="3566160" cy="548640"/>
          </a:xfrm>
          <a:prstGeom prst="roundRect">
            <a:avLst>
              <a:gd name="adj" fmla="val 50000"/>
            </a:avLst>
          </a:prstGeom>
          <a:solidFill>
            <a:srgbClr val="0B3D42"/>
          </a:solidFill>
          <a:ln/>
        </p:spPr>
      </p:sp>
      <p:sp>
        <p:nvSpPr>
          <p:cNvPr id="18" name="Text 16"/>
          <p:cNvSpPr txBox="1"/>
          <p:nvPr/>
        </p:nvSpPr>
        <p:spPr>
          <a:xfrm>
            <a:off x="7452360" y="3502152"/>
            <a:ext cx="3566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Discrete (Ratio)</a:t>
            </a:r>
            <a:endParaRPr lang="en-US" sz="1300" dirty="0"/>
          </a:p>
        </p:txBody>
      </p:sp>
      <p:sp>
        <p:nvSpPr>
          <p:cNvPr id="19" name="Shape 17"/>
          <p:cNvSpPr/>
          <p:nvPr/>
        </p:nvSpPr>
        <p:spPr>
          <a:xfrm>
            <a:off x="457200" y="4306824"/>
            <a:ext cx="11247120" cy="804672"/>
          </a:xfrm>
          <a:prstGeom prst="roundRect">
            <a:avLst>
              <a:gd name="adj" fmla="val 7955"/>
            </a:avLst>
          </a:prstGeom>
          <a:solidFill>
            <a:srgbClr val="F7F9F9"/>
          </a:solidFill>
          <a:ln/>
        </p:spPr>
      </p:sp>
      <p:sp>
        <p:nvSpPr>
          <p:cNvPr id="20" name="Text 18"/>
          <p:cNvSpPr txBox="1"/>
          <p:nvPr/>
        </p:nvSpPr>
        <p:spPr>
          <a:xfrm>
            <a:off x="685800" y="4306824"/>
            <a:ext cx="3017520" cy="804672"/>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CGPA</a:t>
            </a:r>
            <a:endParaRPr lang="en-US" sz="1400" dirty="0"/>
          </a:p>
        </p:txBody>
      </p:sp>
      <p:sp>
        <p:nvSpPr>
          <p:cNvPr id="21" name="Text 19"/>
          <p:cNvSpPr txBox="1"/>
          <p:nvPr/>
        </p:nvSpPr>
        <p:spPr>
          <a:xfrm>
            <a:off x="3749040" y="4306824"/>
            <a:ext cx="3474720" cy="804672"/>
          </a:xfrm>
          <a:prstGeom prst="rect">
            <a:avLst/>
          </a:prstGeom>
          <a:noFill/>
          <a:ln/>
        </p:spPr>
        <p:txBody>
          <a:bodyPr wrap="square" lIns="0" tIns="0" rIns="0" bIns="0" rtlCol="0" anchor="ctr"/>
          <a:lstStyle/>
          <a:p>
            <a:pPr marL="0" indent="0">
              <a:buNone/>
            </a:pPr>
            <a:r>
              <a:rPr lang="en-US" sz="1300" i="1" dirty="0">
                <a:solidFill>
                  <a:srgbClr val="4D6165"/>
                </a:solidFill>
                <a:latin typeface="Calibri" pitchFamily="34" charset="0"/>
                <a:ea typeface="Calibri" pitchFamily="34" charset="-122"/>
                <a:cs typeface="Calibri" pitchFamily="34" charset="-120"/>
              </a:rPr>
              <a:t>7.85, 8.42 …</a:t>
            </a:r>
            <a:endParaRPr lang="en-US" sz="1300" dirty="0"/>
          </a:p>
        </p:txBody>
      </p:sp>
      <p:sp>
        <p:nvSpPr>
          <p:cNvPr id="22" name="Shape 20"/>
          <p:cNvSpPr/>
          <p:nvPr/>
        </p:nvSpPr>
        <p:spPr>
          <a:xfrm>
            <a:off x="7452360" y="4434840"/>
            <a:ext cx="3566160" cy="548640"/>
          </a:xfrm>
          <a:prstGeom prst="roundRect">
            <a:avLst>
              <a:gd name="adj" fmla="val 50000"/>
            </a:avLst>
          </a:prstGeom>
          <a:solidFill>
            <a:srgbClr val="0B3D42"/>
          </a:solidFill>
          <a:ln/>
        </p:spPr>
      </p:sp>
      <p:sp>
        <p:nvSpPr>
          <p:cNvPr id="23" name="Text 21"/>
          <p:cNvSpPr txBox="1"/>
          <p:nvPr/>
        </p:nvSpPr>
        <p:spPr>
          <a:xfrm>
            <a:off x="7452360" y="4434840"/>
            <a:ext cx="3566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Continuous (Ratio)</a:t>
            </a:r>
            <a:endParaRPr lang="en-US" sz="1300" dirty="0"/>
          </a:p>
        </p:txBody>
      </p:sp>
      <p:sp>
        <p:nvSpPr>
          <p:cNvPr id="24" name="Shape 22"/>
          <p:cNvSpPr/>
          <p:nvPr/>
        </p:nvSpPr>
        <p:spPr>
          <a:xfrm>
            <a:off x="457200" y="5239512"/>
            <a:ext cx="11247120" cy="804672"/>
          </a:xfrm>
          <a:prstGeom prst="roundRect">
            <a:avLst>
              <a:gd name="adj" fmla="val 7955"/>
            </a:avLst>
          </a:prstGeom>
          <a:solidFill>
            <a:srgbClr val="F7F9F9"/>
          </a:solidFill>
          <a:ln/>
        </p:spPr>
      </p:sp>
      <p:sp>
        <p:nvSpPr>
          <p:cNvPr id="25" name="Text 23"/>
          <p:cNvSpPr txBox="1"/>
          <p:nvPr/>
        </p:nvSpPr>
        <p:spPr>
          <a:xfrm>
            <a:off x="685800" y="5239512"/>
            <a:ext cx="3017520" cy="804672"/>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Body Temp. (°C)</a:t>
            </a:r>
            <a:endParaRPr lang="en-US" sz="1400" dirty="0"/>
          </a:p>
        </p:txBody>
      </p:sp>
      <p:sp>
        <p:nvSpPr>
          <p:cNvPr id="26" name="Text 24"/>
          <p:cNvSpPr txBox="1"/>
          <p:nvPr/>
        </p:nvSpPr>
        <p:spPr>
          <a:xfrm>
            <a:off x="3749040" y="5239512"/>
            <a:ext cx="3474720" cy="804672"/>
          </a:xfrm>
          <a:prstGeom prst="rect">
            <a:avLst/>
          </a:prstGeom>
          <a:noFill/>
          <a:ln/>
        </p:spPr>
        <p:txBody>
          <a:bodyPr wrap="square" lIns="0" tIns="0" rIns="0" bIns="0" rtlCol="0" anchor="ctr"/>
          <a:lstStyle/>
          <a:p>
            <a:pPr marL="0" indent="0">
              <a:buNone/>
            </a:pPr>
            <a:r>
              <a:rPr lang="en-US" sz="1300" i="1" dirty="0">
                <a:solidFill>
                  <a:srgbClr val="4D6165"/>
                </a:solidFill>
                <a:latin typeface="Calibri" pitchFamily="34" charset="0"/>
                <a:ea typeface="Calibri" pitchFamily="34" charset="-122"/>
                <a:cs typeface="Calibri" pitchFamily="34" charset="-120"/>
              </a:rPr>
              <a:t>36.6, 37.1 …</a:t>
            </a:r>
            <a:endParaRPr lang="en-US" sz="1300" dirty="0"/>
          </a:p>
        </p:txBody>
      </p:sp>
      <p:sp>
        <p:nvSpPr>
          <p:cNvPr id="27" name="Shape 25"/>
          <p:cNvSpPr/>
          <p:nvPr/>
        </p:nvSpPr>
        <p:spPr>
          <a:xfrm>
            <a:off x="7452360" y="5367528"/>
            <a:ext cx="3566160" cy="548640"/>
          </a:xfrm>
          <a:prstGeom prst="roundRect">
            <a:avLst>
              <a:gd name="adj" fmla="val 50000"/>
            </a:avLst>
          </a:prstGeom>
          <a:solidFill>
            <a:srgbClr val="F2A541"/>
          </a:solidFill>
          <a:ln/>
        </p:spPr>
      </p:sp>
      <p:sp>
        <p:nvSpPr>
          <p:cNvPr id="28" name="Text 26"/>
          <p:cNvSpPr txBox="1"/>
          <p:nvPr/>
        </p:nvSpPr>
        <p:spPr>
          <a:xfrm>
            <a:off x="7452360" y="5367528"/>
            <a:ext cx="3566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Continuous (Interval)</a:t>
            </a:r>
            <a:endParaRPr lang="en-US" sz="1300" dirty="0"/>
          </a:p>
        </p:txBody>
      </p:sp>
      <p:sp>
        <p:nvSpPr>
          <p:cNvPr id="29" name="Text 27"/>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30" name="Text 28"/>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The Payoff: Type Determines Method</a:t>
            </a:r>
            <a:endParaRPr lang="en-US" sz="3000" dirty="0"/>
          </a:p>
        </p:txBody>
      </p:sp>
      <p:sp>
        <p:nvSpPr>
          <p:cNvPr id="3" name="Text 1"/>
          <p:cNvSpPr txBox="1"/>
          <p:nvPr/>
        </p:nvSpPr>
        <p:spPr>
          <a:xfrm>
            <a:off x="548640" y="1463040"/>
            <a:ext cx="11064240" cy="3291840"/>
          </a:xfrm>
          <a:prstGeom prst="rect">
            <a:avLst/>
          </a:prstGeom>
          <a:noFill/>
          <a:ln/>
        </p:spPr>
        <p:txBody>
          <a:bodyPr wrap="square" lIns="0" tIns="0" rIns="0" bIns="0" rtlCol="0" anchor="t"/>
          <a:lstStyle/>
          <a:p>
            <a:pPr marL="342900" indent="-342900">
              <a:lnSpc>
                <a:spcPct val="105000"/>
              </a:lnSpc>
              <a:spcAft>
                <a:spcPts val="2000"/>
              </a:spcAft>
              <a:buSzPct val="100000"/>
              <a:buChar char="▪"/>
            </a:pPr>
            <a:r>
              <a:rPr lang="en-US" sz="1700" dirty="0">
                <a:solidFill>
                  <a:srgbClr val="17262A"/>
                </a:solidFill>
                <a:latin typeface="Calibri" pitchFamily="34" charset="0"/>
                <a:ea typeface="Calibri" pitchFamily="34" charset="-122"/>
                <a:cs typeface="Calibri" pitchFamily="34" charset="-120"/>
              </a:rPr>
              <a:t>Central tendency: nominal → mode only; ordinal → median; interval/ratio → mean</a:t>
            </a:r>
            <a:endParaRPr lang="en-US" sz="1700" dirty="0"/>
          </a:p>
          <a:p>
            <a:pPr marL="342900" indent="-342900">
              <a:lnSpc>
                <a:spcPct val="105000"/>
              </a:lnSpc>
              <a:spcAft>
                <a:spcPts val="2000"/>
              </a:spcAft>
              <a:buSzPct val="100000"/>
              <a:buChar char="▪"/>
            </a:pPr>
            <a:r>
              <a:rPr lang="en-US" sz="1700" dirty="0">
                <a:solidFill>
                  <a:srgbClr val="17262A"/>
                </a:solidFill>
                <a:latin typeface="Calibri" pitchFamily="34" charset="0"/>
                <a:ea typeface="Calibri" pitchFamily="34" charset="-122"/>
                <a:cs typeface="Calibri" pitchFamily="34" charset="-120"/>
              </a:rPr>
              <a:t>Dispersion: variance &amp; std. deviation require interval or ratio data</a:t>
            </a:r>
            <a:endParaRPr lang="en-US" sz="1700" dirty="0"/>
          </a:p>
          <a:p>
            <a:pPr marL="342900" indent="-342900">
              <a:lnSpc>
                <a:spcPct val="105000"/>
              </a:lnSpc>
              <a:spcAft>
                <a:spcPts val="2000"/>
              </a:spcAft>
              <a:buSzPct val="100000"/>
              <a:buChar char="▪"/>
            </a:pPr>
            <a:r>
              <a:rPr lang="en-US" sz="1700" dirty="0">
                <a:solidFill>
                  <a:srgbClr val="17262A"/>
                </a:solidFill>
                <a:latin typeface="Calibri" pitchFamily="34" charset="0"/>
                <a:ea typeface="Calibri" pitchFamily="34" charset="-122"/>
                <a:cs typeface="Calibri" pitchFamily="34" charset="-120"/>
              </a:rPr>
              <a:t>Charting: categorical data → bar / pie charts; numeric data → histograms / box plots</a:t>
            </a:r>
            <a:endParaRPr lang="en-US" sz="1700" dirty="0"/>
          </a:p>
          <a:p>
            <a:pPr marL="342900" indent="-342900">
              <a:lnSpc>
                <a:spcPct val="105000"/>
              </a:lnSpc>
              <a:spcAft>
                <a:spcPts val="2000"/>
              </a:spcAft>
              <a:buSzPct val="100000"/>
              <a:buChar char="▪"/>
            </a:pPr>
            <a:r>
              <a:rPr lang="en-US" sz="1700" dirty="0">
                <a:solidFill>
                  <a:srgbClr val="17262A"/>
                </a:solidFill>
                <a:latin typeface="Calibri" pitchFamily="34" charset="0"/>
                <a:ea typeface="Calibri" pitchFamily="34" charset="-122"/>
                <a:cs typeface="Calibri" pitchFamily="34" charset="-120"/>
              </a:rPr>
              <a:t>Correlation: Pearson’s r needs interval/ratio; Spearman’s rank works for ordinal</a:t>
            </a:r>
            <a:endParaRPr lang="en-US" sz="1700" dirty="0"/>
          </a:p>
        </p:txBody>
      </p:sp>
      <p:sp>
        <p:nvSpPr>
          <p:cNvPr id="4" name="Shape 2"/>
          <p:cNvSpPr/>
          <p:nvPr/>
        </p:nvSpPr>
        <p:spPr>
          <a:xfrm>
            <a:off x="548640" y="4892040"/>
            <a:ext cx="11064240" cy="1417320"/>
          </a:xfrm>
          <a:prstGeom prst="roundRect">
            <a:avLst>
              <a:gd name="adj" fmla="val 6452"/>
            </a:avLst>
          </a:prstGeom>
          <a:solidFill>
            <a:srgbClr val="0B3D42"/>
          </a:solidFill>
          <a:ln/>
        </p:spPr>
      </p:sp>
      <p:pic>
        <p:nvPicPr>
          <p:cNvPr id="5" name="Image 0" descr="preencoded.png"/>
          <p:cNvPicPr>
            <a:picLocks noChangeAspect="1"/>
          </p:cNvPicPr>
          <p:nvPr/>
        </p:nvPicPr>
        <p:blipFill>
          <a:blip r:embed="rId3"/>
          <a:stretch>
            <a:fillRect/>
          </a:stretch>
        </p:blipFill>
        <p:spPr>
          <a:xfrm>
            <a:off x="868680" y="5193792"/>
            <a:ext cx="548640" cy="548640"/>
          </a:xfrm>
          <a:prstGeom prst="rect">
            <a:avLst/>
          </a:prstGeom>
        </p:spPr>
      </p:pic>
      <p:sp>
        <p:nvSpPr>
          <p:cNvPr id="6" name="Text 3"/>
          <p:cNvSpPr txBox="1"/>
          <p:nvPr/>
        </p:nvSpPr>
        <p:spPr>
          <a:xfrm>
            <a:off x="1600200" y="5074920"/>
            <a:ext cx="9692640" cy="1051560"/>
          </a:xfrm>
          <a:prstGeom prst="rect">
            <a:avLst/>
          </a:prstGeom>
          <a:noFill/>
          <a:ln/>
        </p:spPr>
        <p:txBody>
          <a:bodyPr wrap="square" lIns="0" tIns="0" rIns="0" bIns="0" rtlCol="0" anchor="ctr"/>
          <a:lstStyle/>
          <a:p>
            <a:pPr marL="0" indent="0">
              <a:buNone/>
            </a:pPr>
            <a:r>
              <a:rPr lang="en-US" sz="1550" i="1" dirty="0">
                <a:solidFill>
                  <a:srgbClr val="FFFFFF"/>
                </a:solidFill>
                <a:latin typeface="Calibri" pitchFamily="34" charset="0"/>
                <a:ea typeface="Calibri" pitchFamily="34" charset="-122"/>
                <a:cs typeface="Calibri" pitchFamily="34" charset="-120"/>
              </a:rPr>
              <a:t>Rule of thumb: identify the scale FIRST, then let it decide which statistic or chart you are allowed to use — never the other way around.</a:t>
            </a:r>
            <a:endParaRPr lang="en-US" sz="1550" dirty="0"/>
          </a:p>
        </p:txBody>
      </p:sp>
      <p:sp>
        <p:nvSpPr>
          <p:cNvPr id="7" name="Text 4"/>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8" name="Text 5"/>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Descriptive Statistics: Measures of Central Tendency</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Answering: "Where is the center of my data?"</a:t>
            </a:r>
            <a:endParaRPr lang="en-US" sz="1400" dirty="0"/>
          </a:p>
        </p:txBody>
      </p:sp>
      <p:sp>
        <p:nvSpPr>
          <p:cNvPr id="4" name="Shape 2"/>
          <p:cNvSpPr/>
          <p:nvPr/>
        </p:nvSpPr>
        <p:spPr>
          <a:xfrm>
            <a:off x="548640" y="1554480"/>
            <a:ext cx="3566160" cy="3931920"/>
          </a:xfrm>
          <a:prstGeom prst="roundRect">
            <a:avLst>
              <a:gd name="adj" fmla="val 2564"/>
            </a:avLst>
          </a:prstGeom>
          <a:solidFill>
            <a:srgbClr val="F7F9F9"/>
          </a:solidFill>
          <a:ln w="12700">
            <a:solidFill>
              <a:srgbClr val="E1E8E8"/>
            </a:solidFill>
            <a:prstDash val="solid"/>
          </a:ln>
        </p:spPr>
      </p:sp>
      <p:sp>
        <p:nvSpPr>
          <p:cNvPr id="5" name="Shape 3"/>
          <p:cNvSpPr/>
          <p:nvPr/>
        </p:nvSpPr>
        <p:spPr>
          <a:xfrm>
            <a:off x="1920240" y="1828800"/>
            <a:ext cx="822960" cy="822960"/>
          </a:xfrm>
          <a:prstGeom prst="ellipse">
            <a:avLst/>
          </a:prstGeom>
          <a:solidFill>
            <a:srgbClr val="128277"/>
          </a:solidFill>
          <a:ln/>
        </p:spPr>
      </p:sp>
      <p:pic>
        <p:nvPicPr>
          <p:cNvPr id="6" name="Image 0" descr="preencoded.png"/>
          <p:cNvPicPr>
            <a:picLocks noChangeAspect="1"/>
          </p:cNvPicPr>
          <p:nvPr/>
        </p:nvPicPr>
        <p:blipFill>
          <a:blip r:embed="rId3"/>
          <a:stretch>
            <a:fillRect/>
          </a:stretch>
        </p:blipFill>
        <p:spPr>
          <a:xfrm>
            <a:off x="2027225" y="1935785"/>
            <a:ext cx="608990" cy="608990"/>
          </a:xfrm>
          <a:prstGeom prst="rect">
            <a:avLst/>
          </a:prstGeom>
        </p:spPr>
      </p:pic>
      <p:sp>
        <p:nvSpPr>
          <p:cNvPr id="7" name="Text 4"/>
          <p:cNvSpPr txBox="1"/>
          <p:nvPr/>
        </p:nvSpPr>
        <p:spPr>
          <a:xfrm>
            <a:off x="548640" y="2788920"/>
            <a:ext cx="3566160" cy="457200"/>
          </a:xfrm>
          <a:prstGeom prst="rect">
            <a:avLst/>
          </a:prstGeom>
          <a:noFill/>
          <a:ln/>
        </p:spPr>
        <p:txBody>
          <a:bodyPr wrap="square" lIns="0" tIns="0" rIns="0" bIns="0" rtlCol="0" anchor="ctr"/>
          <a:lstStyle/>
          <a:p>
            <a:pPr marL="0" indent="0" algn="ctr">
              <a:buNone/>
            </a:pPr>
            <a:r>
              <a:rPr lang="en-US" sz="2000" b="1" dirty="0">
                <a:solidFill>
                  <a:srgbClr val="0B3D42"/>
                </a:solidFill>
                <a:latin typeface="Cambria" pitchFamily="34" charset="0"/>
                <a:ea typeface="Cambria" pitchFamily="34" charset="-122"/>
                <a:cs typeface="Cambria" pitchFamily="34" charset="-120"/>
              </a:rPr>
              <a:t>Mean</a:t>
            </a:r>
            <a:endParaRPr lang="en-US" sz="2000" dirty="0"/>
          </a:p>
        </p:txBody>
      </p:sp>
      <p:sp>
        <p:nvSpPr>
          <p:cNvPr id="8" name="Text 5"/>
          <p:cNvSpPr txBox="1"/>
          <p:nvPr/>
        </p:nvSpPr>
        <p:spPr>
          <a:xfrm>
            <a:off x="822960" y="3337560"/>
            <a:ext cx="3017520" cy="1005840"/>
          </a:xfrm>
          <a:prstGeom prst="rect">
            <a:avLst/>
          </a:prstGeom>
          <a:noFill/>
          <a:ln/>
        </p:spPr>
        <p:txBody>
          <a:bodyPr wrap="square" lIns="0" tIns="0" rIns="0" bIns="0" rtlCol="0" anchor="ctr"/>
          <a:lstStyle/>
          <a:p>
            <a:pPr marL="0" indent="0" algn="ctr">
              <a:buNone/>
            </a:pPr>
            <a:r>
              <a:rPr lang="en-US" sz="1350" dirty="0">
                <a:solidFill>
                  <a:srgbClr val="17262A"/>
                </a:solidFill>
                <a:latin typeface="Calibri" pitchFamily="34" charset="0"/>
                <a:ea typeface="Calibri" pitchFamily="34" charset="-122"/>
                <a:cs typeface="Calibri" pitchFamily="34" charset="-120"/>
              </a:rPr>
              <a:t>The arithmetic average; sum of values ÷ count</a:t>
            </a:r>
            <a:endParaRPr lang="en-US" sz="1350" dirty="0"/>
          </a:p>
        </p:txBody>
      </p:sp>
      <p:sp>
        <p:nvSpPr>
          <p:cNvPr id="9" name="Text 6"/>
          <p:cNvSpPr txBox="1"/>
          <p:nvPr/>
        </p:nvSpPr>
        <p:spPr>
          <a:xfrm>
            <a:off x="731520" y="4754880"/>
            <a:ext cx="3200400" cy="548640"/>
          </a:xfrm>
          <a:prstGeom prst="rect">
            <a:avLst/>
          </a:prstGeom>
          <a:noFill/>
          <a:ln/>
        </p:spPr>
        <p:txBody>
          <a:bodyPr wrap="square" lIns="0" tIns="0" rIns="0" bIns="0" rtlCol="0" anchor="ctr"/>
          <a:lstStyle/>
          <a:p>
            <a:pPr marL="0" indent="0" algn="ctr">
              <a:buNone/>
            </a:pPr>
            <a:r>
              <a:rPr lang="en-US" sz="1200" b="1" i="1" dirty="0">
                <a:solidFill>
                  <a:srgbClr val="128277"/>
                </a:solidFill>
                <a:latin typeface="Calibri" pitchFamily="34" charset="0"/>
                <a:ea typeface="Calibri" pitchFamily="34" charset="-122"/>
                <a:cs typeface="Calibri" pitchFamily="34" charset="-120"/>
              </a:rPr>
              <a:t>Needs interval / ratio data</a:t>
            </a:r>
            <a:endParaRPr lang="en-US" sz="1200" dirty="0"/>
          </a:p>
        </p:txBody>
      </p:sp>
      <p:sp>
        <p:nvSpPr>
          <p:cNvPr id="10" name="Shape 7"/>
          <p:cNvSpPr/>
          <p:nvPr/>
        </p:nvSpPr>
        <p:spPr>
          <a:xfrm>
            <a:off x="4343400" y="1554480"/>
            <a:ext cx="3566160" cy="3931920"/>
          </a:xfrm>
          <a:prstGeom prst="roundRect">
            <a:avLst>
              <a:gd name="adj" fmla="val 2564"/>
            </a:avLst>
          </a:prstGeom>
          <a:solidFill>
            <a:srgbClr val="F7F9F9"/>
          </a:solidFill>
          <a:ln w="12700">
            <a:solidFill>
              <a:srgbClr val="E1E8E8"/>
            </a:solidFill>
            <a:prstDash val="solid"/>
          </a:ln>
        </p:spPr>
      </p:sp>
      <p:sp>
        <p:nvSpPr>
          <p:cNvPr id="11" name="Shape 8"/>
          <p:cNvSpPr/>
          <p:nvPr/>
        </p:nvSpPr>
        <p:spPr>
          <a:xfrm>
            <a:off x="5715000" y="1828800"/>
            <a:ext cx="822960" cy="822960"/>
          </a:xfrm>
          <a:prstGeom prst="ellipse">
            <a:avLst/>
          </a:prstGeom>
          <a:solidFill>
            <a:srgbClr val="C97F1F"/>
          </a:solidFill>
          <a:ln/>
        </p:spPr>
      </p:sp>
      <p:pic>
        <p:nvPicPr>
          <p:cNvPr id="12" name="Image 1" descr="preencoded.png"/>
          <p:cNvPicPr>
            <a:picLocks noChangeAspect="1"/>
          </p:cNvPicPr>
          <p:nvPr/>
        </p:nvPicPr>
        <p:blipFill>
          <a:blip r:embed="rId4"/>
          <a:stretch>
            <a:fillRect/>
          </a:stretch>
        </p:blipFill>
        <p:spPr>
          <a:xfrm>
            <a:off x="5821985" y="1935785"/>
            <a:ext cx="608990" cy="608990"/>
          </a:xfrm>
          <a:prstGeom prst="rect">
            <a:avLst/>
          </a:prstGeom>
        </p:spPr>
      </p:pic>
      <p:sp>
        <p:nvSpPr>
          <p:cNvPr id="13" name="Text 9"/>
          <p:cNvSpPr txBox="1"/>
          <p:nvPr/>
        </p:nvSpPr>
        <p:spPr>
          <a:xfrm>
            <a:off x="4343400" y="2788920"/>
            <a:ext cx="3566160" cy="457200"/>
          </a:xfrm>
          <a:prstGeom prst="rect">
            <a:avLst/>
          </a:prstGeom>
          <a:noFill/>
          <a:ln/>
        </p:spPr>
        <p:txBody>
          <a:bodyPr wrap="square" lIns="0" tIns="0" rIns="0" bIns="0" rtlCol="0" anchor="ctr"/>
          <a:lstStyle/>
          <a:p>
            <a:pPr marL="0" indent="0" algn="ctr">
              <a:buNone/>
            </a:pPr>
            <a:r>
              <a:rPr lang="en-US" sz="2000" b="1" dirty="0">
                <a:solidFill>
                  <a:srgbClr val="0B3D42"/>
                </a:solidFill>
                <a:latin typeface="Cambria" pitchFamily="34" charset="0"/>
                <a:ea typeface="Cambria" pitchFamily="34" charset="-122"/>
                <a:cs typeface="Cambria" pitchFamily="34" charset="-120"/>
              </a:rPr>
              <a:t>Median</a:t>
            </a:r>
            <a:endParaRPr lang="en-US" sz="2000" dirty="0"/>
          </a:p>
        </p:txBody>
      </p:sp>
      <p:sp>
        <p:nvSpPr>
          <p:cNvPr id="14" name="Text 10"/>
          <p:cNvSpPr txBox="1"/>
          <p:nvPr/>
        </p:nvSpPr>
        <p:spPr>
          <a:xfrm>
            <a:off x="4617720" y="3337560"/>
            <a:ext cx="3017520" cy="1005840"/>
          </a:xfrm>
          <a:prstGeom prst="rect">
            <a:avLst/>
          </a:prstGeom>
          <a:noFill/>
          <a:ln/>
        </p:spPr>
        <p:txBody>
          <a:bodyPr wrap="square" lIns="0" tIns="0" rIns="0" bIns="0" rtlCol="0" anchor="ctr"/>
          <a:lstStyle/>
          <a:p>
            <a:pPr marL="0" indent="0" algn="ctr">
              <a:buNone/>
            </a:pPr>
            <a:r>
              <a:rPr lang="en-US" sz="1350" dirty="0">
                <a:solidFill>
                  <a:srgbClr val="17262A"/>
                </a:solidFill>
                <a:latin typeface="Calibri" pitchFamily="34" charset="0"/>
                <a:ea typeface="Calibri" pitchFamily="34" charset="-122"/>
                <a:cs typeface="Calibri" pitchFamily="34" charset="-120"/>
              </a:rPr>
              <a:t>The middle value when data is sorted</a:t>
            </a:r>
            <a:endParaRPr lang="en-US" sz="1350" dirty="0"/>
          </a:p>
        </p:txBody>
      </p:sp>
      <p:sp>
        <p:nvSpPr>
          <p:cNvPr id="15" name="Text 11"/>
          <p:cNvSpPr txBox="1"/>
          <p:nvPr/>
        </p:nvSpPr>
        <p:spPr>
          <a:xfrm>
            <a:off x="4526280" y="4754880"/>
            <a:ext cx="3200400" cy="548640"/>
          </a:xfrm>
          <a:prstGeom prst="rect">
            <a:avLst/>
          </a:prstGeom>
          <a:noFill/>
          <a:ln/>
        </p:spPr>
        <p:txBody>
          <a:bodyPr wrap="square" lIns="0" tIns="0" rIns="0" bIns="0" rtlCol="0" anchor="ctr"/>
          <a:lstStyle/>
          <a:p>
            <a:pPr marL="0" indent="0" algn="ctr">
              <a:buNone/>
            </a:pPr>
            <a:r>
              <a:rPr lang="en-US" sz="1200" b="1" i="1" dirty="0">
                <a:solidFill>
                  <a:srgbClr val="C97F1F"/>
                </a:solidFill>
                <a:latin typeface="Calibri" pitchFamily="34" charset="0"/>
                <a:ea typeface="Calibri" pitchFamily="34" charset="-122"/>
                <a:cs typeface="Calibri" pitchFamily="34" charset="-120"/>
              </a:rPr>
              <a:t>Needs ordinal data or higher</a:t>
            </a:r>
            <a:endParaRPr lang="en-US" sz="1200" dirty="0"/>
          </a:p>
        </p:txBody>
      </p:sp>
      <p:sp>
        <p:nvSpPr>
          <p:cNvPr id="16" name="Shape 12"/>
          <p:cNvSpPr/>
          <p:nvPr/>
        </p:nvSpPr>
        <p:spPr>
          <a:xfrm>
            <a:off x="8138160" y="1554480"/>
            <a:ext cx="3566160" cy="3931920"/>
          </a:xfrm>
          <a:prstGeom prst="roundRect">
            <a:avLst>
              <a:gd name="adj" fmla="val 2564"/>
            </a:avLst>
          </a:prstGeom>
          <a:solidFill>
            <a:srgbClr val="F7F9F9"/>
          </a:solidFill>
          <a:ln w="12700">
            <a:solidFill>
              <a:srgbClr val="E1E8E8"/>
            </a:solidFill>
            <a:prstDash val="solid"/>
          </a:ln>
        </p:spPr>
      </p:sp>
      <p:sp>
        <p:nvSpPr>
          <p:cNvPr id="17" name="Shape 13"/>
          <p:cNvSpPr/>
          <p:nvPr/>
        </p:nvSpPr>
        <p:spPr>
          <a:xfrm>
            <a:off x="9509760" y="1828800"/>
            <a:ext cx="822960" cy="822960"/>
          </a:xfrm>
          <a:prstGeom prst="ellipse">
            <a:avLst/>
          </a:prstGeom>
          <a:solidFill>
            <a:srgbClr val="0B3D42"/>
          </a:solidFill>
          <a:ln/>
        </p:spPr>
      </p:sp>
      <p:pic>
        <p:nvPicPr>
          <p:cNvPr id="18" name="Image 2" descr="preencoded.png"/>
          <p:cNvPicPr>
            <a:picLocks noChangeAspect="1"/>
          </p:cNvPicPr>
          <p:nvPr/>
        </p:nvPicPr>
        <p:blipFill>
          <a:blip r:embed="rId5"/>
          <a:stretch>
            <a:fillRect/>
          </a:stretch>
        </p:blipFill>
        <p:spPr>
          <a:xfrm>
            <a:off x="9616745" y="1935785"/>
            <a:ext cx="608990" cy="608990"/>
          </a:xfrm>
          <a:prstGeom prst="rect">
            <a:avLst/>
          </a:prstGeom>
        </p:spPr>
      </p:pic>
      <p:sp>
        <p:nvSpPr>
          <p:cNvPr id="19" name="Text 14"/>
          <p:cNvSpPr txBox="1"/>
          <p:nvPr/>
        </p:nvSpPr>
        <p:spPr>
          <a:xfrm>
            <a:off x="8138160" y="2788920"/>
            <a:ext cx="3566160" cy="457200"/>
          </a:xfrm>
          <a:prstGeom prst="rect">
            <a:avLst/>
          </a:prstGeom>
          <a:noFill/>
          <a:ln/>
        </p:spPr>
        <p:txBody>
          <a:bodyPr wrap="square" lIns="0" tIns="0" rIns="0" bIns="0" rtlCol="0" anchor="ctr"/>
          <a:lstStyle/>
          <a:p>
            <a:pPr marL="0" indent="0" algn="ctr">
              <a:buNone/>
            </a:pPr>
            <a:r>
              <a:rPr lang="en-US" sz="2000" b="1" dirty="0">
                <a:solidFill>
                  <a:srgbClr val="0B3D42"/>
                </a:solidFill>
                <a:latin typeface="Cambria" pitchFamily="34" charset="0"/>
                <a:ea typeface="Cambria" pitchFamily="34" charset="-122"/>
                <a:cs typeface="Cambria" pitchFamily="34" charset="-120"/>
              </a:rPr>
              <a:t>Mode</a:t>
            </a:r>
            <a:endParaRPr lang="en-US" sz="2000" dirty="0"/>
          </a:p>
        </p:txBody>
      </p:sp>
      <p:sp>
        <p:nvSpPr>
          <p:cNvPr id="20" name="Text 15"/>
          <p:cNvSpPr txBox="1"/>
          <p:nvPr/>
        </p:nvSpPr>
        <p:spPr>
          <a:xfrm>
            <a:off x="8412480" y="3337560"/>
            <a:ext cx="3017520" cy="1005840"/>
          </a:xfrm>
          <a:prstGeom prst="rect">
            <a:avLst/>
          </a:prstGeom>
          <a:noFill/>
          <a:ln/>
        </p:spPr>
        <p:txBody>
          <a:bodyPr wrap="square" lIns="0" tIns="0" rIns="0" bIns="0" rtlCol="0" anchor="ctr"/>
          <a:lstStyle/>
          <a:p>
            <a:pPr marL="0" indent="0" algn="ctr">
              <a:buNone/>
            </a:pPr>
            <a:r>
              <a:rPr lang="en-US" sz="1350" dirty="0">
                <a:solidFill>
                  <a:srgbClr val="17262A"/>
                </a:solidFill>
                <a:latin typeface="Calibri" pitchFamily="34" charset="0"/>
                <a:ea typeface="Calibri" pitchFamily="34" charset="-122"/>
                <a:cs typeface="Calibri" pitchFamily="34" charset="-120"/>
              </a:rPr>
              <a:t>The most frequently occurring value</a:t>
            </a:r>
            <a:endParaRPr lang="en-US" sz="1350" dirty="0"/>
          </a:p>
        </p:txBody>
      </p:sp>
      <p:sp>
        <p:nvSpPr>
          <p:cNvPr id="21" name="Text 16"/>
          <p:cNvSpPr txBox="1"/>
          <p:nvPr/>
        </p:nvSpPr>
        <p:spPr>
          <a:xfrm>
            <a:off x="8321040" y="4754880"/>
            <a:ext cx="3200400" cy="548640"/>
          </a:xfrm>
          <a:prstGeom prst="rect">
            <a:avLst/>
          </a:prstGeom>
          <a:noFill/>
          <a:ln/>
        </p:spPr>
        <p:txBody>
          <a:bodyPr wrap="square" lIns="0" tIns="0" rIns="0" bIns="0" rtlCol="0" anchor="ctr"/>
          <a:lstStyle/>
          <a:p>
            <a:pPr marL="0" indent="0" algn="ctr">
              <a:buNone/>
            </a:pPr>
            <a:r>
              <a:rPr lang="en-US" sz="1200" b="1" i="1" dirty="0">
                <a:solidFill>
                  <a:srgbClr val="0B3D42"/>
                </a:solidFill>
                <a:latin typeface="Calibri" pitchFamily="34" charset="0"/>
                <a:ea typeface="Calibri" pitchFamily="34" charset="-122"/>
                <a:cs typeface="Calibri" pitchFamily="34" charset="-120"/>
              </a:rPr>
              <a:t>Works on any data type</a:t>
            </a:r>
            <a:endParaRPr lang="en-US" sz="1200" dirty="0"/>
          </a:p>
        </p:txBody>
      </p:sp>
      <p:sp>
        <p:nvSpPr>
          <p:cNvPr id="22" name="Text 17"/>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3" name="Text 18"/>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Worked Example: Mean, Median, Mode</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Marks (out of 100) for 9 students: 45, 52, 52, 61, 67, 70, 74, 80, 91</a:t>
            </a:r>
            <a:endParaRPr lang="en-US" sz="1400" dirty="0"/>
          </a:p>
        </p:txBody>
      </p:sp>
      <p:sp>
        <p:nvSpPr>
          <p:cNvPr id="4" name="Shape 2"/>
          <p:cNvSpPr/>
          <p:nvPr/>
        </p:nvSpPr>
        <p:spPr>
          <a:xfrm>
            <a:off x="457200" y="1463040"/>
            <a:ext cx="11247120" cy="822960"/>
          </a:xfrm>
          <a:prstGeom prst="roundRect">
            <a:avLst>
              <a:gd name="adj" fmla="val 8889"/>
            </a:avLst>
          </a:prstGeom>
          <a:solidFill>
            <a:srgbClr val="0B3D42"/>
          </a:solidFill>
          <a:ln/>
        </p:spPr>
      </p:sp>
      <p:sp>
        <p:nvSpPr>
          <p:cNvPr id="5" name="Text 3"/>
          <p:cNvSpPr txBox="1"/>
          <p:nvPr/>
        </p:nvSpPr>
        <p:spPr>
          <a:xfrm>
            <a:off x="457200" y="1463040"/>
            <a:ext cx="11247120" cy="822960"/>
          </a:xfrm>
          <a:prstGeom prst="rect">
            <a:avLst/>
          </a:prstGeom>
          <a:noFill/>
          <a:ln/>
        </p:spPr>
        <p:txBody>
          <a:bodyPr wrap="square" lIns="0" tIns="0" rIns="0" bIns="0" rtlCol="0" anchor="ctr"/>
          <a:lstStyle/>
          <a:p>
            <a:pPr marL="0" indent="0" algn="ctr">
              <a:buNone/>
            </a:pPr>
            <a:r>
              <a:rPr lang="en-US" sz="2000" b="1" dirty="0">
                <a:solidFill>
                  <a:srgbClr val="F2A541"/>
                </a:solidFill>
                <a:latin typeface="Courier New" pitchFamily="34" charset="0"/>
                <a:ea typeface="Courier New" pitchFamily="34" charset="-122"/>
                <a:cs typeface="Courier New" pitchFamily="34" charset="-120"/>
              </a:rPr>
              <a:t>45, 52, 52, 61, 67, 70, 74, 80, 91</a:t>
            </a:r>
            <a:endParaRPr lang="en-US" sz="2000" dirty="0"/>
          </a:p>
        </p:txBody>
      </p:sp>
      <p:sp>
        <p:nvSpPr>
          <p:cNvPr id="6" name="Shape 4"/>
          <p:cNvSpPr/>
          <p:nvPr/>
        </p:nvSpPr>
        <p:spPr>
          <a:xfrm>
            <a:off x="457200" y="2514600"/>
            <a:ext cx="11247120" cy="1143000"/>
          </a:xfrm>
          <a:prstGeom prst="roundRect">
            <a:avLst>
              <a:gd name="adj" fmla="val 6400"/>
            </a:avLst>
          </a:prstGeom>
          <a:solidFill>
            <a:srgbClr val="F7F9F9"/>
          </a:solidFill>
          <a:ln/>
        </p:spPr>
      </p:sp>
      <p:sp>
        <p:nvSpPr>
          <p:cNvPr id="7" name="Text 5"/>
          <p:cNvSpPr txBox="1"/>
          <p:nvPr/>
        </p:nvSpPr>
        <p:spPr>
          <a:xfrm>
            <a:off x="685800" y="2514600"/>
            <a:ext cx="1828800" cy="1143000"/>
          </a:xfrm>
          <a:prstGeom prst="rect">
            <a:avLst/>
          </a:prstGeom>
          <a:noFill/>
          <a:ln/>
        </p:spPr>
        <p:txBody>
          <a:bodyPr wrap="square" lIns="0" tIns="0" rIns="0" bIns="0" rtlCol="0" anchor="ctr"/>
          <a:lstStyle/>
          <a:p>
            <a:pPr marL="0" indent="0">
              <a:buNone/>
            </a:pPr>
            <a:r>
              <a:rPr lang="en-US" sz="1700" b="1" dirty="0">
                <a:solidFill>
                  <a:srgbClr val="0B3D42"/>
                </a:solidFill>
                <a:latin typeface="Cambria" pitchFamily="34" charset="0"/>
                <a:ea typeface="Cambria" pitchFamily="34" charset="-122"/>
                <a:cs typeface="Cambria" pitchFamily="34" charset="-120"/>
              </a:rPr>
              <a:t>Mean</a:t>
            </a:r>
            <a:endParaRPr lang="en-US" sz="1700" dirty="0"/>
          </a:p>
        </p:txBody>
      </p:sp>
      <p:sp>
        <p:nvSpPr>
          <p:cNvPr id="8" name="Text 6"/>
          <p:cNvSpPr txBox="1"/>
          <p:nvPr/>
        </p:nvSpPr>
        <p:spPr>
          <a:xfrm>
            <a:off x="2560320" y="2514600"/>
            <a:ext cx="6492240" cy="1143000"/>
          </a:xfrm>
          <a:prstGeom prst="rect">
            <a:avLst/>
          </a:prstGeom>
          <a:noFill/>
          <a:ln/>
        </p:spPr>
        <p:txBody>
          <a:bodyPr wrap="square" lIns="0" tIns="0" rIns="0" bIns="0" rtlCol="0" anchor="ctr"/>
          <a:lstStyle/>
          <a:p>
            <a:pPr marL="0" indent="0">
              <a:buNone/>
            </a:pPr>
            <a:r>
              <a:rPr lang="en-US" sz="1350" dirty="0">
                <a:solidFill>
                  <a:srgbClr val="17262A"/>
                </a:solidFill>
                <a:latin typeface="Calibri" pitchFamily="34" charset="0"/>
                <a:ea typeface="Calibri" pitchFamily="34" charset="-122"/>
                <a:cs typeface="Calibri" pitchFamily="34" charset="-120"/>
              </a:rPr>
              <a:t>Sum ÷ n = (45+52+52+61+67+70+74+80+91) ÷ 9 = 592 ÷ 9</a:t>
            </a:r>
            <a:endParaRPr lang="en-US" sz="1350" dirty="0"/>
          </a:p>
        </p:txBody>
      </p:sp>
      <p:sp>
        <p:nvSpPr>
          <p:cNvPr id="9" name="Shape 7"/>
          <p:cNvSpPr/>
          <p:nvPr/>
        </p:nvSpPr>
        <p:spPr>
          <a:xfrm>
            <a:off x="9235440" y="2743200"/>
            <a:ext cx="2194560" cy="685800"/>
          </a:xfrm>
          <a:prstGeom prst="roundRect">
            <a:avLst>
              <a:gd name="adj" fmla="val 46667"/>
            </a:avLst>
          </a:prstGeom>
          <a:solidFill>
            <a:srgbClr val="F2A541"/>
          </a:solidFill>
          <a:ln/>
        </p:spPr>
      </p:sp>
      <p:sp>
        <p:nvSpPr>
          <p:cNvPr id="10" name="Text 8"/>
          <p:cNvSpPr txBox="1"/>
          <p:nvPr/>
        </p:nvSpPr>
        <p:spPr>
          <a:xfrm>
            <a:off x="9235440" y="2743200"/>
            <a:ext cx="2194560" cy="685800"/>
          </a:xfrm>
          <a:prstGeom prst="rect">
            <a:avLst/>
          </a:prstGeom>
          <a:noFill/>
          <a:ln/>
        </p:spPr>
        <p:txBody>
          <a:bodyPr wrap="square" lIns="0" tIns="0" rIns="0" bIns="0" rtlCol="0" anchor="ctr"/>
          <a:lstStyle/>
          <a:p>
            <a:pPr marL="0" indent="0" algn="ctr">
              <a:buNone/>
            </a:pPr>
            <a:r>
              <a:rPr lang="en-US" sz="1600" b="1" dirty="0">
                <a:solidFill>
                  <a:srgbClr val="0B3D42"/>
                </a:solidFill>
                <a:latin typeface="Cambria" pitchFamily="34" charset="0"/>
                <a:ea typeface="Cambria" pitchFamily="34" charset="-122"/>
                <a:cs typeface="Cambria" pitchFamily="34" charset="-120"/>
              </a:rPr>
              <a:t>≈ 65.8</a:t>
            </a:r>
            <a:endParaRPr lang="en-US" sz="1600" dirty="0"/>
          </a:p>
        </p:txBody>
      </p:sp>
      <p:sp>
        <p:nvSpPr>
          <p:cNvPr id="11" name="Shape 9"/>
          <p:cNvSpPr/>
          <p:nvPr/>
        </p:nvSpPr>
        <p:spPr>
          <a:xfrm>
            <a:off x="457200" y="3813048"/>
            <a:ext cx="11247120" cy="1143000"/>
          </a:xfrm>
          <a:prstGeom prst="roundRect">
            <a:avLst>
              <a:gd name="adj" fmla="val 6400"/>
            </a:avLst>
          </a:prstGeom>
          <a:solidFill>
            <a:srgbClr val="F7F9F9"/>
          </a:solidFill>
          <a:ln/>
        </p:spPr>
      </p:sp>
      <p:sp>
        <p:nvSpPr>
          <p:cNvPr id="12" name="Text 10"/>
          <p:cNvSpPr txBox="1"/>
          <p:nvPr/>
        </p:nvSpPr>
        <p:spPr>
          <a:xfrm>
            <a:off x="685800" y="3813048"/>
            <a:ext cx="1828800" cy="1143000"/>
          </a:xfrm>
          <a:prstGeom prst="rect">
            <a:avLst/>
          </a:prstGeom>
          <a:noFill/>
          <a:ln/>
        </p:spPr>
        <p:txBody>
          <a:bodyPr wrap="square" lIns="0" tIns="0" rIns="0" bIns="0" rtlCol="0" anchor="ctr"/>
          <a:lstStyle/>
          <a:p>
            <a:pPr marL="0" indent="0">
              <a:buNone/>
            </a:pPr>
            <a:r>
              <a:rPr lang="en-US" sz="1700" b="1" dirty="0">
                <a:solidFill>
                  <a:srgbClr val="0B3D42"/>
                </a:solidFill>
                <a:latin typeface="Cambria" pitchFamily="34" charset="0"/>
                <a:ea typeface="Cambria" pitchFamily="34" charset="-122"/>
                <a:cs typeface="Cambria" pitchFamily="34" charset="-120"/>
              </a:rPr>
              <a:t>Median</a:t>
            </a:r>
            <a:endParaRPr lang="en-US" sz="1700" dirty="0"/>
          </a:p>
        </p:txBody>
      </p:sp>
      <p:sp>
        <p:nvSpPr>
          <p:cNvPr id="13" name="Text 11"/>
          <p:cNvSpPr txBox="1"/>
          <p:nvPr/>
        </p:nvSpPr>
        <p:spPr>
          <a:xfrm>
            <a:off x="2560320" y="3813048"/>
            <a:ext cx="6492240" cy="1143000"/>
          </a:xfrm>
          <a:prstGeom prst="rect">
            <a:avLst/>
          </a:prstGeom>
          <a:noFill/>
          <a:ln/>
        </p:spPr>
        <p:txBody>
          <a:bodyPr wrap="square" lIns="0" tIns="0" rIns="0" bIns="0" rtlCol="0" anchor="ctr"/>
          <a:lstStyle/>
          <a:p>
            <a:pPr marL="0" indent="0">
              <a:buNone/>
            </a:pPr>
            <a:r>
              <a:rPr lang="en-US" sz="1350" dirty="0">
                <a:solidFill>
                  <a:srgbClr val="17262A"/>
                </a:solidFill>
                <a:latin typeface="Calibri" pitchFamily="34" charset="0"/>
                <a:ea typeface="Calibri" pitchFamily="34" charset="-122"/>
                <a:cs typeface="Calibri" pitchFamily="34" charset="-120"/>
              </a:rPr>
              <a:t>Data already sorted, n = 9 (odd) → middle value = 5th term</a:t>
            </a:r>
            <a:endParaRPr lang="en-US" sz="1350" dirty="0"/>
          </a:p>
        </p:txBody>
      </p:sp>
      <p:sp>
        <p:nvSpPr>
          <p:cNvPr id="14" name="Shape 12"/>
          <p:cNvSpPr/>
          <p:nvPr/>
        </p:nvSpPr>
        <p:spPr>
          <a:xfrm>
            <a:off x="9235440" y="4041648"/>
            <a:ext cx="2194560" cy="685800"/>
          </a:xfrm>
          <a:prstGeom prst="roundRect">
            <a:avLst>
              <a:gd name="adj" fmla="val 46667"/>
            </a:avLst>
          </a:prstGeom>
          <a:solidFill>
            <a:srgbClr val="F2A541"/>
          </a:solidFill>
          <a:ln/>
        </p:spPr>
      </p:sp>
      <p:sp>
        <p:nvSpPr>
          <p:cNvPr id="15" name="Text 13"/>
          <p:cNvSpPr txBox="1"/>
          <p:nvPr/>
        </p:nvSpPr>
        <p:spPr>
          <a:xfrm>
            <a:off x="9235440" y="4041648"/>
            <a:ext cx="2194560" cy="685800"/>
          </a:xfrm>
          <a:prstGeom prst="rect">
            <a:avLst/>
          </a:prstGeom>
          <a:noFill/>
          <a:ln/>
        </p:spPr>
        <p:txBody>
          <a:bodyPr wrap="square" lIns="0" tIns="0" rIns="0" bIns="0" rtlCol="0" anchor="ctr"/>
          <a:lstStyle/>
          <a:p>
            <a:pPr marL="0" indent="0" algn="ctr">
              <a:buNone/>
            </a:pPr>
            <a:r>
              <a:rPr lang="en-US" sz="1600" b="1" dirty="0">
                <a:solidFill>
                  <a:srgbClr val="0B3D42"/>
                </a:solidFill>
                <a:latin typeface="Cambria" pitchFamily="34" charset="0"/>
                <a:ea typeface="Cambria" pitchFamily="34" charset="-122"/>
                <a:cs typeface="Cambria" pitchFamily="34" charset="-120"/>
              </a:rPr>
              <a:t>= 67</a:t>
            </a:r>
            <a:endParaRPr lang="en-US" sz="1600" dirty="0"/>
          </a:p>
        </p:txBody>
      </p:sp>
      <p:sp>
        <p:nvSpPr>
          <p:cNvPr id="16" name="Shape 14"/>
          <p:cNvSpPr/>
          <p:nvPr/>
        </p:nvSpPr>
        <p:spPr>
          <a:xfrm>
            <a:off x="457200" y="5111496"/>
            <a:ext cx="11247120" cy="1143000"/>
          </a:xfrm>
          <a:prstGeom prst="roundRect">
            <a:avLst>
              <a:gd name="adj" fmla="val 6400"/>
            </a:avLst>
          </a:prstGeom>
          <a:solidFill>
            <a:srgbClr val="F7F9F9"/>
          </a:solidFill>
          <a:ln/>
        </p:spPr>
      </p:sp>
      <p:sp>
        <p:nvSpPr>
          <p:cNvPr id="17" name="Text 15"/>
          <p:cNvSpPr txBox="1"/>
          <p:nvPr/>
        </p:nvSpPr>
        <p:spPr>
          <a:xfrm>
            <a:off x="685800" y="5111496"/>
            <a:ext cx="1828800" cy="1143000"/>
          </a:xfrm>
          <a:prstGeom prst="rect">
            <a:avLst/>
          </a:prstGeom>
          <a:noFill/>
          <a:ln/>
        </p:spPr>
        <p:txBody>
          <a:bodyPr wrap="square" lIns="0" tIns="0" rIns="0" bIns="0" rtlCol="0" anchor="ctr"/>
          <a:lstStyle/>
          <a:p>
            <a:pPr marL="0" indent="0">
              <a:buNone/>
            </a:pPr>
            <a:r>
              <a:rPr lang="en-US" sz="1700" b="1" dirty="0">
                <a:solidFill>
                  <a:srgbClr val="0B3D42"/>
                </a:solidFill>
                <a:latin typeface="Cambria" pitchFamily="34" charset="0"/>
                <a:ea typeface="Cambria" pitchFamily="34" charset="-122"/>
                <a:cs typeface="Cambria" pitchFamily="34" charset="-120"/>
              </a:rPr>
              <a:t>Mode</a:t>
            </a:r>
            <a:endParaRPr lang="en-US" sz="1700" dirty="0"/>
          </a:p>
        </p:txBody>
      </p:sp>
      <p:sp>
        <p:nvSpPr>
          <p:cNvPr id="18" name="Text 16"/>
          <p:cNvSpPr txBox="1"/>
          <p:nvPr/>
        </p:nvSpPr>
        <p:spPr>
          <a:xfrm>
            <a:off x="2560320" y="5111496"/>
            <a:ext cx="6492240" cy="1143000"/>
          </a:xfrm>
          <a:prstGeom prst="rect">
            <a:avLst/>
          </a:prstGeom>
          <a:noFill/>
          <a:ln/>
        </p:spPr>
        <p:txBody>
          <a:bodyPr wrap="square" lIns="0" tIns="0" rIns="0" bIns="0" rtlCol="0" anchor="ctr"/>
          <a:lstStyle/>
          <a:p>
            <a:pPr marL="0" indent="0">
              <a:buNone/>
            </a:pPr>
            <a:r>
              <a:rPr lang="en-US" sz="1350" dirty="0">
                <a:solidFill>
                  <a:srgbClr val="17262A"/>
                </a:solidFill>
                <a:latin typeface="Calibri" pitchFamily="34" charset="0"/>
                <a:ea typeface="Calibri" pitchFamily="34" charset="-122"/>
                <a:cs typeface="Calibri" pitchFamily="34" charset="-120"/>
              </a:rPr>
              <a:t>Value that repeats most often → 52 appears twice</a:t>
            </a:r>
            <a:endParaRPr lang="en-US" sz="1350" dirty="0"/>
          </a:p>
        </p:txBody>
      </p:sp>
      <p:sp>
        <p:nvSpPr>
          <p:cNvPr id="19" name="Shape 17"/>
          <p:cNvSpPr/>
          <p:nvPr/>
        </p:nvSpPr>
        <p:spPr>
          <a:xfrm>
            <a:off x="9235440" y="5340096"/>
            <a:ext cx="2194560" cy="685800"/>
          </a:xfrm>
          <a:prstGeom prst="roundRect">
            <a:avLst>
              <a:gd name="adj" fmla="val 46667"/>
            </a:avLst>
          </a:prstGeom>
          <a:solidFill>
            <a:srgbClr val="F2A541"/>
          </a:solidFill>
          <a:ln/>
        </p:spPr>
      </p:sp>
      <p:sp>
        <p:nvSpPr>
          <p:cNvPr id="20" name="Text 18"/>
          <p:cNvSpPr txBox="1"/>
          <p:nvPr/>
        </p:nvSpPr>
        <p:spPr>
          <a:xfrm>
            <a:off x="9235440" y="5340096"/>
            <a:ext cx="2194560" cy="685800"/>
          </a:xfrm>
          <a:prstGeom prst="rect">
            <a:avLst/>
          </a:prstGeom>
          <a:noFill/>
          <a:ln/>
        </p:spPr>
        <p:txBody>
          <a:bodyPr wrap="square" lIns="0" tIns="0" rIns="0" bIns="0" rtlCol="0" anchor="ctr"/>
          <a:lstStyle/>
          <a:p>
            <a:pPr marL="0" indent="0" algn="ctr">
              <a:buNone/>
            </a:pPr>
            <a:r>
              <a:rPr lang="en-US" sz="1600" b="1" dirty="0">
                <a:solidFill>
                  <a:srgbClr val="0B3D42"/>
                </a:solidFill>
                <a:latin typeface="Cambria" pitchFamily="34" charset="0"/>
                <a:ea typeface="Cambria" pitchFamily="34" charset="-122"/>
                <a:cs typeface="Cambria" pitchFamily="34" charset="-120"/>
              </a:rPr>
              <a:t>= 52</a:t>
            </a:r>
            <a:endParaRPr lang="en-US" sz="1600" dirty="0"/>
          </a:p>
        </p:txBody>
      </p:sp>
      <p:sp>
        <p:nvSpPr>
          <p:cNvPr id="21" name="Text 1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2" name="Text 2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Descriptive Statistics: Measures of Dispersion</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Answering: "How spread out is my data?"</a:t>
            </a:r>
            <a:endParaRPr lang="en-US" sz="1400" dirty="0"/>
          </a:p>
        </p:txBody>
      </p:sp>
      <p:sp>
        <p:nvSpPr>
          <p:cNvPr id="4" name="Shape 2"/>
          <p:cNvSpPr/>
          <p:nvPr/>
        </p:nvSpPr>
        <p:spPr>
          <a:xfrm>
            <a:off x="457200" y="1554480"/>
            <a:ext cx="11247120" cy="1234440"/>
          </a:xfrm>
          <a:prstGeom prst="roundRect">
            <a:avLst>
              <a:gd name="adj" fmla="val 5926"/>
            </a:avLst>
          </a:prstGeom>
          <a:solidFill>
            <a:srgbClr val="F7F9F9"/>
          </a:solidFill>
          <a:ln w="12700">
            <a:solidFill>
              <a:srgbClr val="E1E8E8"/>
            </a:solidFill>
            <a:prstDash val="solid"/>
          </a:ln>
        </p:spPr>
      </p:sp>
      <p:sp>
        <p:nvSpPr>
          <p:cNvPr id="5" name="Text 3"/>
          <p:cNvSpPr txBox="1"/>
          <p:nvPr/>
        </p:nvSpPr>
        <p:spPr>
          <a:xfrm>
            <a:off x="731520" y="1554480"/>
            <a:ext cx="2743200" cy="1234440"/>
          </a:xfrm>
          <a:prstGeom prst="rect">
            <a:avLst/>
          </a:prstGeom>
          <a:noFill/>
          <a:ln/>
        </p:spPr>
        <p:txBody>
          <a:bodyPr wrap="square" lIns="0" tIns="0" rIns="0" bIns="0" rtlCol="0" anchor="ctr"/>
          <a:lstStyle/>
          <a:p>
            <a:pPr marL="0" indent="0">
              <a:buNone/>
            </a:pPr>
            <a:r>
              <a:rPr lang="en-US" sz="1600" b="1" dirty="0">
                <a:solidFill>
                  <a:srgbClr val="0B3D42"/>
                </a:solidFill>
                <a:latin typeface="Cambria" pitchFamily="34" charset="0"/>
                <a:ea typeface="Cambria" pitchFamily="34" charset="-122"/>
                <a:cs typeface="Cambria" pitchFamily="34" charset="-120"/>
              </a:rPr>
              <a:t>Range</a:t>
            </a:r>
            <a:endParaRPr lang="en-US" sz="1600" dirty="0"/>
          </a:p>
        </p:txBody>
      </p:sp>
      <p:sp>
        <p:nvSpPr>
          <p:cNvPr id="6" name="Text 4"/>
          <p:cNvSpPr txBox="1"/>
          <p:nvPr/>
        </p:nvSpPr>
        <p:spPr>
          <a:xfrm>
            <a:off x="3566160" y="1554480"/>
            <a:ext cx="4023360" cy="1234440"/>
          </a:xfrm>
          <a:prstGeom prst="rect">
            <a:avLst/>
          </a:prstGeom>
          <a:noFill/>
          <a:ln/>
        </p:spPr>
        <p:txBody>
          <a:bodyPr wrap="square" lIns="0" tIns="0" rIns="0" bIns="0" rtlCol="0" anchor="ctr"/>
          <a:lstStyle/>
          <a:p>
            <a:pPr marL="0" indent="0">
              <a:buNone/>
            </a:pPr>
            <a:r>
              <a:rPr lang="en-US" sz="1300" b="1" dirty="0">
                <a:solidFill>
                  <a:srgbClr val="C97F1F"/>
                </a:solidFill>
                <a:latin typeface="Courier New" pitchFamily="34" charset="0"/>
                <a:ea typeface="Courier New" pitchFamily="34" charset="-122"/>
                <a:cs typeface="Courier New" pitchFamily="34" charset="-120"/>
              </a:rPr>
              <a:t>Max − Min</a:t>
            </a:r>
            <a:endParaRPr lang="en-US" sz="1300" dirty="0"/>
          </a:p>
        </p:txBody>
      </p:sp>
      <p:sp>
        <p:nvSpPr>
          <p:cNvPr id="7" name="Text 5"/>
          <p:cNvSpPr txBox="1"/>
          <p:nvPr/>
        </p:nvSpPr>
        <p:spPr>
          <a:xfrm>
            <a:off x="7680960" y="1554480"/>
            <a:ext cx="3840480" cy="123444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Simplest measure; ignores distribution shape</a:t>
            </a:r>
            <a:endParaRPr lang="en-US" sz="1250" dirty="0"/>
          </a:p>
        </p:txBody>
      </p:sp>
      <p:sp>
        <p:nvSpPr>
          <p:cNvPr id="8" name="Shape 6"/>
          <p:cNvSpPr/>
          <p:nvPr/>
        </p:nvSpPr>
        <p:spPr>
          <a:xfrm>
            <a:off x="457200" y="2971800"/>
            <a:ext cx="11247120" cy="1234440"/>
          </a:xfrm>
          <a:prstGeom prst="roundRect">
            <a:avLst>
              <a:gd name="adj" fmla="val 5926"/>
            </a:avLst>
          </a:prstGeom>
          <a:solidFill>
            <a:srgbClr val="F7F9F9"/>
          </a:solidFill>
          <a:ln w="12700">
            <a:solidFill>
              <a:srgbClr val="E1E8E8"/>
            </a:solidFill>
            <a:prstDash val="solid"/>
          </a:ln>
        </p:spPr>
      </p:sp>
      <p:sp>
        <p:nvSpPr>
          <p:cNvPr id="9" name="Text 7"/>
          <p:cNvSpPr txBox="1"/>
          <p:nvPr/>
        </p:nvSpPr>
        <p:spPr>
          <a:xfrm>
            <a:off x="731520" y="2971800"/>
            <a:ext cx="2743200" cy="1234440"/>
          </a:xfrm>
          <a:prstGeom prst="rect">
            <a:avLst/>
          </a:prstGeom>
          <a:noFill/>
          <a:ln/>
        </p:spPr>
        <p:txBody>
          <a:bodyPr wrap="square" lIns="0" tIns="0" rIns="0" bIns="0" rtlCol="0" anchor="ctr"/>
          <a:lstStyle/>
          <a:p>
            <a:pPr marL="0" indent="0">
              <a:buNone/>
            </a:pPr>
            <a:r>
              <a:rPr lang="en-US" sz="1600" b="1" dirty="0">
                <a:solidFill>
                  <a:srgbClr val="0B3D42"/>
                </a:solidFill>
                <a:latin typeface="Cambria" pitchFamily="34" charset="0"/>
                <a:ea typeface="Cambria" pitchFamily="34" charset="-122"/>
                <a:cs typeface="Cambria" pitchFamily="34" charset="-120"/>
              </a:rPr>
              <a:t>Variance (σ²)</a:t>
            </a:r>
            <a:endParaRPr lang="en-US" sz="1600" dirty="0"/>
          </a:p>
        </p:txBody>
      </p:sp>
      <p:sp>
        <p:nvSpPr>
          <p:cNvPr id="10" name="Text 8"/>
          <p:cNvSpPr txBox="1"/>
          <p:nvPr/>
        </p:nvSpPr>
        <p:spPr>
          <a:xfrm>
            <a:off x="3566160" y="2971800"/>
            <a:ext cx="4023360" cy="1234440"/>
          </a:xfrm>
          <a:prstGeom prst="rect">
            <a:avLst/>
          </a:prstGeom>
          <a:noFill/>
          <a:ln/>
        </p:spPr>
        <p:txBody>
          <a:bodyPr wrap="square" lIns="0" tIns="0" rIns="0" bIns="0" rtlCol="0" anchor="ctr"/>
          <a:lstStyle/>
          <a:p>
            <a:pPr marL="0" indent="0">
              <a:buNone/>
            </a:pPr>
            <a:r>
              <a:rPr lang="en-US" sz="1300" b="1" dirty="0">
                <a:solidFill>
                  <a:srgbClr val="C97F1F"/>
                </a:solidFill>
                <a:latin typeface="Courier New" pitchFamily="34" charset="0"/>
                <a:ea typeface="Courier New" pitchFamily="34" charset="-122"/>
                <a:cs typeface="Courier New" pitchFamily="34" charset="-120"/>
              </a:rPr>
              <a:t>Average of squared deviations from the mean</a:t>
            </a:r>
            <a:endParaRPr lang="en-US" sz="1300" dirty="0"/>
          </a:p>
        </p:txBody>
      </p:sp>
      <p:sp>
        <p:nvSpPr>
          <p:cNvPr id="11" name="Text 9"/>
          <p:cNvSpPr txBox="1"/>
          <p:nvPr/>
        </p:nvSpPr>
        <p:spPr>
          <a:xfrm>
            <a:off x="7680960" y="2971800"/>
            <a:ext cx="3840480" cy="123444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Penalizes larger deviations more heavily</a:t>
            </a:r>
            <a:endParaRPr lang="en-US" sz="1250" dirty="0"/>
          </a:p>
        </p:txBody>
      </p:sp>
      <p:sp>
        <p:nvSpPr>
          <p:cNvPr id="12" name="Shape 10"/>
          <p:cNvSpPr/>
          <p:nvPr/>
        </p:nvSpPr>
        <p:spPr>
          <a:xfrm>
            <a:off x="457200" y="4389120"/>
            <a:ext cx="11247120" cy="1234440"/>
          </a:xfrm>
          <a:prstGeom prst="roundRect">
            <a:avLst>
              <a:gd name="adj" fmla="val 5926"/>
            </a:avLst>
          </a:prstGeom>
          <a:solidFill>
            <a:srgbClr val="F7F9F9"/>
          </a:solidFill>
          <a:ln w="12700">
            <a:solidFill>
              <a:srgbClr val="E1E8E8"/>
            </a:solidFill>
            <a:prstDash val="solid"/>
          </a:ln>
        </p:spPr>
      </p:sp>
      <p:sp>
        <p:nvSpPr>
          <p:cNvPr id="13" name="Text 11"/>
          <p:cNvSpPr txBox="1"/>
          <p:nvPr/>
        </p:nvSpPr>
        <p:spPr>
          <a:xfrm>
            <a:off x="731520" y="4389120"/>
            <a:ext cx="2743200" cy="1234440"/>
          </a:xfrm>
          <a:prstGeom prst="rect">
            <a:avLst/>
          </a:prstGeom>
          <a:noFill/>
          <a:ln/>
        </p:spPr>
        <p:txBody>
          <a:bodyPr wrap="square" lIns="0" tIns="0" rIns="0" bIns="0" rtlCol="0" anchor="ctr"/>
          <a:lstStyle/>
          <a:p>
            <a:pPr marL="0" indent="0">
              <a:buNone/>
            </a:pPr>
            <a:r>
              <a:rPr lang="en-US" sz="1600" b="1" dirty="0">
                <a:solidFill>
                  <a:srgbClr val="0B3D42"/>
                </a:solidFill>
                <a:latin typeface="Cambria" pitchFamily="34" charset="0"/>
                <a:ea typeface="Cambria" pitchFamily="34" charset="-122"/>
                <a:cs typeface="Cambria" pitchFamily="34" charset="-120"/>
              </a:rPr>
              <a:t>Std. Deviation (σ)</a:t>
            </a:r>
            <a:endParaRPr lang="en-US" sz="1600" dirty="0"/>
          </a:p>
        </p:txBody>
      </p:sp>
      <p:sp>
        <p:nvSpPr>
          <p:cNvPr id="14" name="Text 12"/>
          <p:cNvSpPr txBox="1"/>
          <p:nvPr/>
        </p:nvSpPr>
        <p:spPr>
          <a:xfrm>
            <a:off x="3566160" y="4389120"/>
            <a:ext cx="4023360" cy="1234440"/>
          </a:xfrm>
          <a:prstGeom prst="rect">
            <a:avLst/>
          </a:prstGeom>
          <a:noFill/>
          <a:ln/>
        </p:spPr>
        <p:txBody>
          <a:bodyPr wrap="square" lIns="0" tIns="0" rIns="0" bIns="0" rtlCol="0" anchor="ctr"/>
          <a:lstStyle/>
          <a:p>
            <a:pPr marL="0" indent="0">
              <a:buNone/>
            </a:pPr>
            <a:r>
              <a:rPr lang="en-US" sz="1300" b="1" dirty="0">
                <a:solidFill>
                  <a:srgbClr val="C97F1F"/>
                </a:solidFill>
                <a:latin typeface="Courier New" pitchFamily="34" charset="0"/>
                <a:ea typeface="Courier New" pitchFamily="34" charset="-122"/>
                <a:cs typeface="Courier New" pitchFamily="34" charset="-120"/>
              </a:rPr>
              <a:t>Square root of variance</a:t>
            </a:r>
            <a:endParaRPr lang="en-US" sz="1300" dirty="0"/>
          </a:p>
        </p:txBody>
      </p:sp>
      <p:sp>
        <p:nvSpPr>
          <p:cNvPr id="15" name="Text 13"/>
          <p:cNvSpPr txBox="1"/>
          <p:nvPr/>
        </p:nvSpPr>
        <p:spPr>
          <a:xfrm>
            <a:off x="7680960" y="4389120"/>
            <a:ext cx="3840480" cy="123444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Same units as original data — most commonly reported</a:t>
            </a:r>
            <a:endParaRPr lang="en-US" sz="1250" dirty="0"/>
          </a:p>
        </p:txBody>
      </p:sp>
      <p:sp>
        <p:nvSpPr>
          <p:cNvPr id="16" name="Text 14"/>
          <p:cNvSpPr txBox="1"/>
          <p:nvPr/>
        </p:nvSpPr>
        <p:spPr>
          <a:xfrm>
            <a:off x="457200" y="5943600"/>
            <a:ext cx="11247120" cy="457200"/>
          </a:xfrm>
          <a:prstGeom prst="rect">
            <a:avLst/>
          </a:prstGeom>
          <a:noFill/>
          <a:ln/>
        </p:spPr>
        <p:txBody>
          <a:bodyPr wrap="square" lIns="0" tIns="0" rIns="0" bIns="0" rtlCol="0" anchor="ctr"/>
          <a:lstStyle/>
          <a:p>
            <a:pPr marL="0" indent="0" algn="ctr">
              <a:buNone/>
            </a:pPr>
            <a:r>
              <a:rPr lang="en-US" sz="1350" i="1" dirty="0">
                <a:solidFill>
                  <a:srgbClr val="4D6165"/>
                </a:solidFill>
                <a:latin typeface="Calibri" pitchFamily="34" charset="0"/>
                <a:ea typeface="Calibri" pitchFamily="34" charset="-122"/>
                <a:cs typeface="Calibri" pitchFamily="34" charset="-120"/>
              </a:rPr>
              <a:t>Two datasets can share the same mean but have very different spreads — dispersion tells the rest of the story.</a:t>
            </a:r>
            <a:endParaRPr lang="en-US" sz="1350" dirty="0"/>
          </a:p>
        </p:txBody>
      </p:sp>
      <p:sp>
        <p:nvSpPr>
          <p:cNvPr id="17" name="Text 15"/>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8" name="Text 16"/>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Worked Example: Standard Deviation</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Daily sales (₹ thousands) for 5 days: 20, 24, 28, 22, 26</a:t>
            </a:r>
            <a:endParaRPr lang="en-US" sz="1400" dirty="0"/>
          </a:p>
        </p:txBody>
      </p:sp>
      <p:sp>
        <p:nvSpPr>
          <p:cNvPr id="4" name="Text 2"/>
          <p:cNvSpPr txBox="1"/>
          <p:nvPr/>
        </p:nvSpPr>
        <p:spPr>
          <a:xfrm>
            <a:off x="640080" y="1554480"/>
            <a:ext cx="10881360" cy="356616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1. Mean = (20+24+28+22+26) ÷ 5 = 120 ÷ 5 = 24</a:t>
            </a:r>
            <a:endParaRPr lang="en-US" sz="1700" dirty="0"/>
          </a:p>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2. Deviations from mean: −4, 0, +4, −2, +2</a:t>
            </a:r>
            <a:endParaRPr lang="en-US" sz="1700" dirty="0"/>
          </a:p>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3. Squared deviations: 16, 0, 16, 4, 4</a:t>
            </a:r>
            <a:endParaRPr lang="en-US" sz="1700" dirty="0"/>
          </a:p>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4. Sum of squared deviations = 16+0+16+4+4 = 40</a:t>
            </a:r>
            <a:endParaRPr lang="en-US" sz="1700" dirty="0"/>
          </a:p>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5. Variance = 40 ÷ 5 = 8</a:t>
            </a:r>
            <a:endParaRPr lang="en-US" sz="1700" dirty="0"/>
          </a:p>
          <a:p>
            <a:pPr marL="342900" indent="-342900">
              <a:lnSpc>
                <a:spcPct val="105000"/>
              </a:lnSpc>
              <a:spcAft>
                <a:spcPts val="1600"/>
              </a:spcAft>
              <a:buSzPct val="100000"/>
              <a:buChar char="▪"/>
            </a:pPr>
            <a:r>
              <a:rPr lang="en-US" sz="1700" dirty="0">
                <a:solidFill>
                  <a:srgbClr val="17262A"/>
                </a:solidFill>
                <a:latin typeface="Calibri" pitchFamily="34" charset="0"/>
                <a:ea typeface="Calibri" pitchFamily="34" charset="-122"/>
                <a:cs typeface="Calibri" pitchFamily="34" charset="-120"/>
              </a:rPr>
              <a:t>6. Standard deviation = √8 ≈ 2.83</a:t>
            </a:r>
            <a:endParaRPr lang="en-US" sz="1700" dirty="0"/>
          </a:p>
        </p:txBody>
      </p:sp>
      <p:sp>
        <p:nvSpPr>
          <p:cNvPr id="5" name="Shape 3"/>
          <p:cNvSpPr/>
          <p:nvPr/>
        </p:nvSpPr>
        <p:spPr>
          <a:xfrm>
            <a:off x="640080" y="5394960"/>
            <a:ext cx="10881360" cy="914400"/>
          </a:xfrm>
          <a:prstGeom prst="roundRect">
            <a:avLst>
              <a:gd name="adj" fmla="val 10000"/>
            </a:avLst>
          </a:prstGeom>
          <a:solidFill>
            <a:srgbClr val="0B3D42"/>
          </a:solidFill>
          <a:ln/>
        </p:spPr>
      </p:sp>
      <p:sp>
        <p:nvSpPr>
          <p:cNvPr id="6" name="Text 4"/>
          <p:cNvSpPr txBox="1"/>
          <p:nvPr/>
        </p:nvSpPr>
        <p:spPr>
          <a:xfrm>
            <a:off x="914400" y="5394960"/>
            <a:ext cx="10332720" cy="914400"/>
          </a:xfrm>
          <a:prstGeom prst="rect">
            <a:avLst/>
          </a:prstGeom>
          <a:noFill/>
          <a:ln/>
        </p:spPr>
        <p:txBody>
          <a:bodyPr wrap="square" lIns="0" tIns="0" rIns="0" bIns="0" rtlCol="0" anchor="ctr"/>
          <a:lstStyle/>
          <a:p>
            <a:pPr marL="0" indent="0">
              <a:buNone/>
            </a:pPr>
            <a:r>
              <a:rPr lang="en-US" sz="1450" i="1" dirty="0">
                <a:solidFill>
                  <a:srgbClr val="FFFFFF"/>
                </a:solidFill>
                <a:latin typeface="Calibri" pitchFamily="34" charset="0"/>
                <a:ea typeface="Calibri" pitchFamily="34" charset="-122"/>
                <a:cs typeface="Calibri" pitchFamily="34" charset="-120"/>
              </a:rPr>
              <a:t>Interpretation: daily sales typically deviate from the mean of ₹24,000 by about ₹2,830.</a:t>
            </a:r>
            <a:endParaRPr lang="en-US" sz="1450" dirty="0"/>
          </a:p>
        </p:txBody>
      </p:sp>
      <p:sp>
        <p:nvSpPr>
          <p:cNvPr id="7" name="Text 5"/>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8" name="Text 6"/>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Data Visualization: Match the Chart to the Data</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i="1" dirty="0">
                <a:solidFill>
                  <a:srgbClr val="4D6165"/>
                </a:solidFill>
                <a:latin typeface="Calibri" pitchFamily="34" charset="0"/>
                <a:ea typeface="Calibri" pitchFamily="34" charset="-122"/>
                <a:cs typeface="Calibri" pitchFamily="34" charset="-120"/>
              </a:rPr>
              <a:t>The chart you choose is itself a decision about data type</a:t>
            </a:r>
            <a:endParaRPr lang="en-US" sz="1400" dirty="0"/>
          </a:p>
        </p:txBody>
      </p:sp>
      <p:sp>
        <p:nvSpPr>
          <p:cNvPr id="4" name="Shape 2"/>
          <p:cNvSpPr/>
          <p:nvPr/>
        </p:nvSpPr>
        <p:spPr>
          <a:xfrm>
            <a:off x="457200" y="1600200"/>
            <a:ext cx="2743200" cy="548640"/>
          </a:xfrm>
          <a:prstGeom prst="rect">
            <a:avLst/>
          </a:prstGeom>
          <a:solidFill>
            <a:srgbClr val="0B3D42"/>
          </a:solidFill>
          <a:ln w="9525">
            <a:solidFill>
              <a:srgbClr val="FFFFFF"/>
            </a:solidFill>
            <a:prstDash val="solid"/>
          </a:ln>
        </p:spPr>
      </p:sp>
      <p:sp>
        <p:nvSpPr>
          <p:cNvPr id="5" name="Text 3"/>
          <p:cNvSpPr txBox="1"/>
          <p:nvPr/>
        </p:nvSpPr>
        <p:spPr>
          <a:xfrm>
            <a:off x="594360" y="1600200"/>
            <a:ext cx="24688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Type</a:t>
            </a:r>
            <a:endParaRPr lang="en-US" sz="1400" dirty="0"/>
          </a:p>
        </p:txBody>
      </p:sp>
      <p:sp>
        <p:nvSpPr>
          <p:cNvPr id="6" name="Shape 4"/>
          <p:cNvSpPr/>
          <p:nvPr/>
        </p:nvSpPr>
        <p:spPr>
          <a:xfrm>
            <a:off x="3200400" y="1600200"/>
            <a:ext cx="4114800" cy="548640"/>
          </a:xfrm>
          <a:prstGeom prst="rect">
            <a:avLst/>
          </a:prstGeom>
          <a:solidFill>
            <a:srgbClr val="0B3D42"/>
          </a:solidFill>
          <a:ln w="9525">
            <a:solidFill>
              <a:srgbClr val="FFFFFF"/>
            </a:solidFill>
            <a:prstDash val="solid"/>
          </a:ln>
        </p:spPr>
      </p:sp>
      <p:sp>
        <p:nvSpPr>
          <p:cNvPr id="7" name="Text 5"/>
          <p:cNvSpPr txBox="1"/>
          <p:nvPr/>
        </p:nvSpPr>
        <p:spPr>
          <a:xfrm>
            <a:off x="3337560" y="1600200"/>
            <a:ext cx="38404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Primary Chart</a:t>
            </a:r>
            <a:endParaRPr lang="en-US" sz="1400" dirty="0"/>
          </a:p>
        </p:txBody>
      </p:sp>
      <p:sp>
        <p:nvSpPr>
          <p:cNvPr id="8" name="Shape 6"/>
          <p:cNvSpPr/>
          <p:nvPr/>
        </p:nvSpPr>
        <p:spPr>
          <a:xfrm>
            <a:off x="7315200" y="1600200"/>
            <a:ext cx="4389120" cy="548640"/>
          </a:xfrm>
          <a:prstGeom prst="rect">
            <a:avLst/>
          </a:prstGeom>
          <a:solidFill>
            <a:srgbClr val="0B3D42"/>
          </a:solidFill>
          <a:ln w="9525">
            <a:solidFill>
              <a:srgbClr val="FFFFFF"/>
            </a:solidFill>
            <a:prstDash val="solid"/>
          </a:ln>
        </p:spPr>
      </p:sp>
      <p:sp>
        <p:nvSpPr>
          <p:cNvPr id="9" name="Text 7"/>
          <p:cNvSpPr txBox="1"/>
          <p:nvPr/>
        </p:nvSpPr>
        <p:spPr>
          <a:xfrm>
            <a:off x="7452360" y="1600200"/>
            <a:ext cx="411480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Alternative Chart</a:t>
            </a:r>
            <a:endParaRPr lang="en-US" sz="1400" dirty="0"/>
          </a:p>
        </p:txBody>
      </p:sp>
      <p:sp>
        <p:nvSpPr>
          <p:cNvPr id="10" name="Shape 8"/>
          <p:cNvSpPr/>
          <p:nvPr/>
        </p:nvSpPr>
        <p:spPr>
          <a:xfrm>
            <a:off x="457200" y="2148840"/>
            <a:ext cx="2743200" cy="914400"/>
          </a:xfrm>
          <a:prstGeom prst="rect">
            <a:avLst/>
          </a:prstGeom>
          <a:solidFill>
            <a:srgbClr val="FFFFFF"/>
          </a:solidFill>
          <a:ln w="9525">
            <a:solidFill>
              <a:srgbClr val="E1E8E8"/>
            </a:solidFill>
            <a:prstDash val="solid"/>
          </a:ln>
        </p:spPr>
      </p:sp>
      <p:sp>
        <p:nvSpPr>
          <p:cNvPr id="11" name="Text 9"/>
          <p:cNvSpPr txBox="1"/>
          <p:nvPr/>
        </p:nvSpPr>
        <p:spPr>
          <a:xfrm>
            <a:off x="594360" y="2148840"/>
            <a:ext cx="2468880" cy="914400"/>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Nominal</a:t>
            </a:r>
            <a:endParaRPr lang="en-US" sz="1400" dirty="0"/>
          </a:p>
        </p:txBody>
      </p:sp>
      <p:sp>
        <p:nvSpPr>
          <p:cNvPr id="12" name="Shape 10"/>
          <p:cNvSpPr/>
          <p:nvPr/>
        </p:nvSpPr>
        <p:spPr>
          <a:xfrm>
            <a:off x="3200400" y="2148840"/>
            <a:ext cx="4114800" cy="914400"/>
          </a:xfrm>
          <a:prstGeom prst="rect">
            <a:avLst/>
          </a:prstGeom>
          <a:solidFill>
            <a:srgbClr val="FFFFFF"/>
          </a:solidFill>
          <a:ln w="9525">
            <a:solidFill>
              <a:srgbClr val="E1E8E8"/>
            </a:solidFill>
            <a:prstDash val="solid"/>
          </a:ln>
        </p:spPr>
      </p:sp>
      <p:sp>
        <p:nvSpPr>
          <p:cNvPr id="13" name="Text 11"/>
          <p:cNvSpPr txBox="1"/>
          <p:nvPr/>
        </p:nvSpPr>
        <p:spPr>
          <a:xfrm>
            <a:off x="3337560" y="2148840"/>
            <a:ext cx="384048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Bar chart</a:t>
            </a:r>
            <a:endParaRPr lang="en-US" sz="1300" dirty="0"/>
          </a:p>
        </p:txBody>
      </p:sp>
      <p:sp>
        <p:nvSpPr>
          <p:cNvPr id="14" name="Shape 12"/>
          <p:cNvSpPr/>
          <p:nvPr/>
        </p:nvSpPr>
        <p:spPr>
          <a:xfrm>
            <a:off x="7315200" y="2148840"/>
            <a:ext cx="4389120" cy="914400"/>
          </a:xfrm>
          <a:prstGeom prst="rect">
            <a:avLst/>
          </a:prstGeom>
          <a:solidFill>
            <a:srgbClr val="FFFFFF"/>
          </a:solidFill>
          <a:ln w="9525">
            <a:solidFill>
              <a:srgbClr val="E1E8E8"/>
            </a:solidFill>
            <a:prstDash val="solid"/>
          </a:ln>
        </p:spPr>
      </p:sp>
      <p:sp>
        <p:nvSpPr>
          <p:cNvPr id="15" name="Text 13"/>
          <p:cNvSpPr txBox="1"/>
          <p:nvPr/>
        </p:nvSpPr>
        <p:spPr>
          <a:xfrm>
            <a:off x="7452360" y="2148840"/>
            <a:ext cx="411480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Pie chart (few categories)</a:t>
            </a:r>
            <a:endParaRPr lang="en-US" sz="1300" dirty="0"/>
          </a:p>
        </p:txBody>
      </p:sp>
      <p:sp>
        <p:nvSpPr>
          <p:cNvPr id="16" name="Shape 14"/>
          <p:cNvSpPr/>
          <p:nvPr/>
        </p:nvSpPr>
        <p:spPr>
          <a:xfrm>
            <a:off x="457200" y="3063240"/>
            <a:ext cx="2743200" cy="914400"/>
          </a:xfrm>
          <a:prstGeom prst="rect">
            <a:avLst/>
          </a:prstGeom>
          <a:solidFill>
            <a:srgbClr val="F7F9F9"/>
          </a:solidFill>
          <a:ln w="9525">
            <a:solidFill>
              <a:srgbClr val="E1E8E8"/>
            </a:solidFill>
            <a:prstDash val="solid"/>
          </a:ln>
        </p:spPr>
      </p:sp>
      <p:sp>
        <p:nvSpPr>
          <p:cNvPr id="17" name="Text 15"/>
          <p:cNvSpPr txBox="1"/>
          <p:nvPr/>
        </p:nvSpPr>
        <p:spPr>
          <a:xfrm>
            <a:off x="594360" y="3063240"/>
            <a:ext cx="2468880" cy="914400"/>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Ordinal</a:t>
            </a:r>
            <a:endParaRPr lang="en-US" sz="1400" dirty="0"/>
          </a:p>
        </p:txBody>
      </p:sp>
      <p:sp>
        <p:nvSpPr>
          <p:cNvPr id="18" name="Shape 16"/>
          <p:cNvSpPr/>
          <p:nvPr/>
        </p:nvSpPr>
        <p:spPr>
          <a:xfrm>
            <a:off x="3200400" y="3063240"/>
            <a:ext cx="4114800" cy="914400"/>
          </a:xfrm>
          <a:prstGeom prst="rect">
            <a:avLst/>
          </a:prstGeom>
          <a:solidFill>
            <a:srgbClr val="F7F9F9"/>
          </a:solidFill>
          <a:ln w="9525">
            <a:solidFill>
              <a:srgbClr val="E1E8E8"/>
            </a:solidFill>
            <a:prstDash val="solid"/>
          </a:ln>
        </p:spPr>
      </p:sp>
      <p:sp>
        <p:nvSpPr>
          <p:cNvPr id="19" name="Text 17"/>
          <p:cNvSpPr txBox="1"/>
          <p:nvPr/>
        </p:nvSpPr>
        <p:spPr>
          <a:xfrm>
            <a:off x="3337560" y="3063240"/>
            <a:ext cx="384048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Ordered bar chart</a:t>
            </a:r>
            <a:endParaRPr lang="en-US" sz="1300" dirty="0"/>
          </a:p>
        </p:txBody>
      </p:sp>
      <p:sp>
        <p:nvSpPr>
          <p:cNvPr id="20" name="Shape 18"/>
          <p:cNvSpPr/>
          <p:nvPr/>
        </p:nvSpPr>
        <p:spPr>
          <a:xfrm>
            <a:off x="7315200" y="3063240"/>
            <a:ext cx="4389120" cy="914400"/>
          </a:xfrm>
          <a:prstGeom prst="rect">
            <a:avLst/>
          </a:prstGeom>
          <a:solidFill>
            <a:srgbClr val="F7F9F9"/>
          </a:solidFill>
          <a:ln w="9525">
            <a:solidFill>
              <a:srgbClr val="E1E8E8"/>
            </a:solidFill>
            <a:prstDash val="solid"/>
          </a:ln>
        </p:spPr>
      </p:sp>
      <p:sp>
        <p:nvSpPr>
          <p:cNvPr id="21" name="Text 19"/>
          <p:cNvSpPr txBox="1"/>
          <p:nvPr/>
        </p:nvSpPr>
        <p:spPr>
          <a:xfrm>
            <a:off x="7452360" y="3063240"/>
            <a:ext cx="411480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Stacked bar chart</a:t>
            </a:r>
            <a:endParaRPr lang="en-US" sz="1300" dirty="0"/>
          </a:p>
        </p:txBody>
      </p:sp>
      <p:sp>
        <p:nvSpPr>
          <p:cNvPr id="22" name="Shape 20"/>
          <p:cNvSpPr/>
          <p:nvPr/>
        </p:nvSpPr>
        <p:spPr>
          <a:xfrm>
            <a:off x="457200" y="3977640"/>
            <a:ext cx="2743200" cy="914400"/>
          </a:xfrm>
          <a:prstGeom prst="rect">
            <a:avLst/>
          </a:prstGeom>
          <a:solidFill>
            <a:srgbClr val="FFFFFF"/>
          </a:solidFill>
          <a:ln w="9525">
            <a:solidFill>
              <a:srgbClr val="E1E8E8"/>
            </a:solidFill>
            <a:prstDash val="solid"/>
          </a:ln>
        </p:spPr>
      </p:sp>
      <p:sp>
        <p:nvSpPr>
          <p:cNvPr id="23" name="Text 21"/>
          <p:cNvSpPr txBox="1"/>
          <p:nvPr/>
        </p:nvSpPr>
        <p:spPr>
          <a:xfrm>
            <a:off x="594360" y="3977640"/>
            <a:ext cx="2468880" cy="914400"/>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Discrete</a:t>
            </a:r>
            <a:endParaRPr lang="en-US" sz="1400" dirty="0"/>
          </a:p>
        </p:txBody>
      </p:sp>
      <p:sp>
        <p:nvSpPr>
          <p:cNvPr id="24" name="Shape 22"/>
          <p:cNvSpPr/>
          <p:nvPr/>
        </p:nvSpPr>
        <p:spPr>
          <a:xfrm>
            <a:off x="3200400" y="3977640"/>
            <a:ext cx="4114800" cy="914400"/>
          </a:xfrm>
          <a:prstGeom prst="rect">
            <a:avLst/>
          </a:prstGeom>
          <a:solidFill>
            <a:srgbClr val="FFFFFF"/>
          </a:solidFill>
          <a:ln w="9525">
            <a:solidFill>
              <a:srgbClr val="E1E8E8"/>
            </a:solidFill>
            <a:prstDash val="solid"/>
          </a:ln>
        </p:spPr>
      </p:sp>
      <p:sp>
        <p:nvSpPr>
          <p:cNvPr id="25" name="Text 23"/>
          <p:cNvSpPr txBox="1"/>
          <p:nvPr/>
        </p:nvSpPr>
        <p:spPr>
          <a:xfrm>
            <a:off x="3337560" y="3977640"/>
            <a:ext cx="384048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Bar chart / dot plot</a:t>
            </a:r>
            <a:endParaRPr lang="en-US" sz="1300" dirty="0"/>
          </a:p>
        </p:txBody>
      </p:sp>
      <p:sp>
        <p:nvSpPr>
          <p:cNvPr id="26" name="Shape 24"/>
          <p:cNvSpPr/>
          <p:nvPr/>
        </p:nvSpPr>
        <p:spPr>
          <a:xfrm>
            <a:off x="7315200" y="3977640"/>
            <a:ext cx="4389120" cy="914400"/>
          </a:xfrm>
          <a:prstGeom prst="rect">
            <a:avLst/>
          </a:prstGeom>
          <a:solidFill>
            <a:srgbClr val="FFFFFF"/>
          </a:solidFill>
          <a:ln w="9525">
            <a:solidFill>
              <a:srgbClr val="E1E8E8"/>
            </a:solidFill>
            <a:prstDash val="solid"/>
          </a:ln>
        </p:spPr>
      </p:sp>
      <p:sp>
        <p:nvSpPr>
          <p:cNvPr id="27" name="Text 25"/>
          <p:cNvSpPr txBox="1"/>
          <p:nvPr/>
        </p:nvSpPr>
        <p:spPr>
          <a:xfrm>
            <a:off x="7452360" y="3977640"/>
            <a:ext cx="411480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Histogram (if range is wide)</a:t>
            </a:r>
            <a:endParaRPr lang="en-US" sz="1300" dirty="0"/>
          </a:p>
        </p:txBody>
      </p:sp>
      <p:sp>
        <p:nvSpPr>
          <p:cNvPr id="28" name="Shape 26"/>
          <p:cNvSpPr/>
          <p:nvPr/>
        </p:nvSpPr>
        <p:spPr>
          <a:xfrm>
            <a:off x="457200" y="4892040"/>
            <a:ext cx="2743200" cy="914400"/>
          </a:xfrm>
          <a:prstGeom prst="rect">
            <a:avLst/>
          </a:prstGeom>
          <a:solidFill>
            <a:srgbClr val="F7F9F9"/>
          </a:solidFill>
          <a:ln w="9525">
            <a:solidFill>
              <a:srgbClr val="E1E8E8"/>
            </a:solidFill>
            <a:prstDash val="solid"/>
          </a:ln>
        </p:spPr>
      </p:sp>
      <p:sp>
        <p:nvSpPr>
          <p:cNvPr id="29" name="Text 27"/>
          <p:cNvSpPr txBox="1"/>
          <p:nvPr/>
        </p:nvSpPr>
        <p:spPr>
          <a:xfrm>
            <a:off x="594360" y="4892040"/>
            <a:ext cx="2468880" cy="914400"/>
          </a:xfrm>
          <a:prstGeom prst="rect">
            <a:avLst/>
          </a:prstGeom>
          <a:noFill/>
          <a:ln/>
        </p:spPr>
        <p:txBody>
          <a:bodyPr wrap="square" lIns="0" tIns="0" rIns="0" bIns="0" rtlCol="0" anchor="ctr"/>
          <a:lstStyle/>
          <a:p>
            <a:pPr marL="0" indent="0">
              <a:buNone/>
            </a:pPr>
            <a:r>
              <a:rPr lang="en-US" sz="1400" b="1" dirty="0">
                <a:solidFill>
                  <a:srgbClr val="17262A"/>
                </a:solidFill>
                <a:latin typeface="Calibri" pitchFamily="34" charset="0"/>
                <a:ea typeface="Calibri" pitchFamily="34" charset="-122"/>
                <a:cs typeface="Calibri" pitchFamily="34" charset="-120"/>
              </a:rPr>
              <a:t>Continuous</a:t>
            </a:r>
            <a:endParaRPr lang="en-US" sz="1400" dirty="0"/>
          </a:p>
        </p:txBody>
      </p:sp>
      <p:sp>
        <p:nvSpPr>
          <p:cNvPr id="30" name="Shape 28"/>
          <p:cNvSpPr/>
          <p:nvPr/>
        </p:nvSpPr>
        <p:spPr>
          <a:xfrm>
            <a:off x="3200400" y="4892040"/>
            <a:ext cx="4114800" cy="914400"/>
          </a:xfrm>
          <a:prstGeom prst="rect">
            <a:avLst/>
          </a:prstGeom>
          <a:solidFill>
            <a:srgbClr val="F7F9F9"/>
          </a:solidFill>
          <a:ln w="9525">
            <a:solidFill>
              <a:srgbClr val="E1E8E8"/>
            </a:solidFill>
            <a:prstDash val="solid"/>
          </a:ln>
        </p:spPr>
      </p:sp>
      <p:sp>
        <p:nvSpPr>
          <p:cNvPr id="31" name="Text 29"/>
          <p:cNvSpPr txBox="1"/>
          <p:nvPr/>
        </p:nvSpPr>
        <p:spPr>
          <a:xfrm>
            <a:off x="3337560" y="4892040"/>
            <a:ext cx="384048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Histogram</a:t>
            </a:r>
            <a:endParaRPr lang="en-US" sz="1300" dirty="0"/>
          </a:p>
        </p:txBody>
      </p:sp>
      <p:sp>
        <p:nvSpPr>
          <p:cNvPr id="32" name="Shape 30"/>
          <p:cNvSpPr/>
          <p:nvPr/>
        </p:nvSpPr>
        <p:spPr>
          <a:xfrm>
            <a:off x="7315200" y="4892040"/>
            <a:ext cx="4389120" cy="914400"/>
          </a:xfrm>
          <a:prstGeom prst="rect">
            <a:avLst/>
          </a:prstGeom>
          <a:solidFill>
            <a:srgbClr val="F7F9F9"/>
          </a:solidFill>
          <a:ln w="9525">
            <a:solidFill>
              <a:srgbClr val="E1E8E8"/>
            </a:solidFill>
            <a:prstDash val="solid"/>
          </a:ln>
        </p:spPr>
      </p:sp>
      <p:sp>
        <p:nvSpPr>
          <p:cNvPr id="33" name="Text 31"/>
          <p:cNvSpPr txBox="1"/>
          <p:nvPr/>
        </p:nvSpPr>
        <p:spPr>
          <a:xfrm>
            <a:off x="7452360" y="4892040"/>
            <a:ext cx="4114800" cy="914400"/>
          </a:xfrm>
          <a:prstGeom prst="rect">
            <a:avLst/>
          </a:prstGeom>
          <a:noFill/>
          <a:ln/>
        </p:spPr>
        <p:txBody>
          <a:bodyPr wrap="square" lIns="0" tIns="0" rIns="0" bIns="0" rtlCol="0" anchor="ctr"/>
          <a:lstStyle/>
          <a:p>
            <a:pPr marL="0" indent="0">
              <a:buNone/>
            </a:pPr>
            <a:r>
              <a:rPr lang="en-US" sz="1300" dirty="0">
                <a:solidFill>
                  <a:srgbClr val="17262A"/>
                </a:solidFill>
                <a:latin typeface="Calibri" pitchFamily="34" charset="0"/>
                <a:ea typeface="Calibri" pitchFamily="34" charset="-122"/>
                <a:cs typeface="Calibri" pitchFamily="34" charset="-120"/>
              </a:rPr>
              <a:t>Box plot, line chart (over time)</a:t>
            </a:r>
            <a:endParaRPr lang="en-US" sz="1300" dirty="0"/>
          </a:p>
        </p:txBody>
      </p:sp>
      <p:sp>
        <p:nvSpPr>
          <p:cNvPr id="34" name="Text 32"/>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35" name="Text 33"/>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Visualizing Categorical Data</a:t>
            </a:r>
            <a:endParaRPr lang="en-US" sz="3000" dirty="0"/>
          </a:p>
        </p:txBody>
      </p:sp>
      <p:sp>
        <p:nvSpPr>
          <p:cNvPr id="3" name="Shape 1"/>
          <p:cNvSpPr/>
          <p:nvPr/>
        </p:nvSpPr>
        <p:spPr>
          <a:xfrm>
            <a:off x="548640" y="1463040"/>
            <a:ext cx="5394960" cy="4846320"/>
          </a:xfrm>
          <a:prstGeom prst="roundRect">
            <a:avLst>
              <a:gd name="adj" fmla="val 1887"/>
            </a:avLst>
          </a:prstGeom>
          <a:solidFill>
            <a:srgbClr val="F7F9F9"/>
          </a:solidFill>
          <a:ln w="12700">
            <a:solidFill>
              <a:srgbClr val="E1E8E8"/>
            </a:solidFill>
            <a:prstDash val="solid"/>
          </a:ln>
        </p:spPr>
      </p:sp>
      <p:sp>
        <p:nvSpPr>
          <p:cNvPr id="4" name="Shape 2"/>
          <p:cNvSpPr/>
          <p:nvPr/>
        </p:nvSpPr>
        <p:spPr>
          <a:xfrm>
            <a:off x="868680" y="1783080"/>
            <a:ext cx="777240" cy="777240"/>
          </a:xfrm>
          <a:prstGeom prst="ellipse">
            <a:avLst/>
          </a:prstGeom>
          <a:solidFill>
            <a:srgbClr val="128277"/>
          </a:solidFill>
          <a:ln/>
        </p:spPr>
      </p:sp>
      <p:pic>
        <p:nvPicPr>
          <p:cNvPr id="5" name="Image 0" descr="preencoded.png"/>
          <p:cNvPicPr>
            <a:picLocks noChangeAspect="1"/>
          </p:cNvPicPr>
          <p:nvPr/>
        </p:nvPicPr>
        <p:blipFill>
          <a:blip r:embed="rId3"/>
          <a:stretch>
            <a:fillRect/>
          </a:stretch>
        </p:blipFill>
        <p:spPr>
          <a:xfrm>
            <a:off x="969721" y="1884121"/>
            <a:ext cx="575158" cy="575158"/>
          </a:xfrm>
          <a:prstGeom prst="rect">
            <a:avLst/>
          </a:prstGeom>
        </p:spPr>
      </p:pic>
      <p:sp>
        <p:nvSpPr>
          <p:cNvPr id="6" name="Text 3"/>
          <p:cNvSpPr txBox="1"/>
          <p:nvPr/>
        </p:nvSpPr>
        <p:spPr>
          <a:xfrm>
            <a:off x="1828800" y="1828800"/>
            <a:ext cx="3840480" cy="685800"/>
          </a:xfrm>
          <a:prstGeom prst="rect">
            <a:avLst/>
          </a:prstGeom>
          <a:noFill/>
          <a:ln/>
        </p:spPr>
        <p:txBody>
          <a:bodyPr wrap="square" lIns="0" tIns="0" rIns="0" bIns="0" rtlCol="0" anchor="ctr"/>
          <a:lstStyle/>
          <a:p>
            <a:pPr marL="0" indent="0">
              <a:buNone/>
            </a:pPr>
            <a:r>
              <a:rPr lang="en-US" sz="1900" b="1" dirty="0">
                <a:solidFill>
                  <a:srgbClr val="0B3D42"/>
                </a:solidFill>
                <a:latin typeface="Cambria" pitchFamily="34" charset="0"/>
                <a:ea typeface="Cambria" pitchFamily="34" charset="-122"/>
                <a:cs typeface="Cambria" pitchFamily="34" charset="-120"/>
              </a:rPr>
              <a:t>Bar Chart</a:t>
            </a:r>
            <a:endParaRPr lang="en-US" sz="1900" dirty="0"/>
          </a:p>
        </p:txBody>
      </p:sp>
      <p:sp>
        <p:nvSpPr>
          <p:cNvPr id="7" name="Text 4"/>
          <p:cNvSpPr txBox="1"/>
          <p:nvPr/>
        </p:nvSpPr>
        <p:spPr>
          <a:xfrm>
            <a:off x="868680" y="2743200"/>
            <a:ext cx="475488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Best for comparing category frequencies</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Bar height/length = count or proportion</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Works for both nominal and ordinal data</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Keep bars ordered logically (not alphabetically for ordinal data)</a:t>
            </a:r>
            <a:endParaRPr lang="en-US" sz="1400" dirty="0"/>
          </a:p>
        </p:txBody>
      </p:sp>
      <p:sp>
        <p:nvSpPr>
          <p:cNvPr id="8" name="Shape 5"/>
          <p:cNvSpPr/>
          <p:nvPr/>
        </p:nvSpPr>
        <p:spPr>
          <a:xfrm>
            <a:off x="6400800" y="1463040"/>
            <a:ext cx="5394960" cy="4846320"/>
          </a:xfrm>
          <a:prstGeom prst="roundRect">
            <a:avLst>
              <a:gd name="adj" fmla="val 1887"/>
            </a:avLst>
          </a:prstGeom>
          <a:solidFill>
            <a:srgbClr val="F7F9F9"/>
          </a:solidFill>
          <a:ln w="12700">
            <a:solidFill>
              <a:srgbClr val="E1E8E8"/>
            </a:solidFill>
            <a:prstDash val="solid"/>
          </a:ln>
        </p:spPr>
      </p:sp>
      <p:sp>
        <p:nvSpPr>
          <p:cNvPr id="9" name="Shape 6"/>
          <p:cNvSpPr/>
          <p:nvPr/>
        </p:nvSpPr>
        <p:spPr>
          <a:xfrm>
            <a:off x="6720840" y="1783080"/>
            <a:ext cx="777240" cy="777240"/>
          </a:xfrm>
          <a:prstGeom prst="ellipse">
            <a:avLst/>
          </a:prstGeom>
          <a:solidFill>
            <a:srgbClr val="C97F1F"/>
          </a:solidFill>
          <a:ln/>
        </p:spPr>
      </p:sp>
      <p:pic>
        <p:nvPicPr>
          <p:cNvPr id="10" name="Image 1" descr="preencoded.png"/>
          <p:cNvPicPr>
            <a:picLocks noChangeAspect="1"/>
          </p:cNvPicPr>
          <p:nvPr/>
        </p:nvPicPr>
        <p:blipFill>
          <a:blip r:embed="rId4"/>
          <a:stretch>
            <a:fillRect/>
          </a:stretch>
        </p:blipFill>
        <p:spPr>
          <a:xfrm>
            <a:off x="6821881" y="1884121"/>
            <a:ext cx="575158" cy="575158"/>
          </a:xfrm>
          <a:prstGeom prst="rect">
            <a:avLst/>
          </a:prstGeom>
        </p:spPr>
      </p:pic>
      <p:sp>
        <p:nvSpPr>
          <p:cNvPr id="11" name="Text 7"/>
          <p:cNvSpPr txBox="1"/>
          <p:nvPr/>
        </p:nvSpPr>
        <p:spPr>
          <a:xfrm>
            <a:off x="7680960" y="1828800"/>
            <a:ext cx="3840480" cy="685800"/>
          </a:xfrm>
          <a:prstGeom prst="rect">
            <a:avLst/>
          </a:prstGeom>
          <a:noFill/>
          <a:ln/>
        </p:spPr>
        <p:txBody>
          <a:bodyPr wrap="square" lIns="0" tIns="0" rIns="0" bIns="0" rtlCol="0" anchor="ctr"/>
          <a:lstStyle/>
          <a:p>
            <a:pPr marL="0" indent="0">
              <a:buNone/>
            </a:pPr>
            <a:r>
              <a:rPr lang="en-US" sz="1900" b="1" dirty="0">
                <a:solidFill>
                  <a:srgbClr val="0B3D42"/>
                </a:solidFill>
                <a:latin typeface="Cambria" pitchFamily="34" charset="0"/>
                <a:ea typeface="Cambria" pitchFamily="34" charset="-122"/>
                <a:cs typeface="Cambria" pitchFamily="34" charset="-120"/>
              </a:rPr>
              <a:t>Pie Chart</a:t>
            </a:r>
            <a:endParaRPr lang="en-US" sz="1900" dirty="0"/>
          </a:p>
        </p:txBody>
      </p:sp>
      <p:sp>
        <p:nvSpPr>
          <p:cNvPr id="12" name="Text 8"/>
          <p:cNvSpPr txBox="1"/>
          <p:nvPr/>
        </p:nvSpPr>
        <p:spPr>
          <a:xfrm>
            <a:off x="6720840" y="2743200"/>
            <a:ext cx="475488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Shows each category’s share of a whole</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Best with 5 or fewer categories</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Avoid for data with many categories — bars read better</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Never use for ordinal data with many levels</a:t>
            </a:r>
            <a:endParaRPr lang="en-US" sz="140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Visualizing Quantitative Data</a:t>
            </a:r>
            <a:endParaRPr lang="en-US" sz="3000" dirty="0"/>
          </a:p>
        </p:txBody>
      </p:sp>
      <p:sp>
        <p:nvSpPr>
          <p:cNvPr id="3" name="Shape 1"/>
          <p:cNvSpPr/>
          <p:nvPr/>
        </p:nvSpPr>
        <p:spPr>
          <a:xfrm>
            <a:off x="548640" y="1463040"/>
            <a:ext cx="5394960" cy="4846320"/>
          </a:xfrm>
          <a:prstGeom prst="roundRect">
            <a:avLst>
              <a:gd name="adj" fmla="val 1887"/>
            </a:avLst>
          </a:prstGeom>
          <a:solidFill>
            <a:srgbClr val="F7F9F9"/>
          </a:solidFill>
          <a:ln w="12700">
            <a:solidFill>
              <a:srgbClr val="E1E8E8"/>
            </a:solidFill>
            <a:prstDash val="solid"/>
          </a:ln>
        </p:spPr>
      </p:sp>
      <p:sp>
        <p:nvSpPr>
          <p:cNvPr id="4" name="Shape 2"/>
          <p:cNvSpPr/>
          <p:nvPr/>
        </p:nvSpPr>
        <p:spPr>
          <a:xfrm>
            <a:off x="868680" y="1783080"/>
            <a:ext cx="777240" cy="777240"/>
          </a:xfrm>
          <a:prstGeom prst="ellipse">
            <a:avLst/>
          </a:prstGeom>
          <a:solidFill>
            <a:srgbClr val="128277"/>
          </a:solidFill>
          <a:ln/>
        </p:spPr>
      </p:sp>
      <p:pic>
        <p:nvPicPr>
          <p:cNvPr id="5" name="Image 0" descr="preencoded.png"/>
          <p:cNvPicPr>
            <a:picLocks noChangeAspect="1"/>
          </p:cNvPicPr>
          <p:nvPr/>
        </p:nvPicPr>
        <p:blipFill>
          <a:blip r:embed="rId3"/>
          <a:stretch>
            <a:fillRect/>
          </a:stretch>
        </p:blipFill>
        <p:spPr>
          <a:xfrm>
            <a:off x="969721" y="1884121"/>
            <a:ext cx="575158" cy="575158"/>
          </a:xfrm>
          <a:prstGeom prst="rect">
            <a:avLst/>
          </a:prstGeom>
        </p:spPr>
      </p:pic>
      <p:sp>
        <p:nvSpPr>
          <p:cNvPr id="6" name="Text 3"/>
          <p:cNvSpPr txBox="1"/>
          <p:nvPr/>
        </p:nvSpPr>
        <p:spPr>
          <a:xfrm>
            <a:off x="1828800" y="1828800"/>
            <a:ext cx="3840480" cy="685800"/>
          </a:xfrm>
          <a:prstGeom prst="rect">
            <a:avLst/>
          </a:prstGeom>
          <a:noFill/>
          <a:ln/>
        </p:spPr>
        <p:txBody>
          <a:bodyPr wrap="square" lIns="0" tIns="0" rIns="0" bIns="0" rtlCol="0" anchor="ctr"/>
          <a:lstStyle/>
          <a:p>
            <a:pPr marL="0" indent="0">
              <a:buNone/>
            </a:pPr>
            <a:r>
              <a:rPr lang="en-US" sz="1900" b="1" dirty="0">
                <a:solidFill>
                  <a:srgbClr val="0B3D42"/>
                </a:solidFill>
                <a:latin typeface="Cambria" pitchFamily="34" charset="0"/>
                <a:ea typeface="Cambria" pitchFamily="34" charset="-122"/>
                <a:cs typeface="Cambria" pitchFamily="34" charset="-120"/>
              </a:rPr>
              <a:t>Histogram</a:t>
            </a:r>
            <a:endParaRPr lang="en-US" sz="1900" dirty="0"/>
          </a:p>
        </p:txBody>
      </p:sp>
      <p:sp>
        <p:nvSpPr>
          <p:cNvPr id="7" name="Text 4"/>
          <p:cNvSpPr txBox="1"/>
          <p:nvPr/>
        </p:nvSpPr>
        <p:spPr>
          <a:xfrm>
            <a:off x="868680" y="2743200"/>
            <a:ext cx="475488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Shows the distribution/shape of continuous data</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Data is grouped into bins/intervals</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Reveals skewness, peaks, and outliers at a glance</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Bars touch — unlike a bar chart — showing continuity</a:t>
            </a:r>
            <a:endParaRPr lang="en-US" sz="1400" dirty="0"/>
          </a:p>
        </p:txBody>
      </p:sp>
      <p:sp>
        <p:nvSpPr>
          <p:cNvPr id="8" name="Shape 5"/>
          <p:cNvSpPr/>
          <p:nvPr/>
        </p:nvSpPr>
        <p:spPr>
          <a:xfrm>
            <a:off x="6400800" y="1463040"/>
            <a:ext cx="5394960" cy="4846320"/>
          </a:xfrm>
          <a:prstGeom prst="roundRect">
            <a:avLst>
              <a:gd name="adj" fmla="val 1887"/>
            </a:avLst>
          </a:prstGeom>
          <a:solidFill>
            <a:srgbClr val="F7F9F9"/>
          </a:solidFill>
          <a:ln w="12700">
            <a:solidFill>
              <a:srgbClr val="E1E8E8"/>
            </a:solidFill>
            <a:prstDash val="solid"/>
          </a:ln>
        </p:spPr>
      </p:sp>
      <p:sp>
        <p:nvSpPr>
          <p:cNvPr id="9" name="Shape 6"/>
          <p:cNvSpPr/>
          <p:nvPr/>
        </p:nvSpPr>
        <p:spPr>
          <a:xfrm>
            <a:off x="6720840" y="1783080"/>
            <a:ext cx="777240" cy="777240"/>
          </a:xfrm>
          <a:prstGeom prst="ellipse">
            <a:avLst/>
          </a:prstGeom>
          <a:solidFill>
            <a:srgbClr val="C97F1F"/>
          </a:solidFill>
          <a:ln/>
        </p:spPr>
      </p:sp>
      <p:pic>
        <p:nvPicPr>
          <p:cNvPr id="10" name="Image 1" descr="preencoded.png"/>
          <p:cNvPicPr>
            <a:picLocks noChangeAspect="1"/>
          </p:cNvPicPr>
          <p:nvPr/>
        </p:nvPicPr>
        <p:blipFill>
          <a:blip r:embed="rId4"/>
          <a:stretch>
            <a:fillRect/>
          </a:stretch>
        </p:blipFill>
        <p:spPr>
          <a:xfrm>
            <a:off x="6821881" y="1884121"/>
            <a:ext cx="575158" cy="575158"/>
          </a:xfrm>
          <a:prstGeom prst="rect">
            <a:avLst/>
          </a:prstGeom>
        </p:spPr>
      </p:pic>
      <p:sp>
        <p:nvSpPr>
          <p:cNvPr id="11" name="Text 7"/>
          <p:cNvSpPr txBox="1"/>
          <p:nvPr/>
        </p:nvSpPr>
        <p:spPr>
          <a:xfrm>
            <a:off x="7680960" y="1828800"/>
            <a:ext cx="3840480" cy="685800"/>
          </a:xfrm>
          <a:prstGeom prst="rect">
            <a:avLst/>
          </a:prstGeom>
          <a:noFill/>
          <a:ln/>
        </p:spPr>
        <p:txBody>
          <a:bodyPr wrap="square" lIns="0" tIns="0" rIns="0" bIns="0" rtlCol="0" anchor="ctr"/>
          <a:lstStyle/>
          <a:p>
            <a:pPr marL="0" indent="0">
              <a:buNone/>
            </a:pPr>
            <a:r>
              <a:rPr lang="en-US" sz="1900" b="1" dirty="0">
                <a:solidFill>
                  <a:srgbClr val="0B3D42"/>
                </a:solidFill>
                <a:latin typeface="Cambria" pitchFamily="34" charset="0"/>
                <a:ea typeface="Cambria" pitchFamily="34" charset="-122"/>
                <a:cs typeface="Cambria" pitchFamily="34" charset="-120"/>
              </a:rPr>
              <a:t>Box Plot</a:t>
            </a:r>
            <a:endParaRPr lang="en-US" sz="1900" dirty="0"/>
          </a:p>
        </p:txBody>
      </p:sp>
      <p:sp>
        <p:nvSpPr>
          <p:cNvPr id="12" name="Text 8"/>
          <p:cNvSpPr txBox="1"/>
          <p:nvPr/>
        </p:nvSpPr>
        <p:spPr>
          <a:xfrm>
            <a:off x="6720840" y="2743200"/>
            <a:ext cx="4754880" cy="338328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Summarizes spread using 5 numbers: min, Q1, median, Q3, max</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Excellent for comparing distributions across groups</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Whiskers and dots outside them flag potential outliers</a:t>
            </a:r>
            <a:endParaRPr lang="en-US" sz="1400" dirty="0"/>
          </a:p>
          <a:p>
            <a:pPr marL="342900" indent="-342900">
              <a:lnSpc>
                <a:spcPct val="105000"/>
              </a:lnSpc>
              <a:spcAft>
                <a:spcPts val="1600"/>
              </a:spcAft>
              <a:buSzPct val="100000"/>
              <a:buChar char="▪"/>
            </a:pPr>
            <a:r>
              <a:rPr lang="en-US" sz="1400" dirty="0">
                <a:solidFill>
                  <a:srgbClr val="17262A"/>
                </a:solidFill>
                <a:latin typeface="Calibri" pitchFamily="34" charset="0"/>
                <a:ea typeface="Calibri" pitchFamily="34" charset="-122"/>
                <a:cs typeface="Calibri" pitchFamily="34" charset="-120"/>
              </a:rPr>
              <a:t>Compact — many box plots fit side-by-side</a:t>
            </a:r>
            <a:endParaRPr lang="en-US" sz="1400" dirty="0"/>
          </a:p>
        </p:txBody>
      </p:sp>
      <p:sp>
        <p:nvSpPr>
          <p:cNvPr id="13" name="Text 9"/>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4" name="Text 10"/>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Common Misconceptions &amp; Pitfalls</a:t>
            </a:r>
            <a:endParaRPr lang="en-US" sz="3000" dirty="0"/>
          </a:p>
        </p:txBody>
      </p:sp>
      <p:pic>
        <p:nvPicPr>
          <p:cNvPr id="3" name="Image 0" descr="preencoded.png"/>
          <p:cNvPicPr>
            <a:picLocks noChangeAspect="1"/>
          </p:cNvPicPr>
          <p:nvPr/>
        </p:nvPicPr>
        <p:blipFill>
          <a:blip r:embed="rId3"/>
          <a:stretch>
            <a:fillRect/>
          </a:stretch>
        </p:blipFill>
        <p:spPr>
          <a:xfrm>
            <a:off x="548640" y="1463040"/>
            <a:ext cx="365760" cy="365760"/>
          </a:xfrm>
          <a:prstGeom prst="rect">
            <a:avLst/>
          </a:prstGeom>
        </p:spPr>
      </p:pic>
      <p:sp>
        <p:nvSpPr>
          <p:cNvPr id="4" name="Text 1"/>
          <p:cNvSpPr txBox="1"/>
          <p:nvPr/>
        </p:nvSpPr>
        <p:spPr>
          <a:xfrm>
            <a:off x="1051560" y="1417320"/>
            <a:ext cx="5120640" cy="868680"/>
          </a:xfrm>
          <a:prstGeom prst="rect">
            <a:avLst/>
          </a:prstGeom>
          <a:noFill/>
          <a:ln/>
        </p:spPr>
        <p:txBody>
          <a:bodyPr wrap="square" lIns="0" tIns="0" rIns="0" bIns="0" rtlCol="0" anchor="ctr"/>
          <a:lstStyle/>
          <a:p>
            <a:pPr marL="0" indent="0">
              <a:buNone/>
            </a:pPr>
            <a:r>
              <a:rPr lang="en-US" sz="1350" b="1" dirty="0">
                <a:solidFill>
                  <a:srgbClr val="17262A"/>
                </a:solidFill>
                <a:latin typeface="Calibri" pitchFamily="34" charset="0"/>
                <a:ea typeface="Calibri" pitchFamily="34" charset="-122"/>
                <a:cs typeface="Calibri" pitchFamily="34" charset="-120"/>
              </a:rPr>
              <a:t>Averaging ID numbers, pin codes, or phone numbers</a:t>
            </a:r>
            <a:endParaRPr lang="en-US" sz="1350" dirty="0"/>
          </a:p>
        </p:txBody>
      </p:sp>
      <p:pic>
        <p:nvPicPr>
          <p:cNvPr id="5" name="Image 1" descr="preencoded.png"/>
          <p:cNvPicPr>
            <a:picLocks noChangeAspect="1"/>
          </p:cNvPicPr>
          <p:nvPr/>
        </p:nvPicPr>
        <p:blipFill>
          <a:blip r:embed="rId4"/>
          <a:stretch>
            <a:fillRect/>
          </a:stretch>
        </p:blipFill>
        <p:spPr>
          <a:xfrm>
            <a:off x="6355080" y="1463040"/>
            <a:ext cx="365760" cy="365760"/>
          </a:xfrm>
          <a:prstGeom prst="rect">
            <a:avLst/>
          </a:prstGeom>
        </p:spPr>
      </p:pic>
      <p:sp>
        <p:nvSpPr>
          <p:cNvPr id="6" name="Text 2"/>
          <p:cNvSpPr txBox="1"/>
          <p:nvPr/>
        </p:nvSpPr>
        <p:spPr>
          <a:xfrm>
            <a:off x="6858000" y="1417320"/>
            <a:ext cx="4754880" cy="86868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These are nominal labels, not quantities</a:t>
            </a:r>
            <a:endParaRPr lang="en-US" sz="1250" dirty="0"/>
          </a:p>
        </p:txBody>
      </p:sp>
      <p:pic>
        <p:nvPicPr>
          <p:cNvPr id="7" name="Image 2" descr="preencoded.png"/>
          <p:cNvPicPr>
            <a:picLocks noChangeAspect="1"/>
          </p:cNvPicPr>
          <p:nvPr/>
        </p:nvPicPr>
        <p:blipFill>
          <a:blip r:embed="rId3"/>
          <a:stretch>
            <a:fillRect/>
          </a:stretch>
        </p:blipFill>
        <p:spPr>
          <a:xfrm>
            <a:off x="548640" y="2395728"/>
            <a:ext cx="365760" cy="365760"/>
          </a:xfrm>
          <a:prstGeom prst="rect">
            <a:avLst/>
          </a:prstGeom>
        </p:spPr>
      </p:pic>
      <p:sp>
        <p:nvSpPr>
          <p:cNvPr id="8" name="Text 3"/>
          <p:cNvSpPr txBox="1"/>
          <p:nvPr/>
        </p:nvSpPr>
        <p:spPr>
          <a:xfrm>
            <a:off x="1051560" y="2350008"/>
            <a:ext cx="5120640" cy="868680"/>
          </a:xfrm>
          <a:prstGeom prst="rect">
            <a:avLst/>
          </a:prstGeom>
          <a:noFill/>
          <a:ln/>
        </p:spPr>
        <p:txBody>
          <a:bodyPr wrap="square" lIns="0" tIns="0" rIns="0" bIns="0" rtlCol="0" anchor="ctr"/>
          <a:lstStyle/>
          <a:p>
            <a:pPr marL="0" indent="0">
              <a:buNone/>
            </a:pPr>
            <a:r>
              <a:rPr lang="en-US" sz="1350" b="1" dirty="0">
                <a:solidFill>
                  <a:srgbClr val="17262A"/>
                </a:solidFill>
                <a:latin typeface="Calibri" pitchFamily="34" charset="0"/>
                <a:ea typeface="Calibri" pitchFamily="34" charset="-122"/>
                <a:cs typeface="Calibri" pitchFamily="34" charset="-120"/>
              </a:rPr>
              <a:t>Treating a 1–5 rating scale as if gaps are exactly equal</a:t>
            </a:r>
            <a:endParaRPr lang="en-US" sz="1350" dirty="0"/>
          </a:p>
        </p:txBody>
      </p:sp>
      <p:pic>
        <p:nvPicPr>
          <p:cNvPr id="9" name="Image 3" descr="preencoded.png"/>
          <p:cNvPicPr>
            <a:picLocks noChangeAspect="1"/>
          </p:cNvPicPr>
          <p:nvPr/>
        </p:nvPicPr>
        <p:blipFill>
          <a:blip r:embed="rId4"/>
          <a:stretch>
            <a:fillRect/>
          </a:stretch>
        </p:blipFill>
        <p:spPr>
          <a:xfrm>
            <a:off x="6355080" y="2395728"/>
            <a:ext cx="365760" cy="365760"/>
          </a:xfrm>
          <a:prstGeom prst="rect">
            <a:avLst/>
          </a:prstGeom>
        </p:spPr>
      </p:pic>
      <p:sp>
        <p:nvSpPr>
          <p:cNvPr id="10" name="Text 4"/>
          <p:cNvSpPr txBox="1"/>
          <p:nvPr/>
        </p:nvSpPr>
        <p:spPr>
          <a:xfrm>
            <a:off x="6858000" y="2350008"/>
            <a:ext cx="4754880" cy="86868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Ordinal data — the "distance" between 2 and 3 may not equal that between 4 and 5</a:t>
            </a:r>
            <a:endParaRPr lang="en-US" sz="1250" dirty="0"/>
          </a:p>
        </p:txBody>
      </p:sp>
      <p:pic>
        <p:nvPicPr>
          <p:cNvPr id="11" name="Image 4" descr="preencoded.png"/>
          <p:cNvPicPr>
            <a:picLocks noChangeAspect="1"/>
          </p:cNvPicPr>
          <p:nvPr/>
        </p:nvPicPr>
        <p:blipFill>
          <a:blip r:embed="rId3"/>
          <a:stretch>
            <a:fillRect/>
          </a:stretch>
        </p:blipFill>
        <p:spPr>
          <a:xfrm>
            <a:off x="548640" y="3328416"/>
            <a:ext cx="365760" cy="365760"/>
          </a:xfrm>
          <a:prstGeom prst="rect">
            <a:avLst/>
          </a:prstGeom>
        </p:spPr>
      </p:pic>
      <p:sp>
        <p:nvSpPr>
          <p:cNvPr id="12" name="Text 5"/>
          <p:cNvSpPr txBox="1"/>
          <p:nvPr/>
        </p:nvSpPr>
        <p:spPr>
          <a:xfrm>
            <a:off x="1051560" y="3282696"/>
            <a:ext cx="5120640" cy="868680"/>
          </a:xfrm>
          <a:prstGeom prst="rect">
            <a:avLst/>
          </a:prstGeom>
          <a:noFill/>
          <a:ln/>
        </p:spPr>
        <p:txBody>
          <a:bodyPr wrap="square" lIns="0" tIns="0" rIns="0" bIns="0" rtlCol="0" anchor="ctr"/>
          <a:lstStyle/>
          <a:p>
            <a:pPr marL="0" indent="0">
              <a:buNone/>
            </a:pPr>
            <a:r>
              <a:rPr lang="en-US" sz="1350" b="1" dirty="0">
                <a:solidFill>
                  <a:srgbClr val="17262A"/>
                </a:solidFill>
                <a:latin typeface="Calibri" pitchFamily="34" charset="0"/>
                <a:ea typeface="Calibri" pitchFamily="34" charset="-122"/>
                <a:cs typeface="Calibri" pitchFamily="34" charset="-120"/>
              </a:rPr>
              <a:t>Using a pie chart for a variable with 15+ categories</a:t>
            </a:r>
            <a:endParaRPr lang="en-US" sz="1350" dirty="0"/>
          </a:p>
        </p:txBody>
      </p:sp>
      <p:pic>
        <p:nvPicPr>
          <p:cNvPr id="13" name="Image 5" descr="preencoded.png"/>
          <p:cNvPicPr>
            <a:picLocks noChangeAspect="1"/>
          </p:cNvPicPr>
          <p:nvPr/>
        </p:nvPicPr>
        <p:blipFill>
          <a:blip r:embed="rId4"/>
          <a:stretch>
            <a:fillRect/>
          </a:stretch>
        </p:blipFill>
        <p:spPr>
          <a:xfrm>
            <a:off x="6355080" y="3328416"/>
            <a:ext cx="365760" cy="365760"/>
          </a:xfrm>
          <a:prstGeom prst="rect">
            <a:avLst/>
          </a:prstGeom>
        </p:spPr>
      </p:pic>
      <p:sp>
        <p:nvSpPr>
          <p:cNvPr id="14" name="Text 6"/>
          <p:cNvSpPr txBox="1"/>
          <p:nvPr/>
        </p:nvSpPr>
        <p:spPr>
          <a:xfrm>
            <a:off x="6858000" y="3282696"/>
            <a:ext cx="4754880" cy="86868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Becomes unreadable — use a sorted bar chart instead</a:t>
            </a:r>
            <a:endParaRPr lang="en-US" sz="1250" dirty="0"/>
          </a:p>
        </p:txBody>
      </p:sp>
      <p:pic>
        <p:nvPicPr>
          <p:cNvPr id="15" name="Image 6" descr="preencoded.png"/>
          <p:cNvPicPr>
            <a:picLocks noChangeAspect="1"/>
          </p:cNvPicPr>
          <p:nvPr/>
        </p:nvPicPr>
        <p:blipFill>
          <a:blip r:embed="rId3"/>
          <a:stretch>
            <a:fillRect/>
          </a:stretch>
        </p:blipFill>
        <p:spPr>
          <a:xfrm>
            <a:off x="548640" y="4261104"/>
            <a:ext cx="365760" cy="365760"/>
          </a:xfrm>
          <a:prstGeom prst="rect">
            <a:avLst/>
          </a:prstGeom>
        </p:spPr>
      </p:pic>
      <p:sp>
        <p:nvSpPr>
          <p:cNvPr id="16" name="Text 7"/>
          <p:cNvSpPr txBox="1"/>
          <p:nvPr/>
        </p:nvSpPr>
        <p:spPr>
          <a:xfrm>
            <a:off x="1051560" y="4215384"/>
            <a:ext cx="5120640" cy="868680"/>
          </a:xfrm>
          <a:prstGeom prst="rect">
            <a:avLst/>
          </a:prstGeom>
          <a:noFill/>
          <a:ln/>
        </p:spPr>
        <p:txBody>
          <a:bodyPr wrap="square" lIns="0" tIns="0" rIns="0" bIns="0" rtlCol="0" anchor="ctr"/>
          <a:lstStyle/>
          <a:p>
            <a:pPr marL="0" indent="0">
              <a:buNone/>
            </a:pPr>
            <a:r>
              <a:rPr lang="en-US" sz="1350" b="1" dirty="0">
                <a:solidFill>
                  <a:srgbClr val="17262A"/>
                </a:solidFill>
                <a:latin typeface="Calibri" pitchFamily="34" charset="0"/>
                <a:ea typeface="Calibri" pitchFamily="34" charset="-122"/>
                <a:cs typeface="Calibri" pitchFamily="34" charset="-120"/>
              </a:rPr>
              <a:t>Assuming 0°C means "no temperature"</a:t>
            </a:r>
            <a:endParaRPr lang="en-US" sz="1350" dirty="0"/>
          </a:p>
        </p:txBody>
      </p:sp>
      <p:pic>
        <p:nvPicPr>
          <p:cNvPr id="17" name="Image 7" descr="preencoded.png"/>
          <p:cNvPicPr>
            <a:picLocks noChangeAspect="1"/>
          </p:cNvPicPr>
          <p:nvPr/>
        </p:nvPicPr>
        <p:blipFill>
          <a:blip r:embed="rId4"/>
          <a:stretch>
            <a:fillRect/>
          </a:stretch>
        </p:blipFill>
        <p:spPr>
          <a:xfrm>
            <a:off x="6355080" y="4261104"/>
            <a:ext cx="365760" cy="365760"/>
          </a:xfrm>
          <a:prstGeom prst="rect">
            <a:avLst/>
          </a:prstGeom>
        </p:spPr>
      </p:pic>
      <p:sp>
        <p:nvSpPr>
          <p:cNvPr id="18" name="Text 8"/>
          <p:cNvSpPr txBox="1"/>
          <p:nvPr/>
        </p:nvSpPr>
        <p:spPr>
          <a:xfrm>
            <a:off x="6858000" y="4215384"/>
            <a:ext cx="4754880" cy="86868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Celsius is interval, not ratio — its zero is arbitrary</a:t>
            </a:r>
            <a:endParaRPr lang="en-US" sz="1250" dirty="0"/>
          </a:p>
        </p:txBody>
      </p:sp>
      <p:pic>
        <p:nvPicPr>
          <p:cNvPr id="19" name="Image 8" descr="preencoded.png"/>
          <p:cNvPicPr>
            <a:picLocks noChangeAspect="1"/>
          </p:cNvPicPr>
          <p:nvPr/>
        </p:nvPicPr>
        <p:blipFill>
          <a:blip r:embed="rId3"/>
          <a:stretch>
            <a:fillRect/>
          </a:stretch>
        </p:blipFill>
        <p:spPr>
          <a:xfrm>
            <a:off x="548640" y="5193792"/>
            <a:ext cx="365760" cy="365760"/>
          </a:xfrm>
          <a:prstGeom prst="rect">
            <a:avLst/>
          </a:prstGeom>
        </p:spPr>
      </p:pic>
      <p:sp>
        <p:nvSpPr>
          <p:cNvPr id="20" name="Text 9"/>
          <p:cNvSpPr txBox="1"/>
          <p:nvPr/>
        </p:nvSpPr>
        <p:spPr>
          <a:xfrm>
            <a:off x="1051560" y="5148072"/>
            <a:ext cx="5120640" cy="868680"/>
          </a:xfrm>
          <a:prstGeom prst="rect">
            <a:avLst/>
          </a:prstGeom>
          <a:noFill/>
          <a:ln/>
        </p:spPr>
        <p:txBody>
          <a:bodyPr wrap="square" lIns="0" tIns="0" rIns="0" bIns="0" rtlCol="0" anchor="ctr"/>
          <a:lstStyle/>
          <a:p>
            <a:pPr marL="0" indent="0">
              <a:buNone/>
            </a:pPr>
            <a:r>
              <a:rPr lang="en-US" sz="1350" b="1" dirty="0">
                <a:solidFill>
                  <a:srgbClr val="17262A"/>
                </a:solidFill>
                <a:latin typeface="Calibri" pitchFamily="34" charset="0"/>
                <a:ea typeface="Calibri" pitchFamily="34" charset="-122"/>
                <a:cs typeface="Calibri" pitchFamily="34" charset="-120"/>
              </a:rPr>
              <a:t>Computing standard deviation on nominal data</a:t>
            </a:r>
            <a:endParaRPr lang="en-US" sz="1350" dirty="0"/>
          </a:p>
        </p:txBody>
      </p:sp>
      <p:pic>
        <p:nvPicPr>
          <p:cNvPr id="21" name="Image 9" descr="preencoded.png"/>
          <p:cNvPicPr>
            <a:picLocks noChangeAspect="1"/>
          </p:cNvPicPr>
          <p:nvPr/>
        </p:nvPicPr>
        <p:blipFill>
          <a:blip r:embed="rId4"/>
          <a:stretch>
            <a:fillRect/>
          </a:stretch>
        </p:blipFill>
        <p:spPr>
          <a:xfrm>
            <a:off x="6355080" y="5193792"/>
            <a:ext cx="365760" cy="365760"/>
          </a:xfrm>
          <a:prstGeom prst="rect">
            <a:avLst/>
          </a:prstGeom>
        </p:spPr>
      </p:pic>
      <p:sp>
        <p:nvSpPr>
          <p:cNvPr id="22" name="Text 10"/>
          <p:cNvSpPr txBox="1"/>
          <p:nvPr/>
        </p:nvSpPr>
        <p:spPr>
          <a:xfrm>
            <a:off x="6858000" y="5148072"/>
            <a:ext cx="4754880" cy="868680"/>
          </a:xfrm>
          <a:prstGeom prst="rect">
            <a:avLst/>
          </a:prstGeom>
          <a:noFill/>
          <a:ln/>
        </p:spPr>
        <p:txBody>
          <a:bodyPr wrap="square" lIns="0" tIns="0" rIns="0" bIns="0" rtlCol="0" anchor="ctr"/>
          <a:lstStyle/>
          <a:p>
            <a:pPr marL="0" indent="0">
              <a:buNone/>
            </a:pPr>
            <a:r>
              <a:rPr lang="en-US" sz="1250" i="1" dirty="0">
                <a:solidFill>
                  <a:srgbClr val="4D6165"/>
                </a:solidFill>
                <a:latin typeface="Calibri" pitchFamily="34" charset="0"/>
                <a:ea typeface="Calibri" pitchFamily="34" charset="-122"/>
                <a:cs typeface="Calibri" pitchFamily="34" charset="-120"/>
              </a:rPr>
              <a:t>Arithmetic on category labels is meaningless</a:t>
            </a:r>
            <a:endParaRPr lang="en-US" sz="1250" dirty="0"/>
          </a:p>
        </p:txBody>
      </p:sp>
      <p:sp>
        <p:nvSpPr>
          <p:cNvPr id="23" name="Text 11"/>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4" name="Text 12"/>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3D42"/>
        </a:solidFill>
        <a:effectLst/>
      </p:bgPr>
    </p:bg>
    <p:spTree>
      <p:nvGrpSpPr>
        <p:cNvPr id="1" name=""/>
        <p:cNvGrpSpPr/>
        <p:nvPr/>
      </p:nvGrpSpPr>
      <p:grpSpPr>
        <a:xfrm>
          <a:off x="0" y="0"/>
          <a:ext cx="0" cy="0"/>
          <a:chOff x="0" y="0"/>
          <a:chExt cx="0" cy="0"/>
        </a:xfrm>
      </p:grpSpPr>
      <p:sp>
        <p:nvSpPr>
          <p:cNvPr id="2" name="Shape 0"/>
          <p:cNvSpPr/>
          <p:nvPr/>
        </p:nvSpPr>
        <p:spPr>
          <a:xfrm>
            <a:off x="640080" y="502920"/>
            <a:ext cx="960120" cy="96012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764896" y="627736"/>
            <a:ext cx="710489" cy="710489"/>
          </a:xfrm>
          <a:prstGeom prst="rect">
            <a:avLst/>
          </a:prstGeom>
        </p:spPr>
      </p:pic>
      <p:sp>
        <p:nvSpPr>
          <p:cNvPr id="4" name="Text 1"/>
          <p:cNvSpPr txBox="1"/>
          <p:nvPr/>
        </p:nvSpPr>
        <p:spPr>
          <a:xfrm>
            <a:off x="1828800" y="502920"/>
            <a:ext cx="9692640" cy="7772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Quick Check: Classify These Variables</a:t>
            </a:r>
            <a:endParaRPr lang="en-US" sz="2500" dirty="0"/>
          </a:p>
        </p:txBody>
      </p:sp>
      <p:sp>
        <p:nvSpPr>
          <p:cNvPr id="5" name="Shape 2"/>
          <p:cNvSpPr/>
          <p:nvPr/>
        </p:nvSpPr>
        <p:spPr>
          <a:xfrm>
            <a:off x="914400" y="1691640"/>
            <a:ext cx="10332720" cy="658368"/>
          </a:xfrm>
          <a:prstGeom prst="roundRect">
            <a:avLst>
              <a:gd name="adj" fmla="val 11111"/>
            </a:avLst>
          </a:prstGeom>
          <a:solidFill>
            <a:srgbClr val="0F2E31"/>
          </a:solidFill>
          <a:ln w="12700">
            <a:solidFill>
              <a:srgbClr val="128277"/>
            </a:solidFill>
            <a:prstDash val="solid"/>
          </a:ln>
        </p:spPr>
      </p:sp>
      <p:sp>
        <p:nvSpPr>
          <p:cNvPr id="6" name="Text 3"/>
          <p:cNvSpPr txBox="1"/>
          <p:nvPr/>
        </p:nvSpPr>
        <p:spPr>
          <a:xfrm>
            <a:off x="1188720" y="169164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Number of siblings</a:t>
            </a:r>
            <a:endParaRPr lang="en-US" sz="1500" dirty="0"/>
          </a:p>
        </p:txBody>
      </p:sp>
      <p:sp>
        <p:nvSpPr>
          <p:cNvPr id="7" name="Text 4"/>
          <p:cNvSpPr txBox="1"/>
          <p:nvPr/>
        </p:nvSpPr>
        <p:spPr>
          <a:xfrm>
            <a:off x="8595360" y="169164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8" name="Shape 5"/>
          <p:cNvSpPr/>
          <p:nvPr/>
        </p:nvSpPr>
        <p:spPr>
          <a:xfrm>
            <a:off x="914400" y="2468880"/>
            <a:ext cx="10332720" cy="658368"/>
          </a:xfrm>
          <a:prstGeom prst="roundRect">
            <a:avLst>
              <a:gd name="adj" fmla="val 11111"/>
            </a:avLst>
          </a:prstGeom>
          <a:solidFill>
            <a:srgbClr val="0F2E31"/>
          </a:solidFill>
          <a:ln w="12700">
            <a:solidFill>
              <a:srgbClr val="128277"/>
            </a:solidFill>
            <a:prstDash val="solid"/>
          </a:ln>
        </p:spPr>
      </p:sp>
      <p:sp>
        <p:nvSpPr>
          <p:cNvPr id="9" name="Text 6"/>
          <p:cNvSpPr txBox="1"/>
          <p:nvPr/>
        </p:nvSpPr>
        <p:spPr>
          <a:xfrm>
            <a:off x="1188720" y="246888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T-shirt size (S/M/L/XL)</a:t>
            </a:r>
            <a:endParaRPr lang="en-US" sz="1500" dirty="0"/>
          </a:p>
        </p:txBody>
      </p:sp>
      <p:sp>
        <p:nvSpPr>
          <p:cNvPr id="10" name="Text 7"/>
          <p:cNvSpPr txBox="1"/>
          <p:nvPr/>
        </p:nvSpPr>
        <p:spPr>
          <a:xfrm>
            <a:off x="8595360" y="246888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11" name="Shape 8"/>
          <p:cNvSpPr/>
          <p:nvPr/>
        </p:nvSpPr>
        <p:spPr>
          <a:xfrm>
            <a:off x="914400" y="3246120"/>
            <a:ext cx="10332720" cy="658368"/>
          </a:xfrm>
          <a:prstGeom prst="roundRect">
            <a:avLst>
              <a:gd name="adj" fmla="val 11111"/>
            </a:avLst>
          </a:prstGeom>
          <a:solidFill>
            <a:srgbClr val="0F2E31"/>
          </a:solidFill>
          <a:ln w="12700">
            <a:solidFill>
              <a:srgbClr val="128277"/>
            </a:solidFill>
            <a:prstDash val="solid"/>
          </a:ln>
        </p:spPr>
      </p:sp>
      <p:sp>
        <p:nvSpPr>
          <p:cNvPr id="12" name="Text 9"/>
          <p:cNvSpPr txBox="1"/>
          <p:nvPr/>
        </p:nvSpPr>
        <p:spPr>
          <a:xfrm>
            <a:off x="1188720" y="324612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Aadhaar number</a:t>
            </a:r>
            <a:endParaRPr lang="en-US" sz="1500" dirty="0"/>
          </a:p>
        </p:txBody>
      </p:sp>
      <p:sp>
        <p:nvSpPr>
          <p:cNvPr id="13" name="Text 10"/>
          <p:cNvSpPr txBox="1"/>
          <p:nvPr/>
        </p:nvSpPr>
        <p:spPr>
          <a:xfrm>
            <a:off x="8595360" y="324612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14" name="Shape 11"/>
          <p:cNvSpPr/>
          <p:nvPr/>
        </p:nvSpPr>
        <p:spPr>
          <a:xfrm>
            <a:off x="914400" y="4023360"/>
            <a:ext cx="10332720" cy="658368"/>
          </a:xfrm>
          <a:prstGeom prst="roundRect">
            <a:avLst>
              <a:gd name="adj" fmla="val 11111"/>
            </a:avLst>
          </a:prstGeom>
          <a:solidFill>
            <a:srgbClr val="0F2E31"/>
          </a:solidFill>
          <a:ln w="12700">
            <a:solidFill>
              <a:srgbClr val="128277"/>
            </a:solidFill>
            <a:prstDash val="solid"/>
          </a:ln>
        </p:spPr>
      </p:sp>
      <p:sp>
        <p:nvSpPr>
          <p:cNvPr id="15" name="Text 12"/>
          <p:cNvSpPr txBox="1"/>
          <p:nvPr/>
        </p:nvSpPr>
        <p:spPr>
          <a:xfrm>
            <a:off x="1188720" y="402336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Weight in kilograms</a:t>
            </a:r>
            <a:endParaRPr lang="en-US" sz="1500" dirty="0"/>
          </a:p>
        </p:txBody>
      </p:sp>
      <p:sp>
        <p:nvSpPr>
          <p:cNvPr id="16" name="Text 13"/>
          <p:cNvSpPr txBox="1"/>
          <p:nvPr/>
        </p:nvSpPr>
        <p:spPr>
          <a:xfrm>
            <a:off x="8595360" y="402336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17" name="Shape 14"/>
          <p:cNvSpPr/>
          <p:nvPr/>
        </p:nvSpPr>
        <p:spPr>
          <a:xfrm>
            <a:off x="914400" y="4800600"/>
            <a:ext cx="10332720" cy="658368"/>
          </a:xfrm>
          <a:prstGeom prst="roundRect">
            <a:avLst>
              <a:gd name="adj" fmla="val 11111"/>
            </a:avLst>
          </a:prstGeom>
          <a:solidFill>
            <a:srgbClr val="0F2E31"/>
          </a:solidFill>
          <a:ln w="12700">
            <a:solidFill>
              <a:srgbClr val="128277"/>
            </a:solidFill>
            <a:prstDash val="solid"/>
          </a:ln>
        </p:spPr>
      </p:sp>
      <p:sp>
        <p:nvSpPr>
          <p:cNvPr id="18" name="Text 15"/>
          <p:cNvSpPr txBox="1"/>
          <p:nvPr/>
        </p:nvSpPr>
        <p:spPr>
          <a:xfrm>
            <a:off x="1188720" y="480060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Movie genre</a:t>
            </a:r>
            <a:endParaRPr lang="en-US" sz="1500" dirty="0"/>
          </a:p>
        </p:txBody>
      </p:sp>
      <p:sp>
        <p:nvSpPr>
          <p:cNvPr id="19" name="Text 16"/>
          <p:cNvSpPr txBox="1"/>
          <p:nvPr/>
        </p:nvSpPr>
        <p:spPr>
          <a:xfrm>
            <a:off x="8595360" y="480060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20" name="Shape 17"/>
          <p:cNvSpPr/>
          <p:nvPr/>
        </p:nvSpPr>
        <p:spPr>
          <a:xfrm>
            <a:off x="914400" y="5577840"/>
            <a:ext cx="10332720" cy="658368"/>
          </a:xfrm>
          <a:prstGeom prst="roundRect">
            <a:avLst>
              <a:gd name="adj" fmla="val 11111"/>
            </a:avLst>
          </a:prstGeom>
          <a:solidFill>
            <a:srgbClr val="0F2E31"/>
          </a:solidFill>
          <a:ln w="12700">
            <a:solidFill>
              <a:srgbClr val="128277"/>
            </a:solidFill>
            <a:prstDash val="solid"/>
          </a:ln>
        </p:spPr>
      </p:sp>
      <p:sp>
        <p:nvSpPr>
          <p:cNvPr id="21" name="Text 18"/>
          <p:cNvSpPr txBox="1"/>
          <p:nvPr/>
        </p:nvSpPr>
        <p:spPr>
          <a:xfrm>
            <a:off x="1188720" y="5577840"/>
            <a:ext cx="7315200" cy="65836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Exam rank in class</a:t>
            </a:r>
            <a:endParaRPr lang="en-US" sz="1500" dirty="0"/>
          </a:p>
        </p:txBody>
      </p:sp>
      <p:sp>
        <p:nvSpPr>
          <p:cNvPr id="22" name="Text 19"/>
          <p:cNvSpPr txBox="1"/>
          <p:nvPr/>
        </p:nvSpPr>
        <p:spPr>
          <a:xfrm>
            <a:off x="8595360" y="5577840"/>
            <a:ext cx="2377440" cy="658368"/>
          </a:xfrm>
          <a:prstGeom prst="rect">
            <a:avLst/>
          </a:prstGeom>
          <a:noFill/>
          <a:ln/>
        </p:spPr>
        <p:txBody>
          <a:bodyPr wrap="square" lIns="0" tIns="0" rIns="0" bIns="0" rtlCol="0" anchor="ctr"/>
          <a:lstStyle/>
          <a:p>
            <a:pPr marL="0" indent="0" algn="r">
              <a:buNone/>
            </a:pPr>
            <a:r>
              <a:rPr lang="en-US" sz="1500" b="1" dirty="0">
                <a:solidFill>
                  <a:srgbClr val="F2A541"/>
                </a:solidFill>
                <a:latin typeface="Calibri" pitchFamily="34" charset="0"/>
                <a:ea typeface="Calibri" pitchFamily="34" charset="-122"/>
                <a:cs typeface="Calibri" pitchFamily="34" charset="-120"/>
              </a:rPr>
              <a:t>? ? ?</a:t>
            </a:r>
            <a:endParaRPr lang="en-US" sz="1500" dirty="0"/>
          </a:p>
        </p:txBody>
      </p:sp>
      <p:sp>
        <p:nvSpPr>
          <p:cNvPr id="23" name="Text 20"/>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24" name="Text 21"/>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Summary: Key Takeaways</a:t>
            </a:r>
            <a:endParaRPr lang="en-US" sz="3000" dirty="0"/>
          </a:p>
        </p:txBody>
      </p:sp>
      <p:sp>
        <p:nvSpPr>
          <p:cNvPr id="3" name="Shape 1"/>
          <p:cNvSpPr/>
          <p:nvPr/>
        </p:nvSpPr>
        <p:spPr>
          <a:xfrm>
            <a:off x="548640" y="1417320"/>
            <a:ext cx="548640" cy="548640"/>
          </a:xfrm>
          <a:prstGeom prst="ellipse">
            <a:avLst/>
          </a:prstGeom>
          <a:solidFill>
            <a:srgbClr val="128277"/>
          </a:solidFill>
          <a:ln/>
        </p:spPr>
      </p:sp>
      <p:pic>
        <p:nvPicPr>
          <p:cNvPr id="4" name="Image 0" descr="preencoded.png"/>
          <p:cNvPicPr>
            <a:picLocks noChangeAspect="1"/>
          </p:cNvPicPr>
          <p:nvPr/>
        </p:nvPicPr>
        <p:blipFill>
          <a:blip r:embed="rId3"/>
          <a:stretch>
            <a:fillRect/>
          </a:stretch>
        </p:blipFill>
        <p:spPr>
          <a:xfrm>
            <a:off x="619963" y="1488643"/>
            <a:ext cx="405994" cy="405994"/>
          </a:xfrm>
          <a:prstGeom prst="rect">
            <a:avLst/>
          </a:prstGeom>
        </p:spPr>
      </p:pic>
      <p:sp>
        <p:nvSpPr>
          <p:cNvPr id="5" name="Text 2"/>
          <p:cNvSpPr txBox="1"/>
          <p:nvPr/>
        </p:nvSpPr>
        <p:spPr>
          <a:xfrm>
            <a:off x="1325880" y="1399032"/>
            <a:ext cx="10058400" cy="777240"/>
          </a:xfrm>
          <a:prstGeom prst="rect">
            <a:avLst/>
          </a:prstGeom>
          <a:noFill/>
          <a:ln/>
        </p:spPr>
        <p:txBody>
          <a:bodyPr wrap="square" lIns="0" tIns="0" rIns="0" bIns="0" rtlCol="0" anchor="ctr"/>
          <a:lstStyle/>
          <a:p>
            <a:pPr marL="0" indent="0">
              <a:buNone/>
            </a:pPr>
            <a:r>
              <a:rPr lang="en-US" sz="1550" dirty="0">
                <a:solidFill>
                  <a:srgbClr val="17262A"/>
                </a:solidFill>
                <a:latin typeface="Calibri" pitchFamily="34" charset="0"/>
                <a:ea typeface="Calibri" pitchFamily="34" charset="-122"/>
                <a:cs typeface="Calibri" pitchFamily="34" charset="-120"/>
              </a:rPr>
              <a:t>Data splits into qualitative (nominal, ordinal) and quantitative (discrete, continuous)</a:t>
            </a:r>
            <a:endParaRPr lang="en-US" sz="1550" dirty="0"/>
          </a:p>
        </p:txBody>
      </p:sp>
      <p:sp>
        <p:nvSpPr>
          <p:cNvPr id="6" name="Shape 3"/>
          <p:cNvSpPr/>
          <p:nvPr/>
        </p:nvSpPr>
        <p:spPr>
          <a:xfrm>
            <a:off x="548640" y="2331720"/>
            <a:ext cx="548640" cy="548640"/>
          </a:xfrm>
          <a:prstGeom prst="ellipse">
            <a:avLst/>
          </a:prstGeom>
          <a:solidFill>
            <a:srgbClr val="128277"/>
          </a:solidFill>
          <a:ln/>
        </p:spPr>
      </p:sp>
      <p:pic>
        <p:nvPicPr>
          <p:cNvPr id="7" name="Image 1" descr="preencoded.png"/>
          <p:cNvPicPr>
            <a:picLocks noChangeAspect="1"/>
          </p:cNvPicPr>
          <p:nvPr/>
        </p:nvPicPr>
        <p:blipFill>
          <a:blip r:embed="rId4"/>
          <a:stretch>
            <a:fillRect/>
          </a:stretch>
        </p:blipFill>
        <p:spPr>
          <a:xfrm>
            <a:off x="619963" y="2403043"/>
            <a:ext cx="405994" cy="405994"/>
          </a:xfrm>
          <a:prstGeom prst="rect">
            <a:avLst/>
          </a:prstGeom>
        </p:spPr>
      </p:pic>
      <p:sp>
        <p:nvSpPr>
          <p:cNvPr id="8" name="Text 4"/>
          <p:cNvSpPr txBox="1"/>
          <p:nvPr/>
        </p:nvSpPr>
        <p:spPr>
          <a:xfrm>
            <a:off x="1325880" y="2313432"/>
            <a:ext cx="10058400" cy="777240"/>
          </a:xfrm>
          <a:prstGeom prst="rect">
            <a:avLst/>
          </a:prstGeom>
          <a:noFill/>
          <a:ln/>
        </p:spPr>
        <p:txBody>
          <a:bodyPr wrap="square" lIns="0" tIns="0" rIns="0" bIns="0" rtlCol="0" anchor="ctr"/>
          <a:lstStyle/>
          <a:p>
            <a:pPr marL="0" indent="0">
              <a:buNone/>
            </a:pPr>
            <a:r>
              <a:rPr lang="en-US" sz="1550" dirty="0">
                <a:solidFill>
                  <a:srgbClr val="17262A"/>
                </a:solidFill>
                <a:latin typeface="Calibri" pitchFamily="34" charset="0"/>
                <a:ea typeface="Calibri" pitchFamily="34" charset="-122"/>
                <a:cs typeface="Calibri" pitchFamily="34" charset="-120"/>
              </a:rPr>
              <a:t>Measurement scales refine this further: nominal → ordinal → interval → ratio, each adding one capability</a:t>
            </a:r>
            <a:endParaRPr lang="en-US" sz="1550" dirty="0"/>
          </a:p>
        </p:txBody>
      </p:sp>
      <p:sp>
        <p:nvSpPr>
          <p:cNvPr id="9" name="Shape 5"/>
          <p:cNvSpPr/>
          <p:nvPr/>
        </p:nvSpPr>
        <p:spPr>
          <a:xfrm>
            <a:off x="548640" y="3246120"/>
            <a:ext cx="548640" cy="548640"/>
          </a:xfrm>
          <a:prstGeom prst="ellipse">
            <a:avLst/>
          </a:prstGeom>
          <a:solidFill>
            <a:srgbClr val="128277"/>
          </a:solidFill>
          <a:ln/>
        </p:spPr>
      </p:sp>
      <p:pic>
        <p:nvPicPr>
          <p:cNvPr id="10" name="Image 2" descr="preencoded.png"/>
          <p:cNvPicPr>
            <a:picLocks noChangeAspect="1"/>
          </p:cNvPicPr>
          <p:nvPr/>
        </p:nvPicPr>
        <p:blipFill>
          <a:blip r:embed="rId5"/>
          <a:stretch>
            <a:fillRect/>
          </a:stretch>
        </p:blipFill>
        <p:spPr>
          <a:xfrm>
            <a:off x="619963" y="3317443"/>
            <a:ext cx="405994" cy="405994"/>
          </a:xfrm>
          <a:prstGeom prst="rect">
            <a:avLst/>
          </a:prstGeom>
        </p:spPr>
      </p:pic>
      <p:sp>
        <p:nvSpPr>
          <p:cNvPr id="11" name="Text 6"/>
          <p:cNvSpPr txBox="1"/>
          <p:nvPr/>
        </p:nvSpPr>
        <p:spPr>
          <a:xfrm>
            <a:off x="1325880" y="3227832"/>
            <a:ext cx="10058400" cy="777240"/>
          </a:xfrm>
          <a:prstGeom prst="rect">
            <a:avLst/>
          </a:prstGeom>
          <a:noFill/>
          <a:ln/>
        </p:spPr>
        <p:txBody>
          <a:bodyPr wrap="square" lIns="0" tIns="0" rIns="0" bIns="0" rtlCol="0" anchor="ctr"/>
          <a:lstStyle/>
          <a:p>
            <a:pPr marL="0" indent="0">
              <a:buNone/>
            </a:pPr>
            <a:r>
              <a:rPr lang="en-US" sz="1550" dirty="0">
                <a:solidFill>
                  <a:srgbClr val="17262A"/>
                </a:solidFill>
                <a:latin typeface="Calibri" pitchFamily="34" charset="0"/>
                <a:ea typeface="Calibri" pitchFamily="34" charset="-122"/>
                <a:cs typeface="Calibri" pitchFamily="34" charset="-120"/>
              </a:rPr>
              <a:t>Valid statistics depend on scale: mode always works; median needs order; mean needs interval/ratio</a:t>
            </a:r>
            <a:endParaRPr lang="en-US" sz="1550" dirty="0"/>
          </a:p>
        </p:txBody>
      </p:sp>
      <p:sp>
        <p:nvSpPr>
          <p:cNvPr id="12" name="Shape 7"/>
          <p:cNvSpPr/>
          <p:nvPr/>
        </p:nvSpPr>
        <p:spPr>
          <a:xfrm>
            <a:off x="548640" y="4160520"/>
            <a:ext cx="548640" cy="548640"/>
          </a:xfrm>
          <a:prstGeom prst="ellipse">
            <a:avLst/>
          </a:prstGeom>
          <a:solidFill>
            <a:srgbClr val="128277"/>
          </a:solidFill>
          <a:ln/>
        </p:spPr>
      </p:sp>
      <p:pic>
        <p:nvPicPr>
          <p:cNvPr id="13" name="Image 3" descr="preencoded.png"/>
          <p:cNvPicPr>
            <a:picLocks noChangeAspect="1"/>
          </p:cNvPicPr>
          <p:nvPr/>
        </p:nvPicPr>
        <p:blipFill>
          <a:blip r:embed="rId6"/>
          <a:stretch>
            <a:fillRect/>
          </a:stretch>
        </p:blipFill>
        <p:spPr>
          <a:xfrm>
            <a:off x="619963" y="4231843"/>
            <a:ext cx="405994" cy="405994"/>
          </a:xfrm>
          <a:prstGeom prst="rect">
            <a:avLst/>
          </a:prstGeom>
        </p:spPr>
      </p:pic>
      <p:sp>
        <p:nvSpPr>
          <p:cNvPr id="14" name="Text 8"/>
          <p:cNvSpPr txBox="1"/>
          <p:nvPr/>
        </p:nvSpPr>
        <p:spPr>
          <a:xfrm>
            <a:off x="1325880" y="4142232"/>
            <a:ext cx="10058400" cy="777240"/>
          </a:xfrm>
          <a:prstGeom prst="rect">
            <a:avLst/>
          </a:prstGeom>
          <a:noFill/>
          <a:ln/>
        </p:spPr>
        <p:txBody>
          <a:bodyPr wrap="square" lIns="0" tIns="0" rIns="0" bIns="0" rtlCol="0" anchor="ctr"/>
          <a:lstStyle/>
          <a:p>
            <a:pPr marL="0" indent="0">
              <a:buNone/>
            </a:pPr>
            <a:r>
              <a:rPr lang="en-US" sz="1550" dirty="0">
                <a:solidFill>
                  <a:srgbClr val="17262A"/>
                </a:solidFill>
                <a:latin typeface="Calibri" pitchFamily="34" charset="0"/>
                <a:ea typeface="Calibri" pitchFamily="34" charset="-122"/>
                <a:cs typeface="Calibri" pitchFamily="34" charset="-120"/>
              </a:rPr>
              <a:t>Valid charts depend on type: bar/pie for categorical; histogram/box plot for numeric</a:t>
            </a:r>
            <a:endParaRPr lang="en-US" sz="1550" dirty="0"/>
          </a:p>
        </p:txBody>
      </p:sp>
      <p:sp>
        <p:nvSpPr>
          <p:cNvPr id="15" name="Shape 9"/>
          <p:cNvSpPr/>
          <p:nvPr/>
        </p:nvSpPr>
        <p:spPr>
          <a:xfrm>
            <a:off x="548640" y="5074920"/>
            <a:ext cx="548640" cy="548640"/>
          </a:xfrm>
          <a:prstGeom prst="ellipse">
            <a:avLst/>
          </a:prstGeom>
          <a:solidFill>
            <a:srgbClr val="128277"/>
          </a:solidFill>
          <a:ln/>
        </p:spPr>
      </p:sp>
      <p:pic>
        <p:nvPicPr>
          <p:cNvPr id="16" name="Image 4" descr="preencoded.png"/>
          <p:cNvPicPr>
            <a:picLocks noChangeAspect="1"/>
          </p:cNvPicPr>
          <p:nvPr/>
        </p:nvPicPr>
        <p:blipFill>
          <a:blip r:embed="rId7"/>
          <a:stretch>
            <a:fillRect/>
          </a:stretch>
        </p:blipFill>
        <p:spPr>
          <a:xfrm>
            <a:off x="619963" y="5146243"/>
            <a:ext cx="405994" cy="405994"/>
          </a:xfrm>
          <a:prstGeom prst="rect">
            <a:avLst/>
          </a:prstGeom>
        </p:spPr>
      </p:pic>
      <p:sp>
        <p:nvSpPr>
          <p:cNvPr id="17" name="Text 10"/>
          <p:cNvSpPr txBox="1"/>
          <p:nvPr/>
        </p:nvSpPr>
        <p:spPr>
          <a:xfrm>
            <a:off x="1325880" y="5056632"/>
            <a:ext cx="10058400" cy="777240"/>
          </a:xfrm>
          <a:prstGeom prst="rect">
            <a:avLst/>
          </a:prstGeom>
          <a:noFill/>
          <a:ln/>
        </p:spPr>
        <p:txBody>
          <a:bodyPr wrap="square" lIns="0" tIns="0" rIns="0" bIns="0" rtlCol="0" anchor="ctr"/>
          <a:lstStyle/>
          <a:p>
            <a:pPr marL="0" indent="0">
              <a:buNone/>
            </a:pPr>
            <a:r>
              <a:rPr lang="en-US" sz="1550" dirty="0">
                <a:solidFill>
                  <a:srgbClr val="17262A"/>
                </a:solidFill>
                <a:latin typeface="Calibri" pitchFamily="34" charset="0"/>
                <a:ea typeface="Calibri" pitchFamily="34" charset="-122"/>
                <a:cs typeface="Calibri" pitchFamily="34" charset="-120"/>
              </a:rPr>
              <a:t>When in doubt, classify the variable FIRST — before choosing any statistic or chart</a:t>
            </a:r>
            <a:endParaRPr lang="en-US" sz="1550" dirty="0"/>
          </a:p>
        </p:txBody>
      </p:sp>
      <p:sp>
        <p:nvSpPr>
          <p:cNvPr id="18" name="Text 11"/>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9" name="Text 12"/>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D42"/>
        </a:solidFill>
        <a:effectLst/>
      </p:bgPr>
    </p:bg>
    <p:spTree>
      <p:nvGrpSpPr>
        <p:cNvPr id="1" name=""/>
        <p:cNvGrpSpPr/>
        <p:nvPr/>
      </p:nvGrpSpPr>
      <p:grpSpPr>
        <a:xfrm>
          <a:off x="0" y="0"/>
          <a:ext cx="0" cy="0"/>
          <a:chOff x="0" y="0"/>
          <a:chExt cx="0" cy="0"/>
        </a:xfrm>
      </p:grpSpPr>
      <p:sp>
        <p:nvSpPr>
          <p:cNvPr id="2" name="Shape 0"/>
          <p:cNvSpPr/>
          <p:nvPr/>
        </p:nvSpPr>
        <p:spPr>
          <a:xfrm>
            <a:off x="548640" y="457200"/>
            <a:ext cx="914400" cy="91440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667512" y="576072"/>
            <a:ext cx="676656" cy="676656"/>
          </a:xfrm>
          <a:prstGeom prst="rect">
            <a:avLst/>
          </a:prstGeom>
        </p:spPr>
      </p:pic>
      <p:sp>
        <p:nvSpPr>
          <p:cNvPr id="4" name="Text 1"/>
          <p:cNvSpPr txBox="1"/>
          <p:nvPr/>
        </p:nvSpPr>
        <p:spPr>
          <a:xfrm>
            <a:off x="1691640" y="502920"/>
            <a:ext cx="914400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Quiz —  </a:t>
            </a:r>
            <a:endParaRPr lang="en-US" sz="2600" dirty="0"/>
          </a:p>
        </p:txBody>
      </p:sp>
      <p:sp>
        <p:nvSpPr>
          <p:cNvPr id="5" name="Text 2"/>
          <p:cNvSpPr txBox="1"/>
          <p:nvPr/>
        </p:nvSpPr>
        <p:spPr>
          <a:xfrm>
            <a:off x="640080" y="1417320"/>
            <a:ext cx="10881360" cy="4572000"/>
          </a:xfrm>
          <a:prstGeom prst="rect">
            <a:avLst/>
          </a:prstGeom>
          <a:noFill/>
          <a:ln/>
        </p:spPr>
        <p:txBody>
          <a:bodyPr wrap="square" lIns="0" tIns="0" rIns="0" bIns="0" rtlCol="0" anchor="t"/>
          <a:lstStyle/>
          <a:p>
            <a:pPr marL="342900" indent="-342900">
              <a:lnSpc>
                <a:spcPct val="105000"/>
              </a:lnSpc>
              <a:spcAft>
                <a:spcPts val="2000"/>
              </a:spcAft>
              <a:buSzPct val="100000"/>
              <a:buChar char="▪"/>
            </a:pPr>
            <a:r>
              <a:rPr lang="en-US" sz="1650" dirty="0">
                <a:solidFill>
                  <a:srgbClr val="FFFFFF"/>
                </a:solidFill>
                <a:latin typeface="Calibri" pitchFamily="34" charset="0"/>
                <a:ea typeface="Calibri" pitchFamily="34" charset="-122"/>
                <a:cs typeface="Calibri" pitchFamily="34" charset="-120"/>
              </a:rPr>
              <a:t>Q1. Is "house number" nominal or ratio data? Explain in one line.</a:t>
            </a:r>
            <a:endParaRPr lang="en-US" sz="1650" dirty="0"/>
          </a:p>
          <a:p>
            <a:pPr marL="342900" indent="-342900">
              <a:lnSpc>
                <a:spcPct val="105000"/>
              </a:lnSpc>
              <a:spcAft>
                <a:spcPts val="2000"/>
              </a:spcAft>
              <a:buSzPct val="100000"/>
              <a:buChar char="▪"/>
            </a:pPr>
            <a:r>
              <a:rPr lang="en-US" sz="1650" dirty="0">
                <a:solidFill>
                  <a:srgbClr val="FFFFFF"/>
                </a:solidFill>
                <a:latin typeface="Calibri" pitchFamily="34" charset="0"/>
                <a:ea typeface="Calibri" pitchFamily="34" charset="-122"/>
                <a:cs typeface="Calibri" pitchFamily="34" charset="-120"/>
              </a:rPr>
              <a:t>Q2. True or False: You can meaningfully compute the mean of exam grades (A, B, C, D).</a:t>
            </a:r>
            <a:endParaRPr lang="en-US" sz="1650" dirty="0"/>
          </a:p>
          <a:p>
            <a:pPr marL="342900" indent="-342900">
              <a:lnSpc>
                <a:spcPct val="105000"/>
              </a:lnSpc>
              <a:spcAft>
                <a:spcPts val="2000"/>
              </a:spcAft>
              <a:buSzPct val="100000"/>
              <a:buChar char="▪"/>
            </a:pPr>
            <a:r>
              <a:rPr lang="en-US" sz="1650" dirty="0">
                <a:solidFill>
                  <a:srgbClr val="FFFFFF"/>
                </a:solidFill>
                <a:latin typeface="Calibri" pitchFamily="34" charset="0"/>
                <a:ea typeface="Calibri" pitchFamily="34" charset="-122"/>
                <a:cs typeface="Calibri" pitchFamily="34" charset="-120"/>
              </a:rPr>
              <a:t>Q3. Which measurement scale has a true zero AND equal intervals?</a:t>
            </a:r>
            <a:endParaRPr lang="en-US" sz="1650" dirty="0"/>
          </a:p>
          <a:p>
            <a:pPr marL="342900" indent="-342900">
              <a:lnSpc>
                <a:spcPct val="105000"/>
              </a:lnSpc>
              <a:spcAft>
                <a:spcPts val="2000"/>
              </a:spcAft>
              <a:buSzPct val="100000"/>
              <a:buChar char="▪"/>
            </a:pPr>
            <a:r>
              <a:rPr lang="en-US" sz="1650" dirty="0">
                <a:solidFill>
                  <a:srgbClr val="FFFFFF"/>
                </a:solidFill>
                <a:latin typeface="Calibri" pitchFamily="34" charset="0"/>
                <a:ea typeface="Calibri" pitchFamily="34" charset="-122"/>
                <a:cs typeface="Calibri" pitchFamily="34" charset="-120"/>
              </a:rPr>
              <a:t>Q4. Name one chart type suited to continuous data and one suited to categorical data.</a:t>
            </a:r>
            <a:endParaRPr lang="en-US" sz="1650" dirty="0"/>
          </a:p>
          <a:p>
            <a:pPr marL="342900" indent="-342900">
              <a:lnSpc>
                <a:spcPct val="105000"/>
              </a:lnSpc>
              <a:spcAft>
                <a:spcPts val="2000"/>
              </a:spcAft>
              <a:buSzPct val="100000"/>
              <a:buChar char="▪"/>
            </a:pPr>
            <a:r>
              <a:rPr lang="en-US" sz="1650" dirty="0">
                <a:solidFill>
                  <a:srgbClr val="FFFFFF"/>
                </a:solidFill>
                <a:latin typeface="Calibri" pitchFamily="34" charset="0"/>
                <a:ea typeface="Calibri" pitchFamily="34" charset="-122"/>
                <a:cs typeface="Calibri" pitchFamily="34" charset="-120"/>
              </a:rPr>
              <a:t>Q5. Why is 0°C not considered a "true zero"?</a:t>
            </a:r>
            <a:endParaRPr lang="en-US" sz="1650" dirty="0"/>
          </a:p>
        </p:txBody>
      </p:sp>
      <p:sp>
        <p:nvSpPr>
          <p:cNvPr id="6" name="Text 3"/>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7" name="Text 4"/>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85800"/>
          </a:xfrm>
          <a:prstGeom prst="rect">
            <a:avLst/>
          </a:prstGeom>
          <a:noFill/>
          <a:ln/>
        </p:spPr>
        <p:txBody>
          <a:bodyPr wrap="square" lIns="0" tIns="0" rIns="0" bIns="0" rtlCol="0" anchor="ctr"/>
          <a:lstStyle/>
          <a:p>
            <a:pPr marL="0" indent="0" algn="l">
              <a:buNone/>
            </a:pPr>
            <a:r>
              <a:rPr lang="en-US" sz="3000" b="1" dirty="0">
                <a:solidFill>
                  <a:srgbClr val="0B3D42"/>
                </a:solidFill>
                <a:latin typeface="Cambria" pitchFamily="34" charset="0"/>
                <a:ea typeface="Cambria" pitchFamily="34" charset="-122"/>
                <a:cs typeface="Cambria" pitchFamily="34" charset="-120"/>
              </a:rPr>
              <a:t>Quiz Answers —  </a:t>
            </a:r>
            <a:endParaRPr lang="en-US" sz="3000" dirty="0"/>
          </a:p>
        </p:txBody>
      </p:sp>
      <p:pic>
        <p:nvPicPr>
          <p:cNvPr id="3" name="Image 0" descr="preencoded.png"/>
          <p:cNvPicPr>
            <a:picLocks noChangeAspect="1"/>
          </p:cNvPicPr>
          <p:nvPr/>
        </p:nvPicPr>
        <p:blipFill>
          <a:blip r:embed="rId3"/>
          <a:stretch>
            <a:fillRect/>
          </a:stretch>
        </p:blipFill>
        <p:spPr>
          <a:xfrm>
            <a:off x="548640" y="1490472"/>
            <a:ext cx="384048" cy="384048"/>
          </a:xfrm>
          <a:prstGeom prst="rect">
            <a:avLst/>
          </a:prstGeom>
        </p:spPr>
      </p:pic>
      <p:sp>
        <p:nvSpPr>
          <p:cNvPr id="4" name="Text 1"/>
          <p:cNvSpPr txBox="1"/>
          <p:nvPr/>
        </p:nvSpPr>
        <p:spPr>
          <a:xfrm>
            <a:off x="1097280" y="1417320"/>
            <a:ext cx="731520" cy="822960"/>
          </a:xfrm>
          <a:prstGeom prst="rect">
            <a:avLst/>
          </a:prstGeom>
          <a:noFill/>
          <a:ln/>
        </p:spPr>
        <p:txBody>
          <a:bodyPr wrap="square" lIns="0" tIns="0" rIns="0" bIns="0" rtlCol="0" anchor="ctr"/>
          <a:lstStyle/>
          <a:p>
            <a:pPr marL="0" indent="0">
              <a:buNone/>
            </a:pPr>
            <a:r>
              <a:rPr lang="en-US" sz="1500" b="1" dirty="0">
                <a:solidFill>
                  <a:srgbClr val="C97F1F"/>
                </a:solidFill>
                <a:latin typeface="Cambria" pitchFamily="34" charset="0"/>
                <a:ea typeface="Cambria" pitchFamily="34" charset="-122"/>
                <a:cs typeface="Cambria" pitchFamily="34" charset="-120"/>
              </a:rPr>
              <a:t>A1.</a:t>
            </a:r>
            <a:endParaRPr lang="en-US" sz="1500" dirty="0"/>
          </a:p>
        </p:txBody>
      </p:sp>
      <p:sp>
        <p:nvSpPr>
          <p:cNvPr id="5" name="Text 2"/>
          <p:cNvSpPr txBox="1"/>
          <p:nvPr/>
        </p:nvSpPr>
        <p:spPr>
          <a:xfrm>
            <a:off x="1828800" y="1417320"/>
            <a:ext cx="9509760" cy="822960"/>
          </a:xfrm>
          <a:prstGeom prst="rect">
            <a:avLst/>
          </a:prstGeom>
          <a:noFill/>
          <a:ln/>
        </p:spPr>
        <p:txBody>
          <a:bodyPr wrap="square" lIns="0" tIns="0" rIns="0" bIns="0" rtlCol="0" anchor="ctr"/>
          <a:lstStyle/>
          <a:p>
            <a:pPr marL="0" indent="0">
              <a:buNone/>
            </a:pPr>
            <a:r>
              <a:rPr lang="en-US" sz="1450" dirty="0">
                <a:solidFill>
                  <a:srgbClr val="17262A"/>
                </a:solidFill>
                <a:latin typeface="Calibri" pitchFamily="34" charset="0"/>
                <a:ea typeface="Calibri" pitchFamily="34" charset="-122"/>
                <a:cs typeface="Calibri" pitchFamily="34" charset="-120"/>
              </a:rPr>
              <a:t>Nominal — it identifies a location; order and arithmetic are meaningless.</a:t>
            </a:r>
            <a:endParaRPr lang="en-US" sz="1450" dirty="0"/>
          </a:p>
        </p:txBody>
      </p:sp>
      <p:pic>
        <p:nvPicPr>
          <p:cNvPr id="6" name="Image 1" descr="preencoded.png"/>
          <p:cNvPicPr>
            <a:picLocks noChangeAspect="1"/>
          </p:cNvPicPr>
          <p:nvPr/>
        </p:nvPicPr>
        <p:blipFill>
          <a:blip r:embed="rId3"/>
          <a:stretch>
            <a:fillRect/>
          </a:stretch>
        </p:blipFill>
        <p:spPr>
          <a:xfrm>
            <a:off x="548640" y="2423160"/>
            <a:ext cx="384048" cy="384048"/>
          </a:xfrm>
          <a:prstGeom prst="rect">
            <a:avLst/>
          </a:prstGeom>
        </p:spPr>
      </p:pic>
      <p:sp>
        <p:nvSpPr>
          <p:cNvPr id="7" name="Text 3"/>
          <p:cNvSpPr txBox="1"/>
          <p:nvPr/>
        </p:nvSpPr>
        <p:spPr>
          <a:xfrm>
            <a:off x="1097280" y="2350008"/>
            <a:ext cx="731520" cy="822960"/>
          </a:xfrm>
          <a:prstGeom prst="rect">
            <a:avLst/>
          </a:prstGeom>
          <a:noFill/>
          <a:ln/>
        </p:spPr>
        <p:txBody>
          <a:bodyPr wrap="square" lIns="0" tIns="0" rIns="0" bIns="0" rtlCol="0" anchor="ctr"/>
          <a:lstStyle/>
          <a:p>
            <a:pPr marL="0" indent="0">
              <a:buNone/>
            </a:pPr>
            <a:r>
              <a:rPr lang="en-US" sz="1500" b="1" dirty="0">
                <a:solidFill>
                  <a:srgbClr val="C97F1F"/>
                </a:solidFill>
                <a:latin typeface="Cambria" pitchFamily="34" charset="0"/>
                <a:ea typeface="Cambria" pitchFamily="34" charset="-122"/>
                <a:cs typeface="Cambria" pitchFamily="34" charset="-120"/>
              </a:rPr>
              <a:t>A2.</a:t>
            </a:r>
            <a:endParaRPr lang="en-US" sz="1500" dirty="0"/>
          </a:p>
        </p:txBody>
      </p:sp>
      <p:sp>
        <p:nvSpPr>
          <p:cNvPr id="8" name="Text 4"/>
          <p:cNvSpPr txBox="1"/>
          <p:nvPr/>
        </p:nvSpPr>
        <p:spPr>
          <a:xfrm>
            <a:off x="1828800" y="2350008"/>
            <a:ext cx="9509760" cy="822960"/>
          </a:xfrm>
          <a:prstGeom prst="rect">
            <a:avLst/>
          </a:prstGeom>
          <a:noFill/>
          <a:ln/>
        </p:spPr>
        <p:txBody>
          <a:bodyPr wrap="square" lIns="0" tIns="0" rIns="0" bIns="0" rtlCol="0" anchor="ctr"/>
          <a:lstStyle/>
          <a:p>
            <a:pPr marL="0" indent="0">
              <a:buNone/>
            </a:pPr>
            <a:r>
              <a:rPr lang="en-US" sz="1450" dirty="0">
                <a:solidFill>
                  <a:srgbClr val="17262A"/>
                </a:solidFill>
                <a:latin typeface="Calibri" pitchFamily="34" charset="0"/>
                <a:ea typeface="Calibri" pitchFamily="34" charset="-122"/>
                <a:cs typeface="Calibri" pitchFamily="34" charset="-120"/>
              </a:rPr>
              <a:t>False — grades are ordinal; only median or mode are valid, not the mean.</a:t>
            </a:r>
            <a:endParaRPr lang="en-US" sz="1450" dirty="0"/>
          </a:p>
        </p:txBody>
      </p:sp>
      <p:pic>
        <p:nvPicPr>
          <p:cNvPr id="9" name="Image 2" descr="preencoded.png"/>
          <p:cNvPicPr>
            <a:picLocks noChangeAspect="1"/>
          </p:cNvPicPr>
          <p:nvPr/>
        </p:nvPicPr>
        <p:blipFill>
          <a:blip r:embed="rId3"/>
          <a:stretch>
            <a:fillRect/>
          </a:stretch>
        </p:blipFill>
        <p:spPr>
          <a:xfrm>
            <a:off x="548640" y="3355848"/>
            <a:ext cx="384048" cy="384048"/>
          </a:xfrm>
          <a:prstGeom prst="rect">
            <a:avLst/>
          </a:prstGeom>
        </p:spPr>
      </p:pic>
      <p:sp>
        <p:nvSpPr>
          <p:cNvPr id="10" name="Text 5"/>
          <p:cNvSpPr txBox="1"/>
          <p:nvPr/>
        </p:nvSpPr>
        <p:spPr>
          <a:xfrm>
            <a:off x="1097280" y="3282696"/>
            <a:ext cx="731520" cy="822960"/>
          </a:xfrm>
          <a:prstGeom prst="rect">
            <a:avLst/>
          </a:prstGeom>
          <a:noFill/>
          <a:ln/>
        </p:spPr>
        <p:txBody>
          <a:bodyPr wrap="square" lIns="0" tIns="0" rIns="0" bIns="0" rtlCol="0" anchor="ctr"/>
          <a:lstStyle/>
          <a:p>
            <a:pPr marL="0" indent="0">
              <a:buNone/>
            </a:pPr>
            <a:r>
              <a:rPr lang="en-US" sz="1500" b="1" dirty="0">
                <a:solidFill>
                  <a:srgbClr val="C97F1F"/>
                </a:solidFill>
                <a:latin typeface="Cambria" pitchFamily="34" charset="0"/>
                <a:ea typeface="Cambria" pitchFamily="34" charset="-122"/>
                <a:cs typeface="Cambria" pitchFamily="34" charset="-120"/>
              </a:rPr>
              <a:t>A3.</a:t>
            </a:r>
            <a:endParaRPr lang="en-US" sz="1500" dirty="0"/>
          </a:p>
        </p:txBody>
      </p:sp>
      <p:sp>
        <p:nvSpPr>
          <p:cNvPr id="11" name="Text 6"/>
          <p:cNvSpPr txBox="1"/>
          <p:nvPr/>
        </p:nvSpPr>
        <p:spPr>
          <a:xfrm>
            <a:off x="1828800" y="3282696"/>
            <a:ext cx="9509760" cy="822960"/>
          </a:xfrm>
          <a:prstGeom prst="rect">
            <a:avLst/>
          </a:prstGeom>
          <a:noFill/>
          <a:ln/>
        </p:spPr>
        <p:txBody>
          <a:bodyPr wrap="square" lIns="0" tIns="0" rIns="0" bIns="0" rtlCol="0" anchor="ctr"/>
          <a:lstStyle/>
          <a:p>
            <a:pPr marL="0" indent="0">
              <a:buNone/>
            </a:pPr>
            <a:r>
              <a:rPr lang="en-US" sz="1450" dirty="0">
                <a:solidFill>
                  <a:srgbClr val="17262A"/>
                </a:solidFill>
                <a:latin typeface="Calibri" pitchFamily="34" charset="0"/>
                <a:ea typeface="Calibri" pitchFamily="34" charset="-122"/>
                <a:cs typeface="Calibri" pitchFamily="34" charset="-120"/>
              </a:rPr>
              <a:t>Ratio scale — has equal intervals plus a genuine, absolute zero.</a:t>
            </a:r>
            <a:endParaRPr lang="en-US" sz="1450" dirty="0"/>
          </a:p>
        </p:txBody>
      </p:sp>
      <p:pic>
        <p:nvPicPr>
          <p:cNvPr id="12" name="Image 3" descr="preencoded.png"/>
          <p:cNvPicPr>
            <a:picLocks noChangeAspect="1"/>
          </p:cNvPicPr>
          <p:nvPr/>
        </p:nvPicPr>
        <p:blipFill>
          <a:blip r:embed="rId3"/>
          <a:stretch>
            <a:fillRect/>
          </a:stretch>
        </p:blipFill>
        <p:spPr>
          <a:xfrm>
            <a:off x="548640" y="4288536"/>
            <a:ext cx="384048" cy="384048"/>
          </a:xfrm>
          <a:prstGeom prst="rect">
            <a:avLst/>
          </a:prstGeom>
        </p:spPr>
      </p:pic>
      <p:sp>
        <p:nvSpPr>
          <p:cNvPr id="13" name="Text 7"/>
          <p:cNvSpPr txBox="1"/>
          <p:nvPr/>
        </p:nvSpPr>
        <p:spPr>
          <a:xfrm>
            <a:off x="1097280" y="4215384"/>
            <a:ext cx="731520" cy="822960"/>
          </a:xfrm>
          <a:prstGeom prst="rect">
            <a:avLst/>
          </a:prstGeom>
          <a:noFill/>
          <a:ln/>
        </p:spPr>
        <p:txBody>
          <a:bodyPr wrap="square" lIns="0" tIns="0" rIns="0" bIns="0" rtlCol="0" anchor="ctr"/>
          <a:lstStyle/>
          <a:p>
            <a:pPr marL="0" indent="0">
              <a:buNone/>
            </a:pPr>
            <a:r>
              <a:rPr lang="en-US" sz="1500" b="1" dirty="0">
                <a:solidFill>
                  <a:srgbClr val="C97F1F"/>
                </a:solidFill>
                <a:latin typeface="Cambria" pitchFamily="34" charset="0"/>
                <a:ea typeface="Cambria" pitchFamily="34" charset="-122"/>
                <a:cs typeface="Cambria" pitchFamily="34" charset="-120"/>
              </a:rPr>
              <a:t>A4.</a:t>
            </a:r>
            <a:endParaRPr lang="en-US" sz="1500" dirty="0"/>
          </a:p>
        </p:txBody>
      </p:sp>
      <p:sp>
        <p:nvSpPr>
          <p:cNvPr id="14" name="Text 8"/>
          <p:cNvSpPr txBox="1"/>
          <p:nvPr/>
        </p:nvSpPr>
        <p:spPr>
          <a:xfrm>
            <a:off x="1828800" y="4215384"/>
            <a:ext cx="9509760" cy="822960"/>
          </a:xfrm>
          <a:prstGeom prst="rect">
            <a:avLst/>
          </a:prstGeom>
          <a:noFill/>
          <a:ln/>
        </p:spPr>
        <p:txBody>
          <a:bodyPr wrap="square" lIns="0" tIns="0" rIns="0" bIns="0" rtlCol="0" anchor="ctr"/>
          <a:lstStyle/>
          <a:p>
            <a:pPr marL="0" indent="0">
              <a:buNone/>
            </a:pPr>
            <a:r>
              <a:rPr lang="en-US" sz="1450" dirty="0">
                <a:solidFill>
                  <a:srgbClr val="17262A"/>
                </a:solidFill>
                <a:latin typeface="Calibri" pitchFamily="34" charset="0"/>
                <a:ea typeface="Calibri" pitchFamily="34" charset="-122"/>
                <a:cs typeface="Calibri" pitchFamily="34" charset="-120"/>
              </a:rPr>
              <a:t>Continuous → histogram or box plot; Categorical → bar chart or pie chart.</a:t>
            </a:r>
            <a:endParaRPr lang="en-US" sz="1450" dirty="0"/>
          </a:p>
        </p:txBody>
      </p:sp>
      <p:pic>
        <p:nvPicPr>
          <p:cNvPr id="15" name="Image 4" descr="preencoded.png"/>
          <p:cNvPicPr>
            <a:picLocks noChangeAspect="1"/>
          </p:cNvPicPr>
          <p:nvPr/>
        </p:nvPicPr>
        <p:blipFill>
          <a:blip r:embed="rId3"/>
          <a:stretch>
            <a:fillRect/>
          </a:stretch>
        </p:blipFill>
        <p:spPr>
          <a:xfrm>
            <a:off x="548640" y="5221224"/>
            <a:ext cx="384048" cy="384048"/>
          </a:xfrm>
          <a:prstGeom prst="rect">
            <a:avLst/>
          </a:prstGeom>
        </p:spPr>
      </p:pic>
      <p:sp>
        <p:nvSpPr>
          <p:cNvPr id="16" name="Text 9"/>
          <p:cNvSpPr txBox="1"/>
          <p:nvPr/>
        </p:nvSpPr>
        <p:spPr>
          <a:xfrm>
            <a:off x="1097280" y="5148072"/>
            <a:ext cx="731520" cy="822960"/>
          </a:xfrm>
          <a:prstGeom prst="rect">
            <a:avLst/>
          </a:prstGeom>
          <a:noFill/>
          <a:ln/>
        </p:spPr>
        <p:txBody>
          <a:bodyPr wrap="square" lIns="0" tIns="0" rIns="0" bIns="0" rtlCol="0" anchor="ctr"/>
          <a:lstStyle/>
          <a:p>
            <a:pPr marL="0" indent="0">
              <a:buNone/>
            </a:pPr>
            <a:r>
              <a:rPr lang="en-US" sz="1500" b="1" dirty="0">
                <a:solidFill>
                  <a:srgbClr val="C97F1F"/>
                </a:solidFill>
                <a:latin typeface="Cambria" pitchFamily="34" charset="0"/>
                <a:ea typeface="Cambria" pitchFamily="34" charset="-122"/>
                <a:cs typeface="Cambria" pitchFamily="34" charset="-120"/>
              </a:rPr>
              <a:t>A5.</a:t>
            </a:r>
            <a:endParaRPr lang="en-US" sz="1500" dirty="0"/>
          </a:p>
        </p:txBody>
      </p:sp>
      <p:sp>
        <p:nvSpPr>
          <p:cNvPr id="17" name="Text 10"/>
          <p:cNvSpPr txBox="1"/>
          <p:nvPr/>
        </p:nvSpPr>
        <p:spPr>
          <a:xfrm>
            <a:off x="1828800" y="5148072"/>
            <a:ext cx="9509760" cy="822960"/>
          </a:xfrm>
          <a:prstGeom prst="rect">
            <a:avLst/>
          </a:prstGeom>
          <a:noFill/>
          <a:ln/>
        </p:spPr>
        <p:txBody>
          <a:bodyPr wrap="square" lIns="0" tIns="0" rIns="0" bIns="0" rtlCol="0" anchor="ctr"/>
          <a:lstStyle/>
          <a:p>
            <a:pPr marL="0" indent="0">
              <a:buNone/>
            </a:pPr>
            <a:r>
              <a:rPr lang="en-US" sz="1450" dirty="0">
                <a:solidFill>
                  <a:srgbClr val="17262A"/>
                </a:solidFill>
                <a:latin typeface="Calibri" pitchFamily="34" charset="0"/>
                <a:ea typeface="Calibri" pitchFamily="34" charset="-122"/>
                <a:cs typeface="Calibri" pitchFamily="34" charset="-120"/>
              </a:rPr>
              <a:t>0°C is an arbitrary reference point (water’s freezing point), not an absence of temperature — Kelvin’s zero is the true zero.</a:t>
            </a:r>
            <a:endParaRPr lang="en-US" sz="1450" dirty="0"/>
          </a:p>
        </p:txBody>
      </p:sp>
      <p:sp>
        <p:nvSpPr>
          <p:cNvPr id="18" name="Text 11"/>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19" name="Text 12"/>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3D42"/>
        </a:solidFill>
        <a:effectLst/>
      </p:bgPr>
    </p:bg>
    <p:spTree>
      <p:nvGrpSpPr>
        <p:cNvPr id="1" name=""/>
        <p:cNvGrpSpPr/>
        <p:nvPr/>
      </p:nvGrpSpPr>
      <p:grpSpPr>
        <a:xfrm>
          <a:off x="0" y="0"/>
          <a:ext cx="0" cy="0"/>
          <a:chOff x="0" y="0"/>
          <a:chExt cx="0" cy="0"/>
        </a:xfrm>
      </p:grpSpPr>
      <p:sp>
        <p:nvSpPr>
          <p:cNvPr id="2" name="Shape 0"/>
          <p:cNvSpPr/>
          <p:nvPr/>
        </p:nvSpPr>
        <p:spPr>
          <a:xfrm>
            <a:off x="594360" y="502920"/>
            <a:ext cx="960120" cy="960120"/>
          </a:xfrm>
          <a:prstGeom prst="ellipse">
            <a:avLst/>
          </a:prstGeom>
          <a:solidFill>
            <a:srgbClr val="128277"/>
          </a:solidFill>
          <a:ln/>
        </p:spPr>
      </p:sp>
      <p:pic>
        <p:nvPicPr>
          <p:cNvPr id="3" name="Image 0" descr="preencoded.png"/>
          <p:cNvPicPr>
            <a:picLocks noChangeAspect="1"/>
          </p:cNvPicPr>
          <p:nvPr/>
        </p:nvPicPr>
        <p:blipFill>
          <a:blip r:embed="rId3"/>
          <a:stretch>
            <a:fillRect/>
          </a:stretch>
        </p:blipFill>
        <p:spPr>
          <a:xfrm>
            <a:off x="719176" y="627736"/>
            <a:ext cx="710489" cy="710489"/>
          </a:xfrm>
          <a:prstGeom prst="rect">
            <a:avLst/>
          </a:prstGeom>
        </p:spPr>
      </p:pic>
      <p:sp>
        <p:nvSpPr>
          <p:cNvPr id="4" name="Text 1"/>
          <p:cNvSpPr txBox="1"/>
          <p:nvPr/>
        </p:nvSpPr>
        <p:spPr>
          <a:xfrm>
            <a:off x="1828800" y="548640"/>
            <a:ext cx="96012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Further Reading &amp; What’s Next</a:t>
            </a:r>
            <a:endParaRPr lang="en-US" sz="2600" dirty="0"/>
          </a:p>
        </p:txBody>
      </p:sp>
      <p:sp>
        <p:nvSpPr>
          <p:cNvPr id="5" name="Text 2"/>
          <p:cNvSpPr txBox="1"/>
          <p:nvPr/>
        </p:nvSpPr>
        <p:spPr>
          <a:xfrm>
            <a:off x="914400" y="1828800"/>
            <a:ext cx="10332720" cy="3931920"/>
          </a:xfrm>
          <a:prstGeom prst="rect">
            <a:avLst/>
          </a:prstGeom>
          <a:noFill/>
          <a:ln/>
        </p:spPr>
        <p:txBody>
          <a:bodyPr wrap="square" lIns="0" tIns="0" rIns="0" bIns="0" rtlCol="0" anchor="t"/>
          <a:lstStyle/>
          <a:p>
            <a:pPr marL="342900" indent="-342900">
              <a:lnSpc>
                <a:spcPct val="105000"/>
              </a:lnSpc>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Read: Chapter on "Levels of Measurement" in your prescribed   textbook</a:t>
            </a:r>
            <a:endParaRPr lang="en-US" sz="1700" dirty="0"/>
          </a:p>
          <a:p>
            <a:pPr marL="342900" indent="-342900">
              <a:lnSpc>
                <a:spcPct val="105000"/>
              </a:lnSpc>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Practice: Classify 10 variables from any public dataset (e.g., a Kaggle CSV) by type and scale</a:t>
            </a:r>
            <a:endParaRPr lang="en-US" sz="1700" dirty="0"/>
          </a:p>
          <a:p>
            <a:pPr marL="342900" indent="-342900">
              <a:lnSpc>
                <a:spcPct val="105000"/>
              </a:lnSpc>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Next class: Frequency distributions, skewness, and choosing the right chart in Python (pandas + matplotlib)</a:t>
            </a:r>
            <a:endParaRPr lang="en-US" sz="1700" dirty="0"/>
          </a:p>
          <a:p>
            <a:pPr marL="342900" indent="-342900">
              <a:lnSpc>
                <a:spcPct val="105000"/>
              </a:lnSpc>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Assignment: Submit a one-page classification of the course project dataset’s columns before next session</a:t>
            </a:r>
            <a:endParaRPr lang="en-US" sz="1700" dirty="0"/>
          </a:p>
        </p:txBody>
      </p:sp>
      <p:sp>
        <p:nvSpPr>
          <p:cNvPr id="6" name="Text 3"/>
          <p:cNvSpPr txBox="1"/>
          <p:nvPr/>
        </p:nvSpPr>
        <p:spPr>
          <a:xfrm>
            <a:off x="457200" y="6565392"/>
            <a:ext cx="8686800" cy="256032"/>
          </a:xfrm>
          <a:prstGeom prst="rect">
            <a:avLst/>
          </a:prstGeom>
          <a:noFill/>
          <a:ln/>
        </p:spPr>
        <p:txBody>
          <a:bodyPr wrap="square" lIns="0" tIns="0" rIns="0" bIns="0" rtlCol="0" anchor="ctr"/>
          <a:lstStyle/>
          <a:p>
            <a:pPr marL="0" indent="0" algn="l">
              <a:buNone/>
            </a:pPr>
            <a:r>
              <a:rPr lang="en-US" sz="900" dirty="0">
                <a:solidFill>
                  <a:srgbClr val="4D6165"/>
                </a:solidFill>
                <a:latin typeface="Calibri" pitchFamily="34" charset="0"/>
                <a:ea typeface="Calibri" pitchFamily="34" charset="-122"/>
                <a:cs typeface="Calibri" pitchFamily="34" charset="-120"/>
              </a:rPr>
              <a:t>Presidency University  |  Department of AI &amp; Robotics  |    —  </a:t>
            </a:r>
            <a:endParaRPr lang="en-US" sz="900" dirty="0"/>
          </a:p>
        </p:txBody>
      </p:sp>
      <p:sp>
        <p:nvSpPr>
          <p:cNvPr id="7" name="Text 4"/>
          <p:cNvSpPr txBox="1"/>
          <p:nvPr/>
        </p:nvSpPr>
        <p:spPr>
          <a:xfrm>
            <a:off x="11247120" y="6565392"/>
            <a:ext cx="548640" cy="256032"/>
          </a:xfrm>
          <a:prstGeom prst="rect">
            <a:avLst/>
          </a:prstGeom>
          <a:noFill/>
          <a:ln/>
        </p:spPr>
        <p:txBody>
          <a:bodyPr wrap="square" lIns="0" tIns="0" rIns="0" bIns="0" rtlCol="0" anchor="ctr"/>
          <a:lstStyle/>
          <a:p>
            <a:pPr marL="0" indent="0" algn="r">
              <a:buNone/>
            </a:pPr>
            <a:r>
              <a:rPr lang="en-US" sz="900" dirty="0">
                <a:solidFill>
                  <a:srgbClr val="4D6165"/>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5065</Words>
  <Application>Microsoft Office PowerPoint</Application>
  <PresentationFormat>Widescreen</PresentationFormat>
  <Paragraphs>526</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4</cp:revision>
  <dcterms:created xsi:type="dcterms:W3CDTF">2026-09-09T10:00:10Z</dcterms:created>
  <dcterms:modified xsi:type="dcterms:W3CDTF">2026-09-11T03:22:37Z</dcterms:modified>
</cp:coreProperties>
</file>