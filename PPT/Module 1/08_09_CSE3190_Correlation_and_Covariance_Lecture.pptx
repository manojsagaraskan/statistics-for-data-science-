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xml" ContentType="application/vnd.openxmlformats-officedocument.drawingml.chart+xml"/>
  <Override PartName="/ppt/notesSlides/notesSlide18.xml" ContentType="application/vnd.openxmlformats-officedocument.presentationml.notesSlide+xml"/>
  <Override PartName="/ppt/charts/chart2.xml" ContentType="application/vnd.openxmlformats-officedocument.drawingml.chart+xml"/>
  <Override PartName="/ppt/notesSlides/notesSlide19.xml" ContentType="application/vnd.openxmlformats-officedocument.presentationml.notesSlide+xml"/>
  <Override PartName="/ppt/charts/chart3.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scatterChart>
        <c:scatterStyle val="lineMarker"/>
        <c:varyColors val="0"/>
        <c:ser>
          <c:idx val="0"/>
          <c:order val="0"/>
          <c:tx>
            <c:strRef>
              <c:f>Sheet1!$B$1</c:f>
              <c:strCache>
                <c:ptCount val="1"/>
                <c:pt idx="0">
                  <c:v>Data points</c:v>
                </c:pt>
              </c:strCache>
            </c:strRef>
          </c:tx>
          <c:spPr>
            <a:ln>
              <a:noFill/>
            </a:ln>
            <a:effectLst/>
          </c:spPr>
          <c:marker>
            <c:symbol val="circle"/>
            <c:size val="7"/>
            <c:spPr>
              <a:solidFill>
                <a:srgbClr val="0E5C56"/>
              </a:solidFill>
              <a:ln w="9525" cap="flat">
                <a:solidFill>
                  <a:srgbClr val="0E5C56"/>
                </a:solidFill>
                <a:prstDash val="solid"/>
                <a:round/>
              </a:ln>
              <a:effectLst/>
            </c:spPr>
          </c:marker>
          <c:xVal>
            <c:numRef>
              <c:f>Sheet1!$A$2:$A$29</c:f>
              <c:numCache>
                <c:formatCode>General</c:formatCode>
                <c:ptCount val="28"/>
                <c:pt idx="0">
                  <c:v>50.7</c:v>
                </c:pt>
                <c:pt idx="1">
                  <c:v>56.5</c:v>
                </c:pt>
                <c:pt idx="2">
                  <c:v>71</c:v>
                </c:pt>
                <c:pt idx="3">
                  <c:v>24.8</c:v>
                </c:pt>
                <c:pt idx="4">
                  <c:v>56.5</c:v>
                </c:pt>
                <c:pt idx="5">
                  <c:v>48.8</c:v>
                </c:pt>
                <c:pt idx="6">
                  <c:v>45.2</c:v>
                </c:pt>
                <c:pt idx="7">
                  <c:v>60.9</c:v>
                </c:pt>
                <c:pt idx="8">
                  <c:v>30.7</c:v>
                </c:pt>
                <c:pt idx="9">
                  <c:v>43.8</c:v>
                </c:pt>
                <c:pt idx="10">
                  <c:v>55</c:v>
                </c:pt>
                <c:pt idx="11">
                  <c:v>55.8</c:v>
                </c:pt>
                <c:pt idx="12">
                  <c:v>45.1</c:v>
                </c:pt>
                <c:pt idx="13">
                  <c:v>68.3</c:v>
                </c:pt>
                <c:pt idx="14">
                  <c:v>39.1</c:v>
                </c:pt>
                <c:pt idx="15">
                  <c:v>35.1</c:v>
                </c:pt>
                <c:pt idx="16">
                  <c:v>64.5</c:v>
                </c:pt>
                <c:pt idx="17">
                  <c:v>37.799999999999997</c:v>
                </c:pt>
                <c:pt idx="18">
                  <c:v>64.599999999999994</c:v>
                </c:pt>
                <c:pt idx="19">
                  <c:v>53.2</c:v>
                </c:pt>
                <c:pt idx="20">
                  <c:v>70.7</c:v>
                </c:pt>
                <c:pt idx="21">
                  <c:v>71</c:v>
                </c:pt>
                <c:pt idx="22">
                  <c:v>43.1</c:v>
                </c:pt>
                <c:pt idx="23">
                  <c:v>24.6</c:v>
                </c:pt>
                <c:pt idx="24">
                  <c:v>49.8</c:v>
                </c:pt>
                <c:pt idx="25">
                  <c:v>36.200000000000003</c:v>
                </c:pt>
                <c:pt idx="26">
                  <c:v>64.099999999999994</c:v>
                </c:pt>
                <c:pt idx="27">
                  <c:v>58.6</c:v>
                </c:pt>
              </c:numCache>
            </c:numRef>
          </c:xVal>
          <c:yVal>
            <c:numRef>
              <c:f>Sheet1!$B$2:$B$29</c:f>
              <c:numCache>
                <c:formatCode>General</c:formatCode>
                <c:ptCount val="28"/>
                <c:pt idx="0">
                  <c:v>31.3</c:v>
                </c:pt>
                <c:pt idx="1">
                  <c:v>38.1</c:v>
                </c:pt>
                <c:pt idx="2">
                  <c:v>50.5</c:v>
                </c:pt>
                <c:pt idx="3">
                  <c:v>7.1</c:v>
                </c:pt>
                <c:pt idx="4">
                  <c:v>34.9</c:v>
                </c:pt>
                <c:pt idx="5">
                  <c:v>36.6</c:v>
                </c:pt>
                <c:pt idx="6">
                  <c:v>29.3</c:v>
                </c:pt>
                <c:pt idx="7">
                  <c:v>32.6</c:v>
                </c:pt>
                <c:pt idx="8">
                  <c:v>6.9</c:v>
                </c:pt>
                <c:pt idx="9">
                  <c:v>21.4</c:v>
                </c:pt>
                <c:pt idx="10">
                  <c:v>26.3</c:v>
                </c:pt>
                <c:pt idx="11">
                  <c:v>37.200000000000003</c:v>
                </c:pt>
                <c:pt idx="12">
                  <c:v>33.1</c:v>
                </c:pt>
                <c:pt idx="13">
                  <c:v>53.2</c:v>
                </c:pt>
                <c:pt idx="14">
                  <c:v>22.5</c:v>
                </c:pt>
                <c:pt idx="15">
                  <c:v>6.1</c:v>
                </c:pt>
                <c:pt idx="16">
                  <c:v>54.2</c:v>
                </c:pt>
                <c:pt idx="17">
                  <c:v>10.7</c:v>
                </c:pt>
                <c:pt idx="18">
                  <c:v>40.200000000000003</c:v>
                </c:pt>
                <c:pt idx="19">
                  <c:v>34.700000000000003</c:v>
                </c:pt>
                <c:pt idx="20">
                  <c:v>41.4</c:v>
                </c:pt>
                <c:pt idx="21">
                  <c:v>56.8</c:v>
                </c:pt>
                <c:pt idx="22">
                  <c:v>12.9</c:v>
                </c:pt>
                <c:pt idx="23">
                  <c:v>13.9</c:v>
                </c:pt>
                <c:pt idx="24">
                  <c:v>30.4</c:v>
                </c:pt>
                <c:pt idx="25">
                  <c:v>17.2</c:v>
                </c:pt>
                <c:pt idx="26">
                  <c:v>33.9</c:v>
                </c:pt>
                <c:pt idx="27">
                  <c:v>27.9</c:v>
                </c:pt>
              </c:numCache>
            </c:numRef>
          </c:yVal>
          <c:smooth val="0"/>
          <c:extLst>
            <c:ext xmlns:c16="http://schemas.microsoft.com/office/drawing/2014/chart" uri="{C3380CC4-5D6E-409C-BE32-E72D297353CC}">
              <c16:uniqueId val="{00000000-2394-42A4-AD1D-EDD150632AA3}"/>
            </c:ext>
          </c:extLst>
        </c:ser>
        <c:dLbls>
          <c:showLegendKey val="0"/>
          <c:showVal val="0"/>
          <c:showCatName val="0"/>
          <c:showSerName val="0"/>
          <c:showPercent val="0"/>
          <c:showBubbleSize val="0"/>
        </c:dLbls>
        <c:axId val="2094734554"/>
        <c:axId val="2094734552"/>
      </c:scatterChart>
      <c:valAx>
        <c:axId val="2094734554"/>
        <c:scaling>
          <c:orientation val="minMax"/>
        </c:scaling>
        <c:delete val="0"/>
        <c:axPos val="b"/>
        <c:title>
          <c:tx>
            <c:rich>
              <a:bodyPr/>
              <a:lstStyle/>
              <a:p>
                <a:pPr>
                  <a:defRPr sz="1300" b="0" i="0" u="none" strike="noStrike">
                    <a:solidFill>
                      <a:srgbClr val="000000"/>
                    </a:solidFill>
                    <a:latin typeface="Arial"/>
                  </a:defRPr>
                </a:pPr>
                <a:r>
                  <a:rPr lang="en-IN" sz="1300" b="0" i="0" u="none" strike="noStrike">
                    <a:solidFill>
                      <a:srgbClr val="000000"/>
                    </a:solidFill>
                    <a:latin typeface="Arial"/>
                  </a:rPr>
                  <a:t>Variable X</a:t>
                </a:r>
              </a:p>
            </c:rich>
          </c:tx>
          <c:overlay val="0"/>
        </c:title>
        <c:numFmt formatCode="General" sourceLinked="1"/>
        <c:majorTickMark val="none"/>
        <c:minorTickMark val="none"/>
        <c:tickLblPos val="nextTo"/>
        <c:spPr>
          <a:ln w="12700" cap="flat">
            <a:solidFill>
              <a:srgbClr val="888888"/>
            </a:solidFill>
            <a:prstDash val="solid"/>
            <a:round/>
          </a:ln>
        </c:spPr>
        <c:txPr>
          <a:bodyPr/>
          <a:lstStyle/>
          <a:p>
            <a:pPr>
              <a:defRPr sz="1100" b="0" i="0" u="none" strike="noStrike">
                <a:solidFill>
                  <a:srgbClr val="5B7370"/>
                </a:solidFill>
                <a:latin typeface="Arial"/>
              </a:defRPr>
            </a:pPr>
            <a:endParaRPr lang="en-US"/>
          </a:p>
        </c:txPr>
        <c:crossAx val="2094734552"/>
        <c:crosses val="autoZero"/>
        <c:crossBetween val="midCat"/>
      </c:valAx>
      <c:valAx>
        <c:axId val="2094734552"/>
        <c:scaling>
          <c:orientation val="minMax"/>
        </c:scaling>
        <c:delete val="0"/>
        <c:axPos val="l"/>
        <c:majorGridlines>
          <c:spPr>
            <a:ln w="12700" cap="flat">
              <a:solidFill>
                <a:srgbClr val="D7E6E4"/>
              </a:solidFill>
              <a:prstDash val="solid"/>
              <a:round/>
            </a:ln>
          </c:spPr>
        </c:majorGridlines>
        <c:title>
          <c:tx>
            <c:rich>
              <a:bodyPr/>
              <a:lstStyle/>
              <a:p>
                <a:pPr>
                  <a:defRPr sz="1300" b="0" i="0" u="none" strike="noStrike">
                    <a:solidFill>
                      <a:srgbClr val="000000"/>
                    </a:solidFill>
                    <a:latin typeface="Arial"/>
                  </a:defRPr>
                </a:pPr>
                <a:r>
                  <a:rPr lang="en-IN" sz="1300" b="0" i="0" u="none" strike="noStrike">
                    <a:solidFill>
                      <a:srgbClr val="000000"/>
                    </a:solidFill>
                    <a:latin typeface="Arial"/>
                  </a:rPr>
                  <a:t>Variable Y</a:t>
                </a:r>
              </a:p>
            </c:rich>
          </c:tx>
          <c:overlay val="0"/>
        </c:title>
        <c:numFmt formatCode="General" sourceLinked="0"/>
        <c:majorTickMark val="none"/>
        <c:minorTickMark val="none"/>
        <c:tickLblPos val="nextTo"/>
        <c:spPr>
          <a:ln w="12700" cap="flat">
            <a:solidFill>
              <a:srgbClr val="888888"/>
            </a:solidFill>
            <a:prstDash val="solid"/>
            <a:round/>
          </a:ln>
        </c:spPr>
        <c:txPr>
          <a:bodyPr/>
          <a:lstStyle/>
          <a:p>
            <a:pPr>
              <a:defRPr sz="1100" b="0" i="0" u="none" strike="noStrike">
                <a:solidFill>
                  <a:srgbClr val="5B7370"/>
                </a:solidFill>
                <a:latin typeface="Arial"/>
              </a:defRPr>
            </a:pPr>
            <a:endParaRPr lang="en-US"/>
          </a:p>
        </c:txPr>
        <c:crossAx val="2094734554"/>
        <c:crosses val="autoZero"/>
        <c:crossBetween val="midCat"/>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scatterChart>
        <c:scatterStyle val="lineMarker"/>
        <c:varyColors val="0"/>
        <c:ser>
          <c:idx val="0"/>
          <c:order val="0"/>
          <c:tx>
            <c:strRef>
              <c:f>Sheet1!$B$1</c:f>
              <c:strCache>
                <c:ptCount val="1"/>
                <c:pt idx="0">
                  <c:v>Data points</c:v>
                </c:pt>
              </c:strCache>
            </c:strRef>
          </c:tx>
          <c:spPr>
            <a:ln>
              <a:noFill/>
            </a:ln>
            <a:effectLst/>
          </c:spPr>
          <c:marker>
            <c:symbol val="circle"/>
            <c:size val="7"/>
            <c:spPr>
              <a:solidFill>
                <a:srgbClr val="C97F12"/>
              </a:solidFill>
              <a:ln w="9525" cap="flat">
                <a:solidFill>
                  <a:srgbClr val="C97F12"/>
                </a:solidFill>
                <a:prstDash val="solid"/>
                <a:round/>
              </a:ln>
              <a:effectLst/>
            </c:spPr>
          </c:marker>
          <c:xVal>
            <c:numRef>
              <c:f>Sheet1!$A$2:$A$29</c:f>
              <c:numCache>
                <c:formatCode>General</c:formatCode>
                <c:ptCount val="28"/>
                <c:pt idx="0">
                  <c:v>57.3</c:v>
                </c:pt>
                <c:pt idx="1">
                  <c:v>33.5</c:v>
                </c:pt>
                <c:pt idx="2">
                  <c:v>41.9</c:v>
                </c:pt>
                <c:pt idx="3">
                  <c:v>46.7</c:v>
                </c:pt>
                <c:pt idx="4">
                  <c:v>64.7</c:v>
                </c:pt>
                <c:pt idx="5">
                  <c:v>26.4</c:v>
                </c:pt>
                <c:pt idx="6">
                  <c:v>31</c:v>
                </c:pt>
                <c:pt idx="7">
                  <c:v>29.3</c:v>
                </c:pt>
                <c:pt idx="8">
                  <c:v>33.5</c:v>
                </c:pt>
                <c:pt idx="9">
                  <c:v>66.900000000000006</c:v>
                </c:pt>
                <c:pt idx="10">
                  <c:v>66.5</c:v>
                </c:pt>
                <c:pt idx="11">
                  <c:v>59.8</c:v>
                </c:pt>
                <c:pt idx="12">
                  <c:v>20.3</c:v>
                </c:pt>
                <c:pt idx="13">
                  <c:v>57.8</c:v>
                </c:pt>
                <c:pt idx="14">
                  <c:v>30.3</c:v>
                </c:pt>
                <c:pt idx="15">
                  <c:v>69</c:v>
                </c:pt>
                <c:pt idx="16">
                  <c:v>37.700000000000003</c:v>
                </c:pt>
                <c:pt idx="17">
                  <c:v>37.6</c:v>
                </c:pt>
                <c:pt idx="18">
                  <c:v>27.7</c:v>
                </c:pt>
                <c:pt idx="19">
                  <c:v>42.6</c:v>
                </c:pt>
                <c:pt idx="20">
                  <c:v>20.2</c:v>
                </c:pt>
                <c:pt idx="21">
                  <c:v>23.2</c:v>
                </c:pt>
                <c:pt idx="22">
                  <c:v>57.2</c:v>
                </c:pt>
                <c:pt idx="23">
                  <c:v>27.1</c:v>
                </c:pt>
                <c:pt idx="24">
                  <c:v>35.700000000000003</c:v>
                </c:pt>
                <c:pt idx="25">
                  <c:v>32</c:v>
                </c:pt>
                <c:pt idx="26">
                  <c:v>60.2</c:v>
                </c:pt>
                <c:pt idx="27">
                  <c:v>73.8</c:v>
                </c:pt>
              </c:numCache>
            </c:numRef>
          </c:xVal>
          <c:yVal>
            <c:numRef>
              <c:f>Sheet1!$B$2:$B$29</c:f>
              <c:numCache>
                <c:formatCode>General</c:formatCode>
                <c:ptCount val="28"/>
                <c:pt idx="0">
                  <c:v>17.100000000000001</c:v>
                </c:pt>
                <c:pt idx="1">
                  <c:v>37.799999999999997</c:v>
                </c:pt>
                <c:pt idx="2">
                  <c:v>46.9</c:v>
                </c:pt>
                <c:pt idx="3">
                  <c:v>37.1</c:v>
                </c:pt>
                <c:pt idx="4">
                  <c:v>5.0999999999999996</c:v>
                </c:pt>
                <c:pt idx="5">
                  <c:v>42.4</c:v>
                </c:pt>
                <c:pt idx="6">
                  <c:v>47.1</c:v>
                </c:pt>
                <c:pt idx="7">
                  <c:v>50</c:v>
                </c:pt>
                <c:pt idx="8">
                  <c:v>46.4</c:v>
                </c:pt>
                <c:pt idx="9">
                  <c:v>18.8</c:v>
                </c:pt>
                <c:pt idx="10">
                  <c:v>5.6</c:v>
                </c:pt>
                <c:pt idx="11">
                  <c:v>19.3</c:v>
                </c:pt>
                <c:pt idx="12">
                  <c:v>45.9</c:v>
                </c:pt>
                <c:pt idx="13">
                  <c:v>22.1</c:v>
                </c:pt>
                <c:pt idx="14">
                  <c:v>42.1</c:v>
                </c:pt>
                <c:pt idx="15">
                  <c:v>3.5</c:v>
                </c:pt>
                <c:pt idx="16">
                  <c:v>30.1</c:v>
                </c:pt>
                <c:pt idx="17">
                  <c:v>36.299999999999997</c:v>
                </c:pt>
                <c:pt idx="18">
                  <c:v>45.9</c:v>
                </c:pt>
                <c:pt idx="19">
                  <c:v>27.5</c:v>
                </c:pt>
                <c:pt idx="20">
                  <c:v>55.3</c:v>
                </c:pt>
                <c:pt idx="21">
                  <c:v>61.3</c:v>
                </c:pt>
                <c:pt idx="22">
                  <c:v>12.4</c:v>
                </c:pt>
                <c:pt idx="23">
                  <c:v>51.3</c:v>
                </c:pt>
                <c:pt idx="24">
                  <c:v>50.8</c:v>
                </c:pt>
                <c:pt idx="25">
                  <c:v>44.2</c:v>
                </c:pt>
                <c:pt idx="26">
                  <c:v>19.7</c:v>
                </c:pt>
                <c:pt idx="27">
                  <c:v>6.6</c:v>
                </c:pt>
              </c:numCache>
            </c:numRef>
          </c:yVal>
          <c:smooth val="0"/>
          <c:extLst>
            <c:ext xmlns:c16="http://schemas.microsoft.com/office/drawing/2014/chart" uri="{C3380CC4-5D6E-409C-BE32-E72D297353CC}">
              <c16:uniqueId val="{00000000-E537-486C-A644-67DF2E35DA1B}"/>
            </c:ext>
          </c:extLst>
        </c:ser>
        <c:dLbls>
          <c:showLegendKey val="0"/>
          <c:showVal val="0"/>
          <c:showCatName val="0"/>
          <c:showSerName val="0"/>
          <c:showPercent val="0"/>
          <c:showBubbleSize val="0"/>
        </c:dLbls>
        <c:axId val="2094734554"/>
        <c:axId val="2094734552"/>
      </c:scatterChart>
      <c:valAx>
        <c:axId val="2094734554"/>
        <c:scaling>
          <c:orientation val="minMax"/>
        </c:scaling>
        <c:delete val="0"/>
        <c:axPos val="b"/>
        <c:title>
          <c:tx>
            <c:rich>
              <a:bodyPr/>
              <a:lstStyle/>
              <a:p>
                <a:pPr>
                  <a:defRPr sz="1300" b="0" i="0" u="none" strike="noStrike">
                    <a:solidFill>
                      <a:srgbClr val="000000"/>
                    </a:solidFill>
                    <a:latin typeface="Arial"/>
                  </a:defRPr>
                </a:pPr>
                <a:r>
                  <a:rPr lang="en-IN" sz="1300" b="0" i="0" u="none" strike="noStrike">
                    <a:solidFill>
                      <a:srgbClr val="000000"/>
                    </a:solidFill>
                    <a:latin typeface="Arial"/>
                  </a:rPr>
                  <a:t>Variable X</a:t>
                </a:r>
              </a:p>
            </c:rich>
          </c:tx>
          <c:overlay val="0"/>
        </c:title>
        <c:numFmt formatCode="General" sourceLinked="1"/>
        <c:majorTickMark val="none"/>
        <c:minorTickMark val="none"/>
        <c:tickLblPos val="nextTo"/>
        <c:spPr>
          <a:ln w="12700" cap="flat">
            <a:solidFill>
              <a:srgbClr val="888888"/>
            </a:solidFill>
            <a:prstDash val="solid"/>
            <a:round/>
          </a:ln>
        </c:spPr>
        <c:txPr>
          <a:bodyPr/>
          <a:lstStyle/>
          <a:p>
            <a:pPr>
              <a:defRPr sz="1100" b="0" i="0" u="none" strike="noStrike">
                <a:solidFill>
                  <a:srgbClr val="5B7370"/>
                </a:solidFill>
                <a:latin typeface="Arial"/>
              </a:defRPr>
            </a:pPr>
            <a:endParaRPr lang="en-US"/>
          </a:p>
        </c:txPr>
        <c:crossAx val="2094734552"/>
        <c:crosses val="autoZero"/>
        <c:crossBetween val="midCat"/>
      </c:valAx>
      <c:valAx>
        <c:axId val="2094734552"/>
        <c:scaling>
          <c:orientation val="minMax"/>
        </c:scaling>
        <c:delete val="0"/>
        <c:axPos val="l"/>
        <c:majorGridlines>
          <c:spPr>
            <a:ln w="12700" cap="flat">
              <a:solidFill>
                <a:srgbClr val="D7E6E4"/>
              </a:solidFill>
              <a:prstDash val="solid"/>
              <a:round/>
            </a:ln>
          </c:spPr>
        </c:majorGridlines>
        <c:title>
          <c:tx>
            <c:rich>
              <a:bodyPr/>
              <a:lstStyle/>
              <a:p>
                <a:pPr>
                  <a:defRPr sz="1300" b="0" i="0" u="none" strike="noStrike">
                    <a:solidFill>
                      <a:srgbClr val="000000"/>
                    </a:solidFill>
                    <a:latin typeface="Arial"/>
                  </a:defRPr>
                </a:pPr>
                <a:r>
                  <a:rPr lang="en-IN" sz="1300" b="0" i="0" u="none" strike="noStrike">
                    <a:solidFill>
                      <a:srgbClr val="000000"/>
                    </a:solidFill>
                    <a:latin typeface="Arial"/>
                  </a:rPr>
                  <a:t>Variable Y</a:t>
                </a:r>
              </a:p>
            </c:rich>
          </c:tx>
          <c:overlay val="0"/>
        </c:title>
        <c:numFmt formatCode="General" sourceLinked="0"/>
        <c:majorTickMark val="none"/>
        <c:minorTickMark val="none"/>
        <c:tickLblPos val="nextTo"/>
        <c:spPr>
          <a:ln w="12700" cap="flat">
            <a:solidFill>
              <a:srgbClr val="888888"/>
            </a:solidFill>
            <a:prstDash val="solid"/>
            <a:round/>
          </a:ln>
        </c:spPr>
        <c:txPr>
          <a:bodyPr/>
          <a:lstStyle/>
          <a:p>
            <a:pPr>
              <a:defRPr sz="1100" b="0" i="0" u="none" strike="noStrike">
                <a:solidFill>
                  <a:srgbClr val="5B7370"/>
                </a:solidFill>
                <a:latin typeface="Arial"/>
              </a:defRPr>
            </a:pPr>
            <a:endParaRPr lang="en-US"/>
          </a:p>
        </c:txPr>
        <c:crossAx val="2094734554"/>
        <c:crosses val="autoZero"/>
        <c:crossBetween val="midCat"/>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scatterChart>
        <c:scatterStyle val="lineMarker"/>
        <c:varyColors val="0"/>
        <c:ser>
          <c:idx val="0"/>
          <c:order val="0"/>
          <c:tx>
            <c:strRef>
              <c:f>Sheet1!$B$1</c:f>
              <c:strCache>
                <c:ptCount val="1"/>
                <c:pt idx="0">
                  <c:v>Data points</c:v>
                </c:pt>
              </c:strCache>
            </c:strRef>
          </c:tx>
          <c:spPr>
            <a:ln>
              <a:noFill/>
            </a:ln>
            <a:effectLst/>
          </c:spPr>
          <c:marker>
            <c:symbol val="circle"/>
            <c:size val="7"/>
            <c:spPr>
              <a:solidFill>
                <a:srgbClr val="5B7370"/>
              </a:solidFill>
              <a:ln w="9525" cap="flat">
                <a:solidFill>
                  <a:srgbClr val="5B7370"/>
                </a:solidFill>
                <a:prstDash val="solid"/>
                <a:round/>
              </a:ln>
              <a:effectLst/>
            </c:spPr>
          </c:marker>
          <c:xVal>
            <c:numRef>
              <c:f>Sheet1!$A$2:$A$29</c:f>
              <c:numCache>
                <c:formatCode>General</c:formatCode>
                <c:ptCount val="28"/>
                <c:pt idx="0">
                  <c:v>53</c:v>
                </c:pt>
                <c:pt idx="1">
                  <c:v>57.2</c:v>
                </c:pt>
                <c:pt idx="2">
                  <c:v>46.8</c:v>
                </c:pt>
                <c:pt idx="3">
                  <c:v>36</c:v>
                </c:pt>
                <c:pt idx="4">
                  <c:v>67.400000000000006</c:v>
                </c:pt>
                <c:pt idx="5">
                  <c:v>39.299999999999997</c:v>
                </c:pt>
                <c:pt idx="6">
                  <c:v>33.6</c:v>
                </c:pt>
                <c:pt idx="7">
                  <c:v>71.3</c:v>
                </c:pt>
                <c:pt idx="8">
                  <c:v>54.2</c:v>
                </c:pt>
                <c:pt idx="9">
                  <c:v>24.8</c:v>
                </c:pt>
                <c:pt idx="10">
                  <c:v>70.3</c:v>
                </c:pt>
                <c:pt idx="11">
                  <c:v>63.8</c:v>
                </c:pt>
                <c:pt idx="12">
                  <c:v>53.4</c:v>
                </c:pt>
                <c:pt idx="13">
                  <c:v>69.900000000000006</c:v>
                </c:pt>
                <c:pt idx="14">
                  <c:v>45.3</c:v>
                </c:pt>
                <c:pt idx="15">
                  <c:v>72.599999999999994</c:v>
                </c:pt>
                <c:pt idx="16">
                  <c:v>41.4</c:v>
                </c:pt>
                <c:pt idx="17">
                  <c:v>70.900000000000006</c:v>
                </c:pt>
                <c:pt idx="18">
                  <c:v>54.3</c:v>
                </c:pt>
                <c:pt idx="19">
                  <c:v>44.5</c:v>
                </c:pt>
                <c:pt idx="20">
                  <c:v>51.1</c:v>
                </c:pt>
                <c:pt idx="21">
                  <c:v>29.3</c:v>
                </c:pt>
                <c:pt idx="22">
                  <c:v>73.3</c:v>
                </c:pt>
                <c:pt idx="23">
                  <c:v>56.5</c:v>
                </c:pt>
                <c:pt idx="24">
                  <c:v>43.2</c:v>
                </c:pt>
                <c:pt idx="25">
                  <c:v>25.2</c:v>
                </c:pt>
                <c:pt idx="26">
                  <c:v>24.3</c:v>
                </c:pt>
                <c:pt idx="27">
                  <c:v>49.8</c:v>
                </c:pt>
              </c:numCache>
            </c:numRef>
          </c:xVal>
          <c:yVal>
            <c:numRef>
              <c:f>Sheet1!$B$2:$B$29</c:f>
              <c:numCache>
                <c:formatCode>General</c:formatCode>
                <c:ptCount val="28"/>
                <c:pt idx="0">
                  <c:v>46.5</c:v>
                </c:pt>
                <c:pt idx="1">
                  <c:v>0</c:v>
                </c:pt>
                <c:pt idx="2">
                  <c:v>51.7</c:v>
                </c:pt>
                <c:pt idx="3">
                  <c:v>35.799999999999997</c:v>
                </c:pt>
                <c:pt idx="4">
                  <c:v>62.2</c:v>
                </c:pt>
                <c:pt idx="5">
                  <c:v>50.7</c:v>
                </c:pt>
                <c:pt idx="6">
                  <c:v>51.3</c:v>
                </c:pt>
                <c:pt idx="7">
                  <c:v>39.5</c:v>
                </c:pt>
                <c:pt idx="8">
                  <c:v>4.7</c:v>
                </c:pt>
                <c:pt idx="9">
                  <c:v>13.8</c:v>
                </c:pt>
                <c:pt idx="10">
                  <c:v>12.3</c:v>
                </c:pt>
                <c:pt idx="11">
                  <c:v>34.799999999999997</c:v>
                </c:pt>
                <c:pt idx="12">
                  <c:v>38.4</c:v>
                </c:pt>
                <c:pt idx="13">
                  <c:v>42.4</c:v>
                </c:pt>
                <c:pt idx="14">
                  <c:v>42.3</c:v>
                </c:pt>
                <c:pt idx="15">
                  <c:v>44.3</c:v>
                </c:pt>
                <c:pt idx="16">
                  <c:v>56.9</c:v>
                </c:pt>
                <c:pt idx="17">
                  <c:v>33.9</c:v>
                </c:pt>
                <c:pt idx="18">
                  <c:v>4.8</c:v>
                </c:pt>
                <c:pt idx="19">
                  <c:v>11.6</c:v>
                </c:pt>
                <c:pt idx="20">
                  <c:v>53.2</c:v>
                </c:pt>
                <c:pt idx="21">
                  <c:v>57.5</c:v>
                </c:pt>
                <c:pt idx="22">
                  <c:v>58.9</c:v>
                </c:pt>
                <c:pt idx="23">
                  <c:v>56.8</c:v>
                </c:pt>
                <c:pt idx="24">
                  <c:v>15</c:v>
                </c:pt>
                <c:pt idx="25">
                  <c:v>20.5</c:v>
                </c:pt>
                <c:pt idx="26">
                  <c:v>38.4</c:v>
                </c:pt>
                <c:pt idx="27">
                  <c:v>14.7</c:v>
                </c:pt>
              </c:numCache>
            </c:numRef>
          </c:yVal>
          <c:smooth val="0"/>
          <c:extLst>
            <c:ext xmlns:c16="http://schemas.microsoft.com/office/drawing/2014/chart" uri="{C3380CC4-5D6E-409C-BE32-E72D297353CC}">
              <c16:uniqueId val="{00000000-62A3-480F-A449-E6065FF7A342}"/>
            </c:ext>
          </c:extLst>
        </c:ser>
        <c:dLbls>
          <c:showLegendKey val="0"/>
          <c:showVal val="0"/>
          <c:showCatName val="0"/>
          <c:showSerName val="0"/>
          <c:showPercent val="0"/>
          <c:showBubbleSize val="0"/>
        </c:dLbls>
        <c:axId val="2094734554"/>
        <c:axId val="2094734552"/>
      </c:scatterChart>
      <c:valAx>
        <c:axId val="2094734554"/>
        <c:scaling>
          <c:orientation val="minMax"/>
        </c:scaling>
        <c:delete val="0"/>
        <c:axPos val="b"/>
        <c:title>
          <c:tx>
            <c:rich>
              <a:bodyPr/>
              <a:lstStyle/>
              <a:p>
                <a:pPr>
                  <a:defRPr sz="1300" b="0" i="0" u="none" strike="noStrike">
                    <a:solidFill>
                      <a:srgbClr val="000000"/>
                    </a:solidFill>
                    <a:latin typeface="Arial"/>
                  </a:defRPr>
                </a:pPr>
                <a:r>
                  <a:rPr lang="en-IN" sz="1300" b="0" i="0" u="none" strike="noStrike">
                    <a:solidFill>
                      <a:srgbClr val="000000"/>
                    </a:solidFill>
                    <a:latin typeface="Arial"/>
                  </a:rPr>
                  <a:t>Variable X</a:t>
                </a:r>
              </a:p>
            </c:rich>
          </c:tx>
          <c:overlay val="0"/>
        </c:title>
        <c:numFmt formatCode="General" sourceLinked="1"/>
        <c:majorTickMark val="none"/>
        <c:minorTickMark val="none"/>
        <c:tickLblPos val="nextTo"/>
        <c:spPr>
          <a:ln w="12700" cap="flat">
            <a:solidFill>
              <a:srgbClr val="888888"/>
            </a:solidFill>
            <a:prstDash val="solid"/>
            <a:round/>
          </a:ln>
        </c:spPr>
        <c:txPr>
          <a:bodyPr/>
          <a:lstStyle/>
          <a:p>
            <a:pPr>
              <a:defRPr sz="1100" b="0" i="0" u="none" strike="noStrike">
                <a:solidFill>
                  <a:srgbClr val="5B7370"/>
                </a:solidFill>
                <a:latin typeface="Arial"/>
              </a:defRPr>
            </a:pPr>
            <a:endParaRPr lang="en-US"/>
          </a:p>
        </c:txPr>
        <c:crossAx val="2094734552"/>
        <c:crosses val="autoZero"/>
        <c:crossBetween val="midCat"/>
      </c:valAx>
      <c:valAx>
        <c:axId val="2094734552"/>
        <c:scaling>
          <c:orientation val="minMax"/>
        </c:scaling>
        <c:delete val="0"/>
        <c:axPos val="l"/>
        <c:majorGridlines>
          <c:spPr>
            <a:ln w="12700" cap="flat">
              <a:solidFill>
                <a:srgbClr val="D7E6E4"/>
              </a:solidFill>
              <a:prstDash val="solid"/>
              <a:round/>
            </a:ln>
          </c:spPr>
        </c:majorGridlines>
        <c:title>
          <c:tx>
            <c:rich>
              <a:bodyPr/>
              <a:lstStyle/>
              <a:p>
                <a:pPr>
                  <a:defRPr sz="1300" b="0" i="0" u="none" strike="noStrike">
                    <a:solidFill>
                      <a:srgbClr val="000000"/>
                    </a:solidFill>
                    <a:latin typeface="Arial"/>
                  </a:defRPr>
                </a:pPr>
                <a:r>
                  <a:rPr lang="en-IN" sz="1300" b="0" i="0" u="none" strike="noStrike">
                    <a:solidFill>
                      <a:srgbClr val="000000"/>
                    </a:solidFill>
                    <a:latin typeface="Arial"/>
                  </a:rPr>
                  <a:t>Variable Y</a:t>
                </a:r>
              </a:p>
            </c:rich>
          </c:tx>
          <c:overlay val="0"/>
        </c:title>
        <c:numFmt formatCode="General" sourceLinked="0"/>
        <c:majorTickMark val="none"/>
        <c:minorTickMark val="none"/>
        <c:tickLblPos val="nextTo"/>
        <c:spPr>
          <a:ln w="12700" cap="flat">
            <a:solidFill>
              <a:srgbClr val="888888"/>
            </a:solidFill>
            <a:prstDash val="solid"/>
            <a:round/>
          </a:ln>
        </c:spPr>
        <c:txPr>
          <a:bodyPr/>
          <a:lstStyle/>
          <a:p>
            <a:pPr>
              <a:defRPr sz="1100" b="0" i="0" u="none" strike="noStrike">
                <a:solidFill>
                  <a:srgbClr val="5B7370"/>
                </a:solidFill>
                <a:latin typeface="Arial"/>
              </a:defRPr>
            </a:pPr>
            <a:endParaRPr lang="en-US"/>
          </a:p>
        </c:txPr>
        <c:crossAx val="2094734554"/>
        <c:crosses val="autoZero"/>
        <c:crossBetween val="midCat"/>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92240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class warmly. Introduce yourself and today's session: Correlation and Covariance, the natural next step after our last class on Dispersion. Tell students that by the end of this 2-hour session they will be able to compute covariance and correlation by hand, read scatter plots and correlation heatmaps, and avoid the classic 'correlation is not causation' trap. Mention this builds directly on mean and standard deviation, which they already know. Keep energy high and invite questions throughout rather than only at the end.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Briefly orient students to the department context if this is one of their first sessions with you, or skip quickly if it's familiar. Confirm the session length is two hours and mention there will be a short break roughly midway. Note that this class is a continuation of the Data Types and Dispersion sessions, so today's material assumes they already understand mean, variance, and standard deviation.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a two-minute recap to activate prior knowledge. Ask one or two students to state, in their own words, what standard deviation measures. Confirm that dispersion is about a single variable's spread. Then pivot: today we move from 'how spread out is one variable' to 'how do two variables move together' — for example, do study hours and marks rise together? This sets up covariance and correlation as the natural next chapter, not a disconnected new topic.</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four objectives aloud and tell students these are exactly what they'll be tested on in the quiz at the end. Mention the session is two hours with a short break roughly halfway, after the worked examples. Encourage them to keep a rough notebook of formulas as we go, since we will use them again in the worked problems.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as a quick show-of-hands and open-floor activity — do not spend more than 4-5 minutes here. Ask for 2-3 volunteer answers per question rather than going around the whole room. Common answers to question 1 include height and shoe size, or temperature and ice-cream sales — write two or three of their examples on the board, you will reuse them later in the lecture. Use question 2 to gently foreshadow the correlation versus causation trap we'll formalize later. Use question 3 to segue directly into 'today we'll put a number on exactly that kind of relationship.'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a quick hand-count for each item ('who thinks positive?', 'who thinks negative?', 'who thinks none?'). Do not reveal the 'correct' answer formally yet — just note the class's intuition on the board. Point out that intuition is a good starting point but today they'll learn to replace 'I think' with an actual number. The shoe-size/colour pair is a deliberate example of variables with essentially no relationship — keep it in mind, we will use it again as a zero-correlation example.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this is not just an abstract statistics topic — it is one of the most-used tools in analytics. Mention that almost every dataset they will work with in this course, and in their eventual careers, involves multiple columns, and the very first question a data analyst asks is 'which columns relate to which?' Note that correlation is literally the first step before building any regression or predictive model, which they will study later in this course.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side-by-side slide to cement the conceptual bridge. Point out that both branches still start from the same building block — deviation from the mean — but dispersion squares a single deviation, while today's tools multiply the deviations of two variables together. This is a useful thing to flag now, because it will make the covariance formula feel far less mysterious in a moment.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intuition slowly before showing the formula. Use the study-hours/marks example: for a student who studies more than average, do they usually score more than average too? If yes for most students, we say the variables move together — positive covariance. Ask the class to predict, before you show the formula, whether 'hours of TV watched' and 'exam score' would have positive or negative covariance — take a quick verbal answer to keep them engaged.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the formula on the board and connect it explicitly to the variance formula from last class: variance was Σ(Xᵢ − X̄)² / (n − 1), which is really Cov(X, X). Covariance simply replaces the second (Xᵢ − X̄) with (Yᵢ − Ȳ) — the deviation of a second variable. This reframing usually makes the formula click immediately for students who already understood variance. Pause here and ask if there are questions before moving 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the sign of covariance tells direction, but at this stage we still can't say anything about strength. A covariance of 5 and a covariance of 5000 are both 'positive' but we have no sense yet of which relationship is stronger — that limitation motivates the very next slide. Ask students for one more real-life example of each sign before moving 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important conceptual pivot slide — spend real time here. Give a concrete numeric illustration verbally: if we switch height from centimetres to metres, every deviation shrinks by a factor of 100, so covariance shrinks by 100 as well, even though the underlying relationship between height and weight hasn't changed at all. This shows covariance's magnitude is scale-dependent and therefore not directly comparable across datasets. Tell students this single limitation is the entire reason correlation was invented.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correlation as the natural fix to the units problem just discussed. Emphasize the phrase 'linear relationship' — correlation specifically captures straight-line patterns, a caveat we'll return to later when discussing non-linear relationships. Reassure students that the formula, which is coming next, is not a new idea — it is just covariance divided by something that removes the units.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why dividing by σx × σy removes units: standard deviation carries the same units as the variable itself, so dividing covariance (which has units 'X-units times Y-units') by σx (X-units) and σy (Y-units) leaves a pure, unitless number. This is exactly the same normalization trick as a z-score. Remind students that they already computed standard deviation in the last class, so they have every ingredient needed to compute r by hand — we'll do exactly that shortly.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this table as a reference chart students should bookmark. Stress the caption: these bands are conventions, not universal cut-offs — in some fields (like physics) an r of 0.5 is considered weak, while in social sciences an r of 0.5 might be considered quite strong. Ask students to guess where the study-hours versus marks example from earlier might fall — we will confirm with real numbers in the worked example.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students that before computing any number, a good analyst always plots the data first — the scatter plot is the fastest sanity check for a relationship. Explain that the 'tightness' of the cloud around an imaginary line tells us about strength, while the slope's direction tells us about sign. We will now look at three real scatter plots side by side to build visual intuition before returning to computation.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chart and trace the rising trend with your hand or a laser pointer. Note how the points are fairly tightly clustered around an imaginary upward line, which is why the correlation is strong (0.85) rather than just positive. Ask: 'if I told you a new student's X value, could you roughly guess their Y value?' — for a strong correlation like this, the answer is yes.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this directly with the previous slide: same tightness of clustering, but now the trend falls instead of rises. Reinforce that the SIGN of r tells direction while the MAGNITUDE (how close to 1) tells strength — this chart has both a negative sign and a large magnitude, so it's both negative and strong.</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Circle back to the icebreaker poll from earlier — this is exactly the shoe-size and favourite-colour example the class discussed. Point out that 'no correlation' does not mean 'no relationship at all' — it specifically means no LINEAR relationship, a nuance we will revisit later when discussing non-linear traps.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consolidation checkpoint before we move to hand calculations. Ask two or three students to summarize, in one sentence each, the difference between direction and strength. This is a good moment for a quick 'thumbs up if this is clear, thumbs down if you want me to re-explain' check before the pace picks up with the worked examples.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this small, clean dataset of five students so the arithmetic stays manageable on the board. Compute the means together with the class: X̄ = (2+4+6+8+10)/5 = 6, and Ȳ = (50+60+70+85+95)/5 = 72. Write these two numbers prominently — every subsequent step depends on them. Tell students to keep this table visible; we'll build a deviation table from it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through this on the board at a deliberately slow pace — this is the arithmetic heart of the lecture. For each step, pick one row of the table and compute it live with student input rather than just reading the slide. After reaching Cov = 57.5, ask: 'is this number big or small — what does 57.5 actually tell us?' Let a student attempt an answer, then acknowledge that this is exactly the units problem from earlier: 57.5 'hour-marks' is hard to interpret on its own, which is why we now compute correlation.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step reuses the exact same deviations computed for covariance, so remind students they are not doing new work — just squaring numbers they already have. Compute σx and σy carefully on the board, then combine into the final r. When you reach r ≈ 0.997, pause: this is deliberately close to +1 because the example dataset was constructed to be almost perfectly linear. Ask students where this value falls on the reference table from earlier — they should answer 'strong positive, essentially perfect'.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model good practice: a correlation coefficient on its own is not useful communication — it needs a plain-language interpretation attached to it. Also plant the causation caveat here in a light way; we will return to it formally in a dedicated section later. Mention that this example was intentionally clean and nearly linear for teaching purposes — real classroom data usually shows more scatter and a lower r.</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a second, different real-world context so students see the method generalize beyond the first example. Give the class 60-90 seconds to attempt computing the deviations (Xᵢ − X̄) and (Yᵢ − Ȳ) on their own or with a neighbour before you reveal the worked solution on the next slide — this is the 'Your Turn' moment referenced in the roadmap.</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the solution and compare against what students attempted. Ask a show of hands: who got a positive covariance? This reinforces the pattern-recognition skill of predicting the sign before finishing the calculation. Note the intermediate steps are compressed here since students have already seen the full granular version in Worked Example 1 — spend more time on the parts they struggled with during their own attempt.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 explicitly that this temperature/ice-cream example is a famous one specifically because it sets up a later discussion point about hidden third variables (in this case, summer weather driving both variables). Tell students to remember this dataset — we will revisit it by name in the causation section.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short, low-stakes formative check, not a graded quiz. Give students 60 seconds to write down (or just think of) positive/negative for each pair, then take a quick vote per item. Use this as a natural checkpoint to transition into a short break if you are roughly at the midpoint of the two-hour session — tell students we'll resume with real-world applications and then the visualization tools like heatmaps.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this to applications relevant to the department's own research strengths, since students in AI &amp; Robotics will likely encounter medical and imaging datasets. Emphasize that in healthcare specifically, correlation is treated as only the first filtering step — a strong correlation motivates further controlled study, but is never itself sufficient evidence for a causal medical claim.</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diversification in one sentence: if you hold two assets that are highly positively correlated, you haven't really reduced risk, because they tend to fall together. Mention that this is precisely why portfolio managers compute a full correlation matrix across dozens of assets — which is a perfect segue into the heatmap visualization coming up shortly.</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brisk — the goal is breadth of application, showing students that correlation shows up in virtually every analytics domain, not just the academic examples. Ask students to name one more industry where they'd expect correlation analysis to be used daily — take one or two quick answers before moving to the visualization section.</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the class from single-pair analysis to multi-variable visualization, which is what they'll actually use once working with real datasets in tools like Python or Excel. Tell students that computing a correlation matrix by hand for many variables is impractical — this is exactly the kind of task computers are for — but understanding the underlying number, as they now do, is what lets them correctly interpret the output.</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how to read a heatmap: rows and columns both list the same variables, and each cell shows the correlation between the row variable and the column variable. Point out the diagonal is always exactly 1.0 because any variable is perfectly correlated with itself. Note the matrix is symmetric — the cell for (Hours, Marks) equals the cell for (Marks, Hours) — so analysts often only look at half the grid. Colour intensity lets you scan dozens of variable pairs in seconds rather than reading raw numbers.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the heatmap-reading skill with explicit rules students can apply to any dataset. Suggest a practical workflow: when they get a new dataset with many numeric columns, computing and visualizing the full correlation matrix should be one of their very first exploratory steps, well before building any model.</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a pair plot verbally since we are not rendering one live: imagine a grid where every row and column is a variable, and each off-diagonal cell holds a small scatter plot of that variable pair, while the diagonal often shows each variable's own distribution. Mention this is one of the most common first outputs produced by tools like Python's seaborn library, which they may encounter in future lab sessions.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Spearman as a natural extension given the extra time available in this 2-hour session. Define 'monotonic' simply: a relationship that consistently goes up (or consistently goes down) without necessarily being a straight line. Emphasize that ranking the data first is the key trick — by working with ranks instead of raw values, Spearman becomes far less sensitive to one extreme outlier value.</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a practical decision rule they can apply to real assignments: plot the data first, and if it looks like a smooth curve rather than a straight line, or if there are extreme outliers, prefer Spearman. Mention that in practice, analysts often compute both and compare — a big difference between Pearson's r and Spearman's rho is itself informative, since it suggests non-linearity or an outlier problem.</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example short and conceptual rather than a full hand calculation, given time constraints. The key teaching point is that converting to ranks 'flattens' the effect of one extreme value like 90 — Pearson's r on the raw numbers would be pulled around by that outlier, but Spearman's rho, computed on the ranks 1, 2, 3, is unaffected. This is exactly the robustness benefit mentioned on the previous slide.</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cornerstone slide — slow down and make sure every student internalizes it. Write the three possibilities on the board explicitly with the ice-cream/drowning example we're about to see, so students see the abstract rule immediately grounded in a concrete case. Tell students that in industry, presenting a correlation as if it were proof of causation is one of the most common and costly analytical mistakes.</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this as the classic, almost humorous illustration of the causation trap — it tends to stick in students' memory precisely because it's absurd on its face. Explicitly connect it back to Worked Example 2 (temperature vs. ice-cream sales) from earlier in the session — ask students: 'what's the hidden third variable there too?' They should answer 'hot weather / summer season' by pattern-matching to this slide.</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advanced but valuable addition given the extra time in a 2-hour slot. Keep the explanation conceptual rather than numeric to stay within time — the key intuition is that combining groups of very different sizes can create a misleading overall trend. Tell students this is a well-documented phenomenon in real medical-trial data and is a strong argument for always segmenting data before trusting an aggregate correlation.</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this directly back to the Spearman discussion — this slide is the 'why it matters' companion to the earlier 'how it works' explanation. If time allows, sketch a quick example on the board: a tight, uncorrelated cloud of points near the origin, plus one single point far away in a corner, can single-handedly produce a high Pearson r purely due to that one point's leverage.</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students recall Anscombe's Quartet from other courses, invite them to describe it briefly; otherwise, describe it yourself: it is a set of four small datasets with nearly identical means, variances, and correlation coefficients, yet when plotted, look completely different — one linear, one curved, one with an outlier, one nearly vertical. The takeaway for students: summary statistics like r are useful but can hide important structure — visualization is not optional, it's essential.</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rapid-fire recap slide right before the mini activities — read each misconception aloud and ask the class to correct it in one sentence before you reveal the correction on the slide. This kind of active-recall exercise tends to improve retention far more than passive re-reading.</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as a quick, energetic verbal activity to re-engage the class after the denser pitfalls section. Describe a couple more scatter-plot scenarios extemporaneously if time allows, varying strength and direction, and have students call out their guess in unison. Reveal the intended answers only after taking the class's guesses.</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work in pairs or trios for 2-3 minutes, then cold-call two or three groups to share their spurious-correlation example — these are often the most memorable answers. If groups struggle with the third prompt, offer a nudge: search 'spurious correlations' style examples like 'number of Nicolas Cage films vs. swimming pool drownings' as a famous internet example of a coincidental correlation with no causal link at all.</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final self-check before the formal summary and quiz. Give students 30 seconds of silent reflection, then open the floor for any lingering questions. This is a good moment to address any confusion that built up during the denser pitfalls and extension sections, before locking in the summary.</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this as a tight, confident recap of the entire session in under two minutes. Encourage students to take a photo of this slide or copy it into their notes verbatim, since it condenses everything the quiz will test. Tell them the quiz coming up next maps directly onto these four bullets.</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3-4 minutes total across both quiz-question slides, working individually or with a neighbour. Remind them this is a low-stakes understanding check, not a graded exam. After time is up, move to the next slide for Part 2, then reveal answers only after both question slides have been shown.</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second half of the quiz — keep the same relaxed, low-pressure tone. Once students have attempted all eight questions across both slides, move on to reveal the answers, working through them briskly since most of this material was covered explicitly earlier in the lecture.</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and briefly restate WHY it's correct, not just what the correct option is — this reinforces the underlying concept rather than rewarding memorization. Pay special attention to Q4, since 'r = 0 means no relationship' is one of the most common misconceptions we specifically addressed earlier — confirm the class remembers the Y = X² non-linear example.</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Finish the quiz review here. Ask if anyone missed more than one or two questions and, if several students did, spend an extra minute revisiting whichever concept tripped up the most people before moving to the closing slides. Note down which questions the class struggled with — this is useful for you if you plan a quick recap at the start of the next session.</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 the hand-calculation homework to reinforce today's arithmetic before we move to regression next session, where correlation becomes a direct input to fitting a line. Mention that Anscombe's Quartet reading is short (a single well-known figure) and directly reinforces today's 'always visualize' lesson. The spurious-correlation challenge is optional but tends to generate the most classroom enthusiasm at the start of the next lecture.</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an encouraging, forward-looking note. Remind students where and when your office hours are held, and confirm the submission deadline for the assignment if your institution requires one. End with genuine enthusiasm for the next topic, since linear regression is the direct, natural continuation of everything covered today.</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3B37"/>
        </a:solidFill>
        <a:effectLst/>
      </p:bgPr>
    </p:bg>
    <p:spTree>
      <p:nvGrpSpPr>
        <p:cNvPr id="1" name=""/>
        <p:cNvGrpSpPr/>
        <p:nvPr/>
      </p:nvGrpSpPr>
      <p:grpSpPr>
        <a:xfrm>
          <a:off x="0" y="0"/>
          <a:ext cx="0" cy="0"/>
          <a:chOff x="0" y="0"/>
          <a:chExt cx="0" cy="0"/>
        </a:xfrm>
      </p:grpSpPr>
      <p:sp>
        <p:nvSpPr>
          <p:cNvPr id="2" name="Shape 0"/>
          <p:cNvSpPr/>
          <p:nvPr/>
        </p:nvSpPr>
        <p:spPr>
          <a:xfrm>
            <a:off x="9418320" y="-1280160"/>
            <a:ext cx="4572000" cy="4572000"/>
          </a:xfrm>
          <a:prstGeom prst="ellipse">
            <a:avLst/>
          </a:prstGeom>
          <a:solidFill>
            <a:srgbClr val="0E5C56"/>
          </a:solidFill>
          <a:ln/>
        </p:spPr>
      </p:sp>
      <p:sp>
        <p:nvSpPr>
          <p:cNvPr id="3" name="Shape 1"/>
          <p:cNvSpPr/>
          <p:nvPr/>
        </p:nvSpPr>
        <p:spPr>
          <a:xfrm>
            <a:off x="-1463040" y="4389120"/>
            <a:ext cx="3657600" cy="3657600"/>
          </a:xfrm>
          <a:prstGeom prst="ellipse">
            <a:avLst/>
          </a:prstGeom>
          <a:solidFill>
            <a:srgbClr val="0E5C56"/>
          </a:solidFill>
          <a:ln/>
        </p:spPr>
      </p:sp>
      <p:sp>
        <p:nvSpPr>
          <p:cNvPr id="4" name="Shape 2"/>
          <p:cNvSpPr/>
          <p:nvPr/>
        </p:nvSpPr>
        <p:spPr>
          <a:xfrm>
            <a:off x="8778240" y="1188720"/>
            <a:ext cx="146304" cy="146304"/>
          </a:xfrm>
          <a:prstGeom prst="ellipse">
            <a:avLst/>
          </a:prstGeom>
          <a:solidFill>
            <a:srgbClr val="F2A93B"/>
          </a:solidFill>
          <a:ln/>
        </p:spPr>
      </p:sp>
      <p:sp>
        <p:nvSpPr>
          <p:cNvPr id="5" name="Shape 3"/>
          <p:cNvSpPr/>
          <p:nvPr/>
        </p:nvSpPr>
        <p:spPr>
          <a:xfrm>
            <a:off x="9326880" y="1828800"/>
            <a:ext cx="146304" cy="146304"/>
          </a:xfrm>
          <a:prstGeom prst="ellipse">
            <a:avLst/>
          </a:prstGeom>
          <a:solidFill>
            <a:srgbClr val="F2A93B"/>
          </a:solidFill>
          <a:ln/>
        </p:spPr>
      </p:sp>
      <p:sp>
        <p:nvSpPr>
          <p:cNvPr id="6" name="Shape 4"/>
          <p:cNvSpPr/>
          <p:nvPr/>
        </p:nvSpPr>
        <p:spPr>
          <a:xfrm>
            <a:off x="9052560" y="2468880"/>
            <a:ext cx="146304" cy="146304"/>
          </a:xfrm>
          <a:prstGeom prst="ellipse">
            <a:avLst/>
          </a:prstGeom>
          <a:solidFill>
            <a:srgbClr val="F2A93B"/>
          </a:solidFill>
          <a:ln/>
        </p:spPr>
      </p:sp>
      <p:sp>
        <p:nvSpPr>
          <p:cNvPr id="7" name="Shape 5"/>
          <p:cNvSpPr/>
          <p:nvPr/>
        </p:nvSpPr>
        <p:spPr>
          <a:xfrm>
            <a:off x="9692640" y="1463040"/>
            <a:ext cx="146304" cy="146304"/>
          </a:xfrm>
          <a:prstGeom prst="ellipse">
            <a:avLst/>
          </a:prstGeom>
          <a:solidFill>
            <a:srgbClr val="F2A93B"/>
          </a:solidFill>
          <a:ln/>
        </p:spPr>
      </p:sp>
      <p:sp>
        <p:nvSpPr>
          <p:cNvPr id="8" name="Shape 6"/>
          <p:cNvSpPr/>
          <p:nvPr/>
        </p:nvSpPr>
        <p:spPr>
          <a:xfrm>
            <a:off x="10058400" y="2194560"/>
            <a:ext cx="146304" cy="146304"/>
          </a:xfrm>
          <a:prstGeom prst="ellipse">
            <a:avLst/>
          </a:prstGeom>
          <a:solidFill>
            <a:srgbClr val="F2A93B"/>
          </a:solidFill>
          <a:ln/>
        </p:spPr>
      </p:sp>
      <p:sp>
        <p:nvSpPr>
          <p:cNvPr id="9" name="Shape 7"/>
          <p:cNvSpPr/>
          <p:nvPr/>
        </p:nvSpPr>
        <p:spPr>
          <a:xfrm>
            <a:off x="9418320" y="2926080"/>
            <a:ext cx="146304" cy="146304"/>
          </a:xfrm>
          <a:prstGeom prst="ellipse">
            <a:avLst/>
          </a:prstGeom>
          <a:solidFill>
            <a:srgbClr val="F2A93B"/>
          </a:solidFill>
          <a:ln/>
        </p:spPr>
      </p:sp>
      <p:sp>
        <p:nvSpPr>
          <p:cNvPr id="10" name="Shape 8"/>
          <p:cNvSpPr/>
          <p:nvPr/>
        </p:nvSpPr>
        <p:spPr>
          <a:xfrm>
            <a:off x="10424160" y="2743200"/>
            <a:ext cx="146304" cy="146304"/>
          </a:xfrm>
          <a:prstGeom prst="ellipse">
            <a:avLst/>
          </a:prstGeom>
          <a:solidFill>
            <a:srgbClr val="F2A93B"/>
          </a:solidFill>
          <a:ln/>
        </p:spPr>
      </p:sp>
      <p:sp>
        <p:nvSpPr>
          <p:cNvPr id="11" name="Text 9"/>
          <p:cNvSpPr/>
          <p:nvPr/>
        </p:nvSpPr>
        <p:spPr>
          <a:xfrm>
            <a:off x="731520" y="640080"/>
            <a:ext cx="7315200" cy="457200"/>
          </a:xfrm>
          <a:prstGeom prst="rect">
            <a:avLst/>
          </a:prstGeom>
          <a:noFill/>
          <a:ln/>
        </p:spPr>
        <p:txBody>
          <a:bodyPr wrap="square" rtlCol="0" anchor="ctr"/>
          <a:lstStyle/>
          <a:p>
            <a:pPr marL="0" indent="0">
              <a:buNone/>
            </a:pPr>
            <a:r>
              <a:rPr lang="en-US" sz="2000" b="1" kern="0" spc="200" dirty="0">
                <a:solidFill>
                  <a:srgbClr val="F2A93B"/>
                </a:solidFill>
                <a:latin typeface="Calibri" pitchFamily="34" charset="0"/>
                <a:ea typeface="Calibri" pitchFamily="34" charset="-122"/>
                <a:cs typeface="Calibri" pitchFamily="34" charset="-120"/>
              </a:rPr>
              <a:t>PRESIDENCY UNIVERSITY</a:t>
            </a:r>
            <a:endParaRPr lang="en-US" sz="2000" dirty="0"/>
          </a:p>
        </p:txBody>
      </p:sp>
      <p:sp>
        <p:nvSpPr>
          <p:cNvPr id="12" name="Text 10"/>
          <p:cNvSpPr/>
          <p:nvPr/>
        </p:nvSpPr>
        <p:spPr>
          <a:xfrm>
            <a:off x="731520" y="1097280"/>
            <a:ext cx="7772400" cy="640080"/>
          </a:xfrm>
          <a:prstGeom prst="rect">
            <a:avLst/>
          </a:prstGeom>
          <a:noFill/>
          <a:ln/>
        </p:spPr>
        <p:txBody>
          <a:bodyPr wrap="square" rtlCol="0" anchor="ctr"/>
          <a:lstStyle/>
          <a:p>
            <a:pPr marL="0" indent="0">
              <a:buNone/>
            </a:pPr>
            <a:r>
              <a:rPr lang="en-US" sz="1400" dirty="0">
                <a:solidFill>
                  <a:srgbClr val="CFE3E1"/>
                </a:solidFill>
                <a:latin typeface="Calibri" pitchFamily="34" charset="0"/>
                <a:ea typeface="Calibri" pitchFamily="34" charset="-122"/>
                <a:cs typeface="Calibri" pitchFamily="34" charset="-120"/>
              </a:rPr>
              <a:t>School of Artificial Intelligence and Advanced Computing</a:t>
            </a:r>
            <a:endParaRPr lang="en-US" sz="1400" dirty="0"/>
          </a:p>
          <a:p>
            <a:pPr marL="0" indent="0">
              <a:buNone/>
            </a:pPr>
            <a:r>
              <a:rPr lang="en-US" sz="1400" dirty="0">
                <a:solidFill>
                  <a:srgbClr val="CFE3E1"/>
                </a:solidFill>
                <a:latin typeface="Calibri" pitchFamily="34" charset="0"/>
                <a:ea typeface="Calibri" pitchFamily="34" charset="-122"/>
                <a:cs typeface="Calibri" pitchFamily="34" charset="-120"/>
              </a:rPr>
              <a:t>Department of AI &amp; Robotics</a:t>
            </a:r>
            <a:endParaRPr lang="en-US" sz="1400" dirty="0"/>
          </a:p>
        </p:txBody>
      </p:sp>
      <p:sp>
        <p:nvSpPr>
          <p:cNvPr id="13" name="Text 11"/>
          <p:cNvSpPr/>
          <p:nvPr/>
        </p:nvSpPr>
        <p:spPr>
          <a:xfrm>
            <a:off x="731520" y="2286000"/>
            <a:ext cx="9601200" cy="1463040"/>
          </a:xfrm>
          <a:prstGeom prst="rect">
            <a:avLst/>
          </a:prstGeom>
          <a:noFill/>
          <a:ln/>
        </p:spPr>
        <p:txBody>
          <a:bodyPr wrap="square" rtlCol="0" anchor="ctr"/>
          <a:lstStyle/>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Descriptive Statistics and</a:t>
            </a:r>
            <a:endParaRPr lang="en-US" sz="4000" dirty="0"/>
          </a:p>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Data Visualization</a:t>
            </a:r>
            <a:endParaRPr lang="en-US" sz="4000" dirty="0"/>
          </a:p>
        </p:txBody>
      </p:sp>
      <p:sp>
        <p:nvSpPr>
          <p:cNvPr id="14" name="Text 12"/>
          <p:cNvSpPr/>
          <p:nvPr/>
        </p:nvSpPr>
        <p:spPr>
          <a:xfrm>
            <a:off x="731520" y="3703320"/>
            <a:ext cx="9601200" cy="822960"/>
          </a:xfrm>
          <a:prstGeom prst="rect">
            <a:avLst/>
          </a:prstGeom>
          <a:noFill/>
          <a:ln/>
        </p:spPr>
        <p:txBody>
          <a:bodyPr wrap="square" rtlCol="0" anchor="ctr"/>
          <a:lstStyle/>
          <a:p>
            <a:pPr marL="0" indent="0">
              <a:buNone/>
            </a:pPr>
            <a:r>
              <a:rPr lang="en-US" sz="3000" b="1" dirty="0">
                <a:solidFill>
                  <a:srgbClr val="F2A93B"/>
                </a:solidFill>
                <a:latin typeface="Cambria" pitchFamily="34" charset="0"/>
                <a:ea typeface="Cambria" pitchFamily="34" charset="-122"/>
                <a:cs typeface="Cambria" pitchFamily="34" charset="-120"/>
              </a:rPr>
              <a:t>Correlation and Covariance</a:t>
            </a:r>
            <a:endParaRPr lang="en-US" sz="3000" dirty="0"/>
          </a:p>
        </p:txBody>
      </p:sp>
      <p:sp>
        <p:nvSpPr>
          <p:cNvPr id="15" name="Text 13"/>
          <p:cNvSpPr/>
          <p:nvPr/>
        </p:nvSpPr>
        <p:spPr>
          <a:xfrm>
            <a:off x="731520" y="4526280"/>
            <a:ext cx="8229600" cy="457200"/>
          </a:xfrm>
          <a:prstGeom prst="rect">
            <a:avLst/>
          </a:prstGeom>
          <a:noFill/>
          <a:ln/>
        </p:spPr>
        <p:txBody>
          <a:bodyPr wrap="square" rtlCol="0" anchor="ctr"/>
          <a:lstStyle/>
          <a:p>
            <a:pPr marL="0" indent="0">
              <a:buNone/>
            </a:pPr>
            <a:r>
              <a:rPr lang="en-US" sz="1800" dirty="0">
                <a:solidFill>
                  <a:srgbClr val="CFE3E1"/>
                </a:solidFill>
                <a:latin typeface="Calibri" pitchFamily="34" charset="0"/>
                <a:ea typeface="Calibri" pitchFamily="34" charset="-122"/>
                <a:cs typeface="Calibri" pitchFamily="34" charset="-120"/>
              </a:rPr>
              <a:t>From Spread to Relationships — How Two Variables Move Together</a:t>
            </a:r>
            <a:endParaRPr lang="en-US" sz="1800" dirty="0"/>
          </a:p>
        </p:txBody>
      </p:sp>
      <p:sp>
        <p:nvSpPr>
          <p:cNvPr id="16" name="Shape 14"/>
          <p:cNvSpPr/>
          <p:nvPr/>
        </p:nvSpPr>
        <p:spPr>
          <a:xfrm>
            <a:off x="731520" y="5212080"/>
            <a:ext cx="6035040" cy="502920"/>
          </a:xfrm>
          <a:prstGeom prst="roundRect">
            <a:avLst>
              <a:gd name="adj" fmla="val 18182"/>
            </a:avLst>
          </a:prstGeom>
          <a:solidFill>
            <a:srgbClr val="0E5C56"/>
          </a:solidFill>
          <a:ln w="12700">
            <a:solidFill>
              <a:srgbClr val="F2A93B"/>
            </a:solidFill>
            <a:prstDash val="solid"/>
          </a:ln>
        </p:spPr>
      </p:sp>
      <p:sp>
        <p:nvSpPr>
          <p:cNvPr id="17" name="Text 15"/>
          <p:cNvSpPr/>
          <p:nvPr/>
        </p:nvSpPr>
        <p:spPr>
          <a:xfrm>
            <a:off x="731520" y="5212080"/>
            <a:ext cx="603504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DSC4000  |  Statics for Data Science  |  Semester I | 2026</a:t>
            </a:r>
            <a:endParaRPr lang="en-US" sz="1500" dirty="0"/>
          </a:p>
        </p:txBody>
      </p:sp>
      <p:sp>
        <p:nvSpPr>
          <p:cNvPr id="18" name="Text 16"/>
          <p:cNvSpPr/>
          <p:nvPr/>
        </p:nvSpPr>
        <p:spPr>
          <a:xfrm>
            <a:off x="731520" y="5943600"/>
            <a:ext cx="5486400" cy="3657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Prof. Manoj Sagar</a:t>
            </a:r>
            <a:endParaRPr lang="en-US" sz="1600" dirty="0"/>
          </a:p>
        </p:txBody>
      </p:sp>
      <p:sp>
        <p:nvSpPr>
          <p:cNvPr id="19" name="Text 17"/>
          <p:cNvSpPr/>
          <p:nvPr/>
        </p:nvSpPr>
        <p:spPr>
          <a:xfrm>
            <a:off x="9811512" y="548640"/>
            <a:ext cx="1737360" cy="640080"/>
          </a:xfrm>
          <a:prstGeom prst="rect">
            <a:avLst/>
          </a:prstGeom>
          <a:noFill/>
          <a:ln/>
        </p:spPr>
        <p:txBody>
          <a:bodyPr wrap="square" rtlCol="0" anchor="ctr"/>
          <a:lstStyle/>
          <a:p>
            <a:pPr marL="0" indent="0" algn="r">
              <a:buNone/>
            </a:pPr>
            <a:r>
              <a:rPr lang="en-US" sz="1100" i="1" dirty="0">
                <a:solidFill>
                  <a:srgbClr val="9DBDB9"/>
                </a:solidFill>
                <a:latin typeface="Calibri" pitchFamily="34" charset="0"/>
                <a:ea typeface="Calibri" pitchFamily="34" charset="-122"/>
                <a:cs typeface="Calibri" pitchFamily="34" charset="-120"/>
              </a:rPr>
              <a:t>[University Logo]</a:t>
            </a:r>
            <a:endParaRPr lang="en-US" sz="1100" dirty="0"/>
          </a:p>
        </p:txBody>
      </p:sp>
      <p:sp>
        <p:nvSpPr>
          <p:cNvPr id="21" name="Text 18"/>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5B7370"/>
                </a:solidFill>
                <a:latin typeface="Calibri" pitchFamily="34" charset="0"/>
                <a:ea typeface="Calibri" pitchFamily="34" charset="-122"/>
                <a:cs typeface="Calibri" pitchFamily="34" charset="-120"/>
              </a:rPr>
              <a:t>Presidency University | Dept. of AI &amp; Robotics | DSC4000 | Statics for Data Science</a:t>
            </a:r>
            <a:endParaRPr lang="en-US" sz="1000" dirty="0"/>
          </a:p>
        </p:txBody>
      </p:sp>
      <p:sp>
        <p:nvSpPr>
          <p:cNvPr id="22" name="Text 19"/>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7370"/>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F4F2"/>
        </a:solidFill>
        <a:effectLst/>
      </p:bgPr>
    </p:bg>
    <p:spTree>
      <p:nvGrpSpPr>
        <p:cNvPr id="1" name=""/>
        <p:cNvGrpSpPr/>
        <p:nvPr/>
      </p:nvGrpSpPr>
      <p:grpSpPr>
        <a:xfrm>
          <a:off x="0" y="0"/>
          <a:ext cx="0" cy="0"/>
          <a:chOff x="0" y="0"/>
          <a:chExt cx="0" cy="0"/>
        </a:xfrm>
      </p:grpSpPr>
      <p:sp>
        <p:nvSpPr>
          <p:cNvPr id="2" name="Shape 0"/>
          <p:cNvSpPr/>
          <p:nvPr/>
        </p:nvSpPr>
        <p:spPr>
          <a:xfrm>
            <a:off x="0" y="0"/>
            <a:ext cx="12188952" cy="1554480"/>
          </a:xfrm>
          <a:prstGeom prst="rect">
            <a:avLst/>
          </a:prstGeom>
          <a:solidFill>
            <a:srgbClr val="0E5C56"/>
          </a:solidFill>
          <a:ln/>
        </p:spPr>
      </p:sp>
      <p:sp>
        <p:nvSpPr>
          <p:cNvPr id="3" name="Text 1"/>
          <p:cNvSpPr/>
          <p:nvPr/>
        </p:nvSpPr>
        <p:spPr>
          <a:xfrm>
            <a:off x="548640" y="411480"/>
            <a:ext cx="91440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Presidency University</a:t>
            </a:r>
            <a:endParaRPr lang="en-US" sz="3000" dirty="0"/>
          </a:p>
        </p:txBody>
      </p:sp>
      <p:sp>
        <p:nvSpPr>
          <p:cNvPr id="4" name="Text 2"/>
          <p:cNvSpPr/>
          <p:nvPr/>
        </p:nvSpPr>
        <p:spPr>
          <a:xfrm>
            <a:off x="548640" y="960120"/>
            <a:ext cx="10058400" cy="365760"/>
          </a:xfrm>
          <a:prstGeom prst="rect">
            <a:avLst/>
          </a:prstGeom>
          <a:noFill/>
          <a:ln/>
        </p:spPr>
        <p:txBody>
          <a:bodyPr wrap="square" rtlCol="0" anchor="ctr"/>
          <a:lstStyle/>
          <a:p>
            <a:pPr marL="0" indent="0">
              <a:buNone/>
            </a:pPr>
            <a:r>
              <a:rPr lang="en-US" sz="1500" dirty="0">
                <a:solidFill>
                  <a:srgbClr val="CFE3E1"/>
                </a:solidFill>
                <a:latin typeface="Calibri" pitchFamily="34" charset="0"/>
                <a:ea typeface="Calibri" pitchFamily="34" charset="-122"/>
                <a:cs typeface="Calibri" pitchFamily="34" charset="-120"/>
              </a:rPr>
              <a:t>School of Artificial Intelligence and Advanced Computing</a:t>
            </a:r>
            <a:endParaRPr lang="en-US" sz="1500" dirty="0"/>
          </a:p>
        </p:txBody>
      </p:sp>
      <p:sp>
        <p:nvSpPr>
          <p:cNvPr id="5" name="Shape 3"/>
          <p:cNvSpPr/>
          <p:nvPr/>
        </p:nvSpPr>
        <p:spPr>
          <a:xfrm>
            <a:off x="640080" y="2194560"/>
            <a:ext cx="457200" cy="457200"/>
          </a:xfrm>
          <a:prstGeom prst="ellipse">
            <a:avLst/>
          </a:prstGeom>
          <a:solidFill>
            <a:srgbClr val="F2A93B"/>
          </a:solidFill>
          <a:ln/>
        </p:spPr>
      </p:sp>
      <p:sp>
        <p:nvSpPr>
          <p:cNvPr id="6" name="Text 4"/>
          <p:cNvSpPr/>
          <p:nvPr/>
        </p:nvSpPr>
        <p:spPr>
          <a:xfrm>
            <a:off x="640080" y="2194560"/>
            <a:ext cx="457200" cy="457200"/>
          </a:xfrm>
          <a:prstGeom prst="rect">
            <a:avLst/>
          </a:prstGeom>
          <a:noFill/>
          <a:ln/>
        </p:spPr>
        <p:txBody>
          <a:bodyPr wrap="square" rtlCol="0" anchor="ctr"/>
          <a:lstStyle/>
          <a:p>
            <a:pPr marL="0" indent="0" algn="ctr">
              <a:buNone/>
            </a:pPr>
            <a:r>
              <a:rPr lang="en-US" sz="1300" b="1" dirty="0">
                <a:solidFill>
                  <a:srgbClr val="073B37"/>
                </a:solidFill>
                <a:latin typeface="Calibri" pitchFamily="34" charset="0"/>
                <a:ea typeface="Calibri" pitchFamily="34" charset="-122"/>
                <a:cs typeface="Calibri" pitchFamily="34" charset="-120"/>
              </a:rPr>
              <a:t>•</a:t>
            </a:r>
            <a:endParaRPr lang="en-US" sz="1300" dirty="0"/>
          </a:p>
        </p:txBody>
      </p:sp>
      <p:sp>
        <p:nvSpPr>
          <p:cNvPr id="7" name="Text 5"/>
          <p:cNvSpPr/>
          <p:nvPr/>
        </p:nvSpPr>
        <p:spPr>
          <a:xfrm>
            <a:off x="1371600" y="2148840"/>
            <a:ext cx="2743200" cy="320040"/>
          </a:xfrm>
          <a:prstGeom prst="rect">
            <a:avLst/>
          </a:prstGeom>
          <a:noFill/>
          <a:ln/>
        </p:spPr>
        <p:txBody>
          <a:bodyPr wrap="square" rtlCol="0" anchor="ctr"/>
          <a:lstStyle/>
          <a:p>
            <a:pPr marL="0" indent="0">
              <a:buNone/>
            </a:pPr>
            <a:r>
              <a:rPr lang="en-US" sz="1200" b="1" kern="0" spc="100" dirty="0">
                <a:solidFill>
                  <a:srgbClr val="5B7370"/>
                </a:solidFill>
                <a:latin typeface="Calibri" pitchFamily="34" charset="0"/>
                <a:ea typeface="Calibri" pitchFamily="34" charset="-122"/>
                <a:cs typeface="Calibri" pitchFamily="34" charset="-120"/>
              </a:rPr>
              <a:t>DEPARTMENT</a:t>
            </a:r>
            <a:endParaRPr lang="en-US" sz="1200" dirty="0"/>
          </a:p>
        </p:txBody>
      </p:sp>
      <p:sp>
        <p:nvSpPr>
          <p:cNvPr id="8" name="Text 6"/>
          <p:cNvSpPr/>
          <p:nvPr/>
        </p:nvSpPr>
        <p:spPr>
          <a:xfrm>
            <a:off x="1371600" y="2450592"/>
            <a:ext cx="8686800" cy="457200"/>
          </a:xfrm>
          <a:prstGeom prst="rect">
            <a:avLst/>
          </a:prstGeom>
          <a:noFill/>
          <a:ln/>
        </p:spPr>
        <p:txBody>
          <a:bodyPr wrap="square" rtlCol="0" anchor="ctr"/>
          <a:lstStyle/>
          <a:p>
            <a:pPr marL="0" indent="0">
              <a:buNone/>
            </a:pPr>
            <a:r>
              <a:rPr lang="en-US" sz="2000" b="1" dirty="0">
                <a:solidFill>
                  <a:srgbClr val="1B2B2A"/>
                </a:solidFill>
                <a:latin typeface="Calibri" pitchFamily="34" charset="0"/>
                <a:ea typeface="Calibri" pitchFamily="34" charset="-122"/>
                <a:cs typeface="Calibri" pitchFamily="34" charset="-120"/>
              </a:rPr>
              <a:t>Department of AI &amp; Robotics</a:t>
            </a:r>
            <a:endParaRPr lang="en-US" sz="2000" dirty="0"/>
          </a:p>
        </p:txBody>
      </p:sp>
      <p:sp>
        <p:nvSpPr>
          <p:cNvPr id="9" name="Shape 7"/>
          <p:cNvSpPr/>
          <p:nvPr/>
        </p:nvSpPr>
        <p:spPr>
          <a:xfrm>
            <a:off x="640080" y="3154680"/>
            <a:ext cx="457200" cy="457200"/>
          </a:xfrm>
          <a:prstGeom prst="ellipse">
            <a:avLst/>
          </a:prstGeom>
          <a:solidFill>
            <a:srgbClr val="F2A93B"/>
          </a:solidFill>
          <a:ln/>
        </p:spPr>
      </p:sp>
      <p:sp>
        <p:nvSpPr>
          <p:cNvPr id="10" name="Text 8"/>
          <p:cNvSpPr/>
          <p:nvPr/>
        </p:nvSpPr>
        <p:spPr>
          <a:xfrm>
            <a:off x="640080" y="3154680"/>
            <a:ext cx="457200" cy="457200"/>
          </a:xfrm>
          <a:prstGeom prst="rect">
            <a:avLst/>
          </a:prstGeom>
          <a:noFill/>
          <a:ln/>
        </p:spPr>
        <p:txBody>
          <a:bodyPr wrap="square" rtlCol="0" anchor="ctr"/>
          <a:lstStyle/>
          <a:p>
            <a:pPr marL="0" indent="0" algn="ctr">
              <a:buNone/>
            </a:pPr>
            <a:r>
              <a:rPr lang="en-US" sz="1300" b="1" dirty="0">
                <a:solidFill>
                  <a:srgbClr val="073B37"/>
                </a:solidFill>
                <a:latin typeface="Calibri" pitchFamily="34" charset="0"/>
                <a:ea typeface="Calibri" pitchFamily="34" charset="-122"/>
                <a:cs typeface="Calibri" pitchFamily="34" charset="-120"/>
              </a:rPr>
              <a:t>•</a:t>
            </a:r>
            <a:endParaRPr lang="en-US" sz="1300" dirty="0"/>
          </a:p>
        </p:txBody>
      </p:sp>
      <p:sp>
        <p:nvSpPr>
          <p:cNvPr id="11" name="Text 9"/>
          <p:cNvSpPr/>
          <p:nvPr/>
        </p:nvSpPr>
        <p:spPr>
          <a:xfrm>
            <a:off x="1371600" y="3108960"/>
            <a:ext cx="2743200" cy="320040"/>
          </a:xfrm>
          <a:prstGeom prst="rect">
            <a:avLst/>
          </a:prstGeom>
          <a:noFill/>
          <a:ln/>
        </p:spPr>
        <p:txBody>
          <a:bodyPr wrap="square" rtlCol="0" anchor="ctr"/>
          <a:lstStyle/>
          <a:p>
            <a:pPr marL="0" indent="0">
              <a:buNone/>
            </a:pPr>
            <a:r>
              <a:rPr lang="en-US" sz="1200" b="1" kern="0" spc="100" dirty="0">
                <a:solidFill>
                  <a:srgbClr val="5B7370"/>
                </a:solidFill>
                <a:latin typeface="Calibri" pitchFamily="34" charset="0"/>
                <a:ea typeface="Calibri" pitchFamily="34" charset="-122"/>
                <a:cs typeface="Calibri" pitchFamily="34" charset="-120"/>
              </a:rPr>
              <a:t>SUBJECT</a:t>
            </a:r>
            <a:endParaRPr lang="en-US" sz="1200" dirty="0"/>
          </a:p>
        </p:txBody>
      </p:sp>
      <p:sp>
        <p:nvSpPr>
          <p:cNvPr id="12" name="Text 10"/>
          <p:cNvSpPr/>
          <p:nvPr/>
        </p:nvSpPr>
        <p:spPr>
          <a:xfrm>
            <a:off x="1371600" y="3410712"/>
            <a:ext cx="8686800" cy="457200"/>
          </a:xfrm>
          <a:prstGeom prst="rect">
            <a:avLst/>
          </a:prstGeom>
          <a:noFill/>
          <a:ln/>
        </p:spPr>
        <p:txBody>
          <a:bodyPr wrap="square" rtlCol="0" anchor="ctr"/>
          <a:lstStyle/>
          <a:p>
            <a:pPr marL="0" indent="0">
              <a:buNone/>
            </a:pPr>
            <a:r>
              <a:rPr lang="en-US" sz="2000" b="1" dirty="0">
                <a:solidFill>
                  <a:srgbClr val="1B2B2A"/>
                </a:solidFill>
                <a:latin typeface="Calibri" pitchFamily="34" charset="0"/>
                <a:ea typeface="Calibri" pitchFamily="34" charset="-122"/>
                <a:cs typeface="Calibri" pitchFamily="34" charset="-120"/>
              </a:rPr>
              <a:t>Statics for Data Science (DSC4000)</a:t>
            </a:r>
            <a:endParaRPr lang="en-US" sz="2000" dirty="0"/>
          </a:p>
        </p:txBody>
      </p:sp>
      <p:sp>
        <p:nvSpPr>
          <p:cNvPr id="13" name="Shape 11"/>
          <p:cNvSpPr/>
          <p:nvPr/>
        </p:nvSpPr>
        <p:spPr>
          <a:xfrm>
            <a:off x="640080" y="4114800"/>
            <a:ext cx="457200" cy="457200"/>
          </a:xfrm>
          <a:prstGeom prst="ellipse">
            <a:avLst/>
          </a:prstGeom>
          <a:solidFill>
            <a:srgbClr val="F2A93B"/>
          </a:solidFill>
          <a:ln/>
        </p:spPr>
      </p:sp>
      <p:sp>
        <p:nvSpPr>
          <p:cNvPr id="14" name="Text 12"/>
          <p:cNvSpPr/>
          <p:nvPr/>
        </p:nvSpPr>
        <p:spPr>
          <a:xfrm>
            <a:off x="640080" y="4114800"/>
            <a:ext cx="457200" cy="457200"/>
          </a:xfrm>
          <a:prstGeom prst="rect">
            <a:avLst/>
          </a:prstGeom>
          <a:noFill/>
          <a:ln/>
        </p:spPr>
        <p:txBody>
          <a:bodyPr wrap="square" rtlCol="0" anchor="ctr"/>
          <a:lstStyle/>
          <a:p>
            <a:pPr marL="0" indent="0" algn="ctr">
              <a:buNone/>
            </a:pPr>
            <a:r>
              <a:rPr lang="en-US" sz="1300" b="1" dirty="0">
                <a:solidFill>
                  <a:srgbClr val="073B37"/>
                </a:solidFill>
                <a:latin typeface="Calibri" pitchFamily="34" charset="0"/>
                <a:ea typeface="Calibri" pitchFamily="34" charset="-122"/>
                <a:cs typeface="Calibri" pitchFamily="34" charset="-120"/>
              </a:rPr>
              <a:t>•</a:t>
            </a:r>
            <a:endParaRPr lang="en-US" sz="1300" dirty="0"/>
          </a:p>
        </p:txBody>
      </p:sp>
      <p:sp>
        <p:nvSpPr>
          <p:cNvPr id="15" name="Text 13"/>
          <p:cNvSpPr/>
          <p:nvPr/>
        </p:nvSpPr>
        <p:spPr>
          <a:xfrm>
            <a:off x="1371600" y="4069080"/>
            <a:ext cx="2743200" cy="320040"/>
          </a:xfrm>
          <a:prstGeom prst="rect">
            <a:avLst/>
          </a:prstGeom>
          <a:noFill/>
          <a:ln/>
        </p:spPr>
        <p:txBody>
          <a:bodyPr wrap="square" rtlCol="0" anchor="ctr"/>
          <a:lstStyle/>
          <a:p>
            <a:pPr marL="0" indent="0">
              <a:buNone/>
            </a:pPr>
            <a:r>
              <a:rPr lang="en-US" sz="1200" b="1" kern="0" spc="100" dirty="0">
                <a:solidFill>
                  <a:srgbClr val="5B7370"/>
                </a:solidFill>
                <a:latin typeface="Calibri" pitchFamily="34" charset="0"/>
                <a:ea typeface="Calibri" pitchFamily="34" charset="-122"/>
                <a:cs typeface="Calibri" pitchFamily="34" charset="-120"/>
              </a:rPr>
              <a:t>FACULTY</a:t>
            </a:r>
            <a:endParaRPr lang="en-US" sz="1200" dirty="0"/>
          </a:p>
        </p:txBody>
      </p:sp>
      <p:sp>
        <p:nvSpPr>
          <p:cNvPr id="16" name="Text 14"/>
          <p:cNvSpPr/>
          <p:nvPr/>
        </p:nvSpPr>
        <p:spPr>
          <a:xfrm>
            <a:off x="1371600" y="4370832"/>
            <a:ext cx="8686800" cy="457200"/>
          </a:xfrm>
          <a:prstGeom prst="rect">
            <a:avLst/>
          </a:prstGeom>
          <a:noFill/>
          <a:ln/>
        </p:spPr>
        <p:txBody>
          <a:bodyPr wrap="square" rtlCol="0" anchor="ctr"/>
          <a:lstStyle/>
          <a:p>
            <a:pPr marL="0" indent="0">
              <a:buNone/>
            </a:pPr>
            <a:r>
              <a:rPr lang="en-US" sz="2000" b="1" dirty="0">
                <a:solidFill>
                  <a:srgbClr val="1B2B2A"/>
                </a:solidFill>
                <a:latin typeface="Calibri" pitchFamily="34" charset="0"/>
                <a:ea typeface="Calibri" pitchFamily="34" charset="-122"/>
                <a:cs typeface="Calibri" pitchFamily="34" charset="-120"/>
              </a:rPr>
              <a:t>Prof. Manoj Sagar</a:t>
            </a:r>
            <a:endParaRPr lang="en-US" sz="2000" dirty="0"/>
          </a:p>
        </p:txBody>
      </p:sp>
      <p:sp>
        <p:nvSpPr>
          <p:cNvPr id="17" name="Shape 15"/>
          <p:cNvSpPr/>
          <p:nvPr/>
        </p:nvSpPr>
        <p:spPr>
          <a:xfrm>
            <a:off x="640080" y="5074920"/>
            <a:ext cx="457200" cy="457200"/>
          </a:xfrm>
          <a:prstGeom prst="ellipse">
            <a:avLst/>
          </a:prstGeom>
          <a:solidFill>
            <a:srgbClr val="F2A93B"/>
          </a:solidFill>
          <a:ln/>
        </p:spPr>
      </p:sp>
      <p:sp>
        <p:nvSpPr>
          <p:cNvPr id="18" name="Text 16"/>
          <p:cNvSpPr/>
          <p:nvPr/>
        </p:nvSpPr>
        <p:spPr>
          <a:xfrm>
            <a:off x="640080" y="5074920"/>
            <a:ext cx="457200" cy="457200"/>
          </a:xfrm>
          <a:prstGeom prst="rect">
            <a:avLst/>
          </a:prstGeom>
          <a:noFill/>
          <a:ln/>
        </p:spPr>
        <p:txBody>
          <a:bodyPr wrap="square" rtlCol="0" anchor="ctr"/>
          <a:lstStyle/>
          <a:p>
            <a:pPr marL="0" indent="0" algn="ctr">
              <a:buNone/>
            </a:pPr>
            <a:r>
              <a:rPr lang="en-US" sz="1300" b="1" dirty="0">
                <a:solidFill>
                  <a:srgbClr val="073B37"/>
                </a:solidFill>
                <a:latin typeface="Calibri" pitchFamily="34" charset="0"/>
                <a:ea typeface="Calibri" pitchFamily="34" charset="-122"/>
                <a:cs typeface="Calibri" pitchFamily="34" charset="-120"/>
              </a:rPr>
              <a:t>•</a:t>
            </a:r>
            <a:endParaRPr lang="en-US" sz="1300" dirty="0"/>
          </a:p>
        </p:txBody>
      </p:sp>
      <p:sp>
        <p:nvSpPr>
          <p:cNvPr id="19" name="Text 17"/>
          <p:cNvSpPr/>
          <p:nvPr/>
        </p:nvSpPr>
        <p:spPr>
          <a:xfrm>
            <a:off x="1371600" y="5029200"/>
            <a:ext cx="2743200" cy="320040"/>
          </a:xfrm>
          <a:prstGeom prst="rect">
            <a:avLst/>
          </a:prstGeom>
          <a:noFill/>
          <a:ln/>
        </p:spPr>
        <p:txBody>
          <a:bodyPr wrap="square" rtlCol="0" anchor="ctr"/>
          <a:lstStyle/>
          <a:p>
            <a:pPr marL="0" indent="0">
              <a:buNone/>
            </a:pPr>
            <a:r>
              <a:rPr lang="en-US" sz="1200" b="1" kern="0" spc="100" dirty="0">
                <a:solidFill>
                  <a:srgbClr val="5B7370"/>
                </a:solidFill>
                <a:latin typeface="Calibri" pitchFamily="34" charset="0"/>
                <a:ea typeface="Calibri" pitchFamily="34" charset="-122"/>
                <a:cs typeface="Calibri" pitchFamily="34" charset="-120"/>
              </a:rPr>
              <a:t>SESSION TYPE</a:t>
            </a:r>
            <a:endParaRPr lang="en-US" sz="1200" dirty="0"/>
          </a:p>
        </p:txBody>
      </p:sp>
      <p:sp>
        <p:nvSpPr>
          <p:cNvPr id="20" name="Text 18"/>
          <p:cNvSpPr/>
          <p:nvPr/>
        </p:nvSpPr>
        <p:spPr>
          <a:xfrm>
            <a:off x="1371600" y="5330952"/>
            <a:ext cx="8686800" cy="457200"/>
          </a:xfrm>
          <a:prstGeom prst="rect">
            <a:avLst/>
          </a:prstGeom>
          <a:noFill/>
          <a:ln/>
        </p:spPr>
        <p:txBody>
          <a:bodyPr wrap="square" rtlCol="0" anchor="ctr"/>
          <a:lstStyle/>
          <a:p>
            <a:pPr marL="0" indent="0">
              <a:buNone/>
            </a:pPr>
            <a:r>
              <a:rPr lang="en-US" sz="2000" b="1" dirty="0">
                <a:solidFill>
                  <a:srgbClr val="1B2B2A"/>
                </a:solidFill>
                <a:latin typeface="Calibri" pitchFamily="34" charset="0"/>
                <a:ea typeface="Calibri" pitchFamily="34" charset="-122"/>
                <a:cs typeface="Calibri" pitchFamily="34" charset="-120"/>
              </a:rPr>
              <a:t>Lecture — 2 Hours (with break)</a:t>
            </a:r>
            <a:endParaRPr lang="en-US" sz="2000" dirty="0"/>
          </a:p>
        </p:txBody>
      </p:sp>
      <p:sp>
        <p:nvSpPr>
          <p:cNvPr id="22" name="Text 19"/>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5B7370"/>
                </a:solidFill>
                <a:latin typeface="Calibri" pitchFamily="34" charset="0"/>
                <a:ea typeface="Calibri" pitchFamily="34" charset="-122"/>
                <a:cs typeface="Calibri" pitchFamily="34" charset="-120"/>
              </a:rPr>
              <a:t>Presidency University | Dept. of AI &amp; Robotics | DSC4000 | Statics for Data Science</a:t>
            </a:r>
            <a:endParaRPr lang="en-US" sz="1000" dirty="0"/>
          </a:p>
        </p:txBody>
      </p:sp>
      <p:sp>
        <p:nvSpPr>
          <p:cNvPr id="23" name="Text 20"/>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737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3291840" cy="384048"/>
          </a:xfrm>
          <a:prstGeom prst="roundRect">
            <a:avLst>
              <a:gd name="adj" fmla="val 19048"/>
            </a:avLst>
          </a:prstGeom>
          <a:solidFill>
            <a:srgbClr val="E8F4F2"/>
          </a:solidFill>
          <a:ln/>
        </p:spPr>
      </p:sp>
      <p:sp>
        <p:nvSpPr>
          <p:cNvPr id="3" name="Text 1"/>
          <p:cNvSpPr/>
          <p:nvPr/>
        </p:nvSpPr>
        <p:spPr>
          <a:xfrm>
            <a:off x="548640" y="457200"/>
            <a:ext cx="3291840" cy="384048"/>
          </a:xfrm>
          <a:prstGeom prst="rect">
            <a:avLst/>
          </a:prstGeom>
          <a:noFill/>
          <a:ln/>
        </p:spPr>
        <p:txBody>
          <a:bodyPr wrap="square" rtlCol="0" anchor="ctr"/>
          <a:lstStyle/>
          <a:p>
            <a:pPr marL="0" indent="0" algn="ctr">
              <a:buNone/>
            </a:pPr>
            <a:r>
              <a:rPr lang="en-US" sz="1300" b="1" kern="0" spc="100" dirty="0">
                <a:solidFill>
                  <a:srgbClr val="0E5C56"/>
                </a:solidFill>
                <a:latin typeface="Calibri" pitchFamily="34" charset="0"/>
                <a:ea typeface="Calibri" pitchFamily="34" charset="-122"/>
                <a:cs typeface="Calibri" pitchFamily="34" charset="-120"/>
              </a:rPr>
              <a:t>QUICK RECAP</a:t>
            </a:r>
            <a:endParaRPr lang="en-US" sz="1300" dirty="0"/>
          </a:p>
        </p:txBody>
      </p:sp>
      <p:sp>
        <p:nvSpPr>
          <p:cNvPr id="4" name="Text 2"/>
          <p:cNvSpPr/>
          <p:nvPr/>
        </p:nvSpPr>
        <p:spPr>
          <a:xfrm>
            <a:off x="548640" y="960120"/>
            <a:ext cx="11091672" cy="914400"/>
          </a:xfrm>
          <a:prstGeom prst="rect">
            <a:avLst/>
          </a:prstGeom>
          <a:noFill/>
          <a:ln/>
        </p:spPr>
        <p:txBody>
          <a:bodyPr wrap="square" rtlCol="0" anchor="t"/>
          <a:lstStyle/>
          <a:p>
            <a:pPr marL="0" indent="0" algn="l">
              <a:buNone/>
            </a:pPr>
            <a:r>
              <a:rPr lang="en-US" sz="3200" b="1" dirty="0">
                <a:solidFill>
                  <a:srgbClr val="1B2B2A"/>
                </a:solidFill>
                <a:latin typeface="Cambria" pitchFamily="34" charset="0"/>
                <a:ea typeface="Cambria" pitchFamily="34" charset="-122"/>
                <a:cs typeface="Cambria" pitchFamily="34" charset="-120"/>
              </a:rPr>
              <a:t>Where We Left Off: Dispersion</a:t>
            </a:r>
            <a:endParaRPr lang="en-US" sz="3200" dirty="0"/>
          </a:p>
        </p:txBody>
      </p:sp>
      <p:sp>
        <p:nvSpPr>
          <p:cNvPr id="5" name="Shape 3"/>
          <p:cNvSpPr/>
          <p:nvPr/>
        </p:nvSpPr>
        <p:spPr>
          <a:xfrm>
            <a:off x="548640" y="1993392"/>
            <a:ext cx="365760" cy="365760"/>
          </a:xfrm>
          <a:prstGeom prst="ellipse">
            <a:avLst/>
          </a:prstGeom>
          <a:solidFill>
            <a:srgbClr val="F2A93B"/>
          </a:solidFill>
          <a:ln/>
        </p:spPr>
      </p:sp>
      <p:sp>
        <p:nvSpPr>
          <p:cNvPr id="6" name="Text 4"/>
          <p:cNvSpPr/>
          <p:nvPr/>
        </p:nvSpPr>
        <p:spPr>
          <a:xfrm>
            <a:off x="548640" y="1993392"/>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7" name="Text 5"/>
          <p:cNvSpPr/>
          <p:nvPr/>
        </p:nvSpPr>
        <p:spPr>
          <a:xfrm>
            <a:off x="1143000" y="1965960"/>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Last class we measured how spread out a single variable is — using variance, standard deviation, and IQR.</a:t>
            </a:r>
            <a:endParaRPr lang="en-US" sz="2000" dirty="0"/>
          </a:p>
        </p:txBody>
      </p:sp>
      <p:sp>
        <p:nvSpPr>
          <p:cNvPr id="8" name="Shape 6"/>
          <p:cNvSpPr/>
          <p:nvPr/>
        </p:nvSpPr>
        <p:spPr>
          <a:xfrm>
            <a:off x="548640" y="3246120"/>
            <a:ext cx="365760" cy="365760"/>
          </a:xfrm>
          <a:prstGeom prst="ellipse">
            <a:avLst/>
          </a:prstGeom>
          <a:solidFill>
            <a:srgbClr val="F2A93B"/>
          </a:solidFill>
          <a:ln/>
        </p:spPr>
      </p:sp>
      <p:sp>
        <p:nvSpPr>
          <p:cNvPr id="9" name="Text 7"/>
          <p:cNvSpPr/>
          <p:nvPr/>
        </p:nvSpPr>
        <p:spPr>
          <a:xfrm>
            <a:off x="548640" y="3246120"/>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0" name="Text 8"/>
          <p:cNvSpPr/>
          <p:nvPr/>
        </p:nvSpPr>
        <p:spPr>
          <a:xfrm>
            <a:off x="1143000" y="3218688"/>
            <a:ext cx="10497312" cy="612648"/>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Dispersion answers: 'How much does ONE variable vary around its mean?'</a:t>
            </a:r>
            <a:endParaRPr lang="en-US" sz="2000" dirty="0"/>
          </a:p>
        </p:txBody>
      </p:sp>
      <p:sp>
        <p:nvSpPr>
          <p:cNvPr id="11" name="Shape 9"/>
          <p:cNvSpPr/>
          <p:nvPr/>
        </p:nvSpPr>
        <p:spPr>
          <a:xfrm>
            <a:off x="548640" y="4114800"/>
            <a:ext cx="365760" cy="365760"/>
          </a:xfrm>
          <a:prstGeom prst="ellipse">
            <a:avLst/>
          </a:prstGeom>
          <a:solidFill>
            <a:srgbClr val="F2A93B"/>
          </a:solidFill>
          <a:ln/>
        </p:spPr>
      </p:sp>
      <p:sp>
        <p:nvSpPr>
          <p:cNvPr id="12" name="Text 10"/>
          <p:cNvSpPr/>
          <p:nvPr/>
        </p:nvSpPr>
        <p:spPr>
          <a:xfrm>
            <a:off x="548640" y="4114800"/>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3" name="Text 11"/>
          <p:cNvSpPr/>
          <p:nvPr/>
        </p:nvSpPr>
        <p:spPr>
          <a:xfrm>
            <a:off x="1143000" y="4087368"/>
            <a:ext cx="10497312" cy="612648"/>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Today we ask a new question: 'How do TWO variables vary together?'</a:t>
            </a:r>
            <a:endParaRPr lang="en-US" sz="2000" dirty="0"/>
          </a:p>
        </p:txBody>
      </p:sp>
      <p:sp>
        <p:nvSpPr>
          <p:cNvPr id="14" name="Shape 12"/>
          <p:cNvSpPr/>
          <p:nvPr/>
        </p:nvSpPr>
        <p:spPr>
          <a:xfrm>
            <a:off x="548640" y="4983480"/>
            <a:ext cx="365760" cy="365760"/>
          </a:xfrm>
          <a:prstGeom prst="ellipse">
            <a:avLst/>
          </a:prstGeom>
          <a:solidFill>
            <a:srgbClr val="F2A93B"/>
          </a:solidFill>
          <a:ln/>
        </p:spPr>
      </p:sp>
      <p:sp>
        <p:nvSpPr>
          <p:cNvPr id="15" name="Text 13"/>
          <p:cNvSpPr/>
          <p:nvPr/>
        </p:nvSpPr>
        <p:spPr>
          <a:xfrm>
            <a:off x="548640" y="4983480"/>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6" name="Text 14"/>
          <p:cNvSpPr/>
          <p:nvPr/>
        </p:nvSpPr>
        <p:spPr>
          <a:xfrm>
            <a:off x="1143000" y="4956048"/>
            <a:ext cx="10497312" cy="612648"/>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Covariance and correlation are the tools that answer that question.</a:t>
            </a:r>
            <a:endParaRPr lang="en-US" sz="2000" dirty="0"/>
          </a:p>
        </p:txBody>
      </p:sp>
      <p:sp>
        <p:nvSpPr>
          <p:cNvPr id="17" name="Text 15"/>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5B7370"/>
                </a:solidFill>
                <a:latin typeface="Calibri" pitchFamily="34" charset="0"/>
                <a:ea typeface="Calibri" pitchFamily="34" charset="-122"/>
                <a:cs typeface="Calibri" pitchFamily="34" charset="-120"/>
              </a:rPr>
              <a:t>Presidency University | Dept. of AI &amp; Robotics | DSC4000 | Statics for Data Science</a:t>
            </a:r>
            <a:endParaRPr lang="en-US" sz="1000" dirty="0"/>
          </a:p>
        </p:txBody>
      </p:sp>
      <p:sp>
        <p:nvSpPr>
          <p:cNvPr id="18" name="Text 16"/>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737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3291840" cy="384048"/>
          </a:xfrm>
          <a:prstGeom prst="roundRect">
            <a:avLst>
              <a:gd name="adj" fmla="val 19048"/>
            </a:avLst>
          </a:prstGeom>
          <a:solidFill>
            <a:srgbClr val="E8F4F2"/>
          </a:solidFill>
          <a:ln/>
        </p:spPr>
      </p:sp>
      <p:sp>
        <p:nvSpPr>
          <p:cNvPr id="3" name="Text 1"/>
          <p:cNvSpPr/>
          <p:nvPr/>
        </p:nvSpPr>
        <p:spPr>
          <a:xfrm>
            <a:off x="548640" y="457200"/>
            <a:ext cx="3291840" cy="384048"/>
          </a:xfrm>
          <a:prstGeom prst="rect">
            <a:avLst/>
          </a:prstGeom>
          <a:noFill/>
          <a:ln/>
        </p:spPr>
        <p:txBody>
          <a:bodyPr wrap="square" rtlCol="0" anchor="ctr"/>
          <a:lstStyle/>
          <a:p>
            <a:pPr marL="0" indent="0" algn="ctr">
              <a:buNone/>
            </a:pPr>
            <a:r>
              <a:rPr lang="en-US" sz="1300" b="1" kern="0" spc="100" dirty="0">
                <a:solidFill>
                  <a:srgbClr val="0E5C56"/>
                </a:solidFill>
                <a:latin typeface="Calibri" pitchFamily="34" charset="0"/>
                <a:ea typeface="Calibri" pitchFamily="34" charset="-122"/>
                <a:cs typeface="Calibri" pitchFamily="34" charset="-120"/>
              </a:rPr>
              <a:t>SESSION ROADMAP</a:t>
            </a:r>
            <a:endParaRPr lang="en-US" sz="1300" dirty="0"/>
          </a:p>
        </p:txBody>
      </p:sp>
      <p:sp>
        <p:nvSpPr>
          <p:cNvPr id="4" name="Text 2"/>
          <p:cNvSpPr/>
          <p:nvPr/>
        </p:nvSpPr>
        <p:spPr>
          <a:xfrm>
            <a:off x="548640" y="960120"/>
            <a:ext cx="11091672" cy="914400"/>
          </a:xfrm>
          <a:prstGeom prst="rect">
            <a:avLst/>
          </a:prstGeom>
          <a:noFill/>
          <a:ln/>
        </p:spPr>
        <p:txBody>
          <a:bodyPr wrap="square" rtlCol="0" anchor="t"/>
          <a:lstStyle/>
          <a:p>
            <a:pPr marL="0" indent="0" algn="l">
              <a:buNone/>
            </a:pPr>
            <a:r>
              <a:rPr lang="en-US" sz="3200" b="1" dirty="0">
                <a:solidFill>
                  <a:srgbClr val="1B2B2A"/>
                </a:solidFill>
                <a:latin typeface="Cambria" pitchFamily="34" charset="0"/>
                <a:ea typeface="Cambria" pitchFamily="34" charset="-122"/>
                <a:cs typeface="Cambria" pitchFamily="34" charset="-120"/>
              </a:rPr>
              <a:t>Today's Learning Objectives</a:t>
            </a:r>
            <a:endParaRPr lang="en-US" sz="3200" dirty="0"/>
          </a:p>
        </p:txBody>
      </p:sp>
      <p:sp>
        <p:nvSpPr>
          <p:cNvPr id="5" name="Shape 3"/>
          <p:cNvSpPr/>
          <p:nvPr/>
        </p:nvSpPr>
        <p:spPr>
          <a:xfrm>
            <a:off x="548640" y="1993392"/>
            <a:ext cx="365760" cy="365760"/>
          </a:xfrm>
          <a:prstGeom prst="ellipse">
            <a:avLst/>
          </a:prstGeom>
          <a:solidFill>
            <a:srgbClr val="F2A93B"/>
          </a:solidFill>
          <a:ln/>
        </p:spPr>
      </p:sp>
      <p:sp>
        <p:nvSpPr>
          <p:cNvPr id="6" name="Text 4"/>
          <p:cNvSpPr/>
          <p:nvPr/>
        </p:nvSpPr>
        <p:spPr>
          <a:xfrm>
            <a:off x="548640" y="1993392"/>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7" name="Text 5"/>
          <p:cNvSpPr/>
          <p:nvPr/>
        </p:nvSpPr>
        <p:spPr>
          <a:xfrm>
            <a:off x="1143000" y="1965960"/>
            <a:ext cx="10497312" cy="612648"/>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Define covariance and correlation, and explain what each one measures.</a:t>
            </a:r>
            <a:endParaRPr lang="en-US" sz="2000" dirty="0"/>
          </a:p>
        </p:txBody>
      </p:sp>
      <p:sp>
        <p:nvSpPr>
          <p:cNvPr id="8" name="Shape 6"/>
          <p:cNvSpPr/>
          <p:nvPr/>
        </p:nvSpPr>
        <p:spPr>
          <a:xfrm>
            <a:off x="548640" y="2862072"/>
            <a:ext cx="365760" cy="365760"/>
          </a:xfrm>
          <a:prstGeom prst="ellipse">
            <a:avLst/>
          </a:prstGeom>
          <a:solidFill>
            <a:srgbClr val="F2A93B"/>
          </a:solidFill>
          <a:ln/>
        </p:spPr>
      </p:sp>
      <p:sp>
        <p:nvSpPr>
          <p:cNvPr id="9" name="Text 7"/>
          <p:cNvSpPr/>
          <p:nvPr/>
        </p:nvSpPr>
        <p:spPr>
          <a:xfrm>
            <a:off x="548640" y="2862072"/>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0" name="Text 8"/>
          <p:cNvSpPr/>
          <p:nvPr/>
        </p:nvSpPr>
        <p:spPr>
          <a:xfrm>
            <a:off x="1143000" y="2834640"/>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Compute covariance and Pearson's correlation coefficient by hand, step by step.</a:t>
            </a:r>
            <a:endParaRPr lang="en-US" sz="2000" dirty="0"/>
          </a:p>
        </p:txBody>
      </p:sp>
      <p:sp>
        <p:nvSpPr>
          <p:cNvPr id="11" name="Shape 9"/>
          <p:cNvSpPr/>
          <p:nvPr/>
        </p:nvSpPr>
        <p:spPr>
          <a:xfrm>
            <a:off x="548640" y="4114800"/>
            <a:ext cx="365760" cy="365760"/>
          </a:xfrm>
          <a:prstGeom prst="ellipse">
            <a:avLst/>
          </a:prstGeom>
          <a:solidFill>
            <a:srgbClr val="F2A93B"/>
          </a:solidFill>
          <a:ln/>
        </p:spPr>
      </p:sp>
      <p:sp>
        <p:nvSpPr>
          <p:cNvPr id="12" name="Text 10"/>
          <p:cNvSpPr/>
          <p:nvPr/>
        </p:nvSpPr>
        <p:spPr>
          <a:xfrm>
            <a:off x="548640" y="4114800"/>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3" name="Text 11"/>
          <p:cNvSpPr/>
          <p:nvPr/>
        </p:nvSpPr>
        <p:spPr>
          <a:xfrm>
            <a:off x="1143000" y="4087368"/>
            <a:ext cx="10497312" cy="612648"/>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Read and interpret scatter plots, correlation matrices, and heatmaps.</a:t>
            </a:r>
            <a:endParaRPr lang="en-US" sz="2000" dirty="0"/>
          </a:p>
        </p:txBody>
      </p:sp>
      <p:sp>
        <p:nvSpPr>
          <p:cNvPr id="14" name="Shape 12"/>
          <p:cNvSpPr/>
          <p:nvPr/>
        </p:nvSpPr>
        <p:spPr>
          <a:xfrm>
            <a:off x="548640" y="4983480"/>
            <a:ext cx="365760" cy="365760"/>
          </a:xfrm>
          <a:prstGeom prst="ellipse">
            <a:avLst/>
          </a:prstGeom>
          <a:solidFill>
            <a:srgbClr val="F2A93B"/>
          </a:solidFill>
          <a:ln/>
        </p:spPr>
      </p:sp>
      <p:sp>
        <p:nvSpPr>
          <p:cNvPr id="15" name="Text 13"/>
          <p:cNvSpPr/>
          <p:nvPr/>
        </p:nvSpPr>
        <p:spPr>
          <a:xfrm>
            <a:off x="548640" y="4983480"/>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6" name="Text 14"/>
          <p:cNvSpPr/>
          <p:nvPr/>
        </p:nvSpPr>
        <p:spPr>
          <a:xfrm>
            <a:off x="1143000" y="4956048"/>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Distinguish correlation from causation and spot common statistical traps.</a:t>
            </a:r>
            <a:endParaRPr lang="en-US" sz="2000" dirty="0"/>
          </a:p>
        </p:txBody>
      </p:sp>
      <p:sp>
        <p:nvSpPr>
          <p:cNvPr id="17" name="Text 15"/>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5B7370"/>
                </a:solidFill>
                <a:latin typeface="Calibri" pitchFamily="34" charset="0"/>
                <a:ea typeface="Calibri" pitchFamily="34" charset="-122"/>
                <a:cs typeface="Calibri" pitchFamily="34" charset="-120"/>
              </a:rPr>
              <a:t>Presidency University | Dept. of AI &amp; Robotics | DSC4000 | Statics for Data Science</a:t>
            </a:r>
            <a:endParaRPr lang="en-US" sz="1000" dirty="0"/>
          </a:p>
        </p:txBody>
      </p:sp>
      <p:sp>
        <p:nvSpPr>
          <p:cNvPr id="18" name="Text 16"/>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737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3B37"/>
        </a:solidFill>
        <a:effectLst/>
      </p:bgPr>
    </p:bg>
    <p:spTree>
      <p:nvGrpSpPr>
        <p:cNvPr id="1" name=""/>
        <p:cNvGrpSpPr/>
        <p:nvPr/>
      </p:nvGrpSpPr>
      <p:grpSpPr>
        <a:xfrm>
          <a:off x="0" y="0"/>
          <a:ext cx="0" cy="0"/>
          <a:chOff x="0" y="0"/>
          <a:chExt cx="0" cy="0"/>
        </a:xfrm>
      </p:grpSpPr>
      <p:sp>
        <p:nvSpPr>
          <p:cNvPr id="2" name="Shape 0"/>
          <p:cNvSpPr/>
          <p:nvPr/>
        </p:nvSpPr>
        <p:spPr>
          <a:xfrm>
            <a:off x="10332720" y="-1097280"/>
            <a:ext cx="3657600" cy="3657600"/>
          </a:xfrm>
          <a:prstGeom prst="ellipse">
            <a:avLst/>
          </a:prstGeom>
          <a:solidFill>
            <a:srgbClr val="0E5C56"/>
          </a:solidFill>
          <a:ln/>
        </p:spPr>
      </p:sp>
      <p:sp>
        <p:nvSpPr>
          <p:cNvPr id="3" name="Text 1"/>
          <p:cNvSpPr/>
          <p:nvPr/>
        </p:nvSpPr>
        <p:spPr>
          <a:xfrm>
            <a:off x="640080" y="548640"/>
            <a:ext cx="7315200" cy="457200"/>
          </a:xfrm>
          <a:prstGeom prst="rect">
            <a:avLst/>
          </a:prstGeom>
          <a:noFill/>
          <a:ln/>
        </p:spPr>
        <p:txBody>
          <a:bodyPr wrap="square" rtlCol="0" anchor="ctr"/>
          <a:lstStyle/>
          <a:p>
            <a:pPr marL="0" indent="0">
              <a:buNone/>
            </a:pPr>
            <a:r>
              <a:rPr lang="en-US" sz="1500" b="1" kern="0" spc="200" dirty="0">
                <a:solidFill>
                  <a:srgbClr val="F2A93B"/>
                </a:solidFill>
                <a:latin typeface="Calibri" pitchFamily="34" charset="0"/>
                <a:ea typeface="Calibri" pitchFamily="34" charset="-122"/>
                <a:cs typeface="Calibri" pitchFamily="34" charset="-120"/>
              </a:rPr>
              <a:t>ICEBREAKER</a:t>
            </a:r>
            <a:endParaRPr lang="en-US" sz="1500" dirty="0"/>
          </a:p>
        </p:txBody>
      </p:sp>
      <p:sp>
        <p:nvSpPr>
          <p:cNvPr id="4" name="Text 2"/>
          <p:cNvSpPr/>
          <p:nvPr/>
        </p:nvSpPr>
        <p:spPr>
          <a:xfrm>
            <a:off x="640080" y="1005840"/>
            <a:ext cx="10058400" cy="82296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Let's Warm Up</a:t>
            </a:r>
            <a:endParaRPr lang="en-US" sz="3000" dirty="0"/>
          </a:p>
        </p:txBody>
      </p:sp>
      <p:sp>
        <p:nvSpPr>
          <p:cNvPr id="5" name="Shape 3"/>
          <p:cNvSpPr/>
          <p:nvPr/>
        </p:nvSpPr>
        <p:spPr>
          <a:xfrm>
            <a:off x="640080" y="2148840"/>
            <a:ext cx="502920" cy="502920"/>
          </a:xfrm>
          <a:prstGeom prst="ellipse">
            <a:avLst/>
          </a:prstGeom>
          <a:solidFill>
            <a:srgbClr val="F2A93B"/>
          </a:solidFill>
          <a:ln/>
        </p:spPr>
      </p:sp>
      <p:sp>
        <p:nvSpPr>
          <p:cNvPr id="6" name="Text 4"/>
          <p:cNvSpPr/>
          <p:nvPr/>
        </p:nvSpPr>
        <p:spPr>
          <a:xfrm>
            <a:off x="640080" y="2148840"/>
            <a:ext cx="502920" cy="502920"/>
          </a:xfrm>
          <a:prstGeom prst="rect">
            <a:avLst/>
          </a:prstGeom>
          <a:noFill/>
          <a:ln/>
        </p:spPr>
        <p:txBody>
          <a:bodyPr wrap="square" rtlCol="0" anchor="ctr"/>
          <a:lstStyle/>
          <a:p>
            <a:pPr marL="0" indent="0" algn="ctr">
              <a:buNone/>
            </a:pPr>
            <a:r>
              <a:rPr lang="en-US" sz="1400" b="1" dirty="0">
                <a:solidFill>
                  <a:srgbClr val="073B37"/>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371600" y="2103120"/>
            <a:ext cx="9875520" cy="777240"/>
          </a:xfrm>
          <a:prstGeom prst="rect">
            <a:avLst/>
          </a:prstGeom>
          <a:noFill/>
          <a:ln/>
        </p:spPr>
        <p:txBody>
          <a:bodyPr wrap="square" rtlCol="0" anchor="ctr"/>
          <a:lstStyle/>
          <a:p>
            <a:pPr marL="0" indent="0">
              <a:buNone/>
            </a:pPr>
            <a:r>
              <a:rPr lang="en-US" sz="2000" dirty="0">
                <a:solidFill>
                  <a:srgbClr val="FFFFFF"/>
                </a:solidFill>
                <a:latin typeface="Calibri" pitchFamily="34" charset="0"/>
                <a:ea typeface="Calibri" pitchFamily="34" charset="-122"/>
                <a:cs typeface="Calibri" pitchFamily="34" charset="-120"/>
              </a:rPr>
              <a:t>Can you think of two things in daily life that seem to rise and fall together?</a:t>
            </a:r>
            <a:endParaRPr lang="en-US" sz="2000" dirty="0"/>
          </a:p>
        </p:txBody>
      </p:sp>
      <p:sp>
        <p:nvSpPr>
          <p:cNvPr id="8" name="Shape 6"/>
          <p:cNvSpPr/>
          <p:nvPr/>
        </p:nvSpPr>
        <p:spPr>
          <a:xfrm>
            <a:off x="640080" y="3063240"/>
            <a:ext cx="502920" cy="502920"/>
          </a:xfrm>
          <a:prstGeom prst="ellipse">
            <a:avLst/>
          </a:prstGeom>
          <a:solidFill>
            <a:srgbClr val="F2A93B"/>
          </a:solidFill>
          <a:ln/>
        </p:spPr>
      </p:sp>
      <p:sp>
        <p:nvSpPr>
          <p:cNvPr id="9" name="Text 7"/>
          <p:cNvSpPr/>
          <p:nvPr/>
        </p:nvSpPr>
        <p:spPr>
          <a:xfrm>
            <a:off x="640080" y="3063240"/>
            <a:ext cx="502920" cy="502920"/>
          </a:xfrm>
          <a:prstGeom prst="rect">
            <a:avLst/>
          </a:prstGeom>
          <a:noFill/>
          <a:ln/>
        </p:spPr>
        <p:txBody>
          <a:bodyPr wrap="square" rtlCol="0" anchor="ctr"/>
          <a:lstStyle/>
          <a:p>
            <a:pPr marL="0" indent="0" algn="ctr">
              <a:buNone/>
            </a:pPr>
            <a:r>
              <a:rPr lang="en-US" sz="1400" b="1" dirty="0">
                <a:solidFill>
                  <a:srgbClr val="073B37"/>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1371600" y="3017520"/>
            <a:ext cx="9875520" cy="777240"/>
          </a:xfrm>
          <a:prstGeom prst="rect">
            <a:avLst/>
          </a:prstGeom>
          <a:noFill/>
          <a:ln/>
        </p:spPr>
        <p:txBody>
          <a:bodyPr wrap="square" rtlCol="0" anchor="ctr"/>
          <a:lstStyle/>
          <a:p>
            <a:pPr marL="0" indent="0">
              <a:buNone/>
            </a:pPr>
            <a:r>
              <a:rPr lang="en-US" sz="2000" dirty="0">
                <a:solidFill>
                  <a:srgbClr val="FFFFFF"/>
                </a:solidFill>
                <a:latin typeface="Calibri" pitchFamily="34" charset="0"/>
                <a:ea typeface="Calibri" pitchFamily="34" charset="-122"/>
                <a:cs typeface="Calibri" pitchFamily="34" charset="-120"/>
              </a:rPr>
              <a:t>Have you ever heard someone say 'X causes Y' just because they noticed a pattern?</a:t>
            </a:r>
            <a:endParaRPr lang="en-US" sz="2000" dirty="0"/>
          </a:p>
        </p:txBody>
      </p:sp>
      <p:sp>
        <p:nvSpPr>
          <p:cNvPr id="11" name="Shape 9"/>
          <p:cNvSpPr/>
          <p:nvPr/>
        </p:nvSpPr>
        <p:spPr>
          <a:xfrm>
            <a:off x="640080" y="3977640"/>
            <a:ext cx="502920" cy="502920"/>
          </a:xfrm>
          <a:prstGeom prst="ellipse">
            <a:avLst/>
          </a:prstGeom>
          <a:solidFill>
            <a:srgbClr val="F2A93B"/>
          </a:solidFill>
          <a:ln/>
        </p:spPr>
      </p:sp>
      <p:sp>
        <p:nvSpPr>
          <p:cNvPr id="12" name="Text 10"/>
          <p:cNvSpPr/>
          <p:nvPr/>
        </p:nvSpPr>
        <p:spPr>
          <a:xfrm>
            <a:off x="640080" y="3977640"/>
            <a:ext cx="502920" cy="502920"/>
          </a:xfrm>
          <a:prstGeom prst="rect">
            <a:avLst/>
          </a:prstGeom>
          <a:noFill/>
          <a:ln/>
        </p:spPr>
        <p:txBody>
          <a:bodyPr wrap="square" rtlCol="0" anchor="ctr"/>
          <a:lstStyle/>
          <a:p>
            <a:pPr marL="0" indent="0" algn="ctr">
              <a:buNone/>
            </a:pPr>
            <a:r>
              <a:rPr lang="en-US" sz="1400" b="1" dirty="0">
                <a:solidFill>
                  <a:srgbClr val="073B37"/>
                </a:solidFill>
                <a:latin typeface="Calibri" pitchFamily="34" charset="0"/>
                <a:ea typeface="Calibri" pitchFamily="34" charset="-122"/>
                <a:cs typeface="Calibri" pitchFamily="34" charset="-120"/>
              </a:rPr>
              <a:t>3</a:t>
            </a:r>
            <a:endParaRPr lang="en-US" sz="1400" dirty="0"/>
          </a:p>
        </p:txBody>
      </p:sp>
      <p:sp>
        <p:nvSpPr>
          <p:cNvPr id="13" name="Text 11"/>
          <p:cNvSpPr/>
          <p:nvPr/>
        </p:nvSpPr>
        <p:spPr>
          <a:xfrm>
            <a:off x="1371600" y="3931920"/>
            <a:ext cx="9875520" cy="777240"/>
          </a:xfrm>
          <a:prstGeom prst="rect">
            <a:avLst/>
          </a:prstGeom>
          <a:noFill/>
          <a:ln/>
        </p:spPr>
        <p:txBody>
          <a:bodyPr wrap="square" rtlCol="0" anchor="ctr"/>
          <a:lstStyle/>
          <a:p>
            <a:pPr marL="0" indent="0">
              <a:buNone/>
            </a:pPr>
            <a:r>
              <a:rPr lang="en-US" sz="2000" dirty="0">
                <a:solidFill>
                  <a:srgbClr val="FFFFFF"/>
                </a:solidFill>
                <a:latin typeface="Calibri" pitchFamily="34" charset="0"/>
                <a:ea typeface="Calibri" pitchFamily="34" charset="-122"/>
                <a:cs typeface="Calibri" pitchFamily="34" charset="-120"/>
              </a:rPr>
              <a:t>If you studied more hours this week, do you expect your test score to go up, down, or stay the same?</a:t>
            </a:r>
            <a:endParaRPr lang="en-US" sz="2000" dirty="0"/>
          </a:p>
        </p:txBody>
      </p:sp>
      <p:sp>
        <p:nvSpPr>
          <p:cNvPr id="14" name="Text 12"/>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5B7370"/>
                </a:solidFill>
                <a:latin typeface="Calibri" pitchFamily="34" charset="0"/>
                <a:ea typeface="Calibri" pitchFamily="34" charset="-122"/>
                <a:cs typeface="Calibri" pitchFamily="34" charset="-120"/>
              </a:rPr>
              <a:t>Presidency University | Dept. of AI &amp; Robotics | DSC4000 | Statics for Data Science</a:t>
            </a:r>
            <a:endParaRPr lang="en-US" sz="1000" dirty="0"/>
          </a:p>
        </p:txBody>
      </p:sp>
      <p:sp>
        <p:nvSpPr>
          <p:cNvPr id="15" name="Text 13"/>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737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3B37"/>
        </a:solidFill>
        <a:effectLst/>
      </p:bgPr>
    </p:bg>
    <p:spTree>
      <p:nvGrpSpPr>
        <p:cNvPr id="1" name=""/>
        <p:cNvGrpSpPr/>
        <p:nvPr/>
      </p:nvGrpSpPr>
      <p:grpSpPr>
        <a:xfrm>
          <a:off x="0" y="0"/>
          <a:ext cx="0" cy="0"/>
          <a:chOff x="0" y="0"/>
          <a:chExt cx="0" cy="0"/>
        </a:xfrm>
      </p:grpSpPr>
      <p:sp>
        <p:nvSpPr>
          <p:cNvPr id="2" name="Shape 0"/>
          <p:cNvSpPr/>
          <p:nvPr/>
        </p:nvSpPr>
        <p:spPr>
          <a:xfrm>
            <a:off x="10332720" y="-1097280"/>
            <a:ext cx="3657600" cy="3657600"/>
          </a:xfrm>
          <a:prstGeom prst="ellipse">
            <a:avLst/>
          </a:prstGeom>
          <a:solidFill>
            <a:srgbClr val="0E5C56"/>
          </a:solidFill>
          <a:ln/>
        </p:spPr>
      </p:sp>
      <p:sp>
        <p:nvSpPr>
          <p:cNvPr id="3" name="Text 1"/>
          <p:cNvSpPr/>
          <p:nvPr/>
        </p:nvSpPr>
        <p:spPr>
          <a:xfrm>
            <a:off x="640080" y="548640"/>
            <a:ext cx="7315200" cy="457200"/>
          </a:xfrm>
          <a:prstGeom prst="rect">
            <a:avLst/>
          </a:prstGeom>
          <a:noFill/>
          <a:ln/>
        </p:spPr>
        <p:txBody>
          <a:bodyPr wrap="square" rtlCol="0" anchor="ctr"/>
          <a:lstStyle/>
          <a:p>
            <a:pPr marL="0" indent="0">
              <a:buNone/>
            </a:pPr>
            <a:r>
              <a:rPr lang="en-US" sz="1500" b="1" kern="0" spc="200" dirty="0">
                <a:solidFill>
                  <a:srgbClr val="F2A93B"/>
                </a:solidFill>
                <a:latin typeface="Calibri" pitchFamily="34" charset="0"/>
                <a:ea typeface="Calibri" pitchFamily="34" charset="-122"/>
                <a:cs typeface="Calibri" pitchFamily="34" charset="-120"/>
              </a:rPr>
              <a:t>ICEBREAKER</a:t>
            </a:r>
            <a:endParaRPr lang="en-US" sz="1500" dirty="0"/>
          </a:p>
        </p:txBody>
      </p:sp>
      <p:sp>
        <p:nvSpPr>
          <p:cNvPr id="4" name="Text 2"/>
          <p:cNvSpPr/>
          <p:nvPr/>
        </p:nvSpPr>
        <p:spPr>
          <a:xfrm>
            <a:off x="640080" y="1005840"/>
            <a:ext cx="10058400" cy="82296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Quick Poll: Guess the Relationship</a:t>
            </a:r>
            <a:endParaRPr lang="en-US" sz="3000" dirty="0"/>
          </a:p>
        </p:txBody>
      </p:sp>
      <p:sp>
        <p:nvSpPr>
          <p:cNvPr id="5" name="Shape 3"/>
          <p:cNvSpPr/>
          <p:nvPr/>
        </p:nvSpPr>
        <p:spPr>
          <a:xfrm>
            <a:off x="640080" y="2148840"/>
            <a:ext cx="502920" cy="502920"/>
          </a:xfrm>
          <a:prstGeom prst="ellipse">
            <a:avLst/>
          </a:prstGeom>
          <a:solidFill>
            <a:srgbClr val="F2A93B"/>
          </a:solidFill>
          <a:ln/>
        </p:spPr>
      </p:sp>
      <p:sp>
        <p:nvSpPr>
          <p:cNvPr id="6" name="Text 4"/>
          <p:cNvSpPr/>
          <p:nvPr/>
        </p:nvSpPr>
        <p:spPr>
          <a:xfrm>
            <a:off x="640080" y="2148840"/>
            <a:ext cx="502920" cy="502920"/>
          </a:xfrm>
          <a:prstGeom prst="rect">
            <a:avLst/>
          </a:prstGeom>
          <a:noFill/>
          <a:ln/>
        </p:spPr>
        <p:txBody>
          <a:bodyPr wrap="square" rtlCol="0" anchor="ctr"/>
          <a:lstStyle/>
          <a:p>
            <a:pPr marL="0" indent="0" algn="ctr">
              <a:buNone/>
            </a:pPr>
            <a:r>
              <a:rPr lang="en-US" sz="1400" b="1" dirty="0">
                <a:solidFill>
                  <a:srgbClr val="073B37"/>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371600" y="2103120"/>
            <a:ext cx="9875520" cy="777240"/>
          </a:xfrm>
          <a:prstGeom prst="rect">
            <a:avLst/>
          </a:prstGeom>
          <a:noFill/>
          <a:ln/>
        </p:spPr>
        <p:txBody>
          <a:bodyPr wrap="square" rtlCol="0" anchor="ctr"/>
          <a:lstStyle/>
          <a:p>
            <a:pPr marL="0" indent="0">
              <a:buNone/>
            </a:pPr>
            <a:r>
              <a:rPr lang="en-US" sz="2000" dirty="0">
                <a:solidFill>
                  <a:srgbClr val="FFFFFF"/>
                </a:solidFill>
                <a:latin typeface="Calibri" pitchFamily="34" charset="0"/>
                <a:ea typeface="Calibri" pitchFamily="34" charset="-122"/>
                <a:cs typeface="Calibri" pitchFamily="34" charset="-120"/>
              </a:rPr>
              <a:t>Hours of sleep vs. next-day exam performance — positive, negative, or no relationship?</a:t>
            </a:r>
            <a:endParaRPr lang="en-US" sz="2000" dirty="0"/>
          </a:p>
        </p:txBody>
      </p:sp>
      <p:sp>
        <p:nvSpPr>
          <p:cNvPr id="8" name="Shape 6"/>
          <p:cNvSpPr/>
          <p:nvPr/>
        </p:nvSpPr>
        <p:spPr>
          <a:xfrm>
            <a:off x="640080" y="3063240"/>
            <a:ext cx="502920" cy="502920"/>
          </a:xfrm>
          <a:prstGeom prst="ellipse">
            <a:avLst/>
          </a:prstGeom>
          <a:solidFill>
            <a:srgbClr val="F2A93B"/>
          </a:solidFill>
          <a:ln/>
        </p:spPr>
      </p:sp>
      <p:sp>
        <p:nvSpPr>
          <p:cNvPr id="9" name="Text 7"/>
          <p:cNvSpPr/>
          <p:nvPr/>
        </p:nvSpPr>
        <p:spPr>
          <a:xfrm>
            <a:off x="640080" y="3063240"/>
            <a:ext cx="502920" cy="502920"/>
          </a:xfrm>
          <a:prstGeom prst="rect">
            <a:avLst/>
          </a:prstGeom>
          <a:noFill/>
          <a:ln/>
        </p:spPr>
        <p:txBody>
          <a:bodyPr wrap="square" rtlCol="0" anchor="ctr"/>
          <a:lstStyle/>
          <a:p>
            <a:pPr marL="0" indent="0" algn="ctr">
              <a:buNone/>
            </a:pPr>
            <a:r>
              <a:rPr lang="en-US" sz="1400" b="1" dirty="0">
                <a:solidFill>
                  <a:srgbClr val="073B37"/>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1371600" y="3017520"/>
            <a:ext cx="9875520" cy="777240"/>
          </a:xfrm>
          <a:prstGeom prst="rect">
            <a:avLst/>
          </a:prstGeom>
          <a:noFill/>
          <a:ln/>
        </p:spPr>
        <p:txBody>
          <a:bodyPr wrap="square" rtlCol="0" anchor="ctr"/>
          <a:lstStyle/>
          <a:p>
            <a:pPr marL="0" indent="0">
              <a:buNone/>
            </a:pPr>
            <a:r>
              <a:rPr lang="en-US" sz="2000" dirty="0">
                <a:solidFill>
                  <a:srgbClr val="FFFFFF"/>
                </a:solidFill>
                <a:latin typeface="Calibri" pitchFamily="34" charset="0"/>
                <a:ea typeface="Calibri" pitchFamily="34" charset="-122"/>
                <a:cs typeface="Calibri" pitchFamily="34" charset="-120"/>
              </a:rPr>
              <a:t>Price of a laptop vs. its battery life — positive, negative, or no relationship?</a:t>
            </a:r>
            <a:endParaRPr lang="en-US" sz="2000" dirty="0"/>
          </a:p>
        </p:txBody>
      </p:sp>
      <p:sp>
        <p:nvSpPr>
          <p:cNvPr id="11" name="Shape 9"/>
          <p:cNvSpPr/>
          <p:nvPr/>
        </p:nvSpPr>
        <p:spPr>
          <a:xfrm>
            <a:off x="640080" y="3977640"/>
            <a:ext cx="502920" cy="502920"/>
          </a:xfrm>
          <a:prstGeom prst="ellipse">
            <a:avLst/>
          </a:prstGeom>
          <a:solidFill>
            <a:srgbClr val="F2A93B"/>
          </a:solidFill>
          <a:ln/>
        </p:spPr>
      </p:sp>
      <p:sp>
        <p:nvSpPr>
          <p:cNvPr id="12" name="Text 10"/>
          <p:cNvSpPr/>
          <p:nvPr/>
        </p:nvSpPr>
        <p:spPr>
          <a:xfrm>
            <a:off x="640080" y="3977640"/>
            <a:ext cx="502920" cy="502920"/>
          </a:xfrm>
          <a:prstGeom prst="rect">
            <a:avLst/>
          </a:prstGeom>
          <a:noFill/>
          <a:ln/>
        </p:spPr>
        <p:txBody>
          <a:bodyPr wrap="square" rtlCol="0" anchor="ctr"/>
          <a:lstStyle/>
          <a:p>
            <a:pPr marL="0" indent="0" algn="ctr">
              <a:buNone/>
            </a:pPr>
            <a:r>
              <a:rPr lang="en-US" sz="1400" b="1" dirty="0">
                <a:solidFill>
                  <a:srgbClr val="073B37"/>
                </a:solidFill>
                <a:latin typeface="Calibri" pitchFamily="34" charset="0"/>
                <a:ea typeface="Calibri" pitchFamily="34" charset="-122"/>
                <a:cs typeface="Calibri" pitchFamily="34" charset="-120"/>
              </a:rPr>
              <a:t>3</a:t>
            </a:r>
            <a:endParaRPr lang="en-US" sz="1400" dirty="0"/>
          </a:p>
        </p:txBody>
      </p:sp>
      <p:sp>
        <p:nvSpPr>
          <p:cNvPr id="13" name="Text 11"/>
          <p:cNvSpPr/>
          <p:nvPr/>
        </p:nvSpPr>
        <p:spPr>
          <a:xfrm>
            <a:off x="1371600" y="3931920"/>
            <a:ext cx="9875520" cy="777240"/>
          </a:xfrm>
          <a:prstGeom prst="rect">
            <a:avLst/>
          </a:prstGeom>
          <a:noFill/>
          <a:ln/>
        </p:spPr>
        <p:txBody>
          <a:bodyPr wrap="square" rtlCol="0" anchor="ctr"/>
          <a:lstStyle/>
          <a:p>
            <a:pPr marL="0" indent="0">
              <a:buNone/>
            </a:pPr>
            <a:r>
              <a:rPr lang="en-US" sz="2000" dirty="0">
                <a:solidFill>
                  <a:srgbClr val="FFFFFF"/>
                </a:solidFill>
                <a:latin typeface="Calibri" pitchFamily="34" charset="0"/>
                <a:ea typeface="Calibri" pitchFamily="34" charset="-122"/>
                <a:cs typeface="Calibri" pitchFamily="34" charset="-120"/>
              </a:rPr>
              <a:t>Shoe size vs. favourite colour — positive, negative, or no relationship?</a:t>
            </a:r>
            <a:endParaRPr lang="en-US" sz="2000" dirty="0"/>
          </a:p>
        </p:txBody>
      </p:sp>
      <p:sp>
        <p:nvSpPr>
          <p:cNvPr id="14" name="Text 12"/>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5B7370"/>
                </a:solidFill>
                <a:latin typeface="Calibri" pitchFamily="34" charset="0"/>
                <a:ea typeface="Calibri" pitchFamily="34" charset="-122"/>
                <a:cs typeface="Calibri" pitchFamily="34" charset="-120"/>
              </a:rPr>
              <a:t>Presidency University | Dept. of AI &amp; Robotics | DSC4000 | Statics for Data Science</a:t>
            </a:r>
            <a:endParaRPr lang="en-US" sz="1000" dirty="0"/>
          </a:p>
        </p:txBody>
      </p:sp>
      <p:sp>
        <p:nvSpPr>
          <p:cNvPr id="15" name="Text 13"/>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737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3291840" cy="384048"/>
          </a:xfrm>
          <a:prstGeom prst="roundRect">
            <a:avLst>
              <a:gd name="adj" fmla="val 19048"/>
            </a:avLst>
          </a:prstGeom>
          <a:solidFill>
            <a:srgbClr val="E8F4F2"/>
          </a:solidFill>
          <a:ln/>
        </p:spPr>
      </p:sp>
      <p:sp>
        <p:nvSpPr>
          <p:cNvPr id="3" name="Text 1"/>
          <p:cNvSpPr/>
          <p:nvPr/>
        </p:nvSpPr>
        <p:spPr>
          <a:xfrm>
            <a:off x="548640" y="457200"/>
            <a:ext cx="3291840" cy="384048"/>
          </a:xfrm>
          <a:prstGeom prst="rect">
            <a:avLst/>
          </a:prstGeom>
          <a:noFill/>
          <a:ln/>
        </p:spPr>
        <p:txBody>
          <a:bodyPr wrap="square" rtlCol="0" anchor="ctr"/>
          <a:lstStyle/>
          <a:p>
            <a:pPr marL="0" indent="0" algn="ctr">
              <a:buNone/>
            </a:pPr>
            <a:r>
              <a:rPr lang="en-US" sz="1300" b="1" kern="0" spc="100" dirty="0">
                <a:solidFill>
                  <a:srgbClr val="0E5C56"/>
                </a:solidFill>
                <a:latin typeface="Calibri" pitchFamily="34" charset="0"/>
                <a:ea typeface="Calibri" pitchFamily="34" charset="-122"/>
                <a:cs typeface="Calibri" pitchFamily="34" charset="-120"/>
              </a:rPr>
              <a:t>MOTIVATION</a:t>
            </a:r>
            <a:endParaRPr lang="en-US" sz="1300" dirty="0"/>
          </a:p>
        </p:txBody>
      </p:sp>
      <p:sp>
        <p:nvSpPr>
          <p:cNvPr id="4" name="Text 2"/>
          <p:cNvSpPr/>
          <p:nvPr/>
        </p:nvSpPr>
        <p:spPr>
          <a:xfrm>
            <a:off x="548640" y="960120"/>
            <a:ext cx="11091672" cy="914400"/>
          </a:xfrm>
          <a:prstGeom prst="rect">
            <a:avLst/>
          </a:prstGeom>
          <a:noFill/>
          <a:ln/>
        </p:spPr>
        <p:txBody>
          <a:bodyPr wrap="square" rtlCol="0" anchor="t"/>
          <a:lstStyle/>
          <a:p>
            <a:pPr marL="0" indent="0" algn="l">
              <a:buNone/>
            </a:pPr>
            <a:r>
              <a:rPr lang="en-US" sz="3200" b="1" dirty="0">
                <a:solidFill>
                  <a:srgbClr val="1B2B2A"/>
                </a:solidFill>
                <a:latin typeface="Cambria" pitchFamily="34" charset="0"/>
                <a:ea typeface="Cambria" pitchFamily="34" charset="-122"/>
                <a:cs typeface="Cambria" pitchFamily="34" charset="-120"/>
              </a:rPr>
              <a:t>Why Correlation &amp; Covariance Matter</a:t>
            </a:r>
            <a:endParaRPr lang="en-US" sz="3200" dirty="0"/>
          </a:p>
        </p:txBody>
      </p:sp>
      <p:sp>
        <p:nvSpPr>
          <p:cNvPr id="5" name="Shape 3"/>
          <p:cNvSpPr/>
          <p:nvPr/>
        </p:nvSpPr>
        <p:spPr>
          <a:xfrm>
            <a:off x="548640" y="1993392"/>
            <a:ext cx="365760" cy="365760"/>
          </a:xfrm>
          <a:prstGeom prst="ellipse">
            <a:avLst/>
          </a:prstGeom>
          <a:solidFill>
            <a:srgbClr val="F2A93B"/>
          </a:solidFill>
          <a:ln/>
        </p:spPr>
      </p:sp>
      <p:sp>
        <p:nvSpPr>
          <p:cNvPr id="6" name="Text 4"/>
          <p:cNvSpPr/>
          <p:nvPr/>
        </p:nvSpPr>
        <p:spPr>
          <a:xfrm>
            <a:off x="548640" y="1993392"/>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7" name="Text 5"/>
          <p:cNvSpPr/>
          <p:nvPr/>
        </p:nvSpPr>
        <p:spPr>
          <a:xfrm>
            <a:off x="1143000" y="1965960"/>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Almost every data-driven decision compares two or more variables, not just one.</a:t>
            </a:r>
            <a:endParaRPr lang="en-US" sz="2000" dirty="0"/>
          </a:p>
        </p:txBody>
      </p:sp>
      <p:sp>
        <p:nvSpPr>
          <p:cNvPr id="8" name="Shape 6"/>
          <p:cNvSpPr/>
          <p:nvPr/>
        </p:nvSpPr>
        <p:spPr>
          <a:xfrm>
            <a:off x="548640" y="3246120"/>
            <a:ext cx="365760" cy="365760"/>
          </a:xfrm>
          <a:prstGeom prst="ellipse">
            <a:avLst/>
          </a:prstGeom>
          <a:solidFill>
            <a:srgbClr val="F2A93B"/>
          </a:solidFill>
          <a:ln/>
        </p:spPr>
      </p:sp>
      <p:sp>
        <p:nvSpPr>
          <p:cNvPr id="9" name="Text 7"/>
          <p:cNvSpPr/>
          <p:nvPr/>
        </p:nvSpPr>
        <p:spPr>
          <a:xfrm>
            <a:off x="548640" y="3246120"/>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0" name="Text 8"/>
          <p:cNvSpPr/>
          <p:nvPr/>
        </p:nvSpPr>
        <p:spPr>
          <a:xfrm>
            <a:off x="1143000" y="3218688"/>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Doctors check if a biomarker relates to disease risk; investors check if two stocks move together.</a:t>
            </a:r>
            <a:endParaRPr lang="en-US" sz="2000" dirty="0"/>
          </a:p>
        </p:txBody>
      </p:sp>
      <p:sp>
        <p:nvSpPr>
          <p:cNvPr id="11" name="Shape 9"/>
          <p:cNvSpPr/>
          <p:nvPr/>
        </p:nvSpPr>
        <p:spPr>
          <a:xfrm>
            <a:off x="548640" y="4498848"/>
            <a:ext cx="365760" cy="365760"/>
          </a:xfrm>
          <a:prstGeom prst="ellipse">
            <a:avLst/>
          </a:prstGeom>
          <a:solidFill>
            <a:srgbClr val="F2A93B"/>
          </a:solidFill>
          <a:ln/>
        </p:spPr>
      </p:sp>
      <p:sp>
        <p:nvSpPr>
          <p:cNvPr id="12" name="Text 10"/>
          <p:cNvSpPr/>
          <p:nvPr/>
        </p:nvSpPr>
        <p:spPr>
          <a:xfrm>
            <a:off x="548640" y="4498848"/>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3" name="Text 11"/>
          <p:cNvSpPr/>
          <p:nvPr/>
        </p:nvSpPr>
        <p:spPr>
          <a:xfrm>
            <a:off x="1143000" y="4471416"/>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Correlation is the foundation for regression, feature selection, and machine learning pipelines.</a:t>
            </a:r>
            <a:endParaRPr lang="en-US" sz="2000" dirty="0"/>
          </a:p>
        </p:txBody>
      </p:sp>
      <p:sp>
        <p:nvSpPr>
          <p:cNvPr id="14" name="Shape 12"/>
          <p:cNvSpPr/>
          <p:nvPr/>
        </p:nvSpPr>
        <p:spPr>
          <a:xfrm>
            <a:off x="548640" y="5751576"/>
            <a:ext cx="365760" cy="365760"/>
          </a:xfrm>
          <a:prstGeom prst="ellipse">
            <a:avLst/>
          </a:prstGeom>
          <a:solidFill>
            <a:srgbClr val="F2A93B"/>
          </a:solidFill>
          <a:ln/>
        </p:spPr>
      </p:sp>
      <p:sp>
        <p:nvSpPr>
          <p:cNvPr id="15" name="Text 13"/>
          <p:cNvSpPr/>
          <p:nvPr/>
        </p:nvSpPr>
        <p:spPr>
          <a:xfrm>
            <a:off x="548640" y="5751576"/>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6" name="Text 14"/>
          <p:cNvSpPr/>
          <p:nvPr/>
        </p:nvSpPr>
        <p:spPr>
          <a:xfrm>
            <a:off x="1143000" y="5724144"/>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Misreading correlation leads to real-world mistakes — from bad investments to flawed medical claims.</a:t>
            </a:r>
            <a:endParaRPr lang="en-US" sz="2000" dirty="0"/>
          </a:p>
        </p:txBody>
      </p:sp>
      <p:sp>
        <p:nvSpPr>
          <p:cNvPr id="17" name="Text 15"/>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5B7370"/>
                </a:solidFill>
                <a:latin typeface="Calibri" pitchFamily="34" charset="0"/>
                <a:ea typeface="Calibri" pitchFamily="34" charset="-122"/>
                <a:cs typeface="Calibri" pitchFamily="34" charset="-120"/>
              </a:rPr>
              <a:t>Presidency University | Dept. of AI &amp; Robotics | DSC4000 | Statics for Data Science</a:t>
            </a:r>
            <a:endParaRPr lang="en-US" sz="1000" dirty="0"/>
          </a:p>
        </p:txBody>
      </p:sp>
      <p:sp>
        <p:nvSpPr>
          <p:cNvPr id="18" name="Text 16"/>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737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3291840" cy="384048"/>
          </a:xfrm>
          <a:prstGeom prst="roundRect">
            <a:avLst>
              <a:gd name="adj" fmla="val 19048"/>
            </a:avLst>
          </a:prstGeom>
          <a:solidFill>
            <a:srgbClr val="E8F4F2"/>
          </a:solidFill>
          <a:ln/>
        </p:spPr>
      </p:sp>
      <p:sp>
        <p:nvSpPr>
          <p:cNvPr id="3" name="Text 1"/>
          <p:cNvSpPr/>
          <p:nvPr/>
        </p:nvSpPr>
        <p:spPr>
          <a:xfrm>
            <a:off x="548640" y="457200"/>
            <a:ext cx="3291840" cy="384048"/>
          </a:xfrm>
          <a:prstGeom prst="rect">
            <a:avLst/>
          </a:prstGeom>
          <a:noFill/>
          <a:ln/>
        </p:spPr>
        <p:txBody>
          <a:bodyPr wrap="square" rtlCol="0" anchor="ctr"/>
          <a:lstStyle/>
          <a:p>
            <a:pPr marL="0" indent="0" algn="ctr">
              <a:buNone/>
            </a:pPr>
            <a:r>
              <a:rPr lang="en-US" sz="1300" b="1" kern="0" spc="100" dirty="0">
                <a:solidFill>
                  <a:srgbClr val="0E5C56"/>
                </a:solidFill>
                <a:latin typeface="Calibri" pitchFamily="34" charset="0"/>
                <a:ea typeface="Calibri" pitchFamily="34" charset="-122"/>
                <a:cs typeface="Calibri" pitchFamily="34" charset="-120"/>
              </a:rPr>
              <a:t>BRIDGING CONCEPT</a:t>
            </a:r>
            <a:endParaRPr lang="en-US" sz="1300" dirty="0"/>
          </a:p>
        </p:txBody>
      </p:sp>
      <p:sp>
        <p:nvSpPr>
          <p:cNvPr id="4" name="Text 2"/>
          <p:cNvSpPr/>
          <p:nvPr/>
        </p:nvSpPr>
        <p:spPr>
          <a:xfrm>
            <a:off x="548640" y="960120"/>
            <a:ext cx="11091672" cy="914400"/>
          </a:xfrm>
          <a:prstGeom prst="rect">
            <a:avLst/>
          </a:prstGeom>
          <a:noFill/>
          <a:ln/>
        </p:spPr>
        <p:txBody>
          <a:bodyPr wrap="square" rtlCol="0" anchor="t"/>
          <a:lstStyle/>
          <a:p>
            <a:pPr marL="0" indent="0" algn="l">
              <a:buNone/>
            </a:pPr>
            <a:r>
              <a:rPr lang="en-US" sz="3200" b="1" dirty="0">
                <a:solidFill>
                  <a:srgbClr val="1B2B2A"/>
                </a:solidFill>
                <a:latin typeface="Cambria" pitchFamily="34" charset="0"/>
                <a:ea typeface="Cambria" pitchFamily="34" charset="-122"/>
                <a:cs typeface="Cambria" pitchFamily="34" charset="-120"/>
              </a:rPr>
              <a:t>One Variable vs. Two Variables</a:t>
            </a:r>
            <a:endParaRPr lang="en-US" sz="3200" dirty="0"/>
          </a:p>
        </p:txBody>
      </p:sp>
      <p:sp>
        <p:nvSpPr>
          <p:cNvPr id="5" name="Shape 3"/>
          <p:cNvSpPr/>
          <p:nvPr/>
        </p:nvSpPr>
        <p:spPr>
          <a:xfrm>
            <a:off x="548640" y="1965960"/>
            <a:ext cx="5212080" cy="502920"/>
          </a:xfrm>
          <a:prstGeom prst="roundRect">
            <a:avLst>
              <a:gd name="adj" fmla="val 14545"/>
            </a:avLst>
          </a:prstGeom>
          <a:solidFill>
            <a:srgbClr val="E8F4F2"/>
          </a:solidFill>
          <a:ln/>
        </p:spPr>
      </p:sp>
      <p:sp>
        <p:nvSpPr>
          <p:cNvPr id="6" name="Text 4"/>
          <p:cNvSpPr/>
          <p:nvPr/>
        </p:nvSpPr>
        <p:spPr>
          <a:xfrm>
            <a:off x="548640" y="1965960"/>
            <a:ext cx="5212080" cy="502920"/>
          </a:xfrm>
          <a:prstGeom prst="rect">
            <a:avLst/>
          </a:prstGeom>
          <a:noFill/>
          <a:ln/>
        </p:spPr>
        <p:txBody>
          <a:bodyPr wrap="square" rtlCol="0" anchor="ctr"/>
          <a:lstStyle/>
          <a:p>
            <a:pPr marL="0" indent="0" algn="ctr">
              <a:buNone/>
            </a:pPr>
            <a:r>
              <a:rPr lang="en-US" sz="1900" b="1" dirty="0">
                <a:solidFill>
                  <a:srgbClr val="0E5C56"/>
                </a:solidFill>
                <a:latin typeface="Calibri" pitchFamily="34" charset="0"/>
                <a:ea typeface="Calibri" pitchFamily="34" charset="-122"/>
                <a:cs typeface="Calibri" pitchFamily="34" charset="-120"/>
              </a:rPr>
              <a:t>Dispersion (last class)</a:t>
            </a:r>
            <a:endParaRPr lang="en-US" sz="1900" dirty="0"/>
          </a:p>
        </p:txBody>
      </p:sp>
      <p:sp>
        <p:nvSpPr>
          <p:cNvPr id="7" name="Text 5"/>
          <p:cNvSpPr/>
          <p:nvPr/>
        </p:nvSpPr>
        <p:spPr>
          <a:xfrm>
            <a:off x="640080" y="2697480"/>
            <a:ext cx="5029200" cy="548640"/>
          </a:xfrm>
          <a:prstGeom prst="rect">
            <a:avLst/>
          </a:prstGeom>
          <a:noFill/>
          <a:ln/>
        </p:spPr>
        <p:txBody>
          <a:bodyPr wrap="square" rtlCol="0" anchor="t"/>
          <a:lstStyle/>
          <a:p>
            <a:pPr marL="0" indent="0">
              <a:buNone/>
            </a:pPr>
            <a:r>
              <a:rPr lang="en-US" sz="1800" dirty="0">
                <a:solidFill>
                  <a:srgbClr val="1B2B2A"/>
                </a:solidFill>
                <a:latin typeface="Calibri" pitchFamily="34" charset="0"/>
                <a:ea typeface="Calibri" pitchFamily="34" charset="-122"/>
                <a:cs typeface="Calibri" pitchFamily="34" charset="-120"/>
              </a:rPr>
              <a:t>•  Looks at ONE variable at a time.</a:t>
            </a:r>
            <a:endParaRPr lang="en-US" sz="1800" dirty="0"/>
          </a:p>
        </p:txBody>
      </p:sp>
      <p:sp>
        <p:nvSpPr>
          <p:cNvPr id="8" name="Text 6"/>
          <p:cNvSpPr/>
          <p:nvPr/>
        </p:nvSpPr>
        <p:spPr>
          <a:xfrm>
            <a:off x="640080" y="3410712"/>
            <a:ext cx="5029200" cy="914400"/>
          </a:xfrm>
          <a:prstGeom prst="rect">
            <a:avLst/>
          </a:prstGeom>
          <a:noFill/>
          <a:ln/>
        </p:spPr>
        <p:txBody>
          <a:bodyPr wrap="square" rtlCol="0" anchor="t"/>
          <a:lstStyle/>
          <a:p>
            <a:pPr marL="0" indent="0">
              <a:buNone/>
            </a:pPr>
            <a:r>
              <a:rPr lang="en-US" sz="1800" dirty="0">
                <a:solidFill>
                  <a:srgbClr val="1B2B2A"/>
                </a:solidFill>
                <a:latin typeface="Calibri" pitchFamily="34" charset="0"/>
                <a:ea typeface="Calibri" pitchFamily="34" charset="-122"/>
                <a:cs typeface="Calibri" pitchFamily="34" charset="-120"/>
              </a:rPr>
              <a:t>•  Answers: how spread out are the values?</a:t>
            </a:r>
            <a:endParaRPr lang="en-US" sz="1800" dirty="0"/>
          </a:p>
        </p:txBody>
      </p:sp>
      <p:sp>
        <p:nvSpPr>
          <p:cNvPr id="9" name="Text 7"/>
          <p:cNvSpPr/>
          <p:nvPr/>
        </p:nvSpPr>
        <p:spPr>
          <a:xfrm>
            <a:off x="640080" y="4489704"/>
            <a:ext cx="5029200" cy="914400"/>
          </a:xfrm>
          <a:prstGeom prst="rect">
            <a:avLst/>
          </a:prstGeom>
          <a:noFill/>
          <a:ln/>
        </p:spPr>
        <p:txBody>
          <a:bodyPr wrap="square" rtlCol="0" anchor="t"/>
          <a:lstStyle/>
          <a:p>
            <a:pPr marL="0" indent="0">
              <a:buNone/>
            </a:pPr>
            <a:r>
              <a:rPr lang="en-US" sz="1800" dirty="0">
                <a:solidFill>
                  <a:srgbClr val="1B2B2A"/>
                </a:solidFill>
                <a:latin typeface="Calibri" pitchFamily="34" charset="0"/>
                <a:ea typeface="Calibri" pitchFamily="34" charset="-122"/>
                <a:cs typeface="Calibri" pitchFamily="34" charset="-120"/>
              </a:rPr>
              <a:t>•  Tools: variance, std. deviation, IQR.</a:t>
            </a:r>
            <a:endParaRPr lang="en-US" sz="1800" dirty="0"/>
          </a:p>
        </p:txBody>
      </p:sp>
      <p:sp>
        <p:nvSpPr>
          <p:cNvPr id="10" name="Text 8"/>
          <p:cNvSpPr/>
          <p:nvPr/>
        </p:nvSpPr>
        <p:spPr>
          <a:xfrm>
            <a:off x="640080" y="5568696"/>
            <a:ext cx="5029200" cy="914400"/>
          </a:xfrm>
          <a:prstGeom prst="rect">
            <a:avLst/>
          </a:prstGeom>
          <a:noFill/>
          <a:ln/>
        </p:spPr>
        <p:txBody>
          <a:bodyPr wrap="square" rtlCol="0" anchor="t"/>
          <a:lstStyle/>
          <a:p>
            <a:pPr marL="0" indent="0">
              <a:buNone/>
            </a:pPr>
            <a:r>
              <a:rPr lang="en-US" sz="1800" dirty="0">
                <a:solidFill>
                  <a:srgbClr val="1B2B2A"/>
                </a:solidFill>
                <a:latin typeface="Calibri" pitchFamily="34" charset="0"/>
                <a:ea typeface="Calibri" pitchFamily="34" charset="-122"/>
                <a:cs typeface="Calibri" pitchFamily="34" charset="-120"/>
              </a:rPr>
              <a:t>•  Example: spread of exam marks alone.</a:t>
            </a:r>
            <a:endParaRPr lang="en-US" sz="1800" dirty="0"/>
          </a:p>
        </p:txBody>
      </p:sp>
      <p:sp>
        <p:nvSpPr>
          <p:cNvPr id="11" name="Shape 9"/>
          <p:cNvSpPr/>
          <p:nvPr/>
        </p:nvSpPr>
        <p:spPr>
          <a:xfrm>
            <a:off x="6185916" y="1965960"/>
            <a:ext cx="5212080" cy="502920"/>
          </a:xfrm>
          <a:prstGeom prst="roundRect">
            <a:avLst>
              <a:gd name="adj" fmla="val 14545"/>
            </a:avLst>
          </a:prstGeom>
          <a:solidFill>
            <a:srgbClr val="E8F4F2"/>
          </a:solidFill>
          <a:ln/>
        </p:spPr>
      </p:sp>
      <p:sp>
        <p:nvSpPr>
          <p:cNvPr id="12" name="Text 10"/>
          <p:cNvSpPr/>
          <p:nvPr/>
        </p:nvSpPr>
        <p:spPr>
          <a:xfrm>
            <a:off x="6185916" y="1965960"/>
            <a:ext cx="5212080" cy="502920"/>
          </a:xfrm>
          <a:prstGeom prst="rect">
            <a:avLst/>
          </a:prstGeom>
          <a:noFill/>
          <a:ln/>
        </p:spPr>
        <p:txBody>
          <a:bodyPr wrap="square" rtlCol="0" anchor="ctr"/>
          <a:lstStyle/>
          <a:p>
            <a:pPr marL="0" indent="0" algn="ctr">
              <a:buNone/>
            </a:pPr>
            <a:r>
              <a:rPr lang="en-US" sz="1900" b="1" dirty="0">
                <a:solidFill>
                  <a:srgbClr val="C97F12"/>
                </a:solidFill>
                <a:latin typeface="Calibri" pitchFamily="34" charset="0"/>
                <a:ea typeface="Calibri" pitchFamily="34" charset="-122"/>
                <a:cs typeface="Calibri" pitchFamily="34" charset="-120"/>
              </a:rPr>
              <a:t>Covariance &amp; Correlation (today)</a:t>
            </a:r>
            <a:endParaRPr lang="en-US" sz="1900" dirty="0"/>
          </a:p>
        </p:txBody>
      </p:sp>
      <p:sp>
        <p:nvSpPr>
          <p:cNvPr id="13" name="Text 11"/>
          <p:cNvSpPr/>
          <p:nvPr/>
        </p:nvSpPr>
        <p:spPr>
          <a:xfrm>
            <a:off x="6277356" y="2697480"/>
            <a:ext cx="5029200" cy="548640"/>
          </a:xfrm>
          <a:prstGeom prst="rect">
            <a:avLst/>
          </a:prstGeom>
          <a:noFill/>
          <a:ln/>
        </p:spPr>
        <p:txBody>
          <a:bodyPr wrap="square" rtlCol="0" anchor="t"/>
          <a:lstStyle/>
          <a:p>
            <a:pPr marL="0" indent="0">
              <a:buNone/>
            </a:pPr>
            <a:r>
              <a:rPr lang="en-US" sz="1800" dirty="0">
                <a:solidFill>
                  <a:srgbClr val="1B2B2A"/>
                </a:solidFill>
                <a:latin typeface="Calibri" pitchFamily="34" charset="0"/>
                <a:ea typeface="Calibri" pitchFamily="34" charset="-122"/>
                <a:cs typeface="Calibri" pitchFamily="34" charset="-120"/>
              </a:rPr>
              <a:t>•  Looks at TWO variables together.</a:t>
            </a:r>
            <a:endParaRPr lang="en-US" sz="1800" dirty="0"/>
          </a:p>
        </p:txBody>
      </p:sp>
      <p:sp>
        <p:nvSpPr>
          <p:cNvPr id="14" name="Text 12"/>
          <p:cNvSpPr/>
          <p:nvPr/>
        </p:nvSpPr>
        <p:spPr>
          <a:xfrm>
            <a:off x="6277356" y="3410712"/>
            <a:ext cx="5029200" cy="914400"/>
          </a:xfrm>
          <a:prstGeom prst="rect">
            <a:avLst/>
          </a:prstGeom>
          <a:noFill/>
          <a:ln/>
        </p:spPr>
        <p:txBody>
          <a:bodyPr wrap="square" rtlCol="0" anchor="t"/>
          <a:lstStyle/>
          <a:p>
            <a:pPr marL="0" indent="0">
              <a:buNone/>
            </a:pPr>
            <a:r>
              <a:rPr lang="en-US" sz="1800" dirty="0">
                <a:solidFill>
                  <a:srgbClr val="1B2B2A"/>
                </a:solidFill>
                <a:latin typeface="Calibri" pitchFamily="34" charset="0"/>
                <a:ea typeface="Calibri" pitchFamily="34" charset="-122"/>
                <a:cs typeface="Calibri" pitchFamily="34" charset="-120"/>
              </a:rPr>
              <a:t>•  Answers: do they move in the same or opposite direction?</a:t>
            </a:r>
            <a:endParaRPr lang="en-US" sz="1800" dirty="0"/>
          </a:p>
        </p:txBody>
      </p:sp>
      <p:sp>
        <p:nvSpPr>
          <p:cNvPr id="15" name="Text 13"/>
          <p:cNvSpPr/>
          <p:nvPr/>
        </p:nvSpPr>
        <p:spPr>
          <a:xfrm>
            <a:off x="6277356" y="4489704"/>
            <a:ext cx="5029200" cy="548640"/>
          </a:xfrm>
          <a:prstGeom prst="rect">
            <a:avLst/>
          </a:prstGeom>
          <a:noFill/>
          <a:ln/>
        </p:spPr>
        <p:txBody>
          <a:bodyPr wrap="square" rtlCol="0" anchor="t"/>
          <a:lstStyle/>
          <a:p>
            <a:pPr marL="0" indent="0">
              <a:buNone/>
            </a:pPr>
            <a:r>
              <a:rPr lang="en-US" sz="1800" dirty="0">
                <a:solidFill>
                  <a:srgbClr val="1B2B2A"/>
                </a:solidFill>
                <a:latin typeface="Calibri" pitchFamily="34" charset="0"/>
                <a:ea typeface="Calibri" pitchFamily="34" charset="-122"/>
                <a:cs typeface="Calibri" pitchFamily="34" charset="-120"/>
              </a:rPr>
              <a:t>•  Tools: covariance, Pearson's r.</a:t>
            </a:r>
            <a:endParaRPr lang="en-US" sz="1800" dirty="0"/>
          </a:p>
        </p:txBody>
      </p:sp>
      <p:sp>
        <p:nvSpPr>
          <p:cNvPr id="16" name="Text 14"/>
          <p:cNvSpPr/>
          <p:nvPr/>
        </p:nvSpPr>
        <p:spPr>
          <a:xfrm>
            <a:off x="6277356" y="5202936"/>
            <a:ext cx="5029200" cy="914400"/>
          </a:xfrm>
          <a:prstGeom prst="rect">
            <a:avLst/>
          </a:prstGeom>
          <a:noFill/>
          <a:ln/>
        </p:spPr>
        <p:txBody>
          <a:bodyPr wrap="square" rtlCol="0" anchor="t"/>
          <a:lstStyle/>
          <a:p>
            <a:pPr marL="0" indent="0">
              <a:buNone/>
            </a:pPr>
            <a:r>
              <a:rPr lang="en-US" sz="1800" dirty="0">
                <a:solidFill>
                  <a:srgbClr val="1B2B2A"/>
                </a:solidFill>
                <a:latin typeface="Calibri" pitchFamily="34" charset="0"/>
                <a:ea typeface="Calibri" pitchFamily="34" charset="-122"/>
                <a:cs typeface="Calibri" pitchFamily="34" charset="-120"/>
              </a:rPr>
              <a:t>•  Example: do study hours relate to marks?</a:t>
            </a:r>
            <a:endParaRPr lang="en-US" sz="1800" dirty="0"/>
          </a:p>
        </p:txBody>
      </p:sp>
      <p:sp>
        <p:nvSpPr>
          <p:cNvPr id="17" name="Text 15"/>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5B7370"/>
                </a:solidFill>
                <a:latin typeface="Calibri" pitchFamily="34" charset="0"/>
                <a:ea typeface="Calibri" pitchFamily="34" charset="-122"/>
                <a:cs typeface="Calibri" pitchFamily="34" charset="-120"/>
              </a:rPr>
              <a:t>Presidency University | Dept. of AI &amp; Robotics | DSC4000 | Statics for Data Science</a:t>
            </a:r>
            <a:endParaRPr lang="en-US" sz="1000" dirty="0"/>
          </a:p>
        </p:txBody>
      </p:sp>
      <p:sp>
        <p:nvSpPr>
          <p:cNvPr id="18" name="Text 16"/>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737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3291840" cy="384048"/>
          </a:xfrm>
          <a:prstGeom prst="roundRect">
            <a:avLst>
              <a:gd name="adj" fmla="val 19048"/>
            </a:avLst>
          </a:prstGeom>
          <a:solidFill>
            <a:srgbClr val="E8F4F2"/>
          </a:solidFill>
          <a:ln/>
        </p:spPr>
      </p:sp>
      <p:sp>
        <p:nvSpPr>
          <p:cNvPr id="3" name="Text 1"/>
          <p:cNvSpPr/>
          <p:nvPr/>
        </p:nvSpPr>
        <p:spPr>
          <a:xfrm>
            <a:off x="548640" y="457200"/>
            <a:ext cx="3291840" cy="384048"/>
          </a:xfrm>
          <a:prstGeom prst="rect">
            <a:avLst/>
          </a:prstGeom>
          <a:noFill/>
          <a:ln/>
        </p:spPr>
        <p:txBody>
          <a:bodyPr wrap="square" rtlCol="0" anchor="ctr"/>
          <a:lstStyle/>
          <a:p>
            <a:pPr marL="0" indent="0" algn="ctr">
              <a:buNone/>
            </a:pPr>
            <a:r>
              <a:rPr lang="en-US" sz="1300" b="1" kern="0" spc="100" dirty="0">
                <a:solidFill>
                  <a:srgbClr val="0E5C56"/>
                </a:solidFill>
                <a:latin typeface="Calibri" pitchFamily="34" charset="0"/>
                <a:ea typeface="Calibri" pitchFamily="34" charset="-122"/>
                <a:cs typeface="Calibri" pitchFamily="34" charset="-120"/>
              </a:rPr>
              <a:t>CORE CONCEPT</a:t>
            </a:r>
            <a:endParaRPr lang="en-US" sz="1300" dirty="0"/>
          </a:p>
        </p:txBody>
      </p:sp>
      <p:sp>
        <p:nvSpPr>
          <p:cNvPr id="4" name="Text 2"/>
          <p:cNvSpPr/>
          <p:nvPr/>
        </p:nvSpPr>
        <p:spPr>
          <a:xfrm>
            <a:off x="548640" y="960120"/>
            <a:ext cx="11091672" cy="914400"/>
          </a:xfrm>
          <a:prstGeom prst="rect">
            <a:avLst/>
          </a:prstGeom>
          <a:noFill/>
          <a:ln/>
        </p:spPr>
        <p:txBody>
          <a:bodyPr wrap="square" rtlCol="0" anchor="t"/>
          <a:lstStyle/>
          <a:p>
            <a:pPr marL="0" indent="0" algn="l">
              <a:buNone/>
            </a:pPr>
            <a:r>
              <a:rPr lang="en-US" sz="3200" b="1" dirty="0">
                <a:solidFill>
                  <a:srgbClr val="1B2B2A"/>
                </a:solidFill>
                <a:latin typeface="Cambria" pitchFamily="34" charset="0"/>
                <a:ea typeface="Cambria" pitchFamily="34" charset="-122"/>
                <a:cs typeface="Cambria" pitchFamily="34" charset="-120"/>
              </a:rPr>
              <a:t>What Is Covariance? — Intuition</a:t>
            </a:r>
            <a:endParaRPr lang="en-US" sz="3200" dirty="0"/>
          </a:p>
        </p:txBody>
      </p:sp>
      <p:sp>
        <p:nvSpPr>
          <p:cNvPr id="5" name="Shape 3"/>
          <p:cNvSpPr/>
          <p:nvPr/>
        </p:nvSpPr>
        <p:spPr>
          <a:xfrm>
            <a:off x="548640" y="1993392"/>
            <a:ext cx="365760" cy="365760"/>
          </a:xfrm>
          <a:prstGeom prst="ellipse">
            <a:avLst/>
          </a:prstGeom>
          <a:solidFill>
            <a:srgbClr val="F2A93B"/>
          </a:solidFill>
          <a:ln/>
        </p:spPr>
      </p:sp>
      <p:sp>
        <p:nvSpPr>
          <p:cNvPr id="6" name="Text 4"/>
          <p:cNvSpPr/>
          <p:nvPr/>
        </p:nvSpPr>
        <p:spPr>
          <a:xfrm>
            <a:off x="548640" y="1993392"/>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7" name="Text 5"/>
          <p:cNvSpPr/>
          <p:nvPr/>
        </p:nvSpPr>
        <p:spPr>
          <a:xfrm>
            <a:off x="1143000" y="1965960"/>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Covariance measures whether two variables tend to increase together, decrease together, or show no pattern.</a:t>
            </a:r>
            <a:endParaRPr lang="en-US" sz="2000" dirty="0"/>
          </a:p>
        </p:txBody>
      </p:sp>
      <p:sp>
        <p:nvSpPr>
          <p:cNvPr id="8" name="Shape 6"/>
          <p:cNvSpPr/>
          <p:nvPr/>
        </p:nvSpPr>
        <p:spPr>
          <a:xfrm>
            <a:off x="548640" y="3246120"/>
            <a:ext cx="365760" cy="365760"/>
          </a:xfrm>
          <a:prstGeom prst="ellipse">
            <a:avLst/>
          </a:prstGeom>
          <a:solidFill>
            <a:srgbClr val="F2A93B"/>
          </a:solidFill>
          <a:ln/>
        </p:spPr>
      </p:sp>
      <p:sp>
        <p:nvSpPr>
          <p:cNvPr id="9" name="Text 7"/>
          <p:cNvSpPr/>
          <p:nvPr/>
        </p:nvSpPr>
        <p:spPr>
          <a:xfrm>
            <a:off x="548640" y="3246120"/>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0" name="Text 8"/>
          <p:cNvSpPr/>
          <p:nvPr/>
        </p:nvSpPr>
        <p:spPr>
          <a:xfrm>
            <a:off x="1143000" y="3218688"/>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For each data point, we ask: is X above or below its mean, and is Y above or below its mean, at the same time?</a:t>
            </a:r>
            <a:endParaRPr lang="en-US" sz="2000" dirty="0"/>
          </a:p>
        </p:txBody>
      </p:sp>
      <p:sp>
        <p:nvSpPr>
          <p:cNvPr id="11" name="Shape 9"/>
          <p:cNvSpPr/>
          <p:nvPr/>
        </p:nvSpPr>
        <p:spPr>
          <a:xfrm>
            <a:off x="548640" y="4498848"/>
            <a:ext cx="365760" cy="365760"/>
          </a:xfrm>
          <a:prstGeom prst="ellipse">
            <a:avLst/>
          </a:prstGeom>
          <a:solidFill>
            <a:srgbClr val="F2A93B"/>
          </a:solidFill>
          <a:ln/>
        </p:spPr>
      </p:sp>
      <p:sp>
        <p:nvSpPr>
          <p:cNvPr id="12" name="Text 10"/>
          <p:cNvSpPr/>
          <p:nvPr/>
        </p:nvSpPr>
        <p:spPr>
          <a:xfrm>
            <a:off x="548640" y="4498848"/>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3" name="Text 11"/>
          <p:cNvSpPr/>
          <p:nvPr/>
        </p:nvSpPr>
        <p:spPr>
          <a:xfrm>
            <a:off x="1143000" y="4471416"/>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If both are usually above (or both below) their means together, covariance is positive.</a:t>
            </a:r>
            <a:endParaRPr lang="en-US" sz="2000" dirty="0"/>
          </a:p>
        </p:txBody>
      </p:sp>
      <p:sp>
        <p:nvSpPr>
          <p:cNvPr id="14" name="Shape 12"/>
          <p:cNvSpPr/>
          <p:nvPr/>
        </p:nvSpPr>
        <p:spPr>
          <a:xfrm>
            <a:off x="548640" y="5751576"/>
            <a:ext cx="365760" cy="365760"/>
          </a:xfrm>
          <a:prstGeom prst="ellipse">
            <a:avLst/>
          </a:prstGeom>
          <a:solidFill>
            <a:srgbClr val="F2A93B"/>
          </a:solidFill>
          <a:ln/>
        </p:spPr>
      </p:sp>
      <p:sp>
        <p:nvSpPr>
          <p:cNvPr id="15" name="Text 13"/>
          <p:cNvSpPr/>
          <p:nvPr/>
        </p:nvSpPr>
        <p:spPr>
          <a:xfrm>
            <a:off x="548640" y="5751576"/>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6" name="Text 14"/>
          <p:cNvSpPr/>
          <p:nvPr/>
        </p:nvSpPr>
        <p:spPr>
          <a:xfrm>
            <a:off x="1143000" y="5724144"/>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If one is usually above while the other is below, covariance is negative.</a:t>
            </a:r>
            <a:endParaRPr lang="en-US" sz="2000" dirty="0"/>
          </a:p>
        </p:txBody>
      </p:sp>
      <p:sp>
        <p:nvSpPr>
          <p:cNvPr id="17" name="Text 15"/>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5B7370"/>
                </a:solidFill>
                <a:latin typeface="Calibri" pitchFamily="34" charset="0"/>
                <a:ea typeface="Calibri" pitchFamily="34" charset="-122"/>
                <a:cs typeface="Calibri" pitchFamily="34" charset="-120"/>
              </a:rPr>
              <a:t>Presidency University | Dept. of AI &amp; Robotics | DSC4000 | Statics for Data Science</a:t>
            </a:r>
            <a:endParaRPr lang="en-US" sz="1000" dirty="0"/>
          </a:p>
        </p:txBody>
      </p:sp>
      <p:sp>
        <p:nvSpPr>
          <p:cNvPr id="18" name="Text 16"/>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737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3291840" cy="384048"/>
          </a:xfrm>
          <a:prstGeom prst="roundRect">
            <a:avLst>
              <a:gd name="adj" fmla="val 19048"/>
            </a:avLst>
          </a:prstGeom>
          <a:solidFill>
            <a:srgbClr val="E8F4F2"/>
          </a:solidFill>
          <a:ln/>
        </p:spPr>
      </p:sp>
      <p:sp>
        <p:nvSpPr>
          <p:cNvPr id="3" name="Text 1"/>
          <p:cNvSpPr/>
          <p:nvPr/>
        </p:nvSpPr>
        <p:spPr>
          <a:xfrm>
            <a:off x="548640" y="457200"/>
            <a:ext cx="3291840" cy="384048"/>
          </a:xfrm>
          <a:prstGeom prst="rect">
            <a:avLst/>
          </a:prstGeom>
          <a:noFill/>
          <a:ln/>
        </p:spPr>
        <p:txBody>
          <a:bodyPr wrap="square" rtlCol="0" anchor="ctr"/>
          <a:lstStyle/>
          <a:p>
            <a:pPr marL="0" indent="0" algn="ctr">
              <a:buNone/>
            </a:pPr>
            <a:r>
              <a:rPr lang="en-US" sz="1300" b="1" kern="0" spc="100" dirty="0">
                <a:solidFill>
                  <a:srgbClr val="0E5C56"/>
                </a:solidFill>
                <a:latin typeface="Calibri" pitchFamily="34" charset="0"/>
                <a:ea typeface="Calibri" pitchFamily="34" charset="-122"/>
                <a:cs typeface="Calibri" pitchFamily="34" charset="-120"/>
              </a:rPr>
              <a:t>FORMULA</a:t>
            </a:r>
            <a:endParaRPr lang="en-US" sz="1300" dirty="0"/>
          </a:p>
        </p:txBody>
      </p:sp>
      <p:sp>
        <p:nvSpPr>
          <p:cNvPr id="4" name="Text 2"/>
          <p:cNvSpPr/>
          <p:nvPr/>
        </p:nvSpPr>
        <p:spPr>
          <a:xfrm>
            <a:off x="548640" y="960120"/>
            <a:ext cx="11091672" cy="914400"/>
          </a:xfrm>
          <a:prstGeom prst="rect">
            <a:avLst/>
          </a:prstGeom>
          <a:noFill/>
          <a:ln/>
        </p:spPr>
        <p:txBody>
          <a:bodyPr wrap="square" rtlCol="0" anchor="t"/>
          <a:lstStyle/>
          <a:p>
            <a:pPr marL="0" indent="0" algn="l">
              <a:buNone/>
            </a:pPr>
            <a:r>
              <a:rPr lang="en-US" sz="3200" b="1" dirty="0">
                <a:solidFill>
                  <a:srgbClr val="1B2B2A"/>
                </a:solidFill>
                <a:latin typeface="Cambria" pitchFamily="34" charset="0"/>
                <a:ea typeface="Cambria" pitchFamily="34" charset="-122"/>
                <a:cs typeface="Cambria" pitchFamily="34" charset="-120"/>
              </a:rPr>
              <a:t>Covariance — The Formula</a:t>
            </a:r>
            <a:endParaRPr lang="en-US" sz="3200" dirty="0"/>
          </a:p>
        </p:txBody>
      </p:sp>
      <p:sp>
        <p:nvSpPr>
          <p:cNvPr id="5" name="Shape 3"/>
          <p:cNvSpPr/>
          <p:nvPr/>
        </p:nvSpPr>
        <p:spPr>
          <a:xfrm>
            <a:off x="548640" y="1920240"/>
            <a:ext cx="11091672" cy="1371600"/>
          </a:xfrm>
          <a:prstGeom prst="roundRect">
            <a:avLst>
              <a:gd name="adj" fmla="val 8000"/>
            </a:avLst>
          </a:prstGeom>
          <a:solidFill>
            <a:srgbClr val="073B37"/>
          </a:solidFill>
          <a:ln/>
        </p:spPr>
      </p:sp>
      <p:sp>
        <p:nvSpPr>
          <p:cNvPr id="6" name="Text 4"/>
          <p:cNvSpPr/>
          <p:nvPr/>
        </p:nvSpPr>
        <p:spPr>
          <a:xfrm>
            <a:off x="548640" y="1920240"/>
            <a:ext cx="11091672" cy="960120"/>
          </a:xfrm>
          <a:prstGeom prst="rect">
            <a:avLst/>
          </a:prstGeom>
          <a:noFill/>
          <a:ln/>
        </p:spPr>
        <p:txBody>
          <a:bodyPr wrap="square" rtlCol="0" anchor="ctr"/>
          <a:lstStyle/>
          <a:p>
            <a:pPr marL="0" indent="0" algn="ctr">
              <a:buNone/>
            </a:pPr>
            <a:r>
              <a:rPr lang="en-US" sz="2600" b="1" dirty="0">
                <a:solidFill>
                  <a:srgbClr val="F2A93B"/>
                </a:solidFill>
                <a:latin typeface="Cambria" pitchFamily="34" charset="0"/>
                <a:ea typeface="Cambria" pitchFamily="34" charset="-122"/>
                <a:cs typeface="Cambria" pitchFamily="34" charset="-120"/>
              </a:rPr>
              <a:t>Cov(X, Y) = Σ (Xᵢ − X̄)(Yᵢ − Ȳ) / (n − 1)</a:t>
            </a:r>
            <a:endParaRPr lang="en-US" sz="2600" dirty="0"/>
          </a:p>
        </p:txBody>
      </p:sp>
      <p:sp>
        <p:nvSpPr>
          <p:cNvPr id="7" name="Text 5"/>
          <p:cNvSpPr/>
          <p:nvPr/>
        </p:nvSpPr>
        <p:spPr>
          <a:xfrm>
            <a:off x="548640" y="2788920"/>
            <a:ext cx="11091672" cy="457200"/>
          </a:xfrm>
          <a:prstGeom prst="rect">
            <a:avLst/>
          </a:prstGeom>
          <a:noFill/>
          <a:ln/>
        </p:spPr>
        <p:txBody>
          <a:bodyPr wrap="square" rtlCol="0" anchor="t"/>
          <a:lstStyle/>
          <a:p>
            <a:pPr marL="0" indent="0" algn="ctr">
              <a:buNone/>
            </a:pPr>
            <a:r>
              <a:rPr lang="en-US" sz="1400" i="1" dirty="0">
                <a:solidFill>
                  <a:srgbClr val="CFE3E1"/>
                </a:solidFill>
                <a:latin typeface="Calibri" pitchFamily="34" charset="0"/>
                <a:ea typeface="Calibri" pitchFamily="34" charset="-122"/>
                <a:cs typeface="Calibri" pitchFamily="34" charset="-120"/>
              </a:rPr>
              <a:t>Sample covariance formula (n = number of paired observations)</a:t>
            </a:r>
            <a:endParaRPr lang="en-US" sz="1400" dirty="0"/>
          </a:p>
        </p:txBody>
      </p:sp>
      <p:sp>
        <p:nvSpPr>
          <p:cNvPr id="8" name="Shape 6"/>
          <p:cNvSpPr/>
          <p:nvPr/>
        </p:nvSpPr>
        <p:spPr>
          <a:xfrm>
            <a:off x="548640" y="3630168"/>
            <a:ext cx="329184" cy="329184"/>
          </a:xfrm>
          <a:prstGeom prst="ellipse">
            <a:avLst/>
          </a:prstGeom>
          <a:solidFill>
            <a:srgbClr val="F2A93B"/>
          </a:solidFill>
          <a:ln/>
        </p:spPr>
      </p:sp>
      <p:sp>
        <p:nvSpPr>
          <p:cNvPr id="9" name="Text 7"/>
          <p:cNvSpPr/>
          <p:nvPr/>
        </p:nvSpPr>
        <p:spPr>
          <a:xfrm>
            <a:off x="548640" y="3630168"/>
            <a:ext cx="329184" cy="329184"/>
          </a:xfrm>
          <a:prstGeom prst="rect">
            <a:avLst/>
          </a:prstGeom>
          <a:noFill/>
          <a:ln/>
        </p:spPr>
        <p:txBody>
          <a:bodyPr wrap="square" rtlCol="0" anchor="ctr"/>
          <a:lstStyle/>
          <a:p>
            <a:pPr marL="0" indent="0" algn="ctr">
              <a:buNone/>
            </a:pPr>
            <a:r>
              <a:rPr lang="en-US" sz="900" b="1" dirty="0">
                <a:solidFill>
                  <a:srgbClr val="073B37"/>
                </a:solidFill>
                <a:latin typeface="Calibri" pitchFamily="34" charset="0"/>
                <a:ea typeface="Calibri" pitchFamily="34" charset="-122"/>
                <a:cs typeface="Calibri" pitchFamily="34" charset="-120"/>
              </a:rPr>
              <a:t>›</a:t>
            </a:r>
            <a:endParaRPr lang="en-US" sz="900" dirty="0"/>
          </a:p>
        </p:txBody>
      </p:sp>
      <p:sp>
        <p:nvSpPr>
          <p:cNvPr id="10" name="Text 8"/>
          <p:cNvSpPr/>
          <p:nvPr/>
        </p:nvSpPr>
        <p:spPr>
          <a:xfrm>
            <a:off x="1097280" y="3611880"/>
            <a:ext cx="10360152" cy="530352"/>
          </a:xfrm>
          <a:prstGeom prst="rect">
            <a:avLst/>
          </a:prstGeom>
          <a:noFill/>
          <a:ln/>
        </p:spPr>
        <p:txBody>
          <a:bodyPr wrap="square" rtlCol="0" anchor="t"/>
          <a:lstStyle/>
          <a:p>
            <a:pPr marL="0" indent="0">
              <a:buNone/>
            </a:pPr>
            <a:r>
              <a:rPr lang="en-US" sz="2000" dirty="0">
                <a:solidFill>
                  <a:srgbClr val="1B2B2A"/>
                </a:solidFill>
                <a:latin typeface="Calibri" pitchFamily="34" charset="0"/>
                <a:ea typeface="Calibri" pitchFamily="34" charset="-122"/>
                <a:cs typeface="Calibri" pitchFamily="34" charset="-120"/>
              </a:rPr>
              <a:t>For each observation, multiply how far X is from its mean by how far Y is from its mean.</a:t>
            </a:r>
            <a:endParaRPr lang="en-US" sz="2000" dirty="0"/>
          </a:p>
        </p:txBody>
      </p:sp>
      <p:sp>
        <p:nvSpPr>
          <p:cNvPr id="11" name="Shape 9"/>
          <p:cNvSpPr/>
          <p:nvPr/>
        </p:nvSpPr>
        <p:spPr>
          <a:xfrm>
            <a:off x="548640" y="4343400"/>
            <a:ext cx="329184" cy="329184"/>
          </a:xfrm>
          <a:prstGeom prst="ellipse">
            <a:avLst/>
          </a:prstGeom>
          <a:solidFill>
            <a:srgbClr val="F2A93B"/>
          </a:solidFill>
          <a:ln/>
        </p:spPr>
      </p:sp>
      <p:sp>
        <p:nvSpPr>
          <p:cNvPr id="12" name="Text 10"/>
          <p:cNvSpPr/>
          <p:nvPr/>
        </p:nvSpPr>
        <p:spPr>
          <a:xfrm>
            <a:off x="548640" y="4343400"/>
            <a:ext cx="329184" cy="329184"/>
          </a:xfrm>
          <a:prstGeom prst="rect">
            <a:avLst/>
          </a:prstGeom>
          <a:noFill/>
          <a:ln/>
        </p:spPr>
        <p:txBody>
          <a:bodyPr wrap="square" rtlCol="0" anchor="ctr"/>
          <a:lstStyle/>
          <a:p>
            <a:pPr marL="0" indent="0" algn="ctr">
              <a:buNone/>
            </a:pPr>
            <a:r>
              <a:rPr lang="en-US" sz="900" b="1" dirty="0">
                <a:solidFill>
                  <a:srgbClr val="073B37"/>
                </a:solidFill>
                <a:latin typeface="Calibri" pitchFamily="34" charset="0"/>
                <a:ea typeface="Calibri" pitchFamily="34" charset="-122"/>
                <a:cs typeface="Calibri" pitchFamily="34" charset="-120"/>
              </a:rPr>
              <a:t>›</a:t>
            </a:r>
            <a:endParaRPr lang="en-US" sz="900" dirty="0"/>
          </a:p>
        </p:txBody>
      </p:sp>
      <p:sp>
        <p:nvSpPr>
          <p:cNvPr id="13" name="Text 11"/>
          <p:cNvSpPr/>
          <p:nvPr/>
        </p:nvSpPr>
        <p:spPr>
          <a:xfrm>
            <a:off x="1097280" y="4325112"/>
            <a:ext cx="10360152" cy="530352"/>
          </a:xfrm>
          <a:prstGeom prst="rect">
            <a:avLst/>
          </a:prstGeom>
          <a:noFill/>
          <a:ln/>
        </p:spPr>
        <p:txBody>
          <a:bodyPr wrap="square" rtlCol="0" anchor="t"/>
          <a:lstStyle/>
          <a:p>
            <a:pPr marL="0" indent="0">
              <a:buNone/>
            </a:pPr>
            <a:r>
              <a:rPr lang="en-US" sz="2000" dirty="0">
                <a:solidFill>
                  <a:srgbClr val="1B2B2A"/>
                </a:solidFill>
                <a:latin typeface="Calibri" pitchFamily="34" charset="0"/>
                <a:ea typeface="Calibri" pitchFamily="34" charset="-122"/>
                <a:cs typeface="Calibri" pitchFamily="34" charset="-120"/>
              </a:rPr>
              <a:t>Add up all these products, then divide by (n − 1) to get an average 'co-movement'.</a:t>
            </a:r>
            <a:endParaRPr lang="en-US" sz="2000" dirty="0"/>
          </a:p>
        </p:txBody>
      </p:sp>
      <p:sp>
        <p:nvSpPr>
          <p:cNvPr id="14" name="Shape 12"/>
          <p:cNvSpPr/>
          <p:nvPr/>
        </p:nvSpPr>
        <p:spPr>
          <a:xfrm>
            <a:off x="548640" y="5056632"/>
            <a:ext cx="329184" cy="329184"/>
          </a:xfrm>
          <a:prstGeom prst="ellipse">
            <a:avLst/>
          </a:prstGeom>
          <a:solidFill>
            <a:srgbClr val="F2A93B"/>
          </a:solidFill>
          <a:ln/>
        </p:spPr>
      </p:sp>
      <p:sp>
        <p:nvSpPr>
          <p:cNvPr id="15" name="Text 13"/>
          <p:cNvSpPr/>
          <p:nvPr/>
        </p:nvSpPr>
        <p:spPr>
          <a:xfrm>
            <a:off x="548640" y="5056632"/>
            <a:ext cx="329184" cy="329184"/>
          </a:xfrm>
          <a:prstGeom prst="rect">
            <a:avLst/>
          </a:prstGeom>
          <a:noFill/>
          <a:ln/>
        </p:spPr>
        <p:txBody>
          <a:bodyPr wrap="square" rtlCol="0" anchor="ctr"/>
          <a:lstStyle/>
          <a:p>
            <a:pPr marL="0" indent="0" algn="ctr">
              <a:buNone/>
            </a:pPr>
            <a:r>
              <a:rPr lang="en-US" sz="900" b="1" dirty="0">
                <a:solidFill>
                  <a:srgbClr val="073B37"/>
                </a:solidFill>
                <a:latin typeface="Calibri" pitchFamily="34" charset="0"/>
                <a:ea typeface="Calibri" pitchFamily="34" charset="-122"/>
                <a:cs typeface="Calibri" pitchFamily="34" charset="-120"/>
              </a:rPr>
              <a:t>›</a:t>
            </a:r>
            <a:endParaRPr lang="en-US" sz="900" dirty="0"/>
          </a:p>
        </p:txBody>
      </p:sp>
      <p:sp>
        <p:nvSpPr>
          <p:cNvPr id="16" name="Text 14"/>
          <p:cNvSpPr/>
          <p:nvPr/>
        </p:nvSpPr>
        <p:spPr>
          <a:xfrm>
            <a:off x="1097280" y="5038344"/>
            <a:ext cx="10360152" cy="877824"/>
          </a:xfrm>
          <a:prstGeom prst="rect">
            <a:avLst/>
          </a:prstGeom>
          <a:noFill/>
          <a:ln/>
        </p:spPr>
        <p:txBody>
          <a:bodyPr wrap="square" rtlCol="0" anchor="t"/>
          <a:lstStyle/>
          <a:p>
            <a:pPr marL="0" indent="0">
              <a:buNone/>
            </a:pPr>
            <a:r>
              <a:rPr lang="en-US" sz="2000" dirty="0">
                <a:solidFill>
                  <a:srgbClr val="1B2B2A"/>
                </a:solidFill>
                <a:latin typeface="Calibri" pitchFamily="34" charset="0"/>
                <a:ea typeface="Calibri" pitchFamily="34" charset="-122"/>
                <a:cs typeface="Calibri" pitchFamily="34" charset="-120"/>
              </a:rPr>
              <a:t>This is exactly like the variance formula, except we now multiply two different deviations instead of squaring one.</a:t>
            </a:r>
            <a:endParaRPr lang="en-US" sz="2000" dirty="0"/>
          </a:p>
        </p:txBody>
      </p:sp>
      <p:sp>
        <p:nvSpPr>
          <p:cNvPr id="17" name="Text 15"/>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5B7370"/>
                </a:solidFill>
                <a:latin typeface="Calibri" pitchFamily="34" charset="0"/>
                <a:ea typeface="Calibri" pitchFamily="34" charset="-122"/>
                <a:cs typeface="Calibri" pitchFamily="34" charset="-120"/>
              </a:rPr>
              <a:t>Presidency University | Dept. of AI &amp; Robotics | DSC4000 | Statics for Data Science</a:t>
            </a:r>
            <a:endParaRPr lang="en-US" sz="1000" dirty="0"/>
          </a:p>
        </p:txBody>
      </p:sp>
      <p:sp>
        <p:nvSpPr>
          <p:cNvPr id="18" name="Text 16"/>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737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3291840" cy="384048"/>
          </a:xfrm>
          <a:prstGeom prst="roundRect">
            <a:avLst>
              <a:gd name="adj" fmla="val 19048"/>
            </a:avLst>
          </a:prstGeom>
          <a:solidFill>
            <a:srgbClr val="E8F4F2"/>
          </a:solidFill>
          <a:ln/>
        </p:spPr>
      </p:sp>
      <p:sp>
        <p:nvSpPr>
          <p:cNvPr id="3" name="Text 1"/>
          <p:cNvSpPr/>
          <p:nvPr/>
        </p:nvSpPr>
        <p:spPr>
          <a:xfrm>
            <a:off x="548640" y="457200"/>
            <a:ext cx="3291840" cy="384048"/>
          </a:xfrm>
          <a:prstGeom prst="rect">
            <a:avLst/>
          </a:prstGeom>
          <a:noFill/>
          <a:ln/>
        </p:spPr>
        <p:txBody>
          <a:bodyPr wrap="square" rtlCol="0" anchor="ctr"/>
          <a:lstStyle/>
          <a:p>
            <a:pPr marL="0" indent="0" algn="ctr">
              <a:buNone/>
            </a:pPr>
            <a:r>
              <a:rPr lang="en-US" sz="1300" b="1" kern="0" spc="100" dirty="0">
                <a:solidFill>
                  <a:srgbClr val="0E5C56"/>
                </a:solidFill>
                <a:latin typeface="Calibri" pitchFamily="34" charset="0"/>
                <a:ea typeface="Calibri" pitchFamily="34" charset="-122"/>
                <a:cs typeface="Calibri" pitchFamily="34" charset="-120"/>
              </a:rPr>
              <a:t>INTERPRETATION</a:t>
            </a:r>
            <a:endParaRPr lang="en-US" sz="1300" dirty="0"/>
          </a:p>
        </p:txBody>
      </p:sp>
      <p:sp>
        <p:nvSpPr>
          <p:cNvPr id="4" name="Text 2"/>
          <p:cNvSpPr/>
          <p:nvPr/>
        </p:nvSpPr>
        <p:spPr>
          <a:xfrm>
            <a:off x="548640" y="960120"/>
            <a:ext cx="11091672" cy="914400"/>
          </a:xfrm>
          <a:prstGeom prst="rect">
            <a:avLst/>
          </a:prstGeom>
          <a:noFill/>
          <a:ln/>
        </p:spPr>
        <p:txBody>
          <a:bodyPr wrap="square" rtlCol="0" anchor="t"/>
          <a:lstStyle/>
          <a:p>
            <a:pPr marL="0" indent="0" algn="l">
              <a:buNone/>
            </a:pPr>
            <a:r>
              <a:rPr lang="en-US" sz="3200" b="1" dirty="0">
                <a:solidFill>
                  <a:srgbClr val="1B2B2A"/>
                </a:solidFill>
                <a:latin typeface="Cambria" pitchFamily="34" charset="0"/>
                <a:ea typeface="Cambria" pitchFamily="34" charset="-122"/>
                <a:cs typeface="Cambria" pitchFamily="34" charset="-120"/>
              </a:rPr>
              <a:t>Reading the Sign of Covariance</a:t>
            </a:r>
            <a:endParaRPr lang="en-US" sz="3200" dirty="0"/>
          </a:p>
        </p:txBody>
      </p:sp>
      <p:sp>
        <p:nvSpPr>
          <p:cNvPr id="5" name="Shape 3"/>
          <p:cNvSpPr/>
          <p:nvPr/>
        </p:nvSpPr>
        <p:spPr>
          <a:xfrm>
            <a:off x="548640" y="1965960"/>
            <a:ext cx="5212080" cy="502920"/>
          </a:xfrm>
          <a:prstGeom prst="roundRect">
            <a:avLst>
              <a:gd name="adj" fmla="val 14545"/>
            </a:avLst>
          </a:prstGeom>
          <a:solidFill>
            <a:srgbClr val="E8F4F2"/>
          </a:solidFill>
          <a:ln/>
        </p:spPr>
      </p:sp>
      <p:sp>
        <p:nvSpPr>
          <p:cNvPr id="6" name="Text 4"/>
          <p:cNvSpPr/>
          <p:nvPr/>
        </p:nvSpPr>
        <p:spPr>
          <a:xfrm>
            <a:off x="548640" y="1965960"/>
            <a:ext cx="5212080" cy="502920"/>
          </a:xfrm>
          <a:prstGeom prst="rect">
            <a:avLst/>
          </a:prstGeom>
          <a:noFill/>
          <a:ln/>
        </p:spPr>
        <p:txBody>
          <a:bodyPr wrap="square" rtlCol="0" anchor="ctr"/>
          <a:lstStyle/>
          <a:p>
            <a:pPr marL="0" indent="0" algn="ctr">
              <a:buNone/>
            </a:pPr>
            <a:r>
              <a:rPr lang="en-US" sz="1900" b="1" dirty="0">
                <a:solidFill>
                  <a:srgbClr val="0E5C56"/>
                </a:solidFill>
                <a:latin typeface="Calibri" pitchFamily="34" charset="0"/>
                <a:ea typeface="Calibri" pitchFamily="34" charset="-122"/>
                <a:cs typeface="Calibri" pitchFamily="34" charset="-120"/>
              </a:rPr>
              <a:t>Positive Covariance</a:t>
            </a:r>
            <a:endParaRPr lang="en-US" sz="1900" dirty="0"/>
          </a:p>
        </p:txBody>
      </p:sp>
      <p:sp>
        <p:nvSpPr>
          <p:cNvPr id="7" name="Text 5"/>
          <p:cNvSpPr/>
          <p:nvPr/>
        </p:nvSpPr>
        <p:spPr>
          <a:xfrm>
            <a:off x="640080" y="2697480"/>
            <a:ext cx="5029200" cy="548640"/>
          </a:xfrm>
          <a:prstGeom prst="rect">
            <a:avLst/>
          </a:prstGeom>
          <a:noFill/>
          <a:ln/>
        </p:spPr>
        <p:txBody>
          <a:bodyPr wrap="square" rtlCol="0" anchor="t"/>
          <a:lstStyle/>
          <a:p>
            <a:pPr marL="0" indent="0">
              <a:buNone/>
            </a:pPr>
            <a:r>
              <a:rPr lang="en-US" sz="1800" dirty="0">
                <a:solidFill>
                  <a:srgbClr val="1B2B2A"/>
                </a:solidFill>
                <a:latin typeface="Calibri" pitchFamily="34" charset="0"/>
                <a:ea typeface="Calibri" pitchFamily="34" charset="-122"/>
                <a:cs typeface="Calibri" pitchFamily="34" charset="-120"/>
              </a:rPr>
              <a:t>•  X and Y tend to increase together.</a:t>
            </a:r>
            <a:endParaRPr lang="en-US" sz="1800" dirty="0"/>
          </a:p>
        </p:txBody>
      </p:sp>
      <p:sp>
        <p:nvSpPr>
          <p:cNvPr id="8" name="Text 6"/>
          <p:cNvSpPr/>
          <p:nvPr/>
        </p:nvSpPr>
        <p:spPr>
          <a:xfrm>
            <a:off x="640080" y="3410712"/>
            <a:ext cx="5029200" cy="548640"/>
          </a:xfrm>
          <a:prstGeom prst="rect">
            <a:avLst/>
          </a:prstGeom>
          <a:noFill/>
          <a:ln/>
        </p:spPr>
        <p:txBody>
          <a:bodyPr wrap="square" rtlCol="0" anchor="t"/>
          <a:lstStyle/>
          <a:p>
            <a:pPr marL="0" indent="0">
              <a:buNone/>
            </a:pPr>
            <a:r>
              <a:rPr lang="en-US" sz="1800" dirty="0">
                <a:solidFill>
                  <a:srgbClr val="1B2B2A"/>
                </a:solidFill>
                <a:latin typeface="Calibri" pitchFamily="34" charset="0"/>
                <a:ea typeface="Calibri" pitchFamily="34" charset="-122"/>
                <a:cs typeface="Calibri" pitchFamily="34" charset="-120"/>
              </a:rPr>
              <a:t>•  Example: study hours and marks.</a:t>
            </a:r>
            <a:endParaRPr lang="en-US" sz="1800" dirty="0"/>
          </a:p>
        </p:txBody>
      </p:sp>
      <p:sp>
        <p:nvSpPr>
          <p:cNvPr id="9" name="Text 7"/>
          <p:cNvSpPr/>
          <p:nvPr/>
        </p:nvSpPr>
        <p:spPr>
          <a:xfrm>
            <a:off x="640080" y="4123944"/>
            <a:ext cx="5029200" cy="914400"/>
          </a:xfrm>
          <a:prstGeom prst="rect">
            <a:avLst/>
          </a:prstGeom>
          <a:noFill/>
          <a:ln/>
        </p:spPr>
        <p:txBody>
          <a:bodyPr wrap="square" rtlCol="0" anchor="t"/>
          <a:lstStyle/>
          <a:p>
            <a:pPr marL="0" indent="0">
              <a:buNone/>
            </a:pPr>
            <a:r>
              <a:rPr lang="en-US" sz="1800" dirty="0">
                <a:solidFill>
                  <a:srgbClr val="1B2B2A"/>
                </a:solidFill>
                <a:latin typeface="Calibri" pitchFamily="34" charset="0"/>
                <a:ea typeface="Calibri" pitchFamily="34" charset="-122"/>
                <a:cs typeface="Calibri" pitchFamily="34" charset="-120"/>
              </a:rPr>
              <a:t>•  Example: advertising spend and sales.</a:t>
            </a:r>
            <a:endParaRPr lang="en-US" sz="1800" dirty="0"/>
          </a:p>
        </p:txBody>
      </p:sp>
      <p:sp>
        <p:nvSpPr>
          <p:cNvPr id="10" name="Text 8"/>
          <p:cNvSpPr/>
          <p:nvPr/>
        </p:nvSpPr>
        <p:spPr>
          <a:xfrm>
            <a:off x="640080" y="5202936"/>
            <a:ext cx="5029200" cy="914400"/>
          </a:xfrm>
          <a:prstGeom prst="rect">
            <a:avLst/>
          </a:prstGeom>
          <a:noFill/>
          <a:ln/>
        </p:spPr>
        <p:txBody>
          <a:bodyPr wrap="square" rtlCol="0" anchor="t"/>
          <a:lstStyle/>
          <a:p>
            <a:pPr marL="0" indent="0">
              <a:buNone/>
            </a:pPr>
            <a:r>
              <a:rPr lang="en-US" sz="1800" dirty="0">
                <a:solidFill>
                  <a:srgbClr val="1B2B2A"/>
                </a:solidFill>
                <a:latin typeface="Calibri" pitchFamily="34" charset="0"/>
                <a:ea typeface="Calibri" pitchFamily="34" charset="-122"/>
                <a:cs typeface="Calibri" pitchFamily="34" charset="-120"/>
              </a:rPr>
              <a:t>•  Scatter points slope upward, left to right.</a:t>
            </a:r>
            <a:endParaRPr lang="en-US" sz="1800" dirty="0"/>
          </a:p>
        </p:txBody>
      </p:sp>
      <p:sp>
        <p:nvSpPr>
          <p:cNvPr id="11" name="Shape 9"/>
          <p:cNvSpPr/>
          <p:nvPr/>
        </p:nvSpPr>
        <p:spPr>
          <a:xfrm>
            <a:off x="6185916" y="1965960"/>
            <a:ext cx="5212080" cy="502920"/>
          </a:xfrm>
          <a:prstGeom prst="roundRect">
            <a:avLst>
              <a:gd name="adj" fmla="val 14545"/>
            </a:avLst>
          </a:prstGeom>
          <a:solidFill>
            <a:srgbClr val="E8F4F2"/>
          </a:solidFill>
          <a:ln/>
        </p:spPr>
      </p:sp>
      <p:sp>
        <p:nvSpPr>
          <p:cNvPr id="12" name="Text 10"/>
          <p:cNvSpPr/>
          <p:nvPr/>
        </p:nvSpPr>
        <p:spPr>
          <a:xfrm>
            <a:off x="6185916" y="1965960"/>
            <a:ext cx="5212080" cy="502920"/>
          </a:xfrm>
          <a:prstGeom prst="rect">
            <a:avLst/>
          </a:prstGeom>
          <a:noFill/>
          <a:ln/>
        </p:spPr>
        <p:txBody>
          <a:bodyPr wrap="square" rtlCol="0" anchor="ctr"/>
          <a:lstStyle/>
          <a:p>
            <a:pPr marL="0" indent="0" algn="ctr">
              <a:buNone/>
            </a:pPr>
            <a:r>
              <a:rPr lang="en-US" sz="1900" b="1" dirty="0">
                <a:solidFill>
                  <a:srgbClr val="C97F12"/>
                </a:solidFill>
                <a:latin typeface="Calibri" pitchFamily="34" charset="0"/>
                <a:ea typeface="Calibri" pitchFamily="34" charset="-122"/>
                <a:cs typeface="Calibri" pitchFamily="34" charset="-120"/>
              </a:rPr>
              <a:t>Negative Covariance</a:t>
            </a:r>
            <a:endParaRPr lang="en-US" sz="1900" dirty="0"/>
          </a:p>
        </p:txBody>
      </p:sp>
      <p:sp>
        <p:nvSpPr>
          <p:cNvPr id="13" name="Text 11"/>
          <p:cNvSpPr/>
          <p:nvPr/>
        </p:nvSpPr>
        <p:spPr>
          <a:xfrm>
            <a:off x="6277356" y="2697480"/>
            <a:ext cx="5029200" cy="914400"/>
          </a:xfrm>
          <a:prstGeom prst="rect">
            <a:avLst/>
          </a:prstGeom>
          <a:noFill/>
          <a:ln/>
        </p:spPr>
        <p:txBody>
          <a:bodyPr wrap="square" rtlCol="0" anchor="t"/>
          <a:lstStyle/>
          <a:p>
            <a:pPr marL="0" indent="0">
              <a:buNone/>
            </a:pPr>
            <a:r>
              <a:rPr lang="en-US" sz="1800" dirty="0">
                <a:solidFill>
                  <a:srgbClr val="1B2B2A"/>
                </a:solidFill>
                <a:latin typeface="Calibri" pitchFamily="34" charset="0"/>
                <a:ea typeface="Calibri" pitchFamily="34" charset="-122"/>
                <a:cs typeface="Calibri" pitchFamily="34" charset="-120"/>
              </a:rPr>
              <a:t>•  As X increases, Y tends to decrease.</a:t>
            </a:r>
            <a:endParaRPr lang="en-US" sz="1800" dirty="0"/>
          </a:p>
        </p:txBody>
      </p:sp>
      <p:sp>
        <p:nvSpPr>
          <p:cNvPr id="14" name="Text 12"/>
          <p:cNvSpPr/>
          <p:nvPr/>
        </p:nvSpPr>
        <p:spPr>
          <a:xfrm>
            <a:off x="6277356" y="3776472"/>
            <a:ext cx="5029200" cy="914400"/>
          </a:xfrm>
          <a:prstGeom prst="rect">
            <a:avLst/>
          </a:prstGeom>
          <a:noFill/>
          <a:ln/>
        </p:spPr>
        <p:txBody>
          <a:bodyPr wrap="square" rtlCol="0" anchor="t"/>
          <a:lstStyle/>
          <a:p>
            <a:pPr marL="0" indent="0">
              <a:buNone/>
            </a:pPr>
            <a:r>
              <a:rPr lang="en-US" sz="1800" dirty="0">
                <a:solidFill>
                  <a:srgbClr val="1B2B2A"/>
                </a:solidFill>
                <a:latin typeface="Calibri" pitchFamily="34" charset="0"/>
                <a:ea typeface="Calibri" pitchFamily="34" charset="-122"/>
                <a:cs typeface="Calibri" pitchFamily="34" charset="-120"/>
              </a:rPr>
              <a:t>•  Example: price and quantity demanded.</a:t>
            </a:r>
            <a:endParaRPr lang="en-US" sz="1800" dirty="0"/>
          </a:p>
        </p:txBody>
      </p:sp>
      <p:sp>
        <p:nvSpPr>
          <p:cNvPr id="15" name="Text 13"/>
          <p:cNvSpPr/>
          <p:nvPr/>
        </p:nvSpPr>
        <p:spPr>
          <a:xfrm>
            <a:off x="6277356" y="4855464"/>
            <a:ext cx="5029200" cy="548640"/>
          </a:xfrm>
          <a:prstGeom prst="rect">
            <a:avLst/>
          </a:prstGeom>
          <a:noFill/>
          <a:ln/>
        </p:spPr>
        <p:txBody>
          <a:bodyPr wrap="square" rtlCol="0" anchor="t"/>
          <a:lstStyle/>
          <a:p>
            <a:pPr marL="0" indent="0">
              <a:buNone/>
            </a:pPr>
            <a:r>
              <a:rPr lang="en-US" sz="1800" dirty="0">
                <a:solidFill>
                  <a:srgbClr val="1B2B2A"/>
                </a:solidFill>
                <a:latin typeface="Calibri" pitchFamily="34" charset="0"/>
                <a:ea typeface="Calibri" pitchFamily="34" charset="-122"/>
                <a:cs typeface="Calibri" pitchFamily="34" charset="-120"/>
              </a:rPr>
              <a:t>•  Example: speed and travel time.</a:t>
            </a:r>
            <a:endParaRPr lang="en-US" sz="1800" dirty="0"/>
          </a:p>
        </p:txBody>
      </p:sp>
      <p:sp>
        <p:nvSpPr>
          <p:cNvPr id="16" name="Text 14"/>
          <p:cNvSpPr/>
          <p:nvPr/>
        </p:nvSpPr>
        <p:spPr>
          <a:xfrm>
            <a:off x="6277356" y="5568696"/>
            <a:ext cx="5029200" cy="914400"/>
          </a:xfrm>
          <a:prstGeom prst="rect">
            <a:avLst/>
          </a:prstGeom>
          <a:noFill/>
          <a:ln/>
        </p:spPr>
        <p:txBody>
          <a:bodyPr wrap="square" rtlCol="0" anchor="t"/>
          <a:lstStyle/>
          <a:p>
            <a:pPr marL="0" indent="0">
              <a:buNone/>
            </a:pPr>
            <a:r>
              <a:rPr lang="en-US" sz="1800" dirty="0">
                <a:solidFill>
                  <a:srgbClr val="1B2B2A"/>
                </a:solidFill>
                <a:latin typeface="Calibri" pitchFamily="34" charset="0"/>
                <a:ea typeface="Calibri" pitchFamily="34" charset="-122"/>
                <a:cs typeface="Calibri" pitchFamily="34" charset="-120"/>
              </a:rPr>
              <a:t>•  Scatter points slope downward, left to right.</a:t>
            </a:r>
            <a:endParaRPr lang="en-US" sz="1800" dirty="0"/>
          </a:p>
        </p:txBody>
      </p:sp>
      <p:sp>
        <p:nvSpPr>
          <p:cNvPr id="17" name="Text 15"/>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5B7370"/>
                </a:solidFill>
                <a:latin typeface="Calibri" pitchFamily="34" charset="0"/>
                <a:ea typeface="Calibri" pitchFamily="34" charset="-122"/>
                <a:cs typeface="Calibri" pitchFamily="34" charset="-120"/>
              </a:rPr>
              <a:t>Presidency University | Dept. of AI &amp; Robotics | DSC4000 | Statics for Data Science</a:t>
            </a:r>
            <a:endParaRPr lang="en-US" sz="1000" dirty="0"/>
          </a:p>
        </p:txBody>
      </p:sp>
      <p:sp>
        <p:nvSpPr>
          <p:cNvPr id="18" name="Text 16"/>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737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3291840" cy="384048"/>
          </a:xfrm>
          <a:prstGeom prst="roundRect">
            <a:avLst>
              <a:gd name="adj" fmla="val 19048"/>
            </a:avLst>
          </a:prstGeom>
          <a:solidFill>
            <a:srgbClr val="E8F4F2"/>
          </a:solidFill>
          <a:ln/>
        </p:spPr>
      </p:sp>
      <p:sp>
        <p:nvSpPr>
          <p:cNvPr id="3" name="Text 1"/>
          <p:cNvSpPr/>
          <p:nvPr/>
        </p:nvSpPr>
        <p:spPr>
          <a:xfrm>
            <a:off x="548640" y="457200"/>
            <a:ext cx="3291840" cy="384048"/>
          </a:xfrm>
          <a:prstGeom prst="rect">
            <a:avLst/>
          </a:prstGeom>
          <a:noFill/>
          <a:ln/>
        </p:spPr>
        <p:txBody>
          <a:bodyPr wrap="square" rtlCol="0" anchor="ctr"/>
          <a:lstStyle/>
          <a:p>
            <a:pPr marL="0" indent="0" algn="ctr">
              <a:buNone/>
            </a:pPr>
            <a:r>
              <a:rPr lang="en-US" sz="1300" b="1" kern="0" spc="100" dirty="0">
                <a:solidFill>
                  <a:srgbClr val="0E5C56"/>
                </a:solidFill>
                <a:latin typeface="Calibri" pitchFamily="34" charset="0"/>
                <a:ea typeface="Calibri" pitchFamily="34" charset="-122"/>
                <a:cs typeface="Calibri" pitchFamily="34" charset="-120"/>
              </a:rPr>
              <a:t>LIMITATION</a:t>
            </a:r>
            <a:endParaRPr lang="en-US" sz="1300" dirty="0"/>
          </a:p>
        </p:txBody>
      </p:sp>
      <p:sp>
        <p:nvSpPr>
          <p:cNvPr id="4" name="Text 2"/>
          <p:cNvSpPr/>
          <p:nvPr/>
        </p:nvSpPr>
        <p:spPr>
          <a:xfrm>
            <a:off x="548640" y="960120"/>
            <a:ext cx="11091672" cy="914400"/>
          </a:xfrm>
          <a:prstGeom prst="rect">
            <a:avLst/>
          </a:prstGeom>
          <a:noFill/>
          <a:ln/>
        </p:spPr>
        <p:txBody>
          <a:bodyPr wrap="square" rtlCol="0" anchor="t"/>
          <a:lstStyle/>
          <a:p>
            <a:pPr marL="0" indent="0" algn="l">
              <a:buNone/>
            </a:pPr>
            <a:r>
              <a:rPr lang="en-US" sz="3200" b="1" dirty="0">
                <a:solidFill>
                  <a:srgbClr val="1B2B2A"/>
                </a:solidFill>
                <a:latin typeface="Cambria" pitchFamily="34" charset="0"/>
                <a:ea typeface="Cambria" pitchFamily="34" charset="-122"/>
                <a:cs typeface="Cambria" pitchFamily="34" charset="-120"/>
              </a:rPr>
              <a:t>The Problem With Covariance: Units</a:t>
            </a:r>
            <a:endParaRPr lang="en-US" sz="3200" dirty="0"/>
          </a:p>
        </p:txBody>
      </p:sp>
      <p:sp>
        <p:nvSpPr>
          <p:cNvPr id="5" name="Shape 3"/>
          <p:cNvSpPr/>
          <p:nvPr/>
        </p:nvSpPr>
        <p:spPr>
          <a:xfrm>
            <a:off x="548640" y="1993392"/>
            <a:ext cx="365760" cy="365760"/>
          </a:xfrm>
          <a:prstGeom prst="ellipse">
            <a:avLst/>
          </a:prstGeom>
          <a:solidFill>
            <a:srgbClr val="F2A93B"/>
          </a:solidFill>
          <a:ln/>
        </p:spPr>
      </p:sp>
      <p:sp>
        <p:nvSpPr>
          <p:cNvPr id="6" name="Text 4"/>
          <p:cNvSpPr/>
          <p:nvPr/>
        </p:nvSpPr>
        <p:spPr>
          <a:xfrm>
            <a:off x="548640" y="1993392"/>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7" name="Text 5"/>
          <p:cNvSpPr/>
          <p:nvPr/>
        </p:nvSpPr>
        <p:spPr>
          <a:xfrm>
            <a:off x="1143000" y="1965960"/>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Covariance is measured in the product of the two variables' units — e.g., 'rupees × hours', which is hard to interpret.</a:t>
            </a:r>
            <a:endParaRPr lang="en-US" sz="2000" dirty="0"/>
          </a:p>
        </p:txBody>
      </p:sp>
      <p:sp>
        <p:nvSpPr>
          <p:cNvPr id="8" name="Shape 6"/>
          <p:cNvSpPr/>
          <p:nvPr/>
        </p:nvSpPr>
        <p:spPr>
          <a:xfrm>
            <a:off x="548640" y="3246120"/>
            <a:ext cx="365760" cy="365760"/>
          </a:xfrm>
          <a:prstGeom prst="ellipse">
            <a:avLst/>
          </a:prstGeom>
          <a:solidFill>
            <a:srgbClr val="F2A93B"/>
          </a:solidFill>
          <a:ln/>
        </p:spPr>
      </p:sp>
      <p:sp>
        <p:nvSpPr>
          <p:cNvPr id="9" name="Text 7"/>
          <p:cNvSpPr/>
          <p:nvPr/>
        </p:nvSpPr>
        <p:spPr>
          <a:xfrm>
            <a:off x="548640" y="3246120"/>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0" name="Text 8"/>
          <p:cNvSpPr/>
          <p:nvPr/>
        </p:nvSpPr>
        <p:spPr>
          <a:xfrm>
            <a:off x="1143000" y="3218688"/>
            <a:ext cx="10497312" cy="1380744"/>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Its size depends heavily on the scale of the data: measuring height in centimetres instead of metres inflates covariance, even though the relationship hasn't changed.</a:t>
            </a:r>
            <a:endParaRPr lang="en-US" sz="2000" dirty="0"/>
          </a:p>
        </p:txBody>
      </p:sp>
      <p:sp>
        <p:nvSpPr>
          <p:cNvPr id="11" name="Shape 9"/>
          <p:cNvSpPr/>
          <p:nvPr/>
        </p:nvSpPr>
        <p:spPr>
          <a:xfrm>
            <a:off x="548640" y="4882896"/>
            <a:ext cx="365760" cy="365760"/>
          </a:xfrm>
          <a:prstGeom prst="ellipse">
            <a:avLst/>
          </a:prstGeom>
          <a:solidFill>
            <a:srgbClr val="F2A93B"/>
          </a:solidFill>
          <a:ln/>
        </p:spPr>
      </p:sp>
      <p:sp>
        <p:nvSpPr>
          <p:cNvPr id="12" name="Text 10"/>
          <p:cNvSpPr/>
          <p:nvPr/>
        </p:nvSpPr>
        <p:spPr>
          <a:xfrm>
            <a:off x="548640" y="4882896"/>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3" name="Text 11"/>
          <p:cNvSpPr/>
          <p:nvPr/>
        </p:nvSpPr>
        <p:spPr>
          <a:xfrm>
            <a:off x="1143000" y="4855464"/>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So covariance tells us DIRECTION reliably, but not a standardized STRENGTH.</a:t>
            </a:r>
            <a:endParaRPr lang="en-US" sz="2000" dirty="0"/>
          </a:p>
        </p:txBody>
      </p:sp>
      <p:sp>
        <p:nvSpPr>
          <p:cNvPr id="14" name="Shape 12"/>
          <p:cNvSpPr/>
          <p:nvPr/>
        </p:nvSpPr>
        <p:spPr>
          <a:xfrm>
            <a:off x="548640" y="6135624"/>
            <a:ext cx="365760" cy="365760"/>
          </a:xfrm>
          <a:prstGeom prst="ellipse">
            <a:avLst/>
          </a:prstGeom>
          <a:solidFill>
            <a:srgbClr val="F2A93B"/>
          </a:solidFill>
          <a:ln/>
        </p:spPr>
      </p:sp>
      <p:sp>
        <p:nvSpPr>
          <p:cNvPr id="15" name="Text 13"/>
          <p:cNvSpPr/>
          <p:nvPr/>
        </p:nvSpPr>
        <p:spPr>
          <a:xfrm>
            <a:off x="548640" y="6135624"/>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6" name="Text 14"/>
          <p:cNvSpPr/>
          <p:nvPr/>
        </p:nvSpPr>
        <p:spPr>
          <a:xfrm>
            <a:off x="1143000" y="6108192"/>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We need a version that is unit-free and always falls in a fixed, comparable range — that's correlation.</a:t>
            </a:r>
            <a:endParaRPr lang="en-US" sz="2000" dirty="0"/>
          </a:p>
        </p:txBody>
      </p:sp>
      <p:sp>
        <p:nvSpPr>
          <p:cNvPr id="17" name="Text 15"/>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5B7370"/>
                </a:solidFill>
                <a:latin typeface="Calibri" pitchFamily="34" charset="0"/>
                <a:ea typeface="Calibri" pitchFamily="34" charset="-122"/>
                <a:cs typeface="Calibri" pitchFamily="34" charset="-120"/>
              </a:rPr>
              <a:t>Presidency University | Dept. of AI &amp; Robotics | DSC4000 | Statics for Data Science</a:t>
            </a:r>
            <a:endParaRPr lang="en-US" sz="1000" dirty="0"/>
          </a:p>
        </p:txBody>
      </p:sp>
      <p:sp>
        <p:nvSpPr>
          <p:cNvPr id="18" name="Text 16"/>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7370"/>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3291840" cy="384048"/>
          </a:xfrm>
          <a:prstGeom prst="roundRect">
            <a:avLst>
              <a:gd name="adj" fmla="val 19048"/>
            </a:avLst>
          </a:prstGeom>
          <a:solidFill>
            <a:srgbClr val="E8F4F2"/>
          </a:solidFill>
          <a:ln/>
        </p:spPr>
      </p:sp>
      <p:sp>
        <p:nvSpPr>
          <p:cNvPr id="3" name="Text 1"/>
          <p:cNvSpPr/>
          <p:nvPr/>
        </p:nvSpPr>
        <p:spPr>
          <a:xfrm>
            <a:off x="548640" y="457200"/>
            <a:ext cx="3291840" cy="384048"/>
          </a:xfrm>
          <a:prstGeom prst="rect">
            <a:avLst/>
          </a:prstGeom>
          <a:noFill/>
          <a:ln/>
        </p:spPr>
        <p:txBody>
          <a:bodyPr wrap="square" rtlCol="0" anchor="ctr"/>
          <a:lstStyle/>
          <a:p>
            <a:pPr marL="0" indent="0" algn="ctr">
              <a:buNone/>
            </a:pPr>
            <a:r>
              <a:rPr lang="en-US" sz="1300" b="1" kern="0" spc="100" dirty="0">
                <a:solidFill>
                  <a:srgbClr val="0E5C56"/>
                </a:solidFill>
                <a:latin typeface="Calibri" pitchFamily="34" charset="0"/>
                <a:ea typeface="Calibri" pitchFamily="34" charset="-122"/>
                <a:cs typeface="Calibri" pitchFamily="34" charset="-120"/>
              </a:rPr>
              <a:t>CORE CONCEPT</a:t>
            </a:r>
            <a:endParaRPr lang="en-US" sz="1300" dirty="0"/>
          </a:p>
        </p:txBody>
      </p:sp>
      <p:sp>
        <p:nvSpPr>
          <p:cNvPr id="4" name="Text 2"/>
          <p:cNvSpPr/>
          <p:nvPr/>
        </p:nvSpPr>
        <p:spPr>
          <a:xfrm>
            <a:off x="548640" y="960120"/>
            <a:ext cx="11091672" cy="914400"/>
          </a:xfrm>
          <a:prstGeom prst="rect">
            <a:avLst/>
          </a:prstGeom>
          <a:noFill/>
          <a:ln/>
        </p:spPr>
        <p:txBody>
          <a:bodyPr wrap="square" rtlCol="0" anchor="t"/>
          <a:lstStyle/>
          <a:p>
            <a:pPr marL="0" indent="0" algn="l">
              <a:buNone/>
            </a:pPr>
            <a:r>
              <a:rPr lang="en-US" sz="3200" b="1" dirty="0">
                <a:solidFill>
                  <a:srgbClr val="1B2B2A"/>
                </a:solidFill>
                <a:latin typeface="Cambria" pitchFamily="34" charset="0"/>
                <a:ea typeface="Cambria" pitchFamily="34" charset="-122"/>
                <a:cs typeface="Cambria" pitchFamily="34" charset="-120"/>
              </a:rPr>
              <a:t>What Is Correlation? — Intuition</a:t>
            </a:r>
            <a:endParaRPr lang="en-US" sz="3200" dirty="0"/>
          </a:p>
        </p:txBody>
      </p:sp>
      <p:sp>
        <p:nvSpPr>
          <p:cNvPr id="5" name="Shape 3"/>
          <p:cNvSpPr/>
          <p:nvPr/>
        </p:nvSpPr>
        <p:spPr>
          <a:xfrm>
            <a:off x="548640" y="1993392"/>
            <a:ext cx="365760" cy="365760"/>
          </a:xfrm>
          <a:prstGeom prst="ellipse">
            <a:avLst/>
          </a:prstGeom>
          <a:solidFill>
            <a:srgbClr val="F2A93B"/>
          </a:solidFill>
          <a:ln/>
        </p:spPr>
      </p:sp>
      <p:sp>
        <p:nvSpPr>
          <p:cNvPr id="6" name="Text 4"/>
          <p:cNvSpPr/>
          <p:nvPr/>
        </p:nvSpPr>
        <p:spPr>
          <a:xfrm>
            <a:off x="548640" y="1993392"/>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7" name="Text 5"/>
          <p:cNvSpPr/>
          <p:nvPr/>
        </p:nvSpPr>
        <p:spPr>
          <a:xfrm>
            <a:off x="1143000" y="1965960"/>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Correlation is covariance, rescaled so it always falls between −1 and +1, regardless of the original units.</a:t>
            </a:r>
            <a:endParaRPr lang="en-US" sz="2000" dirty="0"/>
          </a:p>
        </p:txBody>
      </p:sp>
      <p:sp>
        <p:nvSpPr>
          <p:cNvPr id="8" name="Shape 6"/>
          <p:cNvSpPr/>
          <p:nvPr/>
        </p:nvSpPr>
        <p:spPr>
          <a:xfrm>
            <a:off x="548640" y="3246120"/>
            <a:ext cx="365760" cy="365760"/>
          </a:xfrm>
          <a:prstGeom prst="ellipse">
            <a:avLst/>
          </a:prstGeom>
          <a:solidFill>
            <a:srgbClr val="F2A93B"/>
          </a:solidFill>
          <a:ln/>
        </p:spPr>
      </p:sp>
      <p:sp>
        <p:nvSpPr>
          <p:cNvPr id="9" name="Text 7"/>
          <p:cNvSpPr/>
          <p:nvPr/>
        </p:nvSpPr>
        <p:spPr>
          <a:xfrm>
            <a:off x="548640" y="3246120"/>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0" name="Text 8"/>
          <p:cNvSpPr/>
          <p:nvPr/>
        </p:nvSpPr>
        <p:spPr>
          <a:xfrm>
            <a:off x="1143000" y="3218688"/>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It measures both the DIRECTION and the STRENGTH of a linear relationship between two variables.</a:t>
            </a:r>
            <a:endParaRPr lang="en-US" sz="2000" dirty="0"/>
          </a:p>
        </p:txBody>
      </p:sp>
      <p:sp>
        <p:nvSpPr>
          <p:cNvPr id="11" name="Shape 9"/>
          <p:cNvSpPr/>
          <p:nvPr/>
        </p:nvSpPr>
        <p:spPr>
          <a:xfrm>
            <a:off x="548640" y="4498848"/>
            <a:ext cx="365760" cy="365760"/>
          </a:xfrm>
          <a:prstGeom prst="ellipse">
            <a:avLst/>
          </a:prstGeom>
          <a:solidFill>
            <a:srgbClr val="F2A93B"/>
          </a:solidFill>
          <a:ln/>
        </p:spPr>
      </p:sp>
      <p:sp>
        <p:nvSpPr>
          <p:cNvPr id="12" name="Text 10"/>
          <p:cNvSpPr/>
          <p:nvPr/>
        </p:nvSpPr>
        <p:spPr>
          <a:xfrm>
            <a:off x="548640" y="4498848"/>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3" name="Text 11"/>
          <p:cNvSpPr/>
          <p:nvPr/>
        </p:nvSpPr>
        <p:spPr>
          <a:xfrm>
            <a:off x="1143000" y="4471416"/>
            <a:ext cx="10497312" cy="612648"/>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A correlation near +1 or −1 means a strong, consistent relationship.</a:t>
            </a:r>
            <a:endParaRPr lang="en-US" sz="2000" dirty="0"/>
          </a:p>
        </p:txBody>
      </p:sp>
      <p:sp>
        <p:nvSpPr>
          <p:cNvPr id="14" name="Shape 12"/>
          <p:cNvSpPr/>
          <p:nvPr/>
        </p:nvSpPr>
        <p:spPr>
          <a:xfrm>
            <a:off x="548640" y="5367528"/>
            <a:ext cx="365760" cy="365760"/>
          </a:xfrm>
          <a:prstGeom prst="ellipse">
            <a:avLst/>
          </a:prstGeom>
          <a:solidFill>
            <a:srgbClr val="F2A93B"/>
          </a:solidFill>
          <a:ln/>
        </p:spPr>
      </p:sp>
      <p:sp>
        <p:nvSpPr>
          <p:cNvPr id="15" name="Text 13"/>
          <p:cNvSpPr/>
          <p:nvPr/>
        </p:nvSpPr>
        <p:spPr>
          <a:xfrm>
            <a:off x="548640" y="5367528"/>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6" name="Text 14"/>
          <p:cNvSpPr/>
          <p:nvPr/>
        </p:nvSpPr>
        <p:spPr>
          <a:xfrm>
            <a:off x="1143000" y="5340096"/>
            <a:ext cx="10497312" cy="612648"/>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A correlation near 0 means little to no linear relationship.</a:t>
            </a:r>
            <a:endParaRPr lang="en-US" sz="2000" dirty="0"/>
          </a:p>
        </p:txBody>
      </p:sp>
      <p:sp>
        <p:nvSpPr>
          <p:cNvPr id="17" name="Text 15"/>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5B7370"/>
                </a:solidFill>
                <a:latin typeface="Calibri" pitchFamily="34" charset="0"/>
                <a:ea typeface="Calibri" pitchFamily="34" charset="-122"/>
                <a:cs typeface="Calibri" pitchFamily="34" charset="-120"/>
              </a:rPr>
              <a:t>Presidency University | Dept. of AI &amp; Robotics | DSC4000 | Statics for Data Science</a:t>
            </a:r>
            <a:endParaRPr lang="en-US" sz="1000" dirty="0"/>
          </a:p>
        </p:txBody>
      </p:sp>
      <p:sp>
        <p:nvSpPr>
          <p:cNvPr id="18" name="Text 16"/>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7370"/>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3291840" cy="384048"/>
          </a:xfrm>
          <a:prstGeom prst="roundRect">
            <a:avLst>
              <a:gd name="adj" fmla="val 19048"/>
            </a:avLst>
          </a:prstGeom>
          <a:solidFill>
            <a:srgbClr val="E8F4F2"/>
          </a:solidFill>
          <a:ln/>
        </p:spPr>
      </p:sp>
      <p:sp>
        <p:nvSpPr>
          <p:cNvPr id="3" name="Text 1"/>
          <p:cNvSpPr/>
          <p:nvPr/>
        </p:nvSpPr>
        <p:spPr>
          <a:xfrm>
            <a:off x="548640" y="457200"/>
            <a:ext cx="3291840" cy="384048"/>
          </a:xfrm>
          <a:prstGeom prst="rect">
            <a:avLst/>
          </a:prstGeom>
          <a:noFill/>
          <a:ln/>
        </p:spPr>
        <p:txBody>
          <a:bodyPr wrap="square" rtlCol="0" anchor="ctr"/>
          <a:lstStyle/>
          <a:p>
            <a:pPr marL="0" indent="0" algn="ctr">
              <a:buNone/>
            </a:pPr>
            <a:r>
              <a:rPr lang="en-US" sz="1300" b="1" kern="0" spc="100" dirty="0">
                <a:solidFill>
                  <a:srgbClr val="0E5C56"/>
                </a:solidFill>
                <a:latin typeface="Calibri" pitchFamily="34" charset="0"/>
                <a:ea typeface="Calibri" pitchFamily="34" charset="-122"/>
                <a:cs typeface="Calibri" pitchFamily="34" charset="-120"/>
              </a:rPr>
              <a:t>FORMULA</a:t>
            </a:r>
            <a:endParaRPr lang="en-US" sz="1300" dirty="0"/>
          </a:p>
        </p:txBody>
      </p:sp>
      <p:sp>
        <p:nvSpPr>
          <p:cNvPr id="4" name="Text 2"/>
          <p:cNvSpPr/>
          <p:nvPr/>
        </p:nvSpPr>
        <p:spPr>
          <a:xfrm>
            <a:off x="548640" y="960120"/>
            <a:ext cx="11091672" cy="914400"/>
          </a:xfrm>
          <a:prstGeom prst="rect">
            <a:avLst/>
          </a:prstGeom>
          <a:noFill/>
          <a:ln/>
        </p:spPr>
        <p:txBody>
          <a:bodyPr wrap="square" rtlCol="0" anchor="t"/>
          <a:lstStyle/>
          <a:p>
            <a:pPr marL="0" indent="0" algn="l">
              <a:buNone/>
            </a:pPr>
            <a:r>
              <a:rPr lang="en-US" sz="3200" b="1" dirty="0">
                <a:solidFill>
                  <a:srgbClr val="1B2B2A"/>
                </a:solidFill>
                <a:latin typeface="Cambria" pitchFamily="34" charset="0"/>
                <a:ea typeface="Cambria" pitchFamily="34" charset="-122"/>
                <a:cs typeface="Cambria" pitchFamily="34" charset="-120"/>
              </a:rPr>
              <a:t>Pearson's Correlation Coefficient</a:t>
            </a:r>
            <a:endParaRPr lang="en-US" sz="3200" dirty="0"/>
          </a:p>
        </p:txBody>
      </p:sp>
      <p:sp>
        <p:nvSpPr>
          <p:cNvPr id="5" name="Shape 3"/>
          <p:cNvSpPr/>
          <p:nvPr/>
        </p:nvSpPr>
        <p:spPr>
          <a:xfrm>
            <a:off x="548640" y="1920240"/>
            <a:ext cx="11091672" cy="1371600"/>
          </a:xfrm>
          <a:prstGeom prst="roundRect">
            <a:avLst>
              <a:gd name="adj" fmla="val 8000"/>
            </a:avLst>
          </a:prstGeom>
          <a:solidFill>
            <a:srgbClr val="073B37"/>
          </a:solidFill>
          <a:ln/>
        </p:spPr>
      </p:sp>
      <p:sp>
        <p:nvSpPr>
          <p:cNvPr id="6" name="Text 4"/>
          <p:cNvSpPr/>
          <p:nvPr/>
        </p:nvSpPr>
        <p:spPr>
          <a:xfrm>
            <a:off x="548640" y="1920240"/>
            <a:ext cx="11091672" cy="960120"/>
          </a:xfrm>
          <a:prstGeom prst="rect">
            <a:avLst/>
          </a:prstGeom>
          <a:noFill/>
          <a:ln/>
        </p:spPr>
        <p:txBody>
          <a:bodyPr wrap="square" rtlCol="0" anchor="ctr"/>
          <a:lstStyle/>
          <a:p>
            <a:pPr marL="0" indent="0" algn="ctr">
              <a:buNone/>
            </a:pPr>
            <a:r>
              <a:rPr lang="en-US" sz="2600" b="1" dirty="0">
                <a:solidFill>
                  <a:srgbClr val="F2A93B"/>
                </a:solidFill>
                <a:latin typeface="Cambria" pitchFamily="34" charset="0"/>
                <a:ea typeface="Cambria" pitchFamily="34" charset="-122"/>
                <a:cs typeface="Cambria" pitchFamily="34" charset="-120"/>
              </a:rPr>
              <a:t>r = Cov(X, Y) / (σx × σy)</a:t>
            </a:r>
            <a:endParaRPr lang="en-US" sz="2600" dirty="0"/>
          </a:p>
        </p:txBody>
      </p:sp>
      <p:sp>
        <p:nvSpPr>
          <p:cNvPr id="7" name="Text 5"/>
          <p:cNvSpPr/>
          <p:nvPr/>
        </p:nvSpPr>
        <p:spPr>
          <a:xfrm>
            <a:off x="548640" y="2788920"/>
            <a:ext cx="11091672" cy="457200"/>
          </a:xfrm>
          <a:prstGeom prst="rect">
            <a:avLst/>
          </a:prstGeom>
          <a:noFill/>
          <a:ln/>
        </p:spPr>
        <p:txBody>
          <a:bodyPr wrap="square" rtlCol="0" anchor="t"/>
          <a:lstStyle/>
          <a:p>
            <a:pPr marL="0" indent="0" algn="ctr">
              <a:buNone/>
            </a:pPr>
            <a:r>
              <a:rPr lang="en-US" sz="1400" i="1" dirty="0">
                <a:solidFill>
                  <a:srgbClr val="CFE3E1"/>
                </a:solidFill>
                <a:latin typeface="Calibri" pitchFamily="34" charset="0"/>
                <a:ea typeface="Calibri" pitchFamily="34" charset="-122"/>
                <a:cs typeface="Calibri" pitchFamily="34" charset="-120"/>
              </a:rPr>
              <a:t>σx and σy are the standard deviations of X and Y</a:t>
            </a:r>
            <a:endParaRPr lang="en-US" sz="1400" dirty="0"/>
          </a:p>
        </p:txBody>
      </p:sp>
      <p:sp>
        <p:nvSpPr>
          <p:cNvPr id="8" name="Shape 6"/>
          <p:cNvSpPr/>
          <p:nvPr/>
        </p:nvSpPr>
        <p:spPr>
          <a:xfrm>
            <a:off x="548640" y="3630168"/>
            <a:ext cx="329184" cy="329184"/>
          </a:xfrm>
          <a:prstGeom prst="ellipse">
            <a:avLst/>
          </a:prstGeom>
          <a:solidFill>
            <a:srgbClr val="F2A93B"/>
          </a:solidFill>
          <a:ln/>
        </p:spPr>
      </p:sp>
      <p:sp>
        <p:nvSpPr>
          <p:cNvPr id="9" name="Text 7"/>
          <p:cNvSpPr/>
          <p:nvPr/>
        </p:nvSpPr>
        <p:spPr>
          <a:xfrm>
            <a:off x="548640" y="3630168"/>
            <a:ext cx="329184" cy="329184"/>
          </a:xfrm>
          <a:prstGeom prst="rect">
            <a:avLst/>
          </a:prstGeom>
          <a:noFill/>
          <a:ln/>
        </p:spPr>
        <p:txBody>
          <a:bodyPr wrap="square" rtlCol="0" anchor="ctr"/>
          <a:lstStyle/>
          <a:p>
            <a:pPr marL="0" indent="0" algn="ctr">
              <a:buNone/>
            </a:pPr>
            <a:r>
              <a:rPr lang="en-US" sz="900" b="1" dirty="0">
                <a:solidFill>
                  <a:srgbClr val="073B37"/>
                </a:solidFill>
                <a:latin typeface="Calibri" pitchFamily="34" charset="0"/>
                <a:ea typeface="Calibri" pitchFamily="34" charset="-122"/>
                <a:cs typeface="Calibri" pitchFamily="34" charset="-120"/>
              </a:rPr>
              <a:t>›</a:t>
            </a:r>
            <a:endParaRPr lang="en-US" sz="900" dirty="0"/>
          </a:p>
        </p:txBody>
      </p:sp>
      <p:sp>
        <p:nvSpPr>
          <p:cNvPr id="10" name="Text 8"/>
          <p:cNvSpPr/>
          <p:nvPr/>
        </p:nvSpPr>
        <p:spPr>
          <a:xfrm>
            <a:off x="1097280" y="3611880"/>
            <a:ext cx="10360152" cy="877824"/>
          </a:xfrm>
          <a:prstGeom prst="rect">
            <a:avLst/>
          </a:prstGeom>
          <a:noFill/>
          <a:ln/>
        </p:spPr>
        <p:txBody>
          <a:bodyPr wrap="square" rtlCol="0" anchor="t"/>
          <a:lstStyle/>
          <a:p>
            <a:pPr marL="0" indent="0">
              <a:buNone/>
            </a:pPr>
            <a:r>
              <a:rPr lang="en-US" sz="2000" dirty="0">
                <a:solidFill>
                  <a:srgbClr val="1B2B2A"/>
                </a:solidFill>
                <a:latin typeface="Calibri" pitchFamily="34" charset="0"/>
                <a:ea typeface="Calibri" pitchFamily="34" charset="-122"/>
                <a:cs typeface="Calibri" pitchFamily="34" charset="-120"/>
              </a:rPr>
              <a:t>We divide covariance by the product of the two standard deviations — this cancels out the original units.</a:t>
            </a:r>
            <a:endParaRPr lang="en-US" sz="2000" dirty="0"/>
          </a:p>
        </p:txBody>
      </p:sp>
      <p:sp>
        <p:nvSpPr>
          <p:cNvPr id="11" name="Shape 9"/>
          <p:cNvSpPr/>
          <p:nvPr/>
        </p:nvSpPr>
        <p:spPr>
          <a:xfrm>
            <a:off x="548640" y="4690872"/>
            <a:ext cx="329184" cy="329184"/>
          </a:xfrm>
          <a:prstGeom prst="ellipse">
            <a:avLst/>
          </a:prstGeom>
          <a:solidFill>
            <a:srgbClr val="F2A93B"/>
          </a:solidFill>
          <a:ln/>
        </p:spPr>
      </p:sp>
      <p:sp>
        <p:nvSpPr>
          <p:cNvPr id="12" name="Text 10"/>
          <p:cNvSpPr/>
          <p:nvPr/>
        </p:nvSpPr>
        <p:spPr>
          <a:xfrm>
            <a:off x="548640" y="4690872"/>
            <a:ext cx="329184" cy="329184"/>
          </a:xfrm>
          <a:prstGeom prst="rect">
            <a:avLst/>
          </a:prstGeom>
          <a:noFill/>
          <a:ln/>
        </p:spPr>
        <p:txBody>
          <a:bodyPr wrap="square" rtlCol="0" anchor="ctr"/>
          <a:lstStyle/>
          <a:p>
            <a:pPr marL="0" indent="0" algn="ctr">
              <a:buNone/>
            </a:pPr>
            <a:r>
              <a:rPr lang="en-US" sz="900" b="1" dirty="0">
                <a:solidFill>
                  <a:srgbClr val="073B37"/>
                </a:solidFill>
                <a:latin typeface="Calibri" pitchFamily="34" charset="0"/>
                <a:ea typeface="Calibri" pitchFamily="34" charset="-122"/>
                <a:cs typeface="Calibri" pitchFamily="34" charset="-120"/>
              </a:rPr>
              <a:t>›</a:t>
            </a:r>
            <a:endParaRPr lang="en-US" sz="900" dirty="0"/>
          </a:p>
        </p:txBody>
      </p:sp>
      <p:sp>
        <p:nvSpPr>
          <p:cNvPr id="13" name="Text 11"/>
          <p:cNvSpPr/>
          <p:nvPr/>
        </p:nvSpPr>
        <p:spPr>
          <a:xfrm>
            <a:off x="1097280" y="4672584"/>
            <a:ext cx="10360152" cy="877824"/>
          </a:xfrm>
          <a:prstGeom prst="rect">
            <a:avLst/>
          </a:prstGeom>
          <a:noFill/>
          <a:ln/>
        </p:spPr>
        <p:txBody>
          <a:bodyPr wrap="square" rtlCol="0" anchor="t"/>
          <a:lstStyle/>
          <a:p>
            <a:pPr marL="0" indent="0">
              <a:buNone/>
            </a:pPr>
            <a:r>
              <a:rPr lang="en-US" sz="2000" dirty="0">
                <a:solidFill>
                  <a:srgbClr val="1B2B2A"/>
                </a:solidFill>
                <a:latin typeface="Calibri" pitchFamily="34" charset="0"/>
                <a:ea typeface="Calibri" pitchFamily="34" charset="-122"/>
                <a:cs typeface="Calibri" pitchFamily="34" charset="-120"/>
              </a:rPr>
              <a:t>The result, r, is always a pure number between −1 and +1, no matter what scale the original data was in.</a:t>
            </a:r>
            <a:endParaRPr lang="en-US" sz="2000" dirty="0"/>
          </a:p>
        </p:txBody>
      </p:sp>
      <p:sp>
        <p:nvSpPr>
          <p:cNvPr id="14" name="Shape 12"/>
          <p:cNvSpPr/>
          <p:nvPr/>
        </p:nvSpPr>
        <p:spPr>
          <a:xfrm>
            <a:off x="548640" y="5751576"/>
            <a:ext cx="329184" cy="329184"/>
          </a:xfrm>
          <a:prstGeom prst="ellipse">
            <a:avLst/>
          </a:prstGeom>
          <a:solidFill>
            <a:srgbClr val="F2A93B"/>
          </a:solidFill>
          <a:ln/>
        </p:spPr>
      </p:sp>
      <p:sp>
        <p:nvSpPr>
          <p:cNvPr id="15" name="Text 13"/>
          <p:cNvSpPr/>
          <p:nvPr/>
        </p:nvSpPr>
        <p:spPr>
          <a:xfrm>
            <a:off x="548640" y="5751576"/>
            <a:ext cx="329184" cy="329184"/>
          </a:xfrm>
          <a:prstGeom prst="rect">
            <a:avLst/>
          </a:prstGeom>
          <a:noFill/>
          <a:ln/>
        </p:spPr>
        <p:txBody>
          <a:bodyPr wrap="square" rtlCol="0" anchor="ctr"/>
          <a:lstStyle/>
          <a:p>
            <a:pPr marL="0" indent="0" algn="ctr">
              <a:buNone/>
            </a:pPr>
            <a:r>
              <a:rPr lang="en-US" sz="900" b="1" dirty="0">
                <a:solidFill>
                  <a:srgbClr val="073B37"/>
                </a:solidFill>
                <a:latin typeface="Calibri" pitchFamily="34" charset="0"/>
                <a:ea typeface="Calibri" pitchFamily="34" charset="-122"/>
                <a:cs typeface="Calibri" pitchFamily="34" charset="-120"/>
              </a:rPr>
              <a:t>›</a:t>
            </a:r>
            <a:endParaRPr lang="en-US" sz="900" dirty="0"/>
          </a:p>
        </p:txBody>
      </p:sp>
      <p:sp>
        <p:nvSpPr>
          <p:cNvPr id="16" name="Text 14"/>
          <p:cNvSpPr/>
          <p:nvPr/>
        </p:nvSpPr>
        <p:spPr>
          <a:xfrm>
            <a:off x="1097280" y="5733288"/>
            <a:ext cx="10360152" cy="877824"/>
          </a:xfrm>
          <a:prstGeom prst="rect">
            <a:avLst/>
          </a:prstGeom>
          <a:noFill/>
          <a:ln/>
        </p:spPr>
        <p:txBody>
          <a:bodyPr wrap="square" rtlCol="0" anchor="t"/>
          <a:lstStyle/>
          <a:p>
            <a:pPr marL="0" indent="0">
              <a:buNone/>
            </a:pPr>
            <a:r>
              <a:rPr lang="en-US" sz="2000" dirty="0">
                <a:solidFill>
                  <a:srgbClr val="1B2B2A"/>
                </a:solidFill>
                <a:latin typeface="Calibri" pitchFamily="34" charset="0"/>
                <a:ea typeface="Calibri" pitchFamily="34" charset="-122"/>
                <a:cs typeface="Calibri" pitchFamily="34" charset="-120"/>
              </a:rPr>
              <a:t>r is called Pearson's correlation coefficient, the most widely used measure of linear association.</a:t>
            </a:r>
            <a:endParaRPr lang="en-US" sz="2000" dirty="0"/>
          </a:p>
        </p:txBody>
      </p:sp>
      <p:sp>
        <p:nvSpPr>
          <p:cNvPr id="17" name="Text 15"/>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5B7370"/>
                </a:solidFill>
                <a:latin typeface="Calibri" pitchFamily="34" charset="0"/>
                <a:ea typeface="Calibri" pitchFamily="34" charset="-122"/>
                <a:cs typeface="Calibri" pitchFamily="34" charset="-120"/>
              </a:rPr>
              <a:t>Presidency University | Dept. of AI &amp; Robotics | DSC4000 | Statics for Data Science</a:t>
            </a:r>
            <a:endParaRPr lang="en-US" sz="1000" dirty="0"/>
          </a:p>
        </p:txBody>
      </p:sp>
      <p:sp>
        <p:nvSpPr>
          <p:cNvPr id="18" name="Text 16"/>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7370"/>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3291840" cy="384048"/>
          </a:xfrm>
          <a:prstGeom prst="roundRect">
            <a:avLst>
              <a:gd name="adj" fmla="val 19048"/>
            </a:avLst>
          </a:prstGeom>
          <a:solidFill>
            <a:srgbClr val="E8F4F2"/>
          </a:solidFill>
          <a:ln/>
        </p:spPr>
      </p:sp>
      <p:sp>
        <p:nvSpPr>
          <p:cNvPr id="3" name="Text 1"/>
          <p:cNvSpPr/>
          <p:nvPr/>
        </p:nvSpPr>
        <p:spPr>
          <a:xfrm>
            <a:off x="548640" y="457200"/>
            <a:ext cx="3291840" cy="384048"/>
          </a:xfrm>
          <a:prstGeom prst="rect">
            <a:avLst/>
          </a:prstGeom>
          <a:noFill/>
          <a:ln/>
        </p:spPr>
        <p:txBody>
          <a:bodyPr wrap="square" rtlCol="0" anchor="ctr"/>
          <a:lstStyle/>
          <a:p>
            <a:pPr marL="0" indent="0" algn="ctr">
              <a:buNone/>
            </a:pPr>
            <a:r>
              <a:rPr lang="en-US" sz="1300" b="1" kern="0" spc="100" dirty="0">
                <a:solidFill>
                  <a:srgbClr val="0E5C56"/>
                </a:solidFill>
                <a:latin typeface="Calibri" pitchFamily="34" charset="0"/>
                <a:ea typeface="Calibri" pitchFamily="34" charset="-122"/>
                <a:cs typeface="Calibri" pitchFamily="34" charset="-120"/>
              </a:rPr>
              <a:t>PROPERTIES</a:t>
            </a:r>
            <a:endParaRPr lang="en-US" sz="1300" dirty="0"/>
          </a:p>
        </p:txBody>
      </p:sp>
      <p:sp>
        <p:nvSpPr>
          <p:cNvPr id="4" name="Text 2"/>
          <p:cNvSpPr/>
          <p:nvPr/>
        </p:nvSpPr>
        <p:spPr>
          <a:xfrm>
            <a:off x="548640" y="960120"/>
            <a:ext cx="11091672" cy="914400"/>
          </a:xfrm>
          <a:prstGeom prst="rect">
            <a:avLst/>
          </a:prstGeom>
          <a:noFill/>
          <a:ln/>
        </p:spPr>
        <p:txBody>
          <a:bodyPr wrap="square" rtlCol="0" anchor="t"/>
          <a:lstStyle/>
          <a:p>
            <a:pPr marL="0" indent="0" algn="l">
              <a:buNone/>
            </a:pPr>
            <a:r>
              <a:rPr lang="en-US" sz="3200" b="1" dirty="0">
                <a:solidFill>
                  <a:srgbClr val="1B2B2A"/>
                </a:solidFill>
                <a:latin typeface="Cambria" pitchFamily="34" charset="0"/>
                <a:ea typeface="Cambria" pitchFamily="34" charset="-122"/>
                <a:cs typeface="Cambria" pitchFamily="34" charset="-120"/>
              </a:rPr>
              <a:t>Properties of Correlation (−1 to +1)</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91672" cy="4206240"/>
        </p:xfrm>
        <a:graphic>
          <a:graphicData uri="http://schemas.openxmlformats.org/drawingml/2006/table">
            <a:tbl>
              <a:tblPr/>
              <a:tblGrid>
                <a:gridCol w="5545836">
                  <a:extLst>
                    <a:ext uri="{9D8B030D-6E8A-4147-A177-3AD203B41FA5}">
                      <a16:colId xmlns:a16="http://schemas.microsoft.com/office/drawing/2014/main" val="20000"/>
                    </a:ext>
                  </a:extLst>
                </a:gridCol>
                <a:gridCol w="5545836">
                  <a:extLst>
                    <a:ext uri="{9D8B030D-6E8A-4147-A177-3AD203B41FA5}">
                      <a16:colId xmlns:a16="http://schemas.microsoft.com/office/drawing/2014/main" val="20001"/>
                    </a:ext>
                  </a:extLst>
                </a:gridCol>
              </a:tblGrid>
              <a:tr h="525780">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Value of r</a:t>
                      </a:r>
                      <a:endParaRPr lang="en-US" sz="1800" dirty="0">
                        <a:latin typeface="Calibri" charset="0"/>
                        <a:ea typeface="Calibri" charset="0"/>
                        <a:cs typeface="Calibri" charset="0"/>
                      </a:endParaRPr>
                    </a:p>
                  </a:txBody>
                  <a:tcPr anchor="ctr">
                    <a:lnL w="12700" cap="flat" cmpd="sng" algn="ctr">
                      <a:solidFill>
                        <a:srgbClr val="D7E6E4"/>
                      </a:solidFill>
                      <a:prstDash val="solid"/>
                      <a:round/>
                      <a:headEnd type="none" w="med" len="med"/>
                      <a:tailEnd type="none" w="med" len="med"/>
                    </a:lnL>
                    <a:lnR w="12700" cap="flat" cmpd="sng" algn="ctr">
                      <a:solidFill>
                        <a:srgbClr val="D7E6E4"/>
                      </a:solidFill>
                      <a:prstDash val="solid"/>
                      <a:round/>
                      <a:headEnd type="none" w="med" len="med"/>
                      <a:tailEnd type="none" w="med" len="med"/>
                    </a:lnR>
                    <a:lnT w="12700" cap="flat" cmpd="sng" algn="ctr">
                      <a:solidFill>
                        <a:srgbClr val="D7E6E4"/>
                      </a:solidFill>
                      <a:prstDash val="solid"/>
                      <a:round/>
                      <a:headEnd type="none" w="med" len="med"/>
                      <a:tailEnd type="none" w="med" len="med"/>
                    </a:lnT>
                    <a:lnB w="12700" cap="flat" cmpd="sng" algn="ctr">
                      <a:solidFill>
                        <a:srgbClr val="D7E6E4"/>
                      </a:solidFill>
                      <a:prstDash val="solid"/>
                      <a:round/>
                      <a:headEnd type="none" w="med" len="med"/>
                      <a:tailEnd type="none" w="med" len="med"/>
                    </a:lnB>
                    <a:solidFill>
                      <a:srgbClr val="0E5C56"/>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Meaning</a:t>
                      </a:r>
                      <a:endParaRPr lang="en-US" sz="1800" dirty="0">
                        <a:latin typeface="Calibri" charset="0"/>
                        <a:ea typeface="Calibri" charset="0"/>
                        <a:cs typeface="Calibri" charset="0"/>
                      </a:endParaRPr>
                    </a:p>
                  </a:txBody>
                  <a:tcPr anchor="ctr">
                    <a:lnL w="12700" cap="flat" cmpd="sng" algn="ctr">
                      <a:solidFill>
                        <a:srgbClr val="D7E6E4"/>
                      </a:solidFill>
                      <a:prstDash val="solid"/>
                      <a:round/>
                      <a:headEnd type="none" w="med" len="med"/>
                      <a:tailEnd type="none" w="med" len="med"/>
                    </a:lnL>
                    <a:lnR w="12700" cap="flat" cmpd="sng" algn="ctr">
                      <a:solidFill>
                        <a:srgbClr val="D7E6E4"/>
                      </a:solidFill>
                      <a:prstDash val="solid"/>
                      <a:round/>
                      <a:headEnd type="none" w="med" len="med"/>
                      <a:tailEnd type="none" w="med" len="med"/>
                    </a:lnR>
                    <a:lnT w="12700" cap="flat" cmpd="sng" algn="ctr">
                      <a:solidFill>
                        <a:srgbClr val="D7E6E4"/>
                      </a:solidFill>
                      <a:prstDash val="solid"/>
                      <a:round/>
                      <a:headEnd type="none" w="med" len="med"/>
                      <a:tailEnd type="none" w="med" len="med"/>
                    </a:lnT>
                    <a:lnB w="12700" cap="flat" cmpd="sng" algn="ctr">
                      <a:solidFill>
                        <a:srgbClr val="D7E6E4"/>
                      </a:solidFill>
                      <a:prstDash val="solid"/>
                      <a:round/>
                      <a:headEnd type="none" w="med" len="med"/>
                      <a:tailEnd type="none" w="med" len="med"/>
                    </a:lnB>
                    <a:solidFill>
                      <a:srgbClr val="0E5C56"/>
                    </a:solidFill>
                  </a:tcPr>
                </a:tc>
                <a:extLst>
                  <a:ext uri="{0D108BD9-81ED-4DB2-BD59-A6C34878D82A}">
                    <a16:rowId xmlns:a16="http://schemas.microsoft.com/office/drawing/2014/main" val="10000"/>
                  </a:ext>
                </a:extLst>
              </a:tr>
              <a:tr h="525780">
                <a:tc>
                  <a:txBody>
                    <a:bodyPr/>
                    <a:lstStyle/>
                    <a:p>
                      <a:pPr marL="0" indent="0" algn="ctr">
                        <a:buNone/>
                      </a:pPr>
                      <a:r>
                        <a:rPr lang="en-US" sz="1700" dirty="0">
                          <a:solidFill>
                            <a:srgbClr val="1B2B2A"/>
                          </a:solidFill>
                          <a:latin typeface="Calibri" pitchFamily="34" charset="0"/>
                          <a:ea typeface="Calibri" pitchFamily="34" charset="-122"/>
                          <a:cs typeface="Calibri" pitchFamily="34" charset="-120"/>
                        </a:rPr>
                        <a:t>r = +1</a:t>
                      </a:r>
                      <a:endParaRPr lang="en-US" sz="1700" dirty="0">
                        <a:latin typeface="Calibri" charset="0"/>
                        <a:ea typeface="Calibri" charset="0"/>
                        <a:cs typeface="Calibri" charset="0"/>
                      </a:endParaRPr>
                    </a:p>
                  </a:txBody>
                  <a:tcPr anchor="ctr">
                    <a:lnL w="12700" cap="flat" cmpd="sng" algn="ctr">
                      <a:solidFill>
                        <a:srgbClr val="D7E6E4"/>
                      </a:solidFill>
                      <a:prstDash val="solid"/>
                      <a:round/>
                      <a:headEnd type="none" w="med" len="med"/>
                      <a:tailEnd type="none" w="med" len="med"/>
                    </a:lnL>
                    <a:lnR w="12700" cap="flat" cmpd="sng" algn="ctr">
                      <a:solidFill>
                        <a:srgbClr val="D7E6E4"/>
                      </a:solidFill>
                      <a:prstDash val="solid"/>
                      <a:round/>
                      <a:headEnd type="none" w="med" len="med"/>
                      <a:tailEnd type="none" w="med" len="med"/>
                    </a:lnR>
                    <a:lnT w="12700" cap="flat" cmpd="sng" algn="ctr">
                      <a:solidFill>
                        <a:srgbClr val="D7E6E4"/>
                      </a:solidFill>
                      <a:prstDash val="solid"/>
                      <a:round/>
                      <a:headEnd type="none" w="med" len="med"/>
                      <a:tailEnd type="none" w="med" len="med"/>
                    </a:lnT>
                    <a:lnB w="12700" cap="flat" cmpd="sng" algn="ctr">
                      <a:solidFill>
                        <a:srgbClr val="D7E6E4"/>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B2A"/>
                          </a:solidFill>
                          <a:latin typeface="Calibri" pitchFamily="34" charset="0"/>
                          <a:ea typeface="Calibri" pitchFamily="34" charset="-122"/>
                          <a:cs typeface="Calibri" pitchFamily="34" charset="-120"/>
                        </a:rPr>
                        <a:t>Perfect positive linear relationship</a:t>
                      </a:r>
                      <a:endParaRPr lang="en-US" sz="1700" dirty="0">
                        <a:latin typeface="Calibri" charset="0"/>
                        <a:ea typeface="Calibri" charset="0"/>
                        <a:cs typeface="Calibri" charset="0"/>
                      </a:endParaRPr>
                    </a:p>
                  </a:txBody>
                  <a:tcPr anchor="ctr">
                    <a:lnL w="12700" cap="flat" cmpd="sng" algn="ctr">
                      <a:solidFill>
                        <a:srgbClr val="D7E6E4"/>
                      </a:solidFill>
                      <a:prstDash val="solid"/>
                      <a:round/>
                      <a:headEnd type="none" w="med" len="med"/>
                      <a:tailEnd type="none" w="med" len="med"/>
                    </a:lnL>
                    <a:lnR w="12700" cap="flat" cmpd="sng" algn="ctr">
                      <a:solidFill>
                        <a:srgbClr val="D7E6E4"/>
                      </a:solidFill>
                      <a:prstDash val="solid"/>
                      <a:round/>
                      <a:headEnd type="none" w="med" len="med"/>
                      <a:tailEnd type="none" w="med" len="med"/>
                    </a:lnR>
                    <a:lnT w="12700" cap="flat" cmpd="sng" algn="ctr">
                      <a:solidFill>
                        <a:srgbClr val="D7E6E4"/>
                      </a:solidFill>
                      <a:prstDash val="solid"/>
                      <a:round/>
                      <a:headEnd type="none" w="med" len="med"/>
                      <a:tailEnd type="none" w="med" len="med"/>
                    </a:lnT>
                    <a:lnB w="12700" cap="flat" cmpd="sng" algn="ctr">
                      <a:solidFill>
                        <a:srgbClr val="D7E6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5780">
                <a:tc>
                  <a:txBody>
                    <a:bodyPr/>
                    <a:lstStyle/>
                    <a:p>
                      <a:pPr marL="0" indent="0" algn="ctr">
                        <a:buNone/>
                      </a:pPr>
                      <a:r>
                        <a:rPr lang="en-US" sz="1700" dirty="0">
                          <a:solidFill>
                            <a:srgbClr val="1B2B2A"/>
                          </a:solidFill>
                          <a:latin typeface="Calibri" pitchFamily="34" charset="0"/>
                          <a:ea typeface="Calibri" pitchFamily="34" charset="-122"/>
                          <a:cs typeface="Calibri" pitchFamily="34" charset="-120"/>
                        </a:rPr>
                        <a:t>0.7 to 0.99</a:t>
                      </a:r>
                      <a:endParaRPr lang="en-US" sz="1700" dirty="0">
                        <a:latin typeface="Calibri" charset="0"/>
                        <a:ea typeface="Calibri" charset="0"/>
                        <a:cs typeface="Calibri" charset="0"/>
                      </a:endParaRPr>
                    </a:p>
                  </a:txBody>
                  <a:tcPr anchor="ctr">
                    <a:lnL w="12700" cap="flat" cmpd="sng" algn="ctr">
                      <a:solidFill>
                        <a:srgbClr val="D7E6E4"/>
                      </a:solidFill>
                      <a:prstDash val="solid"/>
                      <a:round/>
                      <a:headEnd type="none" w="med" len="med"/>
                      <a:tailEnd type="none" w="med" len="med"/>
                    </a:lnL>
                    <a:lnR w="12700" cap="flat" cmpd="sng" algn="ctr">
                      <a:solidFill>
                        <a:srgbClr val="D7E6E4"/>
                      </a:solidFill>
                      <a:prstDash val="solid"/>
                      <a:round/>
                      <a:headEnd type="none" w="med" len="med"/>
                      <a:tailEnd type="none" w="med" len="med"/>
                    </a:lnR>
                    <a:lnT w="12700" cap="flat" cmpd="sng" algn="ctr">
                      <a:solidFill>
                        <a:srgbClr val="D7E6E4"/>
                      </a:solidFill>
                      <a:prstDash val="solid"/>
                      <a:round/>
                      <a:headEnd type="none" w="med" len="med"/>
                      <a:tailEnd type="none" w="med" len="med"/>
                    </a:lnT>
                    <a:lnB w="12700" cap="flat" cmpd="sng" algn="ctr">
                      <a:solidFill>
                        <a:srgbClr val="D7E6E4"/>
                      </a:solidFill>
                      <a:prstDash val="solid"/>
                      <a:round/>
                      <a:headEnd type="none" w="med" len="med"/>
                      <a:tailEnd type="none" w="med" len="med"/>
                    </a:lnB>
                    <a:solidFill>
                      <a:srgbClr val="E8F4F2"/>
                    </a:solidFill>
                  </a:tcPr>
                </a:tc>
                <a:tc>
                  <a:txBody>
                    <a:bodyPr/>
                    <a:lstStyle/>
                    <a:p>
                      <a:pPr marL="0" indent="0" algn="ctr">
                        <a:buNone/>
                      </a:pPr>
                      <a:r>
                        <a:rPr lang="en-US" sz="1700" dirty="0">
                          <a:solidFill>
                            <a:srgbClr val="1B2B2A"/>
                          </a:solidFill>
                          <a:latin typeface="Calibri" pitchFamily="34" charset="0"/>
                          <a:ea typeface="Calibri" pitchFamily="34" charset="-122"/>
                          <a:cs typeface="Calibri" pitchFamily="34" charset="-120"/>
                        </a:rPr>
                        <a:t>Strong positive relationship</a:t>
                      </a:r>
                      <a:endParaRPr lang="en-US" sz="1700" dirty="0">
                        <a:latin typeface="Calibri" charset="0"/>
                        <a:ea typeface="Calibri" charset="0"/>
                        <a:cs typeface="Calibri" charset="0"/>
                      </a:endParaRPr>
                    </a:p>
                  </a:txBody>
                  <a:tcPr anchor="ctr">
                    <a:lnL w="12700" cap="flat" cmpd="sng" algn="ctr">
                      <a:solidFill>
                        <a:srgbClr val="D7E6E4"/>
                      </a:solidFill>
                      <a:prstDash val="solid"/>
                      <a:round/>
                      <a:headEnd type="none" w="med" len="med"/>
                      <a:tailEnd type="none" w="med" len="med"/>
                    </a:lnL>
                    <a:lnR w="12700" cap="flat" cmpd="sng" algn="ctr">
                      <a:solidFill>
                        <a:srgbClr val="D7E6E4"/>
                      </a:solidFill>
                      <a:prstDash val="solid"/>
                      <a:round/>
                      <a:headEnd type="none" w="med" len="med"/>
                      <a:tailEnd type="none" w="med" len="med"/>
                    </a:lnR>
                    <a:lnT w="12700" cap="flat" cmpd="sng" algn="ctr">
                      <a:solidFill>
                        <a:srgbClr val="D7E6E4"/>
                      </a:solidFill>
                      <a:prstDash val="solid"/>
                      <a:round/>
                      <a:headEnd type="none" w="med" len="med"/>
                      <a:tailEnd type="none" w="med" len="med"/>
                    </a:lnT>
                    <a:lnB w="12700" cap="flat" cmpd="sng" algn="ctr">
                      <a:solidFill>
                        <a:srgbClr val="D7E6E4"/>
                      </a:solidFill>
                      <a:prstDash val="solid"/>
                      <a:round/>
                      <a:headEnd type="none" w="med" len="med"/>
                      <a:tailEnd type="none" w="med" len="med"/>
                    </a:lnB>
                    <a:solidFill>
                      <a:srgbClr val="E8F4F2"/>
                    </a:solidFill>
                  </a:tcPr>
                </a:tc>
                <a:extLst>
                  <a:ext uri="{0D108BD9-81ED-4DB2-BD59-A6C34878D82A}">
                    <a16:rowId xmlns:a16="http://schemas.microsoft.com/office/drawing/2014/main" val="10002"/>
                  </a:ext>
                </a:extLst>
              </a:tr>
              <a:tr h="525780">
                <a:tc>
                  <a:txBody>
                    <a:bodyPr/>
                    <a:lstStyle/>
                    <a:p>
                      <a:pPr marL="0" indent="0" algn="ctr">
                        <a:buNone/>
                      </a:pPr>
                      <a:r>
                        <a:rPr lang="en-US" sz="1700" dirty="0">
                          <a:solidFill>
                            <a:srgbClr val="1B2B2A"/>
                          </a:solidFill>
                          <a:latin typeface="Calibri" pitchFamily="34" charset="0"/>
                          <a:ea typeface="Calibri" pitchFamily="34" charset="-122"/>
                          <a:cs typeface="Calibri" pitchFamily="34" charset="-120"/>
                        </a:rPr>
                        <a:t>0.3 to 0.69</a:t>
                      </a:r>
                      <a:endParaRPr lang="en-US" sz="1700" dirty="0">
                        <a:latin typeface="Calibri" charset="0"/>
                        <a:ea typeface="Calibri" charset="0"/>
                        <a:cs typeface="Calibri" charset="0"/>
                      </a:endParaRPr>
                    </a:p>
                  </a:txBody>
                  <a:tcPr anchor="ctr">
                    <a:lnL w="12700" cap="flat" cmpd="sng" algn="ctr">
                      <a:solidFill>
                        <a:srgbClr val="D7E6E4"/>
                      </a:solidFill>
                      <a:prstDash val="solid"/>
                      <a:round/>
                      <a:headEnd type="none" w="med" len="med"/>
                      <a:tailEnd type="none" w="med" len="med"/>
                    </a:lnL>
                    <a:lnR w="12700" cap="flat" cmpd="sng" algn="ctr">
                      <a:solidFill>
                        <a:srgbClr val="D7E6E4"/>
                      </a:solidFill>
                      <a:prstDash val="solid"/>
                      <a:round/>
                      <a:headEnd type="none" w="med" len="med"/>
                      <a:tailEnd type="none" w="med" len="med"/>
                    </a:lnR>
                    <a:lnT w="12700" cap="flat" cmpd="sng" algn="ctr">
                      <a:solidFill>
                        <a:srgbClr val="D7E6E4"/>
                      </a:solidFill>
                      <a:prstDash val="solid"/>
                      <a:round/>
                      <a:headEnd type="none" w="med" len="med"/>
                      <a:tailEnd type="none" w="med" len="med"/>
                    </a:lnT>
                    <a:lnB w="12700" cap="flat" cmpd="sng" algn="ctr">
                      <a:solidFill>
                        <a:srgbClr val="D7E6E4"/>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B2A"/>
                          </a:solidFill>
                          <a:latin typeface="Calibri" pitchFamily="34" charset="0"/>
                          <a:ea typeface="Calibri" pitchFamily="34" charset="-122"/>
                          <a:cs typeface="Calibri" pitchFamily="34" charset="-120"/>
                        </a:rPr>
                        <a:t>Moderate positive relationship</a:t>
                      </a:r>
                      <a:endParaRPr lang="en-US" sz="1700" dirty="0">
                        <a:latin typeface="Calibri" charset="0"/>
                        <a:ea typeface="Calibri" charset="0"/>
                        <a:cs typeface="Calibri" charset="0"/>
                      </a:endParaRPr>
                    </a:p>
                  </a:txBody>
                  <a:tcPr anchor="ctr">
                    <a:lnL w="12700" cap="flat" cmpd="sng" algn="ctr">
                      <a:solidFill>
                        <a:srgbClr val="D7E6E4"/>
                      </a:solidFill>
                      <a:prstDash val="solid"/>
                      <a:round/>
                      <a:headEnd type="none" w="med" len="med"/>
                      <a:tailEnd type="none" w="med" len="med"/>
                    </a:lnL>
                    <a:lnR w="12700" cap="flat" cmpd="sng" algn="ctr">
                      <a:solidFill>
                        <a:srgbClr val="D7E6E4"/>
                      </a:solidFill>
                      <a:prstDash val="solid"/>
                      <a:round/>
                      <a:headEnd type="none" w="med" len="med"/>
                      <a:tailEnd type="none" w="med" len="med"/>
                    </a:lnR>
                    <a:lnT w="12700" cap="flat" cmpd="sng" algn="ctr">
                      <a:solidFill>
                        <a:srgbClr val="D7E6E4"/>
                      </a:solidFill>
                      <a:prstDash val="solid"/>
                      <a:round/>
                      <a:headEnd type="none" w="med" len="med"/>
                      <a:tailEnd type="none" w="med" len="med"/>
                    </a:lnT>
                    <a:lnB w="12700" cap="flat" cmpd="sng" algn="ctr">
                      <a:solidFill>
                        <a:srgbClr val="D7E6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5780">
                <a:tc>
                  <a:txBody>
                    <a:bodyPr/>
                    <a:lstStyle/>
                    <a:p>
                      <a:pPr marL="0" indent="0" algn="ctr">
                        <a:buNone/>
                      </a:pPr>
                      <a:r>
                        <a:rPr lang="en-US" sz="1700" dirty="0">
                          <a:solidFill>
                            <a:srgbClr val="1B2B2A"/>
                          </a:solidFill>
                          <a:latin typeface="Calibri" pitchFamily="34" charset="0"/>
                          <a:ea typeface="Calibri" pitchFamily="34" charset="-122"/>
                          <a:cs typeface="Calibri" pitchFamily="34" charset="-120"/>
                        </a:rPr>
                        <a:t>−0.29 to 0.29</a:t>
                      </a:r>
                      <a:endParaRPr lang="en-US" sz="1700" dirty="0">
                        <a:latin typeface="Calibri" charset="0"/>
                        <a:ea typeface="Calibri" charset="0"/>
                        <a:cs typeface="Calibri" charset="0"/>
                      </a:endParaRPr>
                    </a:p>
                  </a:txBody>
                  <a:tcPr anchor="ctr">
                    <a:lnL w="12700" cap="flat" cmpd="sng" algn="ctr">
                      <a:solidFill>
                        <a:srgbClr val="D7E6E4"/>
                      </a:solidFill>
                      <a:prstDash val="solid"/>
                      <a:round/>
                      <a:headEnd type="none" w="med" len="med"/>
                      <a:tailEnd type="none" w="med" len="med"/>
                    </a:lnL>
                    <a:lnR w="12700" cap="flat" cmpd="sng" algn="ctr">
                      <a:solidFill>
                        <a:srgbClr val="D7E6E4"/>
                      </a:solidFill>
                      <a:prstDash val="solid"/>
                      <a:round/>
                      <a:headEnd type="none" w="med" len="med"/>
                      <a:tailEnd type="none" w="med" len="med"/>
                    </a:lnR>
                    <a:lnT w="12700" cap="flat" cmpd="sng" algn="ctr">
                      <a:solidFill>
                        <a:srgbClr val="D7E6E4"/>
                      </a:solidFill>
                      <a:prstDash val="solid"/>
                      <a:round/>
                      <a:headEnd type="none" w="med" len="med"/>
                      <a:tailEnd type="none" w="med" len="med"/>
                    </a:lnT>
                    <a:lnB w="12700" cap="flat" cmpd="sng" algn="ctr">
                      <a:solidFill>
                        <a:srgbClr val="D7E6E4"/>
                      </a:solidFill>
                      <a:prstDash val="solid"/>
                      <a:round/>
                      <a:headEnd type="none" w="med" len="med"/>
                      <a:tailEnd type="none" w="med" len="med"/>
                    </a:lnB>
                    <a:solidFill>
                      <a:srgbClr val="E8F4F2"/>
                    </a:solidFill>
                  </a:tcPr>
                </a:tc>
                <a:tc>
                  <a:txBody>
                    <a:bodyPr/>
                    <a:lstStyle/>
                    <a:p>
                      <a:pPr marL="0" indent="0" algn="ctr">
                        <a:buNone/>
                      </a:pPr>
                      <a:r>
                        <a:rPr lang="en-US" sz="1700" dirty="0">
                          <a:solidFill>
                            <a:srgbClr val="1B2B2A"/>
                          </a:solidFill>
                          <a:latin typeface="Calibri" pitchFamily="34" charset="0"/>
                          <a:ea typeface="Calibri" pitchFamily="34" charset="-122"/>
                          <a:cs typeface="Calibri" pitchFamily="34" charset="-120"/>
                        </a:rPr>
                        <a:t>Weak or no linear relationship</a:t>
                      </a:r>
                      <a:endParaRPr lang="en-US" sz="1700" dirty="0">
                        <a:latin typeface="Calibri" charset="0"/>
                        <a:ea typeface="Calibri" charset="0"/>
                        <a:cs typeface="Calibri" charset="0"/>
                      </a:endParaRPr>
                    </a:p>
                  </a:txBody>
                  <a:tcPr anchor="ctr">
                    <a:lnL w="12700" cap="flat" cmpd="sng" algn="ctr">
                      <a:solidFill>
                        <a:srgbClr val="D7E6E4"/>
                      </a:solidFill>
                      <a:prstDash val="solid"/>
                      <a:round/>
                      <a:headEnd type="none" w="med" len="med"/>
                      <a:tailEnd type="none" w="med" len="med"/>
                    </a:lnL>
                    <a:lnR w="12700" cap="flat" cmpd="sng" algn="ctr">
                      <a:solidFill>
                        <a:srgbClr val="D7E6E4"/>
                      </a:solidFill>
                      <a:prstDash val="solid"/>
                      <a:round/>
                      <a:headEnd type="none" w="med" len="med"/>
                      <a:tailEnd type="none" w="med" len="med"/>
                    </a:lnR>
                    <a:lnT w="12700" cap="flat" cmpd="sng" algn="ctr">
                      <a:solidFill>
                        <a:srgbClr val="D7E6E4"/>
                      </a:solidFill>
                      <a:prstDash val="solid"/>
                      <a:round/>
                      <a:headEnd type="none" w="med" len="med"/>
                      <a:tailEnd type="none" w="med" len="med"/>
                    </a:lnT>
                    <a:lnB w="12700" cap="flat" cmpd="sng" algn="ctr">
                      <a:solidFill>
                        <a:srgbClr val="D7E6E4"/>
                      </a:solidFill>
                      <a:prstDash val="solid"/>
                      <a:round/>
                      <a:headEnd type="none" w="med" len="med"/>
                      <a:tailEnd type="none" w="med" len="med"/>
                    </a:lnB>
                    <a:solidFill>
                      <a:srgbClr val="E8F4F2"/>
                    </a:solidFill>
                  </a:tcPr>
                </a:tc>
                <a:extLst>
                  <a:ext uri="{0D108BD9-81ED-4DB2-BD59-A6C34878D82A}">
                    <a16:rowId xmlns:a16="http://schemas.microsoft.com/office/drawing/2014/main" val="10004"/>
                  </a:ext>
                </a:extLst>
              </a:tr>
              <a:tr h="525780">
                <a:tc>
                  <a:txBody>
                    <a:bodyPr/>
                    <a:lstStyle/>
                    <a:p>
                      <a:pPr marL="0" indent="0" algn="ctr">
                        <a:buNone/>
                      </a:pPr>
                      <a:r>
                        <a:rPr lang="en-US" sz="1700" dirty="0">
                          <a:solidFill>
                            <a:srgbClr val="1B2B2A"/>
                          </a:solidFill>
                          <a:latin typeface="Calibri" pitchFamily="34" charset="0"/>
                          <a:ea typeface="Calibri" pitchFamily="34" charset="-122"/>
                          <a:cs typeface="Calibri" pitchFamily="34" charset="-120"/>
                        </a:rPr>
                        <a:t>−0.69 to −0.3</a:t>
                      </a:r>
                      <a:endParaRPr lang="en-US" sz="1700" dirty="0">
                        <a:latin typeface="Calibri" charset="0"/>
                        <a:ea typeface="Calibri" charset="0"/>
                        <a:cs typeface="Calibri" charset="0"/>
                      </a:endParaRPr>
                    </a:p>
                  </a:txBody>
                  <a:tcPr anchor="ctr">
                    <a:lnL w="12700" cap="flat" cmpd="sng" algn="ctr">
                      <a:solidFill>
                        <a:srgbClr val="D7E6E4"/>
                      </a:solidFill>
                      <a:prstDash val="solid"/>
                      <a:round/>
                      <a:headEnd type="none" w="med" len="med"/>
                      <a:tailEnd type="none" w="med" len="med"/>
                    </a:lnL>
                    <a:lnR w="12700" cap="flat" cmpd="sng" algn="ctr">
                      <a:solidFill>
                        <a:srgbClr val="D7E6E4"/>
                      </a:solidFill>
                      <a:prstDash val="solid"/>
                      <a:round/>
                      <a:headEnd type="none" w="med" len="med"/>
                      <a:tailEnd type="none" w="med" len="med"/>
                    </a:lnR>
                    <a:lnT w="12700" cap="flat" cmpd="sng" algn="ctr">
                      <a:solidFill>
                        <a:srgbClr val="D7E6E4"/>
                      </a:solidFill>
                      <a:prstDash val="solid"/>
                      <a:round/>
                      <a:headEnd type="none" w="med" len="med"/>
                      <a:tailEnd type="none" w="med" len="med"/>
                    </a:lnT>
                    <a:lnB w="12700" cap="flat" cmpd="sng" algn="ctr">
                      <a:solidFill>
                        <a:srgbClr val="D7E6E4"/>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B2A"/>
                          </a:solidFill>
                          <a:latin typeface="Calibri" pitchFamily="34" charset="0"/>
                          <a:ea typeface="Calibri" pitchFamily="34" charset="-122"/>
                          <a:cs typeface="Calibri" pitchFamily="34" charset="-120"/>
                        </a:rPr>
                        <a:t>Moderate negative relationship</a:t>
                      </a:r>
                      <a:endParaRPr lang="en-US" sz="1700" dirty="0">
                        <a:latin typeface="Calibri" charset="0"/>
                        <a:ea typeface="Calibri" charset="0"/>
                        <a:cs typeface="Calibri" charset="0"/>
                      </a:endParaRPr>
                    </a:p>
                  </a:txBody>
                  <a:tcPr anchor="ctr">
                    <a:lnL w="12700" cap="flat" cmpd="sng" algn="ctr">
                      <a:solidFill>
                        <a:srgbClr val="D7E6E4"/>
                      </a:solidFill>
                      <a:prstDash val="solid"/>
                      <a:round/>
                      <a:headEnd type="none" w="med" len="med"/>
                      <a:tailEnd type="none" w="med" len="med"/>
                    </a:lnL>
                    <a:lnR w="12700" cap="flat" cmpd="sng" algn="ctr">
                      <a:solidFill>
                        <a:srgbClr val="D7E6E4"/>
                      </a:solidFill>
                      <a:prstDash val="solid"/>
                      <a:round/>
                      <a:headEnd type="none" w="med" len="med"/>
                      <a:tailEnd type="none" w="med" len="med"/>
                    </a:lnR>
                    <a:lnT w="12700" cap="flat" cmpd="sng" algn="ctr">
                      <a:solidFill>
                        <a:srgbClr val="D7E6E4"/>
                      </a:solidFill>
                      <a:prstDash val="solid"/>
                      <a:round/>
                      <a:headEnd type="none" w="med" len="med"/>
                      <a:tailEnd type="none" w="med" len="med"/>
                    </a:lnT>
                    <a:lnB w="12700" cap="flat" cmpd="sng" algn="ctr">
                      <a:solidFill>
                        <a:srgbClr val="D7E6E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25780">
                <a:tc>
                  <a:txBody>
                    <a:bodyPr/>
                    <a:lstStyle/>
                    <a:p>
                      <a:pPr marL="0" indent="0" algn="ctr">
                        <a:buNone/>
                      </a:pPr>
                      <a:r>
                        <a:rPr lang="en-US" sz="1700" dirty="0">
                          <a:solidFill>
                            <a:srgbClr val="1B2B2A"/>
                          </a:solidFill>
                          <a:latin typeface="Calibri" pitchFamily="34" charset="0"/>
                          <a:ea typeface="Calibri" pitchFamily="34" charset="-122"/>
                          <a:cs typeface="Calibri" pitchFamily="34" charset="-120"/>
                        </a:rPr>
                        <a:t>−0.99 to −0.7</a:t>
                      </a:r>
                      <a:endParaRPr lang="en-US" sz="1700" dirty="0">
                        <a:latin typeface="Calibri" charset="0"/>
                        <a:ea typeface="Calibri" charset="0"/>
                        <a:cs typeface="Calibri" charset="0"/>
                      </a:endParaRPr>
                    </a:p>
                  </a:txBody>
                  <a:tcPr anchor="ctr">
                    <a:lnL w="12700" cap="flat" cmpd="sng" algn="ctr">
                      <a:solidFill>
                        <a:srgbClr val="D7E6E4"/>
                      </a:solidFill>
                      <a:prstDash val="solid"/>
                      <a:round/>
                      <a:headEnd type="none" w="med" len="med"/>
                      <a:tailEnd type="none" w="med" len="med"/>
                    </a:lnL>
                    <a:lnR w="12700" cap="flat" cmpd="sng" algn="ctr">
                      <a:solidFill>
                        <a:srgbClr val="D7E6E4"/>
                      </a:solidFill>
                      <a:prstDash val="solid"/>
                      <a:round/>
                      <a:headEnd type="none" w="med" len="med"/>
                      <a:tailEnd type="none" w="med" len="med"/>
                    </a:lnR>
                    <a:lnT w="12700" cap="flat" cmpd="sng" algn="ctr">
                      <a:solidFill>
                        <a:srgbClr val="D7E6E4"/>
                      </a:solidFill>
                      <a:prstDash val="solid"/>
                      <a:round/>
                      <a:headEnd type="none" w="med" len="med"/>
                      <a:tailEnd type="none" w="med" len="med"/>
                    </a:lnT>
                    <a:lnB w="12700" cap="flat" cmpd="sng" algn="ctr">
                      <a:solidFill>
                        <a:srgbClr val="D7E6E4"/>
                      </a:solidFill>
                      <a:prstDash val="solid"/>
                      <a:round/>
                      <a:headEnd type="none" w="med" len="med"/>
                      <a:tailEnd type="none" w="med" len="med"/>
                    </a:lnB>
                    <a:solidFill>
                      <a:srgbClr val="E8F4F2"/>
                    </a:solidFill>
                  </a:tcPr>
                </a:tc>
                <a:tc>
                  <a:txBody>
                    <a:bodyPr/>
                    <a:lstStyle/>
                    <a:p>
                      <a:pPr marL="0" indent="0" algn="ctr">
                        <a:buNone/>
                      </a:pPr>
                      <a:r>
                        <a:rPr lang="en-US" sz="1700" dirty="0">
                          <a:solidFill>
                            <a:srgbClr val="1B2B2A"/>
                          </a:solidFill>
                          <a:latin typeface="Calibri" pitchFamily="34" charset="0"/>
                          <a:ea typeface="Calibri" pitchFamily="34" charset="-122"/>
                          <a:cs typeface="Calibri" pitchFamily="34" charset="-120"/>
                        </a:rPr>
                        <a:t>Strong negative relationship</a:t>
                      </a:r>
                      <a:endParaRPr lang="en-US" sz="1700" dirty="0">
                        <a:latin typeface="Calibri" charset="0"/>
                        <a:ea typeface="Calibri" charset="0"/>
                        <a:cs typeface="Calibri" charset="0"/>
                      </a:endParaRPr>
                    </a:p>
                  </a:txBody>
                  <a:tcPr anchor="ctr">
                    <a:lnL w="12700" cap="flat" cmpd="sng" algn="ctr">
                      <a:solidFill>
                        <a:srgbClr val="D7E6E4"/>
                      </a:solidFill>
                      <a:prstDash val="solid"/>
                      <a:round/>
                      <a:headEnd type="none" w="med" len="med"/>
                      <a:tailEnd type="none" w="med" len="med"/>
                    </a:lnL>
                    <a:lnR w="12700" cap="flat" cmpd="sng" algn="ctr">
                      <a:solidFill>
                        <a:srgbClr val="D7E6E4"/>
                      </a:solidFill>
                      <a:prstDash val="solid"/>
                      <a:round/>
                      <a:headEnd type="none" w="med" len="med"/>
                      <a:tailEnd type="none" w="med" len="med"/>
                    </a:lnR>
                    <a:lnT w="12700" cap="flat" cmpd="sng" algn="ctr">
                      <a:solidFill>
                        <a:srgbClr val="D7E6E4"/>
                      </a:solidFill>
                      <a:prstDash val="solid"/>
                      <a:round/>
                      <a:headEnd type="none" w="med" len="med"/>
                      <a:tailEnd type="none" w="med" len="med"/>
                    </a:lnT>
                    <a:lnB w="12700" cap="flat" cmpd="sng" algn="ctr">
                      <a:solidFill>
                        <a:srgbClr val="D7E6E4"/>
                      </a:solidFill>
                      <a:prstDash val="solid"/>
                      <a:round/>
                      <a:headEnd type="none" w="med" len="med"/>
                      <a:tailEnd type="none" w="med" len="med"/>
                    </a:lnB>
                    <a:solidFill>
                      <a:srgbClr val="E8F4F2"/>
                    </a:solidFill>
                  </a:tcPr>
                </a:tc>
                <a:extLst>
                  <a:ext uri="{0D108BD9-81ED-4DB2-BD59-A6C34878D82A}">
                    <a16:rowId xmlns:a16="http://schemas.microsoft.com/office/drawing/2014/main" val="10006"/>
                  </a:ext>
                </a:extLst>
              </a:tr>
              <a:tr h="525780">
                <a:tc>
                  <a:txBody>
                    <a:bodyPr/>
                    <a:lstStyle/>
                    <a:p>
                      <a:pPr marL="0" indent="0" algn="ctr">
                        <a:buNone/>
                      </a:pPr>
                      <a:r>
                        <a:rPr lang="en-US" sz="1700" dirty="0">
                          <a:solidFill>
                            <a:srgbClr val="1B2B2A"/>
                          </a:solidFill>
                          <a:latin typeface="Calibri" pitchFamily="34" charset="0"/>
                          <a:ea typeface="Calibri" pitchFamily="34" charset="-122"/>
                          <a:cs typeface="Calibri" pitchFamily="34" charset="-120"/>
                        </a:rPr>
                        <a:t>r = −1</a:t>
                      </a:r>
                      <a:endParaRPr lang="en-US" sz="1700" dirty="0">
                        <a:latin typeface="Calibri" charset="0"/>
                        <a:ea typeface="Calibri" charset="0"/>
                        <a:cs typeface="Calibri" charset="0"/>
                      </a:endParaRPr>
                    </a:p>
                  </a:txBody>
                  <a:tcPr anchor="ctr">
                    <a:lnL w="12700" cap="flat" cmpd="sng" algn="ctr">
                      <a:solidFill>
                        <a:srgbClr val="D7E6E4"/>
                      </a:solidFill>
                      <a:prstDash val="solid"/>
                      <a:round/>
                      <a:headEnd type="none" w="med" len="med"/>
                      <a:tailEnd type="none" w="med" len="med"/>
                    </a:lnL>
                    <a:lnR w="12700" cap="flat" cmpd="sng" algn="ctr">
                      <a:solidFill>
                        <a:srgbClr val="D7E6E4"/>
                      </a:solidFill>
                      <a:prstDash val="solid"/>
                      <a:round/>
                      <a:headEnd type="none" w="med" len="med"/>
                      <a:tailEnd type="none" w="med" len="med"/>
                    </a:lnR>
                    <a:lnT w="12700" cap="flat" cmpd="sng" algn="ctr">
                      <a:solidFill>
                        <a:srgbClr val="D7E6E4"/>
                      </a:solidFill>
                      <a:prstDash val="solid"/>
                      <a:round/>
                      <a:headEnd type="none" w="med" len="med"/>
                      <a:tailEnd type="none" w="med" len="med"/>
                    </a:lnT>
                    <a:lnB w="12700" cap="flat" cmpd="sng" algn="ctr">
                      <a:solidFill>
                        <a:srgbClr val="D7E6E4"/>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B2A"/>
                          </a:solidFill>
                          <a:latin typeface="Calibri" pitchFamily="34" charset="0"/>
                          <a:ea typeface="Calibri" pitchFamily="34" charset="-122"/>
                          <a:cs typeface="Calibri" pitchFamily="34" charset="-120"/>
                        </a:rPr>
                        <a:t>Perfect negative linear relationship</a:t>
                      </a:r>
                      <a:endParaRPr lang="en-US" sz="1700" dirty="0">
                        <a:latin typeface="Calibri" charset="0"/>
                        <a:ea typeface="Calibri" charset="0"/>
                        <a:cs typeface="Calibri" charset="0"/>
                      </a:endParaRPr>
                    </a:p>
                  </a:txBody>
                  <a:tcPr anchor="ctr">
                    <a:lnL w="12700" cap="flat" cmpd="sng" algn="ctr">
                      <a:solidFill>
                        <a:srgbClr val="D7E6E4"/>
                      </a:solidFill>
                      <a:prstDash val="solid"/>
                      <a:round/>
                      <a:headEnd type="none" w="med" len="med"/>
                      <a:tailEnd type="none" w="med" len="med"/>
                    </a:lnL>
                    <a:lnR w="12700" cap="flat" cmpd="sng" algn="ctr">
                      <a:solidFill>
                        <a:srgbClr val="D7E6E4"/>
                      </a:solidFill>
                      <a:prstDash val="solid"/>
                      <a:round/>
                      <a:headEnd type="none" w="med" len="med"/>
                      <a:tailEnd type="none" w="med" len="med"/>
                    </a:lnR>
                    <a:lnT w="12700" cap="flat" cmpd="sng" algn="ctr">
                      <a:solidFill>
                        <a:srgbClr val="D7E6E4"/>
                      </a:solidFill>
                      <a:prstDash val="solid"/>
                      <a:round/>
                      <a:headEnd type="none" w="med" len="med"/>
                      <a:tailEnd type="none" w="med" len="med"/>
                    </a:lnT>
                    <a:lnB w="12700" cap="flat" cmpd="sng" algn="ctr">
                      <a:solidFill>
                        <a:srgbClr val="D7E6E4"/>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Text 3"/>
          <p:cNvSpPr/>
          <p:nvPr/>
        </p:nvSpPr>
        <p:spPr>
          <a:xfrm>
            <a:off x="548640" y="6035040"/>
            <a:ext cx="11091672" cy="365760"/>
          </a:xfrm>
          <a:prstGeom prst="rect">
            <a:avLst/>
          </a:prstGeom>
          <a:noFill/>
          <a:ln/>
        </p:spPr>
        <p:txBody>
          <a:bodyPr wrap="square" rtlCol="0" anchor="ctr"/>
          <a:lstStyle/>
          <a:p>
            <a:pPr marL="0" indent="0">
              <a:buNone/>
            </a:pPr>
            <a:r>
              <a:rPr lang="en-US" sz="1300" i="1" dirty="0">
                <a:solidFill>
                  <a:srgbClr val="5B7370"/>
                </a:solidFill>
                <a:latin typeface="Calibri" pitchFamily="34" charset="0"/>
                <a:ea typeface="Calibri" pitchFamily="34" charset="-122"/>
                <a:cs typeface="Calibri" pitchFamily="34" charset="-120"/>
              </a:rPr>
              <a:t>These bands are common rules of thumb, not fixed laws — always interpret r in context.</a:t>
            </a:r>
            <a:endParaRPr lang="en-US" sz="1300" dirty="0"/>
          </a:p>
        </p:txBody>
      </p:sp>
      <p:sp>
        <p:nvSpPr>
          <p:cNvPr id="7" name="Text 4"/>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5B7370"/>
                </a:solidFill>
                <a:latin typeface="Calibri" pitchFamily="34" charset="0"/>
                <a:ea typeface="Calibri" pitchFamily="34" charset="-122"/>
                <a:cs typeface="Calibri" pitchFamily="34" charset="-120"/>
              </a:rPr>
              <a:t>Presidency University | Dept. of AI &amp; Robotics | DSC4000 | Statics for Data Science</a:t>
            </a:r>
            <a:endParaRPr lang="en-US" sz="1000" dirty="0"/>
          </a:p>
        </p:txBody>
      </p:sp>
      <p:sp>
        <p:nvSpPr>
          <p:cNvPr id="8" name="Text 5"/>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7370"/>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3291840" cy="384048"/>
          </a:xfrm>
          <a:prstGeom prst="roundRect">
            <a:avLst>
              <a:gd name="adj" fmla="val 19048"/>
            </a:avLst>
          </a:prstGeom>
          <a:solidFill>
            <a:srgbClr val="E8F4F2"/>
          </a:solidFill>
          <a:ln/>
        </p:spPr>
      </p:sp>
      <p:sp>
        <p:nvSpPr>
          <p:cNvPr id="3" name="Text 1"/>
          <p:cNvSpPr/>
          <p:nvPr/>
        </p:nvSpPr>
        <p:spPr>
          <a:xfrm>
            <a:off x="548640" y="457200"/>
            <a:ext cx="3291840" cy="384048"/>
          </a:xfrm>
          <a:prstGeom prst="rect">
            <a:avLst/>
          </a:prstGeom>
          <a:noFill/>
          <a:ln/>
        </p:spPr>
        <p:txBody>
          <a:bodyPr wrap="square" rtlCol="0" anchor="ctr"/>
          <a:lstStyle/>
          <a:p>
            <a:pPr marL="0" indent="0" algn="ctr">
              <a:buNone/>
            </a:pPr>
            <a:r>
              <a:rPr lang="en-US" sz="1300" b="1" kern="0" spc="100" dirty="0">
                <a:solidFill>
                  <a:srgbClr val="0E5C56"/>
                </a:solidFill>
                <a:latin typeface="Calibri" pitchFamily="34" charset="0"/>
                <a:ea typeface="Calibri" pitchFamily="34" charset="-122"/>
                <a:cs typeface="Calibri" pitchFamily="34" charset="-120"/>
              </a:rPr>
              <a:t>VISUALIZATION</a:t>
            </a:r>
            <a:endParaRPr lang="en-US" sz="1300" dirty="0"/>
          </a:p>
        </p:txBody>
      </p:sp>
      <p:sp>
        <p:nvSpPr>
          <p:cNvPr id="4" name="Text 2"/>
          <p:cNvSpPr/>
          <p:nvPr/>
        </p:nvSpPr>
        <p:spPr>
          <a:xfrm>
            <a:off x="548640" y="960120"/>
            <a:ext cx="11091672" cy="914400"/>
          </a:xfrm>
          <a:prstGeom prst="rect">
            <a:avLst/>
          </a:prstGeom>
          <a:noFill/>
          <a:ln/>
        </p:spPr>
        <p:txBody>
          <a:bodyPr wrap="square" rtlCol="0" anchor="t"/>
          <a:lstStyle/>
          <a:p>
            <a:pPr marL="0" indent="0" algn="l">
              <a:buNone/>
            </a:pPr>
            <a:r>
              <a:rPr lang="en-US" sz="3200" b="1" dirty="0">
                <a:solidFill>
                  <a:srgbClr val="1B2B2A"/>
                </a:solidFill>
                <a:latin typeface="Cambria" pitchFamily="34" charset="0"/>
                <a:ea typeface="Cambria" pitchFamily="34" charset="-122"/>
                <a:cs typeface="Cambria" pitchFamily="34" charset="-120"/>
              </a:rPr>
              <a:t>Reading a Scatter Plot</a:t>
            </a:r>
            <a:endParaRPr lang="en-US" sz="3200" dirty="0"/>
          </a:p>
        </p:txBody>
      </p:sp>
      <p:sp>
        <p:nvSpPr>
          <p:cNvPr id="5" name="Shape 3"/>
          <p:cNvSpPr/>
          <p:nvPr/>
        </p:nvSpPr>
        <p:spPr>
          <a:xfrm>
            <a:off x="548640" y="1993392"/>
            <a:ext cx="365760" cy="365760"/>
          </a:xfrm>
          <a:prstGeom prst="ellipse">
            <a:avLst/>
          </a:prstGeom>
          <a:solidFill>
            <a:srgbClr val="F2A93B"/>
          </a:solidFill>
          <a:ln/>
        </p:spPr>
      </p:sp>
      <p:sp>
        <p:nvSpPr>
          <p:cNvPr id="6" name="Text 4"/>
          <p:cNvSpPr/>
          <p:nvPr/>
        </p:nvSpPr>
        <p:spPr>
          <a:xfrm>
            <a:off x="548640" y="1993392"/>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7" name="Text 5"/>
          <p:cNvSpPr/>
          <p:nvPr/>
        </p:nvSpPr>
        <p:spPr>
          <a:xfrm>
            <a:off x="1143000" y="1965960"/>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A scatter plot places one variable on the X-axis and the other on the Y-axis — each point is one observation.</a:t>
            </a:r>
            <a:endParaRPr lang="en-US" sz="2000" dirty="0"/>
          </a:p>
        </p:txBody>
      </p:sp>
      <p:sp>
        <p:nvSpPr>
          <p:cNvPr id="8" name="Shape 6"/>
          <p:cNvSpPr/>
          <p:nvPr/>
        </p:nvSpPr>
        <p:spPr>
          <a:xfrm>
            <a:off x="548640" y="3246120"/>
            <a:ext cx="365760" cy="365760"/>
          </a:xfrm>
          <a:prstGeom prst="ellipse">
            <a:avLst/>
          </a:prstGeom>
          <a:solidFill>
            <a:srgbClr val="F2A93B"/>
          </a:solidFill>
          <a:ln/>
        </p:spPr>
      </p:sp>
      <p:sp>
        <p:nvSpPr>
          <p:cNvPr id="9" name="Text 7"/>
          <p:cNvSpPr/>
          <p:nvPr/>
        </p:nvSpPr>
        <p:spPr>
          <a:xfrm>
            <a:off x="548640" y="3246120"/>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0" name="Text 8"/>
          <p:cNvSpPr/>
          <p:nvPr/>
        </p:nvSpPr>
        <p:spPr>
          <a:xfrm>
            <a:off x="1143000" y="3218688"/>
            <a:ext cx="10497312" cy="612648"/>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An upward-sloping cloud of points suggests positive correlation.</a:t>
            </a:r>
            <a:endParaRPr lang="en-US" sz="2000" dirty="0"/>
          </a:p>
        </p:txBody>
      </p:sp>
      <p:sp>
        <p:nvSpPr>
          <p:cNvPr id="11" name="Shape 9"/>
          <p:cNvSpPr/>
          <p:nvPr/>
        </p:nvSpPr>
        <p:spPr>
          <a:xfrm>
            <a:off x="548640" y="4114800"/>
            <a:ext cx="365760" cy="365760"/>
          </a:xfrm>
          <a:prstGeom prst="ellipse">
            <a:avLst/>
          </a:prstGeom>
          <a:solidFill>
            <a:srgbClr val="F2A93B"/>
          </a:solidFill>
          <a:ln/>
        </p:spPr>
      </p:sp>
      <p:sp>
        <p:nvSpPr>
          <p:cNvPr id="12" name="Text 10"/>
          <p:cNvSpPr/>
          <p:nvPr/>
        </p:nvSpPr>
        <p:spPr>
          <a:xfrm>
            <a:off x="548640" y="4114800"/>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3" name="Text 11"/>
          <p:cNvSpPr/>
          <p:nvPr/>
        </p:nvSpPr>
        <p:spPr>
          <a:xfrm>
            <a:off x="1143000" y="4087368"/>
            <a:ext cx="10497312" cy="612648"/>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A downward-sloping cloud suggests negative correlation.</a:t>
            </a:r>
            <a:endParaRPr lang="en-US" sz="2000" dirty="0"/>
          </a:p>
        </p:txBody>
      </p:sp>
      <p:sp>
        <p:nvSpPr>
          <p:cNvPr id="14" name="Shape 12"/>
          <p:cNvSpPr/>
          <p:nvPr/>
        </p:nvSpPr>
        <p:spPr>
          <a:xfrm>
            <a:off x="548640" y="4983480"/>
            <a:ext cx="365760" cy="365760"/>
          </a:xfrm>
          <a:prstGeom prst="ellipse">
            <a:avLst/>
          </a:prstGeom>
          <a:solidFill>
            <a:srgbClr val="F2A93B"/>
          </a:solidFill>
          <a:ln/>
        </p:spPr>
      </p:sp>
      <p:sp>
        <p:nvSpPr>
          <p:cNvPr id="15" name="Text 13"/>
          <p:cNvSpPr/>
          <p:nvPr/>
        </p:nvSpPr>
        <p:spPr>
          <a:xfrm>
            <a:off x="548640" y="4983480"/>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6" name="Text 14"/>
          <p:cNvSpPr/>
          <p:nvPr/>
        </p:nvSpPr>
        <p:spPr>
          <a:xfrm>
            <a:off x="1143000" y="4956048"/>
            <a:ext cx="10497312" cy="612648"/>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A shapeless, circular cloud suggests correlation close to zero.</a:t>
            </a:r>
            <a:endParaRPr lang="en-US" sz="2000" dirty="0"/>
          </a:p>
        </p:txBody>
      </p:sp>
      <p:sp>
        <p:nvSpPr>
          <p:cNvPr id="17" name="Text 15"/>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5B7370"/>
                </a:solidFill>
                <a:latin typeface="Calibri" pitchFamily="34" charset="0"/>
                <a:ea typeface="Calibri" pitchFamily="34" charset="-122"/>
                <a:cs typeface="Calibri" pitchFamily="34" charset="-120"/>
              </a:rPr>
              <a:t>Presidency University | Dept. of AI &amp; Robotics | DSC4000 | Statics for Data Science</a:t>
            </a:r>
            <a:endParaRPr lang="en-US" sz="1000" dirty="0"/>
          </a:p>
        </p:txBody>
      </p:sp>
      <p:sp>
        <p:nvSpPr>
          <p:cNvPr id="18" name="Text 16"/>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7370"/>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3291840" cy="384048"/>
          </a:xfrm>
          <a:prstGeom prst="roundRect">
            <a:avLst>
              <a:gd name="adj" fmla="val 19048"/>
            </a:avLst>
          </a:prstGeom>
          <a:solidFill>
            <a:srgbClr val="E8F4F2"/>
          </a:solidFill>
          <a:ln/>
        </p:spPr>
      </p:sp>
      <p:sp>
        <p:nvSpPr>
          <p:cNvPr id="3" name="Text 1"/>
          <p:cNvSpPr/>
          <p:nvPr/>
        </p:nvSpPr>
        <p:spPr>
          <a:xfrm>
            <a:off x="548640" y="457200"/>
            <a:ext cx="3291840" cy="384048"/>
          </a:xfrm>
          <a:prstGeom prst="rect">
            <a:avLst/>
          </a:prstGeom>
          <a:noFill/>
          <a:ln/>
        </p:spPr>
        <p:txBody>
          <a:bodyPr wrap="square" rtlCol="0" anchor="ctr"/>
          <a:lstStyle/>
          <a:p>
            <a:pPr marL="0" indent="0" algn="ctr">
              <a:buNone/>
            </a:pPr>
            <a:r>
              <a:rPr lang="en-US" sz="1300" b="1" kern="0" spc="100" dirty="0">
                <a:solidFill>
                  <a:srgbClr val="0E5C56"/>
                </a:solidFill>
                <a:latin typeface="Calibri" pitchFamily="34" charset="0"/>
                <a:ea typeface="Calibri" pitchFamily="34" charset="-122"/>
                <a:cs typeface="Calibri" pitchFamily="34" charset="-120"/>
              </a:rPr>
              <a:t>VISUALIZATION</a:t>
            </a:r>
            <a:endParaRPr lang="en-US" sz="1300" dirty="0"/>
          </a:p>
        </p:txBody>
      </p:sp>
      <p:sp>
        <p:nvSpPr>
          <p:cNvPr id="4" name="Text 2"/>
          <p:cNvSpPr/>
          <p:nvPr/>
        </p:nvSpPr>
        <p:spPr>
          <a:xfrm>
            <a:off x="548640" y="960120"/>
            <a:ext cx="11091672" cy="914400"/>
          </a:xfrm>
          <a:prstGeom prst="rect">
            <a:avLst/>
          </a:prstGeom>
          <a:noFill/>
          <a:ln/>
        </p:spPr>
        <p:txBody>
          <a:bodyPr wrap="square" rtlCol="0" anchor="t"/>
          <a:lstStyle/>
          <a:p>
            <a:pPr marL="0" indent="0" algn="l">
              <a:buNone/>
            </a:pPr>
            <a:r>
              <a:rPr lang="en-US" sz="3200" b="1" dirty="0">
                <a:solidFill>
                  <a:srgbClr val="1B2B2A"/>
                </a:solidFill>
                <a:latin typeface="Cambria" pitchFamily="34" charset="0"/>
                <a:ea typeface="Cambria" pitchFamily="34" charset="-122"/>
                <a:cs typeface="Cambria" pitchFamily="34" charset="-120"/>
              </a:rPr>
              <a:t>Scatter Plot: Strong Positive Correlation</a:t>
            </a:r>
            <a:endParaRPr lang="en-US" sz="3200" dirty="0"/>
          </a:p>
        </p:txBody>
      </p:sp>
      <p:graphicFrame>
        <p:nvGraphicFramePr>
          <p:cNvPr id="5" name="Chart 0"/>
          <p:cNvGraphicFramePr/>
          <p:nvPr/>
        </p:nvGraphicFramePr>
        <p:xfrm>
          <a:off x="548640" y="1874520"/>
          <a:ext cx="667512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543800" y="2103120"/>
            <a:ext cx="4114800" cy="1280160"/>
          </a:xfrm>
          <a:prstGeom prst="roundRect">
            <a:avLst>
              <a:gd name="adj" fmla="val 7143"/>
            </a:avLst>
          </a:prstGeom>
          <a:solidFill>
            <a:srgbClr val="073B37"/>
          </a:solidFill>
          <a:ln/>
        </p:spPr>
      </p:sp>
      <p:sp>
        <p:nvSpPr>
          <p:cNvPr id="7" name="Text 4"/>
          <p:cNvSpPr/>
          <p:nvPr/>
        </p:nvSpPr>
        <p:spPr>
          <a:xfrm>
            <a:off x="7543800" y="2103120"/>
            <a:ext cx="4114800" cy="1280160"/>
          </a:xfrm>
          <a:prstGeom prst="rect">
            <a:avLst/>
          </a:prstGeom>
          <a:noFill/>
          <a:ln/>
        </p:spPr>
        <p:txBody>
          <a:bodyPr wrap="square" rtlCol="0" anchor="ctr"/>
          <a:lstStyle/>
          <a:p>
            <a:pPr marL="0" indent="0" algn="ctr">
              <a:buNone/>
            </a:pPr>
            <a:r>
              <a:rPr lang="en-US" sz="2200" dirty="0">
                <a:solidFill>
                  <a:srgbClr val="CFE3E1"/>
                </a:solidFill>
                <a:latin typeface="Cambria" pitchFamily="34" charset="0"/>
                <a:ea typeface="Cambria" pitchFamily="34" charset="-122"/>
                <a:cs typeface="Cambria" pitchFamily="34" charset="-120"/>
              </a:rPr>
              <a:t>r ≈ </a:t>
            </a:r>
            <a:r>
              <a:rPr lang="en-US" sz="3200" b="1" dirty="0">
                <a:solidFill>
                  <a:srgbClr val="F2A93B"/>
                </a:solidFill>
                <a:latin typeface="Cambria" pitchFamily="34" charset="0"/>
                <a:ea typeface="Cambria" pitchFamily="34" charset="-122"/>
                <a:cs typeface="Cambria" pitchFamily="34" charset="-120"/>
              </a:rPr>
              <a:t>+0.85</a:t>
            </a:r>
            <a:endParaRPr lang="en-US" sz="2200" dirty="0"/>
          </a:p>
        </p:txBody>
      </p:sp>
      <p:sp>
        <p:nvSpPr>
          <p:cNvPr id="8" name="Text 5"/>
          <p:cNvSpPr/>
          <p:nvPr/>
        </p:nvSpPr>
        <p:spPr>
          <a:xfrm>
            <a:off x="7543800" y="3611880"/>
            <a:ext cx="4114800" cy="2377440"/>
          </a:xfrm>
          <a:prstGeom prst="rect">
            <a:avLst/>
          </a:prstGeom>
          <a:noFill/>
          <a:ln/>
        </p:spPr>
        <p:txBody>
          <a:bodyPr wrap="square" rtlCol="0" anchor="t"/>
          <a:lstStyle/>
          <a:p>
            <a:pPr marL="0" indent="0">
              <a:buNone/>
            </a:pPr>
            <a:r>
              <a:rPr lang="en-US" sz="1800" dirty="0">
                <a:solidFill>
                  <a:srgbClr val="1B2B2A"/>
                </a:solidFill>
                <a:latin typeface="Calibri" pitchFamily="34" charset="0"/>
                <a:ea typeface="Calibri" pitchFamily="34" charset="-122"/>
                <a:cs typeface="Calibri" pitchFamily="34" charset="-120"/>
              </a:rPr>
              <a:t>As X increases, Y clearly tends to increase too. The points hug a rising line — this is what a strong positive relationship looks like, e.g. study hours vs. exam score.</a:t>
            </a:r>
            <a:endParaRPr lang="en-US" sz="1800" dirty="0"/>
          </a:p>
        </p:txBody>
      </p:sp>
      <p:sp>
        <p:nvSpPr>
          <p:cNvPr id="9" name="Text 6"/>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5B7370"/>
                </a:solidFill>
                <a:latin typeface="Calibri" pitchFamily="34" charset="0"/>
                <a:ea typeface="Calibri" pitchFamily="34" charset="-122"/>
                <a:cs typeface="Calibri" pitchFamily="34" charset="-120"/>
              </a:rPr>
              <a:t>Presidency University | Dept. of AI &amp; Robotics | DSC4000 | Statics for Data Science</a:t>
            </a:r>
            <a:endParaRPr lang="en-US" sz="1000" dirty="0"/>
          </a:p>
        </p:txBody>
      </p:sp>
      <p:sp>
        <p:nvSpPr>
          <p:cNvPr id="10" name="Text 7"/>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7370"/>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3291840" cy="384048"/>
          </a:xfrm>
          <a:prstGeom prst="roundRect">
            <a:avLst>
              <a:gd name="adj" fmla="val 19048"/>
            </a:avLst>
          </a:prstGeom>
          <a:solidFill>
            <a:srgbClr val="E8F4F2"/>
          </a:solidFill>
          <a:ln/>
        </p:spPr>
      </p:sp>
      <p:sp>
        <p:nvSpPr>
          <p:cNvPr id="3" name="Text 1"/>
          <p:cNvSpPr/>
          <p:nvPr/>
        </p:nvSpPr>
        <p:spPr>
          <a:xfrm>
            <a:off x="548640" y="457200"/>
            <a:ext cx="3291840" cy="384048"/>
          </a:xfrm>
          <a:prstGeom prst="rect">
            <a:avLst/>
          </a:prstGeom>
          <a:noFill/>
          <a:ln/>
        </p:spPr>
        <p:txBody>
          <a:bodyPr wrap="square" rtlCol="0" anchor="ctr"/>
          <a:lstStyle/>
          <a:p>
            <a:pPr marL="0" indent="0" algn="ctr">
              <a:buNone/>
            </a:pPr>
            <a:r>
              <a:rPr lang="en-US" sz="1300" b="1" kern="0" spc="100" dirty="0">
                <a:solidFill>
                  <a:srgbClr val="0E5C56"/>
                </a:solidFill>
                <a:latin typeface="Calibri" pitchFamily="34" charset="0"/>
                <a:ea typeface="Calibri" pitchFamily="34" charset="-122"/>
                <a:cs typeface="Calibri" pitchFamily="34" charset="-120"/>
              </a:rPr>
              <a:t>VISUALIZATION</a:t>
            </a:r>
            <a:endParaRPr lang="en-US" sz="1300" dirty="0"/>
          </a:p>
        </p:txBody>
      </p:sp>
      <p:sp>
        <p:nvSpPr>
          <p:cNvPr id="4" name="Text 2"/>
          <p:cNvSpPr/>
          <p:nvPr/>
        </p:nvSpPr>
        <p:spPr>
          <a:xfrm>
            <a:off x="548640" y="960120"/>
            <a:ext cx="11091672" cy="914400"/>
          </a:xfrm>
          <a:prstGeom prst="rect">
            <a:avLst/>
          </a:prstGeom>
          <a:noFill/>
          <a:ln/>
        </p:spPr>
        <p:txBody>
          <a:bodyPr wrap="square" rtlCol="0" anchor="t"/>
          <a:lstStyle/>
          <a:p>
            <a:pPr marL="0" indent="0" algn="l">
              <a:buNone/>
            </a:pPr>
            <a:r>
              <a:rPr lang="en-US" sz="3200" b="1" dirty="0">
                <a:solidFill>
                  <a:srgbClr val="1B2B2A"/>
                </a:solidFill>
                <a:latin typeface="Cambria" pitchFamily="34" charset="0"/>
                <a:ea typeface="Cambria" pitchFamily="34" charset="-122"/>
                <a:cs typeface="Cambria" pitchFamily="34" charset="-120"/>
              </a:rPr>
              <a:t>Scatter Plot: Strong Negative Correlation</a:t>
            </a:r>
            <a:endParaRPr lang="en-US" sz="3200" dirty="0"/>
          </a:p>
        </p:txBody>
      </p:sp>
      <p:graphicFrame>
        <p:nvGraphicFramePr>
          <p:cNvPr id="5" name="Chart 0"/>
          <p:cNvGraphicFramePr/>
          <p:nvPr/>
        </p:nvGraphicFramePr>
        <p:xfrm>
          <a:off x="548640" y="1874520"/>
          <a:ext cx="667512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543800" y="2103120"/>
            <a:ext cx="4114800" cy="1280160"/>
          </a:xfrm>
          <a:prstGeom prst="roundRect">
            <a:avLst>
              <a:gd name="adj" fmla="val 7143"/>
            </a:avLst>
          </a:prstGeom>
          <a:solidFill>
            <a:srgbClr val="073B37"/>
          </a:solidFill>
          <a:ln/>
        </p:spPr>
      </p:sp>
      <p:sp>
        <p:nvSpPr>
          <p:cNvPr id="7" name="Text 4"/>
          <p:cNvSpPr/>
          <p:nvPr/>
        </p:nvSpPr>
        <p:spPr>
          <a:xfrm>
            <a:off x="7543800" y="2103120"/>
            <a:ext cx="4114800" cy="1280160"/>
          </a:xfrm>
          <a:prstGeom prst="rect">
            <a:avLst/>
          </a:prstGeom>
          <a:noFill/>
          <a:ln/>
        </p:spPr>
        <p:txBody>
          <a:bodyPr wrap="square" rtlCol="0" anchor="ctr"/>
          <a:lstStyle/>
          <a:p>
            <a:pPr marL="0" indent="0" algn="ctr">
              <a:buNone/>
            </a:pPr>
            <a:r>
              <a:rPr lang="en-US" sz="2200" dirty="0">
                <a:solidFill>
                  <a:srgbClr val="CFE3E1"/>
                </a:solidFill>
                <a:latin typeface="Cambria" pitchFamily="34" charset="0"/>
                <a:ea typeface="Cambria" pitchFamily="34" charset="-122"/>
                <a:cs typeface="Cambria" pitchFamily="34" charset="-120"/>
              </a:rPr>
              <a:t>r ≈ </a:t>
            </a:r>
            <a:r>
              <a:rPr lang="en-US" sz="3200" b="1" dirty="0">
                <a:solidFill>
                  <a:srgbClr val="F2A93B"/>
                </a:solidFill>
                <a:latin typeface="Cambria" pitchFamily="34" charset="0"/>
                <a:ea typeface="Cambria" pitchFamily="34" charset="-122"/>
                <a:cs typeface="Cambria" pitchFamily="34" charset="-120"/>
              </a:rPr>
              <a:t>-0.82</a:t>
            </a:r>
            <a:endParaRPr lang="en-US" sz="2200" dirty="0"/>
          </a:p>
        </p:txBody>
      </p:sp>
      <p:sp>
        <p:nvSpPr>
          <p:cNvPr id="8" name="Text 5"/>
          <p:cNvSpPr/>
          <p:nvPr/>
        </p:nvSpPr>
        <p:spPr>
          <a:xfrm>
            <a:off x="7543800" y="3611880"/>
            <a:ext cx="4114800" cy="2377440"/>
          </a:xfrm>
          <a:prstGeom prst="rect">
            <a:avLst/>
          </a:prstGeom>
          <a:noFill/>
          <a:ln/>
        </p:spPr>
        <p:txBody>
          <a:bodyPr wrap="square" rtlCol="0" anchor="t"/>
          <a:lstStyle/>
          <a:p>
            <a:pPr marL="0" indent="0">
              <a:buNone/>
            </a:pPr>
            <a:r>
              <a:rPr lang="en-US" sz="1800" dirty="0">
                <a:solidFill>
                  <a:srgbClr val="1B2B2A"/>
                </a:solidFill>
                <a:latin typeface="Calibri" pitchFamily="34" charset="0"/>
                <a:ea typeface="Calibri" pitchFamily="34" charset="-122"/>
                <a:cs typeface="Calibri" pitchFamily="34" charset="-120"/>
              </a:rPr>
              <a:t>As X increases, Y clearly tends to decrease. The points hug a falling line — a strong negative relationship, e.g. speed vs. travel time for a fixed distance.</a:t>
            </a:r>
            <a:endParaRPr lang="en-US" sz="1800" dirty="0"/>
          </a:p>
        </p:txBody>
      </p:sp>
      <p:sp>
        <p:nvSpPr>
          <p:cNvPr id="9" name="Text 6"/>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5B7370"/>
                </a:solidFill>
                <a:latin typeface="Calibri" pitchFamily="34" charset="0"/>
                <a:ea typeface="Calibri" pitchFamily="34" charset="-122"/>
                <a:cs typeface="Calibri" pitchFamily="34" charset="-120"/>
              </a:rPr>
              <a:t>Presidency University | Dept. of AI &amp; Robotics | DSC4000 | Statics for Data Science</a:t>
            </a:r>
            <a:endParaRPr lang="en-US" sz="1000" dirty="0"/>
          </a:p>
        </p:txBody>
      </p:sp>
      <p:sp>
        <p:nvSpPr>
          <p:cNvPr id="10" name="Text 7"/>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7370"/>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3291840" cy="384048"/>
          </a:xfrm>
          <a:prstGeom prst="roundRect">
            <a:avLst>
              <a:gd name="adj" fmla="val 19048"/>
            </a:avLst>
          </a:prstGeom>
          <a:solidFill>
            <a:srgbClr val="E8F4F2"/>
          </a:solidFill>
          <a:ln/>
        </p:spPr>
      </p:sp>
      <p:sp>
        <p:nvSpPr>
          <p:cNvPr id="3" name="Text 1"/>
          <p:cNvSpPr/>
          <p:nvPr/>
        </p:nvSpPr>
        <p:spPr>
          <a:xfrm>
            <a:off x="548640" y="457200"/>
            <a:ext cx="3291840" cy="384048"/>
          </a:xfrm>
          <a:prstGeom prst="rect">
            <a:avLst/>
          </a:prstGeom>
          <a:noFill/>
          <a:ln/>
        </p:spPr>
        <p:txBody>
          <a:bodyPr wrap="square" rtlCol="0" anchor="ctr"/>
          <a:lstStyle/>
          <a:p>
            <a:pPr marL="0" indent="0" algn="ctr">
              <a:buNone/>
            </a:pPr>
            <a:r>
              <a:rPr lang="en-US" sz="1300" b="1" kern="0" spc="100" dirty="0">
                <a:solidFill>
                  <a:srgbClr val="0E5C56"/>
                </a:solidFill>
                <a:latin typeface="Calibri" pitchFamily="34" charset="0"/>
                <a:ea typeface="Calibri" pitchFamily="34" charset="-122"/>
                <a:cs typeface="Calibri" pitchFamily="34" charset="-120"/>
              </a:rPr>
              <a:t>VISUALIZATION</a:t>
            </a:r>
            <a:endParaRPr lang="en-US" sz="1300" dirty="0"/>
          </a:p>
        </p:txBody>
      </p:sp>
      <p:sp>
        <p:nvSpPr>
          <p:cNvPr id="4" name="Text 2"/>
          <p:cNvSpPr/>
          <p:nvPr/>
        </p:nvSpPr>
        <p:spPr>
          <a:xfrm>
            <a:off x="548640" y="960120"/>
            <a:ext cx="11091672" cy="914400"/>
          </a:xfrm>
          <a:prstGeom prst="rect">
            <a:avLst/>
          </a:prstGeom>
          <a:noFill/>
          <a:ln/>
        </p:spPr>
        <p:txBody>
          <a:bodyPr wrap="square" rtlCol="0" anchor="t"/>
          <a:lstStyle/>
          <a:p>
            <a:pPr marL="0" indent="0" algn="l">
              <a:buNone/>
            </a:pPr>
            <a:r>
              <a:rPr lang="en-US" sz="3200" b="1" dirty="0">
                <a:solidFill>
                  <a:srgbClr val="1B2B2A"/>
                </a:solidFill>
                <a:latin typeface="Cambria" pitchFamily="34" charset="0"/>
                <a:ea typeface="Cambria" pitchFamily="34" charset="-122"/>
                <a:cs typeface="Cambria" pitchFamily="34" charset="-120"/>
              </a:rPr>
              <a:t>Scatter Plot: Near-Zero Correlation</a:t>
            </a:r>
            <a:endParaRPr lang="en-US" sz="3200" dirty="0"/>
          </a:p>
        </p:txBody>
      </p:sp>
      <p:graphicFrame>
        <p:nvGraphicFramePr>
          <p:cNvPr id="5" name="Chart 0"/>
          <p:cNvGraphicFramePr/>
          <p:nvPr/>
        </p:nvGraphicFramePr>
        <p:xfrm>
          <a:off x="548640" y="1874520"/>
          <a:ext cx="667512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543800" y="2103120"/>
            <a:ext cx="4114800" cy="1280160"/>
          </a:xfrm>
          <a:prstGeom prst="roundRect">
            <a:avLst>
              <a:gd name="adj" fmla="val 7143"/>
            </a:avLst>
          </a:prstGeom>
          <a:solidFill>
            <a:srgbClr val="073B37"/>
          </a:solidFill>
          <a:ln/>
        </p:spPr>
      </p:sp>
      <p:sp>
        <p:nvSpPr>
          <p:cNvPr id="7" name="Text 4"/>
          <p:cNvSpPr/>
          <p:nvPr/>
        </p:nvSpPr>
        <p:spPr>
          <a:xfrm>
            <a:off x="7543800" y="2103120"/>
            <a:ext cx="4114800" cy="1280160"/>
          </a:xfrm>
          <a:prstGeom prst="rect">
            <a:avLst/>
          </a:prstGeom>
          <a:noFill/>
          <a:ln/>
        </p:spPr>
        <p:txBody>
          <a:bodyPr wrap="square" rtlCol="0" anchor="ctr"/>
          <a:lstStyle/>
          <a:p>
            <a:pPr marL="0" indent="0" algn="ctr">
              <a:buNone/>
            </a:pPr>
            <a:r>
              <a:rPr lang="en-US" sz="2200" dirty="0">
                <a:solidFill>
                  <a:srgbClr val="CFE3E1"/>
                </a:solidFill>
                <a:latin typeface="Cambria" pitchFamily="34" charset="0"/>
                <a:ea typeface="Cambria" pitchFamily="34" charset="-122"/>
                <a:cs typeface="Cambria" pitchFamily="34" charset="-120"/>
              </a:rPr>
              <a:t>r ≈ </a:t>
            </a:r>
            <a:r>
              <a:rPr lang="en-US" sz="3200" b="1" dirty="0">
                <a:solidFill>
                  <a:srgbClr val="F2A93B"/>
                </a:solidFill>
                <a:latin typeface="Cambria" pitchFamily="34" charset="0"/>
                <a:ea typeface="Cambria" pitchFamily="34" charset="-122"/>
                <a:cs typeface="Cambria" pitchFamily="34" charset="-120"/>
              </a:rPr>
              <a:t>≈ 0.03</a:t>
            </a:r>
            <a:endParaRPr lang="en-US" sz="2200" dirty="0"/>
          </a:p>
        </p:txBody>
      </p:sp>
      <p:sp>
        <p:nvSpPr>
          <p:cNvPr id="8" name="Text 5"/>
          <p:cNvSpPr/>
          <p:nvPr/>
        </p:nvSpPr>
        <p:spPr>
          <a:xfrm>
            <a:off x="7543800" y="3611880"/>
            <a:ext cx="4114800" cy="2377440"/>
          </a:xfrm>
          <a:prstGeom prst="rect">
            <a:avLst/>
          </a:prstGeom>
          <a:noFill/>
          <a:ln/>
        </p:spPr>
        <p:txBody>
          <a:bodyPr wrap="square" rtlCol="0" anchor="t"/>
          <a:lstStyle/>
          <a:p>
            <a:pPr marL="0" indent="0">
              <a:buNone/>
            </a:pPr>
            <a:r>
              <a:rPr lang="en-US" sz="1800" dirty="0">
                <a:solidFill>
                  <a:srgbClr val="1B2B2A"/>
                </a:solidFill>
                <a:latin typeface="Calibri" pitchFamily="34" charset="0"/>
                <a:ea typeface="Calibri" pitchFamily="34" charset="-122"/>
                <a:cs typeface="Calibri" pitchFamily="34" charset="-120"/>
              </a:rPr>
              <a:t>The points form a shapeless cloud with no clear upward or downward trend. Knowing X tells us almost nothing about Y — e.g. shoe size vs. favourite colour.</a:t>
            </a:r>
            <a:endParaRPr lang="en-US" sz="1800" dirty="0"/>
          </a:p>
        </p:txBody>
      </p:sp>
      <p:sp>
        <p:nvSpPr>
          <p:cNvPr id="9" name="Text 6"/>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5B7370"/>
                </a:solidFill>
                <a:latin typeface="Calibri" pitchFamily="34" charset="0"/>
                <a:ea typeface="Calibri" pitchFamily="34" charset="-122"/>
                <a:cs typeface="Calibri" pitchFamily="34" charset="-120"/>
              </a:rPr>
              <a:t>Presidency University | Dept. of AI &amp; Robotics | DSC4000 | Statics for Data Science</a:t>
            </a:r>
            <a:endParaRPr lang="en-US" sz="1000" dirty="0"/>
          </a:p>
        </p:txBody>
      </p:sp>
      <p:sp>
        <p:nvSpPr>
          <p:cNvPr id="10" name="Text 7"/>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7370"/>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3291840" cy="384048"/>
          </a:xfrm>
          <a:prstGeom prst="roundRect">
            <a:avLst>
              <a:gd name="adj" fmla="val 19048"/>
            </a:avLst>
          </a:prstGeom>
          <a:solidFill>
            <a:srgbClr val="E8F4F2"/>
          </a:solidFill>
          <a:ln/>
        </p:spPr>
      </p:sp>
      <p:sp>
        <p:nvSpPr>
          <p:cNvPr id="3" name="Text 1"/>
          <p:cNvSpPr/>
          <p:nvPr/>
        </p:nvSpPr>
        <p:spPr>
          <a:xfrm>
            <a:off x="548640" y="457200"/>
            <a:ext cx="3291840" cy="384048"/>
          </a:xfrm>
          <a:prstGeom prst="rect">
            <a:avLst/>
          </a:prstGeom>
          <a:noFill/>
          <a:ln/>
        </p:spPr>
        <p:txBody>
          <a:bodyPr wrap="square" rtlCol="0" anchor="ctr"/>
          <a:lstStyle/>
          <a:p>
            <a:pPr marL="0" indent="0" algn="ctr">
              <a:buNone/>
            </a:pPr>
            <a:r>
              <a:rPr lang="en-US" sz="1300" b="1" kern="0" spc="100" dirty="0">
                <a:solidFill>
                  <a:srgbClr val="0E5C56"/>
                </a:solidFill>
                <a:latin typeface="Calibri" pitchFamily="34" charset="0"/>
                <a:ea typeface="Calibri" pitchFamily="34" charset="-122"/>
                <a:cs typeface="Calibri" pitchFamily="34" charset="-120"/>
              </a:rPr>
              <a:t>QUICK REFERENCE</a:t>
            </a:r>
            <a:endParaRPr lang="en-US" sz="1300" dirty="0"/>
          </a:p>
        </p:txBody>
      </p:sp>
      <p:sp>
        <p:nvSpPr>
          <p:cNvPr id="4" name="Text 2"/>
          <p:cNvSpPr/>
          <p:nvPr/>
        </p:nvSpPr>
        <p:spPr>
          <a:xfrm>
            <a:off x="548640" y="960120"/>
            <a:ext cx="11091672" cy="914400"/>
          </a:xfrm>
          <a:prstGeom prst="rect">
            <a:avLst/>
          </a:prstGeom>
          <a:noFill/>
          <a:ln/>
        </p:spPr>
        <p:txBody>
          <a:bodyPr wrap="square" rtlCol="0" anchor="t"/>
          <a:lstStyle/>
          <a:p>
            <a:pPr marL="0" indent="0" algn="l">
              <a:buNone/>
            </a:pPr>
            <a:r>
              <a:rPr lang="en-US" sz="3200" b="1" dirty="0">
                <a:solidFill>
                  <a:srgbClr val="1B2B2A"/>
                </a:solidFill>
                <a:latin typeface="Cambria" pitchFamily="34" charset="0"/>
                <a:ea typeface="Cambria" pitchFamily="34" charset="-122"/>
                <a:cs typeface="Cambria" pitchFamily="34" charset="-120"/>
              </a:rPr>
              <a:t>Strength &amp; Direction: Putting It Together</a:t>
            </a:r>
            <a:endParaRPr lang="en-US" sz="3200" dirty="0"/>
          </a:p>
        </p:txBody>
      </p:sp>
      <p:sp>
        <p:nvSpPr>
          <p:cNvPr id="5" name="Shape 3"/>
          <p:cNvSpPr/>
          <p:nvPr/>
        </p:nvSpPr>
        <p:spPr>
          <a:xfrm>
            <a:off x="548640" y="1993392"/>
            <a:ext cx="365760" cy="365760"/>
          </a:xfrm>
          <a:prstGeom prst="ellipse">
            <a:avLst/>
          </a:prstGeom>
          <a:solidFill>
            <a:srgbClr val="F2A93B"/>
          </a:solidFill>
          <a:ln/>
        </p:spPr>
      </p:sp>
      <p:sp>
        <p:nvSpPr>
          <p:cNvPr id="6" name="Text 4"/>
          <p:cNvSpPr/>
          <p:nvPr/>
        </p:nvSpPr>
        <p:spPr>
          <a:xfrm>
            <a:off x="548640" y="1993392"/>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7" name="Text 5"/>
          <p:cNvSpPr/>
          <p:nvPr/>
        </p:nvSpPr>
        <p:spPr>
          <a:xfrm>
            <a:off x="1143000" y="1965960"/>
            <a:ext cx="10497312" cy="612648"/>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Sign of r (+ or −) tells you the DIRECTION of the relationship.</a:t>
            </a:r>
            <a:endParaRPr lang="en-US" sz="2000" dirty="0"/>
          </a:p>
        </p:txBody>
      </p:sp>
      <p:sp>
        <p:nvSpPr>
          <p:cNvPr id="8" name="Shape 6"/>
          <p:cNvSpPr/>
          <p:nvPr/>
        </p:nvSpPr>
        <p:spPr>
          <a:xfrm>
            <a:off x="548640" y="2862072"/>
            <a:ext cx="365760" cy="365760"/>
          </a:xfrm>
          <a:prstGeom prst="ellipse">
            <a:avLst/>
          </a:prstGeom>
          <a:solidFill>
            <a:srgbClr val="F2A93B"/>
          </a:solidFill>
          <a:ln/>
        </p:spPr>
      </p:sp>
      <p:sp>
        <p:nvSpPr>
          <p:cNvPr id="9" name="Text 7"/>
          <p:cNvSpPr/>
          <p:nvPr/>
        </p:nvSpPr>
        <p:spPr>
          <a:xfrm>
            <a:off x="548640" y="2862072"/>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0" name="Text 8"/>
          <p:cNvSpPr/>
          <p:nvPr/>
        </p:nvSpPr>
        <p:spPr>
          <a:xfrm>
            <a:off x="1143000" y="2834640"/>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Magnitude of r (how close to 1) tells you the STRENGTH of the relationship.</a:t>
            </a:r>
            <a:endParaRPr lang="en-US" sz="2000" dirty="0"/>
          </a:p>
        </p:txBody>
      </p:sp>
      <p:sp>
        <p:nvSpPr>
          <p:cNvPr id="11" name="Shape 9"/>
          <p:cNvSpPr/>
          <p:nvPr/>
        </p:nvSpPr>
        <p:spPr>
          <a:xfrm>
            <a:off x="548640" y="4114800"/>
            <a:ext cx="365760" cy="365760"/>
          </a:xfrm>
          <a:prstGeom prst="ellipse">
            <a:avLst/>
          </a:prstGeom>
          <a:solidFill>
            <a:srgbClr val="F2A93B"/>
          </a:solidFill>
          <a:ln/>
        </p:spPr>
      </p:sp>
      <p:sp>
        <p:nvSpPr>
          <p:cNvPr id="12" name="Text 10"/>
          <p:cNvSpPr/>
          <p:nvPr/>
        </p:nvSpPr>
        <p:spPr>
          <a:xfrm>
            <a:off x="548640" y="4114800"/>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3" name="Text 11"/>
          <p:cNvSpPr/>
          <p:nvPr/>
        </p:nvSpPr>
        <p:spPr>
          <a:xfrm>
            <a:off x="1143000" y="4087368"/>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r close to 0 does not mean 'no relationship' — it means 'no LINEAR relationship'.</a:t>
            </a:r>
            <a:endParaRPr lang="en-US" sz="2000" dirty="0"/>
          </a:p>
        </p:txBody>
      </p:sp>
      <p:sp>
        <p:nvSpPr>
          <p:cNvPr id="14" name="Shape 12"/>
          <p:cNvSpPr/>
          <p:nvPr/>
        </p:nvSpPr>
        <p:spPr>
          <a:xfrm>
            <a:off x="548640" y="5367528"/>
            <a:ext cx="365760" cy="365760"/>
          </a:xfrm>
          <a:prstGeom prst="ellipse">
            <a:avLst/>
          </a:prstGeom>
          <a:solidFill>
            <a:srgbClr val="F2A93B"/>
          </a:solidFill>
          <a:ln/>
        </p:spPr>
      </p:sp>
      <p:sp>
        <p:nvSpPr>
          <p:cNvPr id="15" name="Text 13"/>
          <p:cNvSpPr/>
          <p:nvPr/>
        </p:nvSpPr>
        <p:spPr>
          <a:xfrm>
            <a:off x="548640" y="5367528"/>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6" name="Text 14"/>
          <p:cNvSpPr/>
          <p:nvPr/>
        </p:nvSpPr>
        <p:spPr>
          <a:xfrm>
            <a:off x="1143000" y="5340096"/>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Always look at the scatter plot alongside the number — never trust r alone.</a:t>
            </a:r>
            <a:endParaRPr lang="en-US" sz="2000" dirty="0"/>
          </a:p>
        </p:txBody>
      </p:sp>
      <p:sp>
        <p:nvSpPr>
          <p:cNvPr id="17" name="Text 15"/>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5B7370"/>
                </a:solidFill>
                <a:latin typeface="Calibri" pitchFamily="34" charset="0"/>
                <a:ea typeface="Calibri" pitchFamily="34" charset="-122"/>
                <a:cs typeface="Calibri" pitchFamily="34" charset="-120"/>
              </a:rPr>
              <a:t>Presidency University | Dept. of AI &amp; Robotics | DSC4000 | Statics for Data Science</a:t>
            </a:r>
            <a:endParaRPr lang="en-US" sz="1000" dirty="0"/>
          </a:p>
        </p:txBody>
      </p:sp>
      <p:sp>
        <p:nvSpPr>
          <p:cNvPr id="18" name="Text 16"/>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7370"/>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3291840" cy="384048"/>
          </a:xfrm>
          <a:prstGeom prst="roundRect">
            <a:avLst>
              <a:gd name="adj" fmla="val 19048"/>
            </a:avLst>
          </a:prstGeom>
          <a:solidFill>
            <a:srgbClr val="E8F4F2"/>
          </a:solidFill>
          <a:ln/>
        </p:spPr>
      </p:sp>
      <p:sp>
        <p:nvSpPr>
          <p:cNvPr id="3" name="Text 1"/>
          <p:cNvSpPr/>
          <p:nvPr/>
        </p:nvSpPr>
        <p:spPr>
          <a:xfrm>
            <a:off x="548640" y="457200"/>
            <a:ext cx="3291840" cy="384048"/>
          </a:xfrm>
          <a:prstGeom prst="rect">
            <a:avLst/>
          </a:prstGeom>
          <a:noFill/>
          <a:ln/>
        </p:spPr>
        <p:txBody>
          <a:bodyPr wrap="square" rtlCol="0" anchor="ctr"/>
          <a:lstStyle/>
          <a:p>
            <a:pPr marL="0" indent="0" algn="ctr">
              <a:buNone/>
            </a:pPr>
            <a:r>
              <a:rPr lang="en-US" sz="1300" b="1" kern="0" spc="100" dirty="0">
                <a:solidFill>
                  <a:srgbClr val="0E5C56"/>
                </a:solidFill>
                <a:latin typeface="Calibri" pitchFamily="34" charset="0"/>
                <a:ea typeface="Calibri" pitchFamily="34" charset="-122"/>
                <a:cs typeface="Calibri" pitchFamily="34" charset="-120"/>
              </a:rPr>
              <a:t>WORKED EXAMPLE 1</a:t>
            </a:r>
            <a:endParaRPr lang="en-US" sz="1300" dirty="0"/>
          </a:p>
        </p:txBody>
      </p:sp>
      <p:sp>
        <p:nvSpPr>
          <p:cNvPr id="4" name="Text 2"/>
          <p:cNvSpPr/>
          <p:nvPr/>
        </p:nvSpPr>
        <p:spPr>
          <a:xfrm>
            <a:off x="548640" y="960120"/>
            <a:ext cx="11091672" cy="914400"/>
          </a:xfrm>
          <a:prstGeom prst="rect">
            <a:avLst/>
          </a:prstGeom>
          <a:noFill/>
          <a:ln/>
        </p:spPr>
        <p:txBody>
          <a:bodyPr wrap="square" rtlCol="0" anchor="t"/>
          <a:lstStyle/>
          <a:p>
            <a:pPr marL="0" indent="0" algn="l">
              <a:buNone/>
            </a:pPr>
            <a:r>
              <a:rPr lang="en-US" sz="3200" b="1" dirty="0">
                <a:solidFill>
                  <a:srgbClr val="1B2B2A"/>
                </a:solidFill>
                <a:latin typeface="Cambria" pitchFamily="34" charset="0"/>
                <a:ea typeface="Cambria" pitchFamily="34" charset="-122"/>
                <a:cs typeface="Cambria" pitchFamily="34" charset="-120"/>
              </a:rPr>
              <a:t>Setting Up the Data</a:t>
            </a:r>
            <a:endParaRPr lang="en-US" sz="3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91672" cy="3401568"/>
        </p:xfrm>
        <a:graphic>
          <a:graphicData uri="http://schemas.openxmlformats.org/drawingml/2006/table">
            <a:tbl>
              <a:tblPr/>
              <a:tblGrid>
                <a:gridCol w="3697224">
                  <a:extLst>
                    <a:ext uri="{9D8B030D-6E8A-4147-A177-3AD203B41FA5}">
                      <a16:colId xmlns:a16="http://schemas.microsoft.com/office/drawing/2014/main" val="20000"/>
                    </a:ext>
                  </a:extLst>
                </a:gridCol>
                <a:gridCol w="3697224">
                  <a:extLst>
                    <a:ext uri="{9D8B030D-6E8A-4147-A177-3AD203B41FA5}">
                      <a16:colId xmlns:a16="http://schemas.microsoft.com/office/drawing/2014/main" val="20001"/>
                    </a:ext>
                  </a:extLst>
                </a:gridCol>
                <a:gridCol w="3697224">
                  <a:extLst>
                    <a:ext uri="{9D8B030D-6E8A-4147-A177-3AD203B41FA5}">
                      <a16:colId xmlns:a16="http://schemas.microsoft.com/office/drawing/2014/main" val="20002"/>
                    </a:ext>
                  </a:extLst>
                </a:gridCol>
              </a:tblGrid>
              <a:tr h="566928">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Student</a:t>
                      </a:r>
                      <a:endParaRPr lang="en-US" sz="1800" dirty="0">
                        <a:latin typeface="Calibri" charset="0"/>
                        <a:ea typeface="Calibri" charset="0"/>
                        <a:cs typeface="Calibri" charset="0"/>
                      </a:endParaRPr>
                    </a:p>
                  </a:txBody>
                  <a:tcPr anchor="ctr">
                    <a:lnL w="12700" cap="flat" cmpd="sng" algn="ctr">
                      <a:solidFill>
                        <a:srgbClr val="D7E6E4"/>
                      </a:solidFill>
                      <a:prstDash val="solid"/>
                      <a:round/>
                      <a:headEnd type="none" w="med" len="med"/>
                      <a:tailEnd type="none" w="med" len="med"/>
                    </a:lnL>
                    <a:lnR w="12700" cap="flat" cmpd="sng" algn="ctr">
                      <a:solidFill>
                        <a:srgbClr val="D7E6E4"/>
                      </a:solidFill>
                      <a:prstDash val="solid"/>
                      <a:round/>
                      <a:headEnd type="none" w="med" len="med"/>
                      <a:tailEnd type="none" w="med" len="med"/>
                    </a:lnR>
                    <a:lnT w="12700" cap="flat" cmpd="sng" algn="ctr">
                      <a:solidFill>
                        <a:srgbClr val="D7E6E4"/>
                      </a:solidFill>
                      <a:prstDash val="solid"/>
                      <a:round/>
                      <a:headEnd type="none" w="med" len="med"/>
                      <a:tailEnd type="none" w="med" len="med"/>
                    </a:lnT>
                    <a:lnB w="12700" cap="flat" cmpd="sng" algn="ctr">
                      <a:solidFill>
                        <a:srgbClr val="D7E6E4"/>
                      </a:solidFill>
                      <a:prstDash val="solid"/>
                      <a:round/>
                      <a:headEnd type="none" w="med" len="med"/>
                      <a:tailEnd type="none" w="med" len="med"/>
                    </a:lnB>
                    <a:solidFill>
                      <a:srgbClr val="0E5C56"/>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Hours Studied (X)</a:t>
                      </a:r>
                      <a:endParaRPr lang="en-US" sz="1800" dirty="0">
                        <a:latin typeface="Calibri" charset="0"/>
                        <a:ea typeface="Calibri" charset="0"/>
                        <a:cs typeface="Calibri" charset="0"/>
                      </a:endParaRPr>
                    </a:p>
                  </a:txBody>
                  <a:tcPr anchor="ctr">
                    <a:lnL w="12700" cap="flat" cmpd="sng" algn="ctr">
                      <a:solidFill>
                        <a:srgbClr val="D7E6E4"/>
                      </a:solidFill>
                      <a:prstDash val="solid"/>
                      <a:round/>
                      <a:headEnd type="none" w="med" len="med"/>
                      <a:tailEnd type="none" w="med" len="med"/>
                    </a:lnL>
                    <a:lnR w="12700" cap="flat" cmpd="sng" algn="ctr">
                      <a:solidFill>
                        <a:srgbClr val="D7E6E4"/>
                      </a:solidFill>
                      <a:prstDash val="solid"/>
                      <a:round/>
                      <a:headEnd type="none" w="med" len="med"/>
                      <a:tailEnd type="none" w="med" len="med"/>
                    </a:lnR>
                    <a:lnT w="12700" cap="flat" cmpd="sng" algn="ctr">
                      <a:solidFill>
                        <a:srgbClr val="D7E6E4"/>
                      </a:solidFill>
                      <a:prstDash val="solid"/>
                      <a:round/>
                      <a:headEnd type="none" w="med" len="med"/>
                      <a:tailEnd type="none" w="med" len="med"/>
                    </a:lnT>
                    <a:lnB w="12700" cap="flat" cmpd="sng" algn="ctr">
                      <a:solidFill>
                        <a:srgbClr val="D7E6E4"/>
                      </a:solidFill>
                      <a:prstDash val="solid"/>
                      <a:round/>
                      <a:headEnd type="none" w="med" len="med"/>
                      <a:tailEnd type="none" w="med" len="med"/>
                    </a:lnB>
                    <a:solidFill>
                      <a:srgbClr val="0E5C56"/>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Marks Scored (Y)</a:t>
                      </a:r>
                      <a:endParaRPr lang="en-US" sz="1800" dirty="0">
                        <a:latin typeface="Calibri" charset="0"/>
                        <a:ea typeface="Calibri" charset="0"/>
                        <a:cs typeface="Calibri" charset="0"/>
                      </a:endParaRPr>
                    </a:p>
                  </a:txBody>
                  <a:tcPr anchor="ctr">
                    <a:lnL w="12700" cap="flat" cmpd="sng" algn="ctr">
                      <a:solidFill>
                        <a:srgbClr val="D7E6E4"/>
                      </a:solidFill>
                      <a:prstDash val="solid"/>
                      <a:round/>
                      <a:headEnd type="none" w="med" len="med"/>
                      <a:tailEnd type="none" w="med" len="med"/>
                    </a:lnL>
                    <a:lnR w="12700" cap="flat" cmpd="sng" algn="ctr">
                      <a:solidFill>
                        <a:srgbClr val="D7E6E4"/>
                      </a:solidFill>
                      <a:prstDash val="solid"/>
                      <a:round/>
                      <a:headEnd type="none" w="med" len="med"/>
                      <a:tailEnd type="none" w="med" len="med"/>
                    </a:lnR>
                    <a:lnT w="12700" cap="flat" cmpd="sng" algn="ctr">
                      <a:solidFill>
                        <a:srgbClr val="D7E6E4"/>
                      </a:solidFill>
                      <a:prstDash val="solid"/>
                      <a:round/>
                      <a:headEnd type="none" w="med" len="med"/>
                      <a:tailEnd type="none" w="med" len="med"/>
                    </a:lnT>
                    <a:lnB w="12700" cap="flat" cmpd="sng" algn="ctr">
                      <a:solidFill>
                        <a:srgbClr val="D7E6E4"/>
                      </a:solidFill>
                      <a:prstDash val="solid"/>
                      <a:round/>
                      <a:headEnd type="none" w="med" len="med"/>
                      <a:tailEnd type="none" w="med" len="med"/>
                    </a:lnB>
                    <a:solidFill>
                      <a:srgbClr val="0E5C56"/>
                    </a:solidFill>
                  </a:tcPr>
                </a:tc>
                <a:extLst>
                  <a:ext uri="{0D108BD9-81ED-4DB2-BD59-A6C34878D82A}">
                    <a16:rowId xmlns:a16="http://schemas.microsoft.com/office/drawing/2014/main" val="10000"/>
                  </a:ext>
                </a:extLst>
              </a:tr>
              <a:tr h="566928">
                <a:tc>
                  <a:txBody>
                    <a:bodyPr/>
                    <a:lstStyle/>
                    <a:p>
                      <a:pPr marL="0" indent="0" algn="ctr">
                        <a:buNone/>
                      </a:pPr>
                      <a:r>
                        <a:rPr lang="en-US" sz="1700" dirty="0">
                          <a:solidFill>
                            <a:srgbClr val="1B2B2A"/>
                          </a:solidFill>
                          <a:latin typeface="Calibri" pitchFamily="34" charset="0"/>
                          <a:ea typeface="Calibri" pitchFamily="34" charset="-122"/>
                          <a:cs typeface="Calibri" pitchFamily="34" charset="-120"/>
                        </a:rPr>
                        <a:t>A</a:t>
                      </a:r>
                      <a:endParaRPr lang="en-US" sz="1700" dirty="0">
                        <a:latin typeface="Calibri" charset="0"/>
                        <a:ea typeface="Calibri" charset="0"/>
                        <a:cs typeface="Calibri" charset="0"/>
                      </a:endParaRPr>
                    </a:p>
                  </a:txBody>
                  <a:tcPr anchor="ctr">
                    <a:lnL w="12700" cap="flat" cmpd="sng" algn="ctr">
                      <a:solidFill>
                        <a:srgbClr val="D7E6E4"/>
                      </a:solidFill>
                      <a:prstDash val="solid"/>
                      <a:round/>
                      <a:headEnd type="none" w="med" len="med"/>
                      <a:tailEnd type="none" w="med" len="med"/>
                    </a:lnL>
                    <a:lnR w="12700" cap="flat" cmpd="sng" algn="ctr">
                      <a:solidFill>
                        <a:srgbClr val="D7E6E4"/>
                      </a:solidFill>
                      <a:prstDash val="solid"/>
                      <a:round/>
                      <a:headEnd type="none" w="med" len="med"/>
                      <a:tailEnd type="none" w="med" len="med"/>
                    </a:lnR>
                    <a:lnT w="12700" cap="flat" cmpd="sng" algn="ctr">
                      <a:solidFill>
                        <a:srgbClr val="D7E6E4"/>
                      </a:solidFill>
                      <a:prstDash val="solid"/>
                      <a:round/>
                      <a:headEnd type="none" w="med" len="med"/>
                      <a:tailEnd type="none" w="med" len="med"/>
                    </a:lnT>
                    <a:lnB w="12700" cap="flat" cmpd="sng" algn="ctr">
                      <a:solidFill>
                        <a:srgbClr val="D7E6E4"/>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B2A"/>
                          </a:solidFill>
                          <a:latin typeface="Calibri" pitchFamily="34" charset="0"/>
                          <a:ea typeface="Calibri" pitchFamily="34" charset="-122"/>
                          <a:cs typeface="Calibri" pitchFamily="34" charset="-120"/>
                        </a:rPr>
                        <a:t>2</a:t>
                      </a:r>
                      <a:endParaRPr lang="en-US" sz="1700" dirty="0">
                        <a:latin typeface="Calibri" charset="0"/>
                        <a:ea typeface="Calibri" charset="0"/>
                        <a:cs typeface="Calibri" charset="0"/>
                      </a:endParaRPr>
                    </a:p>
                  </a:txBody>
                  <a:tcPr anchor="ctr">
                    <a:lnL w="12700" cap="flat" cmpd="sng" algn="ctr">
                      <a:solidFill>
                        <a:srgbClr val="D7E6E4"/>
                      </a:solidFill>
                      <a:prstDash val="solid"/>
                      <a:round/>
                      <a:headEnd type="none" w="med" len="med"/>
                      <a:tailEnd type="none" w="med" len="med"/>
                    </a:lnL>
                    <a:lnR w="12700" cap="flat" cmpd="sng" algn="ctr">
                      <a:solidFill>
                        <a:srgbClr val="D7E6E4"/>
                      </a:solidFill>
                      <a:prstDash val="solid"/>
                      <a:round/>
                      <a:headEnd type="none" w="med" len="med"/>
                      <a:tailEnd type="none" w="med" len="med"/>
                    </a:lnR>
                    <a:lnT w="12700" cap="flat" cmpd="sng" algn="ctr">
                      <a:solidFill>
                        <a:srgbClr val="D7E6E4"/>
                      </a:solidFill>
                      <a:prstDash val="solid"/>
                      <a:round/>
                      <a:headEnd type="none" w="med" len="med"/>
                      <a:tailEnd type="none" w="med" len="med"/>
                    </a:lnT>
                    <a:lnB w="12700" cap="flat" cmpd="sng" algn="ctr">
                      <a:solidFill>
                        <a:srgbClr val="D7E6E4"/>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B2A"/>
                          </a:solidFill>
                          <a:latin typeface="Calibri" pitchFamily="34" charset="0"/>
                          <a:ea typeface="Calibri" pitchFamily="34" charset="-122"/>
                          <a:cs typeface="Calibri" pitchFamily="34" charset="-120"/>
                        </a:rPr>
                        <a:t>50</a:t>
                      </a:r>
                      <a:endParaRPr lang="en-US" sz="1700" dirty="0">
                        <a:latin typeface="Calibri" charset="0"/>
                        <a:ea typeface="Calibri" charset="0"/>
                        <a:cs typeface="Calibri" charset="0"/>
                      </a:endParaRPr>
                    </a:p>
                  </a:txBody>
                  <a:tcPr anchor="ctr">
                    <a:lnL w="12700" cap="flat" cmpd="sng" algn="ctr">
                      <a:solidFill>
                        <a:srgbClr val="D7E6E4"/>
                      </a:solidFill>
                      <a:prstDash val="solid"/>
                      <a:round/>
                      <a:headEnd type="none" w="med" len="med"/>
                      <a:tailEnd type="none" w="med" len="med"/>
                    </a:lnL>
                    <a:lnR w="12700" cap="flat" cmpd="sng" algn="ctr">
                      <a:solidFill>
                        <a:srgbClr val="D7E6E4"/>
                      </a:solidFill>
                      <a:prstDash val="solid"/>
                      <a:round/>
                      <a:headEnd type="none" w="med" len="med"/>
                      <a:tailEnd type="none" w="med" len="med"/>
                    </a:lnR>
                    <a:lnT w="12700" cap="flat" cmpd="sng" algn="ctr">
                      <a:solidFill>
                        <a:srgbClr val="D7E6E4"/>
                      </a:solidFill>
                      <a:prstDash val="solid"/>
                      <a:round/>
                      <a:headEnd type="none" w="med" len="med"/>
                      <a:tailEnd type="none" w="med" len="med"/>
                    </a:lnT>
                    <a:lnB w="12700" cap="flat" cmpd="sng" algn="ctr">
                      <a:solidFill>
                        <a:srgbClr val="D7E6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ctr">
                        <a:buNone/>
                      </a:pPr>
                      <a:r>
                        <a:rPr lang="en-US" sz="1700" dirty="0">
                          <a:solidFill>
                            <a:srgbClr val="1B2B2A"/>
                          </a:solidFill>
                          <a:latin typeface="Calibri" pitchFamily="34" charset="0"/>
                          <a:ea typeface="Calibri" pitchFamily="34" charset="-122"/>
                          <a:cs typeface="Calibri" pitchFamily="34" charset="-120"/>
                        </a:rPr>
                        <a:t>B</a:t>
                      </a:r>
                      <a:endParaRPr lang="en-US" sz="1700" dirty="0">
                        <a:latin typeface="Calibri" charset="0"/>
                        <a:ea typeface="Calibri" charset="0"/>
                        <a:cs typeface="Calibri" charset="0"/>
                      </a:endParaRPr>
                    </a:p>
                  </a:txBody>
                  <a:tcPr anchor="ctr">
                    <a:lnL w="12700" cap="flat" cmpd="sng" algn="ctr">
                      <a:solidFill>
                        <a:srgbClr val="D7E6E4"/>
                      </a:solidFill>
                      <a:prstDash val="solid"/>
                      <a:round/>
                      <a:headEnd type="none" w="med" len="med"/>
                      <a:tailEnd type="none" w="med" len="med"/>
                    </a:lnL>
                    <a:lnR w="12700" cap="flat" cmpd="sng" algn="ctr">
                      <a:solidFill>
                        <a:srgbClr val="D7E6E4"/>
                      </a:solidFill>
                      <a:prstDash val="solid"/>
                      <a:round/>
                      <a:headEnd type="none" w="med" len="med"/>
                      <a:tailEnd type="none" w="med" len="med"/>
                    </a:lnR>
                    <a:lnT w="12700" cap="flat" cmpd="sng" algn="ctr">
                      <a:solidFill>
                        <a:srgbClr val="D7E6E4"/>
                      </a:solidFill>
                      <a:prstDash val="solid"/>
                      <a:round/>
                      <a:headEnd type="none" w="med" len="med"/>
                      <a:tailEnd type="none" w="med" len="med"/>
                    </a:lnT>
                    <a:lnB w="12700" cap="flat" cmpd="sng" algn="ctr">
                      <a:solidFill>
                        <a:srgbClr val="D7E6E4"/>
                      </a:solidFill>
                      <a:prstDash val="solid"/>
                      <a:round/>
                      <a:headEnd type="none" w="med" len="med"/>
                      <a:tailEnd type="none" w="med" len="med"/>
                    </a:lnB>
                    <a:solidFill>
                      <a:srgbClr val="E8F4F2"/>
                    </a:solidFill>
                  </a:tcPr>
                </a:tc>
                <a:tc>
                  <a:txBody>
                    <a:bodyPr/>
                    <a:lstStyle/>
                    <a:p>
                      <a:pPr marL="0" indent="0" algn="ctr">
                        <a:buNone/>
                      </a:pPr>
                      <a:r>
                        <a:rPr lang="en-US" sz="1700" dirty="0">
                          <a:solidFill>
                            <a:srgbClr val="1B2B2A"/>
                          </a:solidFill>
                          <a:latin typeface="Calibri" pitchFamily="34" charset="0"/>
                          <a:ea typeface="Calibri" pitchFamily="34" charset="-122"/>
                          <a:cs typeface="Calibri" pitchFamily="34" charset="-120"/>
                        </a:rPr>
                        <a:t>4</a:t>
                      </a:r>
                      <a:endParaRPr lang="en-US" sz="1700" dirty="0">
                        <a:latin typeface="Calibri" charset="0"/>
                        <a:ea typeface="Calibri" charset="0"/>
                        <a:cs typeface="Calibri" charset="0"/>
                      </a:endParaRPr>
                    </a:p>
                  </a:txBody>
                  <a:tcPr anchor="ctr">
                    <a:lnL w="12700" cap="flat" cmpd="sng" algn="ctr">
                      <a:solidFill>
                        <a:srgbClr val="D7E6E4"/>
                      </a:solidFill>
                      <a:prstDash val="solid"/>
                      <a:round/>
                      <a:headEnd type="none" w="med" len="med"/>
                      <a:tailEnd type="none" w="med" len="med"/>
                    </a:lnL>
                    <a:lnR w="12700" cap="flat" cmpd="sng" algn="ctr">
                      <a:solidFill>
                        <a:srgbClr val="D7E6E4"/>
                      </a:solidFill>
                      <a:prstDash val="solid"/>
                      <a:round/>
                      <a:headEnd type="none" w="med" len="med"/>
                      <a:tailEnd type="none" w="med" len="med"/>
                    </a:lnR>
                    <a:lnT w="12700" cap="flat" cmpd="sng" algn="ctr">
                      <a:solidFill>
                        <a:srgbClr val="D7E6E4"/>
                      </a:solidFill>
                      <a:prstDash val="solid"/>
                      <a:round/>
                      <a:headEnd type="none" w="med" len="med"/>
                      <a:tailEnd type="none" w="med" len="med"/>
                    </a:lnT>
                    <a:lnB w="12700" cap="flat" cmpd="sng" algn="ctr">
                      <a:solidFill>
                        <a:srgbClr val="D7E6E4"/>
                      </a:solidFill>
                      <a:prstDash val="solid"/>
                      <a:round/>
                      <a:headEnd type="none" w="med" len="med"/>
                      <a:tailEnd type="none" w="med" len="med"/>
                    </a:lnB>
                    <a:solidFill>
                      <a:srgbClr val="E8F4F2"/>
                    </a:solidFill>
                  </a:tcPr>
                </a:tc>
                <a:tc>
                  <a:txBody>
                    <a:bodyPr/>
                    <a:lstStyle/>
                    <a:p>
                      <a:pPr marL="0" indent="0" algn="ctr">
                        <a:buNone/>
                      </a:pPr>
                      <a:r>
                        <a:rPr lang="en-US" sz="1700" dirty="0">
                          <a:solidFill>
                            <a:srgbClr val="1B2B2A"/>
                          </a:solidFill>
                          <a:latin typeface="Calibri" pitchFamily="34" charset="0"/>
                          <a:ea typeface="Calibri" pitchFamily="34" charset="-122"/>
                          <a:cs typeface="Calibri" pitchFamily="34" charset="-120"/>
                        </a:rPr>
                        <a:t>60</a:t>
                      </a:r>
                      <a:endParaRPr lang="en-US" sz="1700" dirty="0">
                        <a:latin typeface="Calibri" charset="0"/>
                        <a:ea typeface="Calibri" charset="0"/>
                        <a:cs typeface="Calibri" charset="0"/>
                      </a:endParaRPr>
                    </a:p>
                  </a:txBody>
                  <a:tcPr anchor="ctr">
                    <a:lnL w="12700" cap="flat" cmpd="sng" algn="ctr">
                      <a:solidFill>
                        <a:srgbClr val="D7E6E4"/>
                      </a:solidFill>
                      <a:prstDash val="solid"/>
                      <a:round/>
                      <a:headEnd type="none" w="med" len="med"/>
                      <a:tailEnd type="none" w="med" len="med"/>
                    </a:lnL>
                    <a:lnR w="12700" cap="flat" cmpd="sng" algn="ctr">
                      <a:solidFill>
                        <a:srgbClr val="D7E6E4"/>
                      </a:solidFill>
                      <a:prstDash val="solid"/>
                      <a:round/>
                      <a:headEnd type="none" w="med" len="med"/>
                      <a:tailEnd type="none" w="med" len="med"/>
                    </a:lnR>
                    <a:lnT w="12700" cap="flat" cmpd="sng" algn="ctr">
                      <a:solidFill>
                        <a:srgbClr val="D7E6E4"/>
                      </a:solidFill>
                      <a:prstDash val="solid"/>
                      <a:round/>
                      <a:headEnd type="none" w="med" len="med"/>
                      <a:tailEnd type="none" w="med" len="med"/>
                    </a:lnT>
                    <a:lnB w="12700" cap="flat" cmpd="sng" algn="ctr">
                      <a:solidFill>
                        <a:srgbClr val="D7E6E4"/>
                      </a:solidFill>
                      <a:prstDash val="solid"/>
                      <a:round/>
                      <a:headEnd type="none" w="med" len="med"/>
                      <a:tailEnd type="none" w="med" len="med"/>
                    </a:lnB>
                    <a:solidFill>
                      <a:srgbClr val="E8F4F2"/>
                    </a:solidFill>
                  </a:tcPr>
                </a:tc>
                <a:extLst>
                  <a:ext uri="{0D108BD9-81ED-4DB2-BD59-A6C34878D82A}">
                    <a16:rowId xmlns:a16="http://schemas.microsoft.com/office/drawing/2014/main" val="10002"/>
                  </a:ext>
                </a:extLst>
              </a:tr>
              <a:tr h="566928">
                <a:tc>
                  <a:txBody>
                    <a:bodyPr/>
                    <a:lstStyle/>
                    <a:p>
                      <a:pPr marL="0" indent="0" algn="ctr">
                        <a:buNone/>
                      </a:pPr>
                      <a:r>
                        <a:rPr lang="en-US" sz="1700" dirty="0">
                          <a:solidFill>
                            <a:srgbClr val="1B2B2A"/>
                          </a:solidFill>
                          <a:latin typeface="Calibri" pitchFamily="34" charset="0"/>
                          <a:ea typeface="Calibri" pitchFamily="34" charset="-122"/>
                          <a:cs typeface="Calibri" pitchFamily="34" charset="-120"/>
                        </a:rPr>
                        <a:t>C</a:t>
                      </a:r>
                      <a:endParaRPr lang="en-US" sz="1700" dirty="0">
                        <a:latin typeface="Calibri" charset="0"/>
                        <a:ea typeface="Calibri" charset="0"/>
                        <a:cs typeface="Calibri" charset="0"/>
                      </a:endParaRPr>
                    </a:p>
                  </a:txBody>
                  <a:tcPr anchor="ctr">
                    <a:lnL w="12700" cap="flat" cmpd="sng" algn="ctr">
                      <a:solidFill>
                        <a:srgbClr val="D7E6E4"/>
                      </a:solidFill>
                      <a:prstDash val="solid"/>
                      <a:round/>
                      <a:headEnd type="none" w="med" len="med"/>
                      <a:tailEnd type="none" w="med" len="med"/>
                    </a:lnL>
                    <a:lnR w="12700" cap="flat" cmpd="sng" algn="ctr">
                      <a:solidFill>
                        <a:srgbClr val="D7E6E4"/>
                      </a:solidFill>
                      <a:prstDash val="solid"/>
                      <a:round/>
                      <a:headEnd type="none" w="med" len="med"/>
                      <a:tailEnd type="none" w="med" len="med"/>
                    </a:lnR>
                    <a:lnT w="12700" cap="flat" cmpd="sng" algn="ctr">
                      <a:solidFill>
                        <a:srgbClr val="D7E6E4"/>
                      </a:solidFill>
                      <a:prstDash val="solid"/>
                      <a:round/>
                      <a:headEnd type="none" w="med" len="med"/>
                      <a:tailEnd type="none" w="med" len="med"/>
                    </a:lnT>
                    <a:lnB w="12700" cap="flat" cmpd="sng" algn="ctr">
                      <a:solidFill>
                        <a:srgbClr val="D7E6E4"/>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B2A"/>
                          </a:solidFill>
                          <a:latin typeface="Calibri" pitchFamily="34" charset="0"/>
                          <a:ea typeface="Calibri" pitchFamily="34" charset="-122"/>
                          <a:cs typeface="Calibri" pitchFamily="34" charset="-120"/>
                        </a:rPr>
                        <a:t>6</a:t>
                      </a:r>
                      <a:endParaRPr lang="en-US" sz="1700" dirty="0">
                        <a:latin typeface="Calibri" charset="0"/>
                        <a:ea typeface="Calibri" charset="0"/>
                        <a:cs typeface="Calibri" charset="0"/>
                      </a:endParaRPr>
                    </a:p>
                  </a:txBody>
                  <a:tcPr anchor="ctr">
                    <a:lnL w="12700" cap="flat" cmpd="sng" algn="ctr">
                      <a:solidFill>
                        <a:srgbClr val="D7E6E4"/>
                      </a:solidFill>
                      <a:prstDash val="solid"/>
                      <a:round/>
                      <a:headEnd type="none" w="med" len="med"/>
                      <a:tailEnd type="none" w="med" len="med"/>
                    </a:lnL>
                    <a:lnR w="12700" cap="flat" cmpd="sng" algn="ctr">
                      <a:solidFill>
                        <a:srgbClr val="D7E6E4"/>
                      </a:solidFill>
                      <a:prstDash val="solid"/>
                      <a:round/>
                      <a:headEnd type="none" w="med" len="med"/>
                      <a:tailEnd type="none" w="med" len="med"/>
                    </a:lnR>
                    <a:lnT w="12700" cap="flat" cmpd="sng" algn="ctr">
                      <a:solidFill>
                        <a:srgbClr val="D7E6E4"/>
                      </a:solidFill>
                      <a:prstDash val="solid"/>
                      <a:round/>
                      <a:headEnd type="none" w="med" len="med"/>
                      <a:tailEnd type="none" w="med" len="med"/>
                    </a:lnT>
                    <a:lnB w="12700" cap="flat" cmpd="sng" algn="ctr">
                      <a:solidFill>
                        <a:srgbClr val="D7E6E4"/>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B2A"/>
                          </a:solidFill>
                          <a:latin typeface="Calibri" pitchFamily="34" charset="0"/>
                          <a:ea typeface="Calibri" pitchFamily="34" charset="-122"/>
                          <a:cs typeface="Calibri" pitchFamily="34" charset="-120"/>
                        </a:rPr>
                        <a:t>70</a:t>
                      </a:r>
                      <a:endParaRPr lang="en-US" sz="1700" dirty="0">
                        <a:latin typeface="Calibri" charset="0"/>
                        <a:ea typeface="Calibri" charset="0"/>
                        <a:cs typeface="Calibri" charset="0"/>
                      </a:endParaRPr>
                    </a:p>
                  </a:txBody>
                  <a:tcPr anchor="ctr">
                    <a:lnL w="12700" cap="flat" cmpd="sng" algn="ctr">
                      <a:solidFill>
                        <a:srgbClr val="D7E6E4"/>
                      </a:solidFill>
                      <a:prstDash val="solid"/>
                      <a:round/>
                      <a:headEnd type="none" w="med" len="med"/>
                      <a:tailEnd type="none" w="med" len="med"/>
                    </a:lnL>
                    <a:lnR w="12700" cap="flat" cmpd="sng" algn="ctr">
                      <a:solidFill>
                        <a:srgbClr val="D7E6E4"/>
                      </a:solidFill>
                      <a:prstDash val="solid"/>
                      <a:round/>
                      <a:headEnd type="none" w="med" len="med"/>
                      <a:tailEnd type="none" w="med" len="med"/>
                    </a:lnR>
                    <a:lnT w="12700" cap="flat" cmpd="sng" algn="ctr">
                      <a:solidFill>
                        <a:srgbClr val="D7E6E4"/>
                      </a:solidFill>
                      <a:prstDash val="solid"/>
                      <a:round/>
                      <a:headEnd type="none" w="med" len="med"/>
                      <a:tailEnd type="none" w="med" len="med"/>
                    </a:lnT>
                    <a:lnB w="12700" cap="flat" cmpd="sng" algn="ctr">
                      <a:solidFill>
                        <a:srgbClr val="D7E6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lgn="ctr">
                        <a:buNone/>
                      </a:pPr>
                      <a:r>
                        <a:rPr lang="en-US" sz="1700" dirty="0">
                          <a:solidFill>
                            <a:srgbClr val="1B2B2A"/>
                          </a:solidFill>
                          <a:latin typeface="Calibri" pitchFamily="34" charset="0"/>
                          <a:ea typeface="Calibri" pitchFamily="34" charset="-122"/>
                          <a:cs typeface="Calibri" pitchFamily="34" charset="-120"/>
                        </a:rPr>
                        <a:t>D</a:t>
                      </a:r>
                      <a:endParaRPr lang="en-US" sz="1700" dirty="0">
                        <a:latin typeface="Calibri" charset="0"/>
                        <a:ea typeface="Calibri" charset="0"/>
                        <a:cs typeface="Calibri" charset="0"/>
                      </a:endParaRPr>
                    </a:p>
                  </a:txBody>
                  <a:tcPr anchor="ctr">
                    <a:lnL w="12700" cap="flat" cmpd="sng" algn="ctr">
                      <a:solidFill>
                        <a:srgbClr val="D7E6E4"/>
                      </a:solidFill>
                      <a:prstDash val="solid"/>
                      <a:round/>
                      <a:headEnd type="none" w="med" len="med"/>
                      <a:tailEnd type="none" w="med" len="med"/>
                    </a:lnL>
                    <a:lnR w="12700" cap="flat" cmpd="sng" algn="ctr">
                      <a:solidFill>
                        <a:srgbClr val="D7E6E4"/>
                      </a:solidFill>
                      <a:prstDash val="solid"/>
                      <a:round/>
                      <a:headEnd type="none" w="med" len="med"/>
                      <a:tailEnd type="none" w="med" len="med"/>
                    </a:lnR>
                    <a:lnT w="12700" cap="flat" cmpd="sng" algn="ctr">
                      <a:solidFill>
                        <a:srgbClr val="D7E6E4"/>
                      </a:solidFill>
                      <a:prstDash val="solid"/>
                      <a:round/>
                      <a:headEnd type="none" w="med" len="med"/>
                      <a:tailEnd type="none" w="med" len="med"/>
                    </a:lnT>
                    <a:lnB w="12700" cap="flat" cmpd="sng" algn="ctr">
                      <a:solidFill>
                        <a:srgbClr val="D7E6E4"/>
                      </a:solidFill>
                      <a:prstDash val="solid"/>
                      <a:round/>
                      <a:headEnd type="none" w="med" len="med"/>
                      <a:tailEnd type="none" w="med" len="med"/>
                    </a:lnB>
                    <a:solidFill>
                      <a:srgbClr val="E8F4F2"/>
                    </a:solidFill>
                  </a:tcPr>
                </a:tc>
                <a:tc>
                  <a:txBody>
                    <a:bodyPr/>
                    <a:lstStyle/>
                    <a:p>
                      <a:pPr marL="0" indent="0" algn="ctr">
                        <a:buNone/>
                      </a:pPr>
                      <a:r>
                        <a:rPr lang="en-US" sz="1700" dirty="0">
                          <a:solidFill>
                            <a:srgbClr val="1B2B2A"/>
                          </a:solidFill>
                          <a:latin typeface="Calibri" pitchFamily="34" charset="0"/>
                          <a:ea typeface="Calibri" pitchFamily="34" charset="-122"/>
                          <a:cs typeface="Calibri" pitchFamily="34" charset="-120"/>
                        </a:rPr>
                        <a:t>8</a:t>
                      </a:r>
                      <a:endParaRPr lang="en-US" sz="1700" dirty="0">
                        <a:latin typeface="Calibri" charset="0"/>
                        <a:ea typeface="Calibri" charset="0"/>
                        <a:cs typeface="Calibri" charset="0"/>
                      </a:endParaRPr>
                    </a:p>
                  </a:txBody>
                  <a:tcPr anchor="ctr">
                    <a:lnL w="12700" cap="flat" cmpd="sng" algn="ctr">
                      <a:solidFill>
                        <a:srgbClr val="D7E6E4"/>
                      </a:solidFill>
                      <a:prstDash val="solid"/>
                      <a:round/>
                      <a:headEnd type="none" w="med" len="med"/>
                      <a:tailEnd type="none" w="med" len="med"/>
                    </a:lnL>
                    <a:lnR w="12700" cap="flat" cmpd="sng" algn="ctr">
                      <a:solidFill>
                        <a:srgbClr val="D7E6E4"/>
                      </a:solidFill>
                      <a:prstDash val="solid"/>
                      <a:round/>
                      <a:headEnd type="none" w="med" len="med"/>
                      <a:tailEnd type="none" w="med" len="med"/>
                    </a:lnR>
                    <a:lnT w="12700" cap="flat" cmpd="sng" algn="ctr">
                      <a:solidFill>
                        <a:srgbClr val="D7E6E4"/>
                      </a:solidFill>
                      <a:prstDash val="solid"/>
                      <a:round/>
                      <a:headEnd type="none" w="med" len="med"/>
                      <a:tailEnd type="none" w="med" len="med"/>
                    </a:lnT>
                    <a:lnB w="12700" cap="flat" cmpd="sng" algn="ctr">
                      <a:solidFill>
                        <a:srgbClr val="D7E6E4"/>
                      </a:solidFill>
                      <a:prstDash val="solid"/>
                      <a:round/>
                      <a:headEnd type="none" w="med" len="med"/>
                      <a:tailEnd type="none" w="med" len="med"/>
                    </a:lnB>
                    <a:solidFill>
                      <a:srgbClr val="E8F4F2"/>
                    </a:solidFill>
                  </a:tcPr>
                </a:tc>
                <a:tc>
                  <a:txBody>
                    <a:bodyPr/>
                    <a:lstStyle/>
                    <a:p>
                      <a:pPr marL="0" indent="0" algn="ctr">
                        <a:buNone/>
                      </a:pPr>
                      <a:r>
                        <a:rPr lang="en-US" sz="1700" dirty="0">
                          <a:solidFill>
                            <a:srgbClr val="1B2B2A"/>
                          </a:solidFill>
                          <a:latin typeface="Calibri" pitchFamily="34" charset="0"/>
                          <a:ea typeface="Calibri" pitchFamily="34" charset="-122"/>
                          <a:cs typeface="Calibri" pitchFamily="34" charset="-120"/>
                        </a:rPr>
                        <a:t>85</a:t>
                      </a:r>
                      <a:endParaRPr lang="en-US" sz="1700" dirty="0">
                        <a:latin typeface="Calibri" charset="0"/>
                        <a:ea typeface="Calibri" charset="0"/>
                        <a:cs typeface="Calibri" charset="0"/>
                      </a:endParaRPr>
                    </a:p>
                  </a:txBody>
                  <a:tcPr anchor="ctr">
                    <a:lnL w="12700" cap="flat" cmpd="sng" algn="ctr">
                      <a:solidFill>
                        <a:srgbClr val="D7E6E4"/>
                      </a:solidFill>
                      <a:prstDash val="solid"/>
                      <a:round/>
                      <a:headEnd type="none" w="med" len="med"/>
                      <a:tailEnd type="none" w="med" len="med"/>
                    </a:lnL>
                    <a:lnR w="12700" cap="flat" cmpd="sng" algn="ctr">
                      <a:solidFill>
                        <a:srgbClr val="D7E6E4"/>
                      </a:solidFill>
                      <a:prstDash val="solid"/>
                      <a:round/>
                      <a:headEnd type="none" w="med" len="med"/>
                      <a:tailEnd type="none" w="med" len="med"/>
                    </a:lnR>
                    <a:lnT w="12700" cap="flat" cmpd="sng" algn="ctr">
                      <a:solidFill>
                        <a:srgbClr val="D7E6E4"/>
                      </a:solidFill>
                      <a:prstDash val="solid"/>
                      <a:round/>
                      <a:headEnd type="none" w="med" len="med"/>
                      <a:tailEnd type="none" w="med" len="med"/>
                    </a:lnT>
                    <a:lnB w="12700" cap="flat" cmpd="sng" algn="ctr">
                      <a:solidFill>
                        <a:srgbClr val="D7E6E4"/>
                      </a:solidFill>
                      <a:prstDash val="solid"/>
                      <a:round/>
                      <a:headEnd type="none" w="med" len="med"/>
                      <a:tailEnd type="none" w="med" len="med"/>
                    </a:lnB>
                    <a:solidFill>
                      <a:srgbClr val="E8F4F2"/>
                    </a:solidFill>
                  </a:tcPr>
                </a:tc>
                <a:extLst>
                  <a:ext uri="{0D108BD9-81ED-4DB2-BD59-A6C34878D82A}">
                    <a16:rowId xmlns:a16="http://schemas.microsoft.com/office/drawing/2014/main" val="10004"/>
                  </a:ext>
                </a:extLst>
              </a:tr>
              <a:tr h="566928">
                <a:tc>
                  <a:txBody>
                    <a:bodyPr/>
                    <a:lstStyle/>
                    <a:p>
                      <a:pPr marL="0" indent="0" algn="ctr">
                        <a:buNone/>
                      </a:pPr>
                      <a:r>
                        <a:rPr lang="en-US" sz="1700" dirty="0">
                          <a:solidFill>
                            <a:srgbClr val="1B2B2A"/>
                          </a:solidFill>
                          <a:latin typeface="Calibri" pitchFamily="34" charset="0"/>
                          <a:ea typeface="Calibri" pitchFamily="34" charset="-122"/>
                          <a:cs typeface="Calibri" pitchFamily="34" charset="-120"/>
                        </a:rPr>
                        <a:t>E</a:t>
                      </a:r>
                      <a:endParaRPr lang="en-US" sz="1700" dirty="0">
                        <a:latin typeface="Calibri" charset="0"/>
                        <a:ea typeface="Calibri" charset="0"/>
                        <a:cs typeface="Calibri" charset="0"/>
                      </a:endParaRPr>
                    </a:p>
                  </a:txBody>
                  <a:tcPr anchor="ctr">
                    <a:lnL w="12700" cap="flat" cmpd="sng" algn="ctr">
                      <a:solidFill>
                        <a:srgbClr val="D7E6E4"/>
                      </a:solidFill>
                      <a:prstDash val="solid"/>
                      <a:round/>
                      <a:headEnd type="none" w="med" len="med"/>
                      <a:tailEnd type="none" w="med" len="med"/>
                    </a:lnL>
                    <a:lnR w="12700" cap="flat" cmpd="sng" algn="ctr">
                      <a:solidFill>
                        <a:srgbClr val="D7E6E4"/>
                      </a:solidFill>
                      <a:prstDash val="solid"/>
                      <a:round/>
                      <a:headEnd type="none" w="med" len="med"/>
                      <a:tailEnd type="none" w="med" len="med"/>
                    </a:lnR>
                    <a:lnT w="12700" cap="flat" cmpd="sng" algn="ctr">
                      <a:solidFill>
                        <a:srgbClr val="D7E6E4"/>
                      </a:solidFill>
                      <a:prstDash val="solid"/>
                      <a:round/>
                      <a:headEnd type="none" w="med" len="med"/>
                      <a:tailEnd type="none" w="med" len="med"/>
                    </a:lnT>
                    <a:lnB w="12700" cap="flat" cmpd="sng" algn="ctr">
                      <a:solidFill>
                        <a:srgbClr val="D7E6E4"/>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B2A"/>
                          </a:solidFill>
                          <a:latin typeface="Calibri" pitchFamily="34" charset="0"/>
                          <a:ea typeface="Calibri" pitchFamily="34" charset="-122"/>
                          <a:cs typeface="Calibri" pitchFamily="34" charset="-120"/>
                        </a:rPr>
                        <a:t>10</a:t>
                      </a:r>
                      <a:endParaRPr lang="en-US" sz="1700" dirty="0">
                        <a:latin typeface="Calibri" charset="0"/>
                        <a:ea typeface="Calibri" charset="0"/>
                        <a:cs typeface="Calibri" charset="0"/>
                      </a:endParaRPr>
                    </a:p>
                  </a:txBody>
                  <a:tcPr anchor="ctr">
                    <a:lnL w="12700" cap="flat" cmpd="sng" algn="ctr">
                      <a:solidFill>
                        <a:srgbClr val="D7E6E4"/>
                      </a:solidFill>
                      <a:prstDash val="solid"/>
                      <a:round/>
                      <a:headEnd type="none" w="med" len="med"/>
                      <a:tailEnd type="none" w="med" len="med"/>
                    </a:lnL>
                    <a:lnR w="12700" cap="flat" cmpd="sng" algn="ctr">
                      <a:solidFill>
                        <a:srgbClr val="D7E6E4"/>
                      </a:solidFill>
                      <a:prstDash val="solid"/>
                      <a:round/>
                      <a:headEnd type="none" w="med" len="med"/>
                      <a:tailEnd type="none" w="med" len="med"/>
                    </a:lnR>
                    <a:lnT w="12700" cap="flat" cmpd="sng" algn="ctr">
                      <a:solidFill>
                        <a:srgbClr val="D7E6E4"/>
                      </a:solidFill>
                      <a:prstDash val="solid"/>
                      <a:round/>
                      <a:headEnd type="none" w="med" len="med"/>
                      <a:tailEnd type="none" w="med" len="med"/>
                    </a:lnT>
                    <a:lnB w="12700" cap="flat" cmpd="sng" algn="ctr">
                      <a:solidFill>
                        <a:srgbClr val="D7E6E4"/>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B2A"/>
                          </a:solidFill>
                          <a:latin typeface="Calibri" pitchFamily="34" charset="0"/>
                          <a:ea typeface="Calibri" pitchFamily="34" charset="-122"/>
                          <a:cs typeface="Calibri" pitchFamily="34" charset="-120"/>
                        </a:rPr>
                        <a:t>95</a:t>
                      </a:r>
                      <a:endParaRPr lang="en-US" sz="1700" dirty="0">
                        <a:latin typeface="Calibri" charset="0"/>
                        <a:ea typeface="Calibri" charset="0"/>
                        <a:cs typeface="Calibri" charset="0"/>
                      </a:endParaRPr>
                    </a:p>
                  </a:txBody>
                  <a:tcPr anchor="ctr">
                    <a:lnL w="12700" cap="flat" cmpd="sng" algn="ctr">
                      <a:solidFill>
                        <a:srgbClr val="D7E6E4"/>
                      </a:solidFill>
                      <a:prstDash val="solid"/>
                      <a:round/>
                      <a:headEnd type="none" w="med" len="med"/>
                      <a:tailEnd type="none" w="med" len="med"/>
                    </a:lnL>
                    <a:lnR w="12700" cap="flat" cmpd="sng" algn="ctr">
                      <a:solidFill>
                        <a:srgbClr val="D7E6E4"/>
                      </a:solidFill>
                      <a:prstDash val="solid"/>
                      <a:round/>
                      <a:headEnd type="none" w="med" len="med"/>
                      <a:tailEnd type="none" w="med" len="med"/>
                    </a:lnR>
                    <a:lnT w="12700" cap="flat" cmpd="sng" algn="ctr">
                      <a:solidFill>
                        <a:srgbClr val="D7E6E4"/>
                      </a:solidFill>
                      <a:prstDash val="solid"/>
                      <a:round/>
                      <a:headEnd type="none" w="med" len="med"/>
                      <a:tailEnd type="none" w="med" len="med"/>
                    </a:lnT>
                    <a:lnB w="12700" cap="flat" cmpd="sng" algn="ctr">
                      <a:solidFill>
                        <a:srgbClr val="D7E6E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Text 3"/>
          <p:cNvSpPr/>
          <p:nvPr/>
        </p:nvSpPr>
        <p:spPr>
          <a:xfrm>
            <a:off x="548640" y="6035040"/>
            <a:ext cx="11091672" cy="365760"/>
          </a:xfrm>
          <a:prstGeom prst="rect">
            <a:avLst/>
          </a:prstGeom>
          <a:noFill/>
          <a:ln/>
        </p:spPr>
        <p:txBody>
          <a:bodyPr wrap="square" rtlCol="0" anchor="ctr"/>
          <a:lstStyle/>
          <a:p>
            <a:pPr marL="0" indent="0">
              <a:buNone/>
            </a:pPr>
            <a:r>
              <a:rPr lang="en-US" sz="1300" i="1" dirty="0">
                <a:solidFill>
                  <a:srgbClr val="5B7370"/>
                </a:solidFill>
                <a:latin typeface="Calibri" pitchFamily="34" charset="0"/>
                <a:ea typeface="Calibri" pitchFamily="34" charset="-122"/>
                <a:cs typeface="Calibri" pitchFamily="34" charset="-120"/>
              </a:rPr>
              <a:t>X̄ = 6, Ȳ = 72 (we will use these means in every step that follows)</a:t>
            </a:r>
            <a:endParaRPr lang="en-US" sz="1300" dirty="0"/>
          </a:p>
        </p:txBody>
      </p:sp>
      <p:sp>
        <p:nvSpPr>
          <p:cNvPr id="7" name="Text 4"/>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5B7370"/>
                </a:solidFill>
                <a:latin typeface="Calibri" pitchFamily="34" charset="0"/>
                <a:ea typeface="Calibri" pitchFamily="34" charset="-122"/>
                <a:cs typeface="Calibri" pitchFamily="34" charset="-120"/>
              </a:rPr>
              <a:t>Presidency University | Dept. of AI &amp; Robotics | DSC4000 | Statics for Data Science</a:t>
            </a:r>
            <a:endParaRPr lang="en-US" sz="1000" dirty="0"/>
          </a:p>
        </p:txBody>
      </p:sp>
      <p:sp>
        <p:nvSpPr>
          <p:cNvPr id="8" name="Text 5"/>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7370"/>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3291840" cy="384048"/>
          </a:xfrm>
          <a:prstGeom prst="roundRect">
            <a:avLst>
              <a:gd name="adj" fmla="val 19048"/>
            </a:avLst>
          </a:prstGeom>
          <a:solidFill>
            <a:srgbClr val="E8F4F2"/>
          </a:solidFill>
          <a:ln/>
        </p:spPr>
      </p:sp>
      <p:sp>
        <p:nvSpPr>
          <p:cNvPr id="3" name="Text 1"/>
          <p:cNvSpPr/>
          <p:nvPr/>
        </p:nvSpPr>
        <p:spPr>
          <a:xfrm>
            <a:off x="548640" y="457200"/>
            <a:ext cx="3291840" cy="384048"/>
          </a:xfrm>
          <a:prstGeom prst="rect">
            <a:avLst/>
          </a:prstGeom>
          <a:noFill/>
          <a:ln/>
        </p:spPr>
        <p:txBody>
          <a:bodyPr wrap="square" rtlCol="0" anchor="ctr"/>
          <a:lstStyle/>
          <a:p>
            <a:pPr marL="0" indent="0" algn="ctr">
              <a:buNone/>
            </a:pPr>
            <a:r>
              <a:rPr lang="en-US" sz="1300" b="1" kern="0" spc="100" dirty="0">
                <a:solidFill>
                  <a:srgbClr val="0E5C56"/>
                </a:solidFill>
                <a:latin typeface="Calibri" pitchFamily="34" charset="0"/>
                <a:ea typeface="Calibri" pitchFamily="34" charset="-122"/>
                <a:cs typeface="Calibri" pitchFamily="34" charset="-120"/>
              </a:rPr>
              <a:t>WORKED EXAMPLE 1</a:t>
            </a:r>
            <a:endParaRPr lang="en-US" sz="1300" dirty="0"/>
          </a:p>
        </p:txBody>
      </p:sp>
      <p:sp>
        <p:nvSpPr>
          <p:cNvPr id="4" name="Text 2"/>
          <p:cNvSpPr/>
          <p:nvPr/>
        </p:nvSpPr>
        <p:spPr>
          <a:xfrm>
            <a:off x="548640" y="960120"/>
            <a:ext cx="11091672" cy="914400"/>
          </a:xfrm>
          <a:prstGeom prst="rect">
            <a:avLst/>
          </a:prstGeom>
          <a:noFill/>
          <a:ln/>
        </p:spPr>
        <p:txBody>
          <a:bodyPr wrap="square" rtlCol="0" anchor="t"/>
          <a:lstStyle/>
          <a:p>
            <a:pPr marL="0" indent="0" algn="l">
              <a:buNone/>
            </a:pPr>
            <a:r>
              <a:rPr lang="en-US" sz="3200" b="1" dirty="0">
                <a:solidFill>
                  <a:srgbClr val="1B2B2A"/>
                </a:solidFill>
                <a:latin typeface="Cambria" pitchFamily="34" charset="0"/>
                <a:ea typeface="Cambria" pitchFamily="34" charset="-122"/>
                <a:cs typeface="Cambria" pitchFamily="34" charset="-120"/>
              </a:rPr>
              <a:t>Computing Covariance — Step by Step</a:t>
            </a:r>
            <a:endParaRPr lang="en-US" sz="3200" dirty="0"/>
          </a:p>
        </p:txBody>
      </p:sp>
      <p:sp>
        <p:nvSpPr>
          <p:cNvPr id="5" name="Shape 3"/>
          <p:cNvSpPr/>
          <p:nvPr/>
        </p:nvSpPr>
        <p:spPr>
          <a:xfrm>
            <a:off x="548640" y="2205990"/>
            <a:ext cx="457200" cy="457200"/>
          </a:xfrm>
          <a:prstGeom prst="ellipse">
            <a:avLst/>
          </a:prstGeom>
          <a:solidFill>
            <a:srgbClr val="0E5C56"/>
          </a:solidFill>
          <a:ln/>
        </p:spPr>
      </p:sp>
      <p:sp>
        <p:nvSpPr>
          <p:cNvPr id="6" name="Text 4"/>
          <p:cNvSpPr/>
          <p:nvPr/>
        </p:nvSpPr>
        <p:spPr>
          <a:xfrm>
            <a:off x="548640" y="2205990"/>
            <a:ext cx="45720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234440" y="1920240"/>
            <a:ext cx="10360152" cy="1028700"/>
          </a:xfrm>
          <a:prstGeom prst="rect">
            <a:avLst/>
          </a:prstGeom>
          <a:noFill/>
          <a:ln/>
        </p:spPr>
        <p:txBody>
          <a:bodyPr wrap="square" rtlCol="0" anchor="ctr"/>
          <a:lstStyle/>
          <a:p>
            <a:pPr marL="0" indent="0">
              <a:buNone/>
            </a:pPr>
            <a:r>
              <a:rPr lang="en-US" sz="1900" dirty="0">
                <a:solidFill>
                  <a:srgbClr val="1B2B2A"/>
                </a:solidFill>
                <a:latin typeface="Calibri" pitchFamily="34" charset="0"/>
                <a:ea typeface="Calibri" pitchFamily="34" charset="-122"/>
                <a:cs typeface="Calibri" pitchFamily="34" charset="-120"/>
              </a:rPr>
              <a:t>Find each deviation (Xᵢ − X̄): −4, −2, 0, 2, 4.</a:t>
            </a:r>
            <a:endParaRPr lang="en-US" sz="1900" dirty="0"/>
          </a:p>
        </p:txBody>
      </p:sp>
      <p:sp>
        <p:nvSpPr>
          <p:cNvPr id="8" name="Shape 6"/>
          <p:cNvSpPr/>
          <p:nvPr/>
        </p:nvSpPr>
        <p:spPr>
          <a:xfrm>
            <a:off x="777240" y="2903220"/>
            <a:ext cx="0" cy="137160"/>
          </a:xfrm>
          <a:prstGeom prst="line">
            <a:avLst/>
          </a:prstGeom>
          <a:noFill/>
          <a:ln w="19050">
            <a:solidFill>
              <a:srgbClr val="D7E6E4"/>
            </a:solidFill>
            <a:prstDash val="solid"/>
          </a:ln>
        </p:spPr>
      </p:sp>
      <p:sp>
        <p:nvSpPr>
          <p:cNvPr id="9" name="Shape 7"/>
          <p:cNvSpPr/>
          <p:nvPr/>
        </p:nvSpPr>
        <p:spPr>
          <a:xfrm>
            <a:off x="548640" y="3234690"/>
            <a:ext cx="457200" cy="457200"/>
          </a:xfrm>
          <a:prstGeom prst="ellipse">
            <a:avLst/>
          </a:prstGeom>
          <a:solidFill>
            <a:srgbClr val="0E5C56"/>
          </a:solidFill>
          <a:ln/>
        </p:spPr>
      </p:sp>
      <p:sp>
        <p:nvSpPr>
          <p:cNvPr id="10" name="Text 8"/>
          <p:cNvSpPr/>
          <p:nvPr/>
        </p:nvSpPr>
        <p:spPr>
          <a:xfrm>
            <a:off x="548640" y="3234690"/>
            <a:ext cx="45720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234440" y="2948940"/>
            <a:ext cx="10360152" cy="1028700"/>
          </a:xfrm>
          <a:prstGeom prst="rect">
            <a:avLst/>
          </a:prstGeom>
          <a:noFill/>
          <a:ln/>
        </p:spPr>
        <p:txBody>
          <a:bodyPr wrap="square" rtlCol="0" anchor="ctr"/>
          <a:lstStyle/>
          <a:p>
            <a:pPr marL="0" indent="0">
              <a:buNone/>
            </a:pPr>
            <a:r>
              <a:rPr lang="en-US" sz="1900" dirty="0">
                <a:solidFill>
                  <a:srgbClr val="1B2B2A"/>
                </a:solidFill>
                <a:latin typeface="Calibri" pitchFamily="34" charset="0"/>
                <a:ea typeface="Calibri" pitchFamily="34" charset="-122"/>
                <a:cs typeface="Calibri" pitchFamily="34" charset="-120"/>
              </a:rPr>
              <a:t>Find each deviation (Yᵢ − Ȳ): −22, −12, −2, 13, 23.</a:t>
            </a:r>
            <a:endParaRPr lang="en-US" sz="1900" dirty="0"/>
          </a:p>
        </p:txBody>
      </p:sp>
      <p:sp>
        <p:nvSpPr>
          <p:cNvPr id="12" name="Shape 10"/>
          <p:cNvSpPr/>
          <p:nvPr/>
        </p:nvSpPr>
        <p:spPr>
          <a:xfrm>
            <a:off x="777240" y="3931920"/>
            <a:ext cx="0" cy="137160"/>
          </a:xfrm>
          <a:prstGeom prst="line">
            <a:avLst/>
          </a:prstGeom>
          <a:noFill/>
          <a:ln w="19050">
            <a:solidFill>
              <a:srgbClr val="D7E6E4"/>
            </a:solidFill>
            <a:prstDash val="solid"/>
          </a:ln>
        </p:spPr>
      </p:sp>
      <p:sp>
        <p:nvSpPr>
          <p:cNvPr id="13" name="Shape 11"/>
          <p:cNvSpPr/>
          <p:nvPr/>
        </p:nvSpPr>
        <p:spPr>
          <a:xfrm>
            <a:off x="548640" y="4263390"/>
            <a:ext cx="457200" cy="457200"/>
          </a:xfrm>
          <a:prstGeom prst="ellipse">
            <a:avLst/>
          </a:prstGeom>
          <a:solidFill>
            <a:srgbClr val="0E5C56"/>
          </a:solidFill>
          <a:ln/>
        </p:spPr>
      </p:sp>
      <p:sp>
        <p:nvSpPr>
          <p:cNvPr id="14" name="Text 12"/>
          <p:cNvSpPr/>
          <p:nvPr/>
        </p:nvSpPr>
        <p:spPr>
          <a:xfrm>
            <a:off x="548640" y="4263390"/>
            <a:ext cx="45720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1234440" y="3977640"/>
            <a:ext cx="10360152" cy="1028700"/>
          </a:xfrm>
          <a:prstGeom prst="rect">
            <a:avLst/>
          </a:prstGeom>
          <a:noFill/>
          <a:ln/>
        </p:spPr>
        <p:txBody>
          <a:bodyPr wrap="square" rtlCol="0" anchor="ctr"/>
          <a:lstStyle/>
          <a:p>
            <a:pPr marL="0" indent="0">
              <a:buNone/>
            </a:pPr>
            <a:r>
              <a:rPr lang="en-US" sz="1900" dirty="0">
                <a:solidFill>
                  <a:srgbClr val="1B2B2A"/>
                </a:solidFill>
                <a:latin typeface="Calibri" pitchFamily="34" charset="0"/>
                <a:ea typeface="Calibri" pitchFamily="34" charset="-122"/>
                <a:cs typeface="Calibri" pitchFamily="34" charset="-120"/>
              </a:rPr>
              <a:t>Multiply each pair: 88, 24, 0, 26, 92 → sum = 230.</a:t>
            </a:r>
            <a:endParaRPr lang="en-US" sz="1900" dirty="0"/>
          </a:p>
        </p:txBody>
      </p:sp>
      <p:sp>
        <p:nvSpPr>
          <p:cNvPr id="16" name="Shape 14"/>
          <p:cNvSpPr/>
          <p:nvPr/>
        </p:nvSpPr>
        <p:spPr>
          <a:xfrm>
            <a:off x="777240" y="4960620"/>
            <a:ext cx="0" cy="137160"/>
          </a:xfrm>
          <a:prstGeom prst="line">
            <a:avLst/>
          </a:prstGeom>
          <a:noFill/>
          <a:ln w="19050">
            <a:solidFill>
              <a:srgbClr val="D7E6E4"/>
            </a:solidFill>
            <a:prstDash val="solid"/>
          </a:ln>
        </p:spPr>
      </p:sp>
      <p:sp>
        <p:nvSpPr>
          <p:cNvPr id="17" name="Shape 15"/>
          <p:cNvSpPr/>
          <p:nvPr/>
        </p:nvSpPr>
        <p:spPr>
          <a:xfrm>
            <a:off x="548640" y="5292090"/>
            <a:ext cx="457200" cy="457200"/>
          </a:xfrm>
          <a:prstGeom prst="ellipse">
            <a:avLst/>
          </a:prstGeom>
          <a:solidFill>
            <a:srgbClr val="0E5C56"/>
          </a:solidFill>
          <a:ln/>
        </p:spPr>
      </p:sp>
      <p:sp>
        <p:nvSpPr>
          <p:cNvPr id="18" name="Text 16"/>
          <p:cNvSpPr/>
          <p:nvPr/>
        </p:nvSpPr>
        <p:spPr>
          <a:xfrm>
            <a:off x="548640" y="5292090"/>
            <a:ext cx="45720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p:nvPr/>
        </p:nvSpPr>
        <p:spPr>
          <a:xfrm>
            <a:off x="1234440" y="5006340"/>
            <a:ext cx="10360152" cy="1028700"/>
          </a:xfrm>
          <a:prstGeom prst="rect">
            <a:avLst/>
          </a:prstGeom>
          <a:noFill/>
          <a:ln/>
        </p:spPr>
        <p:txBody>
          <a:bodyPr wrap="square" rtlCol="0" anchor="ctr"/>
          <a:lstStyle/>
          <a:p>
            <a:pPr marL="0" indent="0">
              <a:buNone/>
            </a:pPr>
            <a:r>
              <a:rPr lang="en-US" sz="1900" dirty="0">
                <a:solidFill>
                  <a:srgbClr val="1B2B2A"/>
                </a:solidFill>
                <a:latin typeface="Calibri" pitchFamily="34" charset="0"/>
                <a:ea typeface="Calibri" pitchFamily="34" charset="-122"/>
                <a:cs typeface="Calibri" pitchFamily="34" charset="-120"/>
              </a:rPr>
              <a:t>Divide by (n − 1) = 4: Cov(X, Y) = 230 / 4 = 57.5.</a:t>
            </a:r>
            <a:endParaRPr lang="en-US" sz="1900" dirty="0"/>
          </a:p>
        </p:txBody>
      </p:sp>
      <p:sp>
        <p:nvSpPr>
          <p:cNvPr id="20" name="Text 18"/>
          <p:cNvSpPr/>
          <p:nvPr/>
        </p:nvSpPr>
        <p:spPr>
          <a:xfrm>
            <a:off x="548640" y="6080760"/>
            <a:ext cx="11091672" cy="320040"/>
          </a:xfrm>
          <a:prstGeom prst="rect">
            <a:avLst/>
          </a:prstGeom>
          <a:noFill/>
          <a:ln/>
        </p:spPr>
        <p:txBody>
          <a:bodyPr wrap="square" rtlCol="0" anchor="ctr"/>
          <a:lstStyle/>
          <a:p>
            <a:pPr marL="0" indent="0">
              <a:buNone/>
            </a:pPr>
            <a:r>
              <a:rPr lang="en-US" sz="1300" i="1" dirty="0">
                <a:solidFill>
                  <a:srgbClr val="5B7370"/>
                </a:solidFill>
                <a:latin typeface="Calibri" pitchFamily="34" charset="0"/>
                <a:ea typeface="Calibri" pitchFamily="34" charset="-122"/>
                <a:cs typeface="Calibri" pitchFamily="34" charset="-120"/>
              </a:rPr>
              <a:t>Positive covariance confirms: as study hours rise, marks tend to rise too.</a:t>
            </a:r>
            <a:endParaRPr lang="en-US" sz="1300" dirty="0"/>
          </a:p>
        </p:txBody>
      </p:sp>
      <p:sp>
        <p:nvSpPr>
          <p:cNvPr id="21" name="Text 19"/>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5B7370"/>
                </a:solidFill>
                <a:latin typeface="Calibri" pitchFamily="34" charset="0"/>
                <a:ea typeface="Calibri" pitchFamily="34" charset="-122"/>
                <a:cs typeface="Calibri" pitchFamily="34" charset="-120"/>
              </a:rPr>
              <a:t>Presidency University | Dept. of AI &amp; Robotics | DSC4000 | Statics for Data Science</a:t>
            </a:r>
            <a:endParaRPr lang="en-US" sz="1000" dirty="0"/>
          </a:p>
        </p:txBody>
      </p:sp>
      <p:sp>
        <p:nvSpPr>
          <p:cNvPr id="22" name="Text 20"/>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7370"/>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3291840" cy="384048"/>
          </a:xfrm>
          <a:prstGeom prst="roundRect">
            <a:avLst>
              <a:gd name="adj" fmla="val 19048"/>
            </a:avLst>
          </a:prstGeom>
          <a:solidFill>
            <a:srgbClr val="E8F4F2"/>
          </a:solidFill>
          <a:ln/>
        </p:spPr>
      </p:sp>
      <p:sp>
        <p:nvSpPr>
          <p:cNvPr id="3" name="Text 1"/>
          <p:cNvSpPr/>
          <p:nvPr/>
        </p:nvSpPr>
        <p:spPr>
          <a:xfrm>
            <a:off x="548640" y="457200"/>
            <a:ext cx="3291840" cy="384048"/>
          </a:xfrm>
          <a:prstGeom prst="rect">
            <a:avLst/>
          </a:prstGeom>
          <a:noFill/>
          <a:ln/>
        </p:spPr>
        <p:txBody>
          <a:bodyPr wrap="square" rtlCol="0" anchor="ctr"/>
          <a:lstStyle/>
          <a:p>
            <a:pPr marL="0" indent="0" algn="ctr">
              <a:buNone/>
            </a:pPr>
            <a:r>
              <a:rPr lang="en-US" sz="1300" b="1" kern="0" spc="100" dirty="0">
                <a:solidFill>
                  <a:srgbClr val="0E5C56"/>
                </a:solidFill>
                <a:latin typeface="Calibri" pitchFamily="34" charset="0"/>
                <a:ea typeface="Calibri" pitchFamily="34" charset="-122"/>
                <a:cs typeface="Calibri" pitchFamily="34" charset="-120"/>
              </a:rPr>
              <a:t>WORKED EXAMPLE 1</a:t>
            </a:r>
            <a:endParaRPr lang="en-US" sz="1300" dirty="0"/>
          </a:p>
        </p:txBody>
      </p:sp>
      <p:sp>
        <p:nvSpPr>
          <p:cNvPr id="4" name="Text 2"/>
          <p:cNvSpPr/>
          <p:nvPr/>
        </p:nvSpPr>
        <p:spPr>
          <a:xfrm>
            <a:off x="548640" y="960120"/>
            <a:ext cx="11091672" cy="914400"/>
          </a:xfrm>
          <a:prstGeom prst="rect">
            <a:avLst/>
          </a:prstGeom>
          <a:noFill/>
          <a:ln/>
        </p:spPr>
        <p:txBody>
          <a:bodyPr wrap="square" rtlCol="0" anchor="t"/>
          <a:lstStyle/>
          <a:p>
            <a:pPr marL="0" indent="0" algn="l">
              <a:buNone/>
            </a:pPr>
            <a:r>
              <a:rPr lang="en-US" sz="3200" b="1" dirty="0">
                <a:solidFill>
                  <a:srgbClr val="1B2B2A"/>
                </a:solidFill>
                <a:latin typeface="Cambria" pitchFamily="34" charset="0"/>
                <a:ea typeface="Cambria" pitchFamily="34" charset="-122"/>
                <a:cs typeface="Cambria" pitchFamily="34" charset="-120"/>
              </a:rPr>
              <a:t>Computing Correlation — Step by Step</a:t>
            </a:r>
            <a:endParaRPr lang="en-US" sz="3200" dirty="0"/>
          </a:p>
        </p:txBody>
      </p:sp>
      <p:sp>
        <p:nvSpPr>
          <p:cNvPr id="5" name="Shape 3"/>
          <p:cNvSpPr/>
          <p:nvPr/>
        </p:nvSpPr>
        <p:spPr>
          <a:xfrm>
            <a:off x="548640" y="2205990"/>
            <a:ext cx="457200" cy="457200"/>
          </a:xfrm>
          <a:prstGeom prst="ellipse">
            <a:avLst/>
          </a:prstGeom>
          <a:solidFill>
            <a:srgbClr val="0E5C56"/>
          </a:solidFill>
          <a:ln/>
        </p:spPr>
      </p:sp>
      <p:sp>
        <p:nvSpPr>
          <p:cNvPr id="6" name="Text 4"/>
          <p:cNvSpPr/>
          <p:nvPr/>
        </p:nvSpPr>
        <p:spPr>
          <a:xfrm>
            <a:off x="548640" y="2205990"/>
            <a:ext cx="45720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234440" y="1920240"/>
            <a:ext cx="10360152" cy="1028700"/>
          </a:xfrm>
          <a:prstGeom prst="rect">
            <a:avLst/>
          </a:prstGeom>
          <a:noFill/>
          <a:ln/>
        </p:spPr>
        <p:txBody>
          <a:bodyPr wrap="square" rtlCol="0" anchor="ctr"/>
          <a:lstStyle/>
          <a:p>
            <a:pPr marL="0" indent="0">
              <a:buNone/>
            </a:pPr>
            <a:r>
              <a:rPr lang="en-US" sz="1900" dirty="0">
                <a:solidFill>
                  <a:srgbClr val="1B2B2A"/>
                </a:solidFill>
                <a:latin typeface="Calibri" pitchFamily="34" charset="0"/>
                <a:ea typeface="Calibri" pitchFamily="34" charset="-122"/>
                <a:cs typeface="Calibri" pitchFamily="34" charset="-120"/>
              </a:rPr>
              <a:t>We already have Cov(X, Y) = 57.5 from the previous step.</a:t>
            </a:r>
            <a:endParaRPr lang="en-US" sz="1900" dirty="0"/>
          </a:p>
        </p:txBody>
      </p:sp>
      <p:sp>
        <p:nvSpPr>
          <p:cNvPr id="8" name="Shape 6"/>
          <p:cNvSpPr/>
          <p:nvPr/>
        </p:nvSpPr>
        <p:spPr>
          <a:xfrm>
            <a:off x="777240" y="2903220"/>
            <a:ext cx="0" cy="137160"/>
          </a:xfrm>
          <a:prstGeom prst="line">
            <a:avLst/>
          </a:prstGeom>
          <a:noFill/>
          <a:ln w="19050">
            <a:solidFill>
              <a:srgbClr val="D7E6E4"/>
            </a:solidFill>
            <a:prstDash val="solid"/>
          </a:ln>
        </p:spPr>
      </p:sp>
      <p:sp>
        <p:nvSpPr>
          <p:cNvPr id="9" name="Shape 7"/>
          <p:cNvSpPr/>
          <p:nvPr/>
        </p:nvSpPr>
        <p:spPr>
          <a:xfrm>
            <a:off x="548640" y="3234690"/>
            <a:ext cx="457200" cy="457200"/>
          </a:xfrm>
          <a:prstGeom prst="ellipse">
            <a:avLst/>
          </a:prstGeom>
          <a:solidFill>
            <a:srgbClr val="0E5C56"/>
          </a:solidFill>
          <a:ln/>
        </p:spPr>
      </p:sp>
      <p:sp>
        <p:nvSpPr>
          <p:cNvPr id="10" name="Text 8"/>
          <p:cNvSpPr/>
          <p:nvPr/>
        </p:nvSpPr>
        <p:spPr>
          <a:xfrm>
            <a:off x="548640" y="3234690"/>
            <a:ext cx="45720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234440" y="2948940"/>
            <a:ext cx="10360152" cy="1028700"/>
          </a:xfrm>
          <a:prstGeom prst="rect">
            <a:avLst/>
          </a:prstGeom>
          <a:noFill/>
          <a:ln/>
        </p:spPr>
        <p:txBody>
          <a:bodyPr wrap="square" rtlCol="0" anchor="ctr"/>
          <a:lstStyle/>
          <a:p>
            <a:pPr marL="0" indent="0">
              <a:buNone/>
            </a:pPr>
            <a:r>
              <a:rPr lang="en-US" sz="1900" dirty="0">
                <a:solidFill>
                  <a:srgbClr val="1B2B2A"/>
                </a:solidFill>
                <a:latin typeface="Calibri" pitchFamily="34" charset="0"/>
                <a:ea typeface="Calibri" pitchFamily="34" charset="-122"/>
                <a:cs typeface="Calibri" pitchFamily="34" charset="-120"/>
              </a:rPr>
              <a:t>Compute σx: deviations squared are 16, 4, 0, 4, 16 → sum = 40 → σx = √(40/4) = 3.16.</a:t>
            </a:r>
            <a:endParaRPr lang="en-US" sz="1900" dirty="0"/>
          </a:p>
        </p:txBody>
      </p:sp>
      <p:sp>
        <p:nvSpPr>
          <p:cNvPr id="12" name="Shape 10"/>
          <p:cNvSpPr/>
          <p:nvPr/>
        </p:nvSpPr>
        <p:spPr>
          <a:xfrm>
            <a:off x="777240" y="3931920"/>
            <a:ext cx="0" cy="137160"/>
          </a:xfrm>
          <a:prstGeom prst="line">
            <a:avLst/>
          </a:prstGeom>
          <a:noFill/>
          <a:ln w="19050">
            <a:solidFill>
              <a:srgbClr val="D7E6E4"/>
            </a:solidFill>
            <a:prstDash val="solid"/>
          </a:ln>
        </p:spPr>
      </p:sp>
      <p:sp>
        <p:nvSpPr>
          <p:cNvPr id="13" name="Shape 11"/>
          <p:cNvSpPr/>
          <p:nvPr/>
        </p:nvSpPr>
        <p:spPr>
          <a:xfrm>
            <a:off x="548640" y="4263390"/>
            <a:ext cx="457200" cy="457200"/>
          </a:xfrm>
          <a:prstGeom prst="ellipse">
            <a:avLst/>
          </a:prstGeom>
          <a:solidFill>
            <a:srgbClr val="0E5C56"/>
          </a:solidFill>
          <a:ln/>
        </p:spPr>
      </p:sp>
      <p:sp>
        <p:nvSpPr>
          <p:cNvPr id="14" name="Text 12"/>
          <p:cNvSpPr/>
          <p:nvPr/>
        </p:nvSpPr>
        <p:spPr>
          <a:xfrm>
            <a:off x="548640" y="4263390"/>
            <a:ext cx="45720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1234440" y="3977640"/>
            <a:ext cx="10360152" cy="1028700"/>
          </a:xfrm>
          <a:prstGeom prst="rect">
            <a:avLst/>
          </a:prstGeom>
          <a:noFill/>
          <a:ln/>
        </p:spPr>
        <p:txBody>
          <a:bodyPr wrap="square" rtlCol="0" anchor="ctr"/>
          <a:lstStyle/>
          <a:p>
            <a:pPr marL="0" indent="0">
              <a:buNone/>
            </a:pPr>
            <a:r>
              <a:rPr lang="en-US" sz="1900" dirty="0">
                <a:solidFill>
                  <a:srgbClr val="1B2B2A"/>
                </a:solidFill>
                <a:latin typeface="Calibri" pitchFamily="34" charset="0"/>
                <a:ea typeface="Calibri" pitchFamily="34" charset="-122"/>
                <a:cs typeface="Calibri" pitchFamily="34" charset="-120"/>
              </a:rPr>
              <a:t>Compute σy: deviations squared are 484, 144, 4, 169, 529 → sum = c → σy = √(1330/4) = 18.25.</a:t>
            </a:r>
            <a:endParaRPr lang="en-US" sz="1900" dirty="0"/>
          </a:p>
        </p:txBody>
      </p:sp>
      <p:sp>
        <p:nvSpPr>
          <p:cNvPr id="16" name="Shape 14"/>
          <p:cNvSpPr/>
          <p:nvPr/>
        </p:nvSpPr>
        <p:spPr>
          <a:xfrm>
            <a:off x="777240" y="4960620"/>
            <a:ext cx="0" cy="137160"/>
          </a:xfrm>
          <a:prstGeom prst="line">
            <a:avLst/>
          </a:prstGeom>
          <a:noFill/>
          <a:ln w="19050">
            <a:solidFill>
              <a:srgbClr val="D7E6E4"/>
            </a:solidFill>
            <a:prstDash val="solid"/>
          </a:ln>
        </p:spPr>
      </p:sp>
      <p:sp>
        <p:nvSpPr>
          <p:cNvPr id="17" name="Shape 15"/>
          <p:cNvSpPr/>
          <p:nvPr/>
        </p:nvSpPr>
        <p:spPr>
          <a:xfrm>
            <a:off x="548640" y="5292090"/>
            <a:ext cx="457200" cy="457200"/>
          </a:xfrm>
          <a:prstGeom prst="ellipse">
            <a:avLst/>
          </a:prstGeom>
          <a:solidFill>
            <a:srgbClr val="0E5C56"/>
          </a:solidFill>
          <a:ln/>
        </p:spPr>
      </p:sp>
      <p:sp>
        <p:nvSpPr>
          <p:cNvPr id="18" name="Text 16"/>
          <p:cNvSpPr/>
          <p:nvPr/>
        </p:nvSpPr>
        <p:spPr>
          <a:xfrm>
            <a:off x="548640" y="5292090"/>
            <a:ext cx="45720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p:nvPr/>
        </p:nvSpPr>
        <p:spPr>
          <a:xfrm>
            <a:off x="1234440" y="5006340"/>
            <a:ext cx="10360152" cy="1028700"/>
          </a:xfrm>
          <a:prstGeom prst="rect">
            <a:avLst/>
          </a:prstGeom>
          <a:noFill/>
          <a:ln/>
        </p:spPr>
        <p:txBody>
          <a:bodyPr wrap="square" rtlCol="0" anchor="ctr"/>
          <a:lstStyle/>
          <a:p>
            <a:pPr marL="0" indent="0">
              <a:buNone/>
            </a:pPr>
            <a:r>
              <a:rPr lang="en-US" sz="1900" dirty="0">
                <a:solidFill>
                  <a:srgbClr val="1B2B2A"/>
                </a:solidFill>
                <a:latin typeface="Calibri" pitchFamily="34" charset="0"/>
                <a:ea typeface="Calibri" pitchFamily="34" charset="-122"/>
                <a:cs typeface="Calibri" pitchFamily="34" charset="-120"/>
              </a:rPr>
              <a:t>r = Cov(X, Y) / (σx × σy) = 57.5 / (3.16 × 18.25) = 57.5 / 57.67 ≈ 0.997.</a:t>
            </a:r>
            <a:endParaRPr lang="en-US" sz="1900" dirty="0"/>
          </a:p>
        </p:txBody>
      </p:sp>
      <p:sp>
        <p:nvSpPr>
          <p:cNvPr id="20" name="Text 18"/>
          <p:cNvSpPr/>
          <p:nvPr/>
        </p:nvSpPr>
        <p:spPr>
          <a:xfrm>
            <a:off x="548640" y="6080760"/>
            <a:ext cx="11091672" cy="320040"/>
          </a:xfrm>
          <a:prstGeom prst="rect">
            <a:avLst/>
          </a:prstGeom>
          <a:noFill/>
          <a:ln/>
        </p:spPr>
        <p:txBody>
          <a:bodyPr wrap="square" rtlCol="0" anchor="ctr"/>
          <a:lstStyle/>
          <a:p>
            <a:pPr marL="0" indent="0">
              <a:buNone/>
            </a:pPr>
            <a:r>
              <a:rPr lang="en-US" sz="1300" i="1" dirty="0">
                <a:solidFill>
                  <a:srgbClr val="5B7370"/>
                </a:solidFill>
                <a:latin typeface="Calibri" pitchFamily="34" charset="0"/>
                <a:ea typeface="Calibri" pitchFamily="34" charset="-122"/>
                <a:cs typeface="Calibri" pitchFamily="34" charset="-120"/>
              </a:rPr>
              <a:t>r ≈ 0.997 — an extremely strong positive linear relationship.</a:t>
            </a:r>
            <a:endParaRPr lang="en-US" sz="1300" dirty="0"/>
          </a:p>
        </p:txBody>
      </p:sp>
      <p:sp>
        <p:nvSpPr>
          <p:cNvPr id="21" name="Text 19"/>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5B7370"/>
                </a:solidFill>
                <a:latin typeface="Calibri" pitchFamily="34" charset="0"/>
                <a:ea typeface="Calibri" pitchFamily="34" charset="-122"/>
                <a:cs typeface="Calibri" pitchFamily="34" charset="-120"/>
              </a:rPr>
              <a:t>Presidency University | Dept. of AI &amp; Robotics | DSC4000 | Statics for Data Science</a:t>
            </a:r>
            <a:endParaRPr lang="en-US" sz="1000" dirty="0"/>
          </a:p>
        </p:txBody>
      </p:sp>
      <p:sp>
        <p:nvSpPr>
          <p:cNvPr id="22" name="Text 20"/>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7370"/>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3291840" cy="384048"/>
          </a:xfrm>
          <a:prstGeom prst="roundRect">
            <a:avLst>
              <a:gd name="adj" fmla="val 19048"/>
            </a:avLst>
          </a:prstGeom>
          <a:solidFill>
            <a:srgbClr val="E8F4F2"/>
          </a:solidFill>
          <a:ln/>
        </p:spPr>
      </p:sp>
      <p:sp>
        <p:nvSpPr>
          <p:cNvPr id="3" name="Text 1"/>
          <p:cNvSpPr/>
          <p:nvPr/>
        </p:nvSpPr>
        <p:spPr>
          <a:xfrm>
            <a:off x="548640" y="457200"/>
            <a:ext cx="3291840" cy="384048"/>
          </a:xfrm>
          <a:prstGeom prst="rect">
            <a:avLst/>
          </a:prstGeom>
          <a:noFill/>
          <a:ln/>
        </p:spPr>
        <p:txBody>
          <a:bodyPr wrap="square" rtlCol="0" anchor="ctr"/>
          <a:lstStyle/>
          <a:p>
            <a:pPr marL="0" indent="0" algn="ctr">
              <a:buNone/>
            </a:pPr>
            <a:r>
              <a:rPr lang="en-US" sz="1300" b="1" kern="0" spc="100" dirty="0">
                <a:solidFill>
                  <a:srgbClr val="0E5C56"/>
                </a:solidFill>
                <a:latin typeface="Calibri" pitchFamily="34" charset="0"/>
                <a:ea typeface="Calibri" pitchFamily="34" charset="-122"/>
                <a:cs typeface="Calibri" pitchFamily="34" charset="-120"/>
              </a:rPr>
              <a:t>WORKED EXAMPLE 1</a:t>
            </a:r>
            <a:endParaRPr lang="en-US" sz="1300" dirty="0"/>
          </a:p>
        </p:txBody>
      </p:sp>
      <p:sp>
        <p:nvSpPr>
          <p:cNvPr id="4" name="Text 2"/>
          <p:cNvSpPr/>
          <p:nvPr/>
        </p:nvSpPr>
        <p:spPr>
          <a:xfrm>
            <a:off x="548640" y="960120"/>
            <a:ext cx="11091672" cy="914400"/>
          </a:xfrm>
          <a:prstGeom prst="rect">
            <a:avLst/>
          </a:prstGeom>
          <a:noFill/>
          <a:ln/>
        </p:spPr>
        <p:txBody>
          <a:bodyPr wrap="square" rtlCol="0" anchor="t"/>
          <a:lstStyle/>
          <a:p>
            <a:pPr marL="0" indent="0" algn="l">
              <a:buNone/>
            </a:pPr>
            <a:r>
              <a:rPr lang="en-US" sz="3200" b="1" dirty="0">
                <a:solidFill>
                  <a:srgbClr val="1B2B2A"/>
                </a:solidFill>
                <a:latin typeface="Cambria" pitchFamily="34" charset="0"/>
                <a:ea typeface="Cambria" pitchFamily="34" charset="-122"/>
                <a:cs typeface="Cambria" pitchFamily="34" charset="-120"/>
              </a:rPr>
              <a:t>Interpreting the Result</a:t>
            </a:r>
            <a:endParaRPr lang="en-US" sz="3200" dirty="0"/>
          </a:p>
        </p:txBody>
      </p:sp>
      <p:sp>
        <p:nvSpPr>
          <p:cNvPr id="5" name="Shape 3"/>
          <p:cNvSpPr/>
          <p:nvPr/>
        </p:nvSpPr>
        <p:spPr>
          <a:xfrm>
            <a:off x="548640" y="1993392"/>
            <a:ext cx="365760" cy="365760"/>
          </a:xfrm>
          <a:prstGeom prst="ellipse">
            <a:avLst/>
          </a:prstGeom>
          <a:solidFill>
            <a:srgbClr val="F2A93B"/>
          </a:solidFill>
          <a:ln/>
        </p:spPr>
      </p:sp>
      <p:sp>
        <p:nvSpPr>
          <p:cNvPr id="6" name="Text 4"/>
          <p:cNvSpPr/>
          <p:nvPr/>
        </p:nvSpPr>
        <p:spPr>
          <a:xfrm>
            <a:off x="548640" y="1993392"/>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7" name="Text 5"/>
          <p:cNvSpPr/>
          <p:nvPr/>
        </p:nvSpPr>
        <p:spPr>
          <a:xfrm>
            <a:off x="1143000" y="1965960"/>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r ≈ 0.997 tells us study hours and marks have an almost perfectly linear, positive relationship in this small dataset.</a:t>
            </a:r>
            <a:endParaRPr lang="en-US" sz="2000" dirty="0"/>
          </a:p>
        </p:txBody>
      </p:sp>
      <p:sp>
        <p:nvSpPr>
          <p:cNvPr id="8" name="Shape 6"/>
          <p:cNvSpPr/>
          <p:nvPr/>
        </p:nvSpPr>
        <p:spPr>
          <a:xfrm>
            <a:off x="548640" y="3246120"/>
            <a:ext cx="365760" cy="365760"/>
          </a:xfrm>
          <a:prstGeom prst="ellipse">
            <a:avLst/>
          </a:prstGeom>
          <a:solidFill>
            <a:srgbClr val="F2A93B"/>
          </a:solidFill>
          <a:ln/>
        </p:spPr>
      </p:sp>
      <p:sp>
        <p:nvSpPr>
          <p:cNvPr id="9" name="Text 7"/>
          <p:cNvSpPr/>
          <p:nvPr/>
        </p:nvSpPr>
        <p:spPr>
          <a:xfrm>
            <a:off x="548640" y="3246120"/>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0" name="Text 8"/>
          <p:cNvSpPr/>
          <p:nvPr/>
        </p:nvSpPr>
        <p:spPr>
          <a:xfrm>
            <a:off x="1143000" y="3218688"/>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This does NOT prove studying causes higher marks — it only shows they move together very consistently.</a:t>
            </a:r>
            <a:endParaRPr lang="en-US" sz="2000" dirty="0"/>
          </a:p>
        </p:txBody>
      </p:sp>
      <p:sp>
        <p:nvSpPr>
          <p:cNvPr id="11" name="Shape 9"/>
          <p:cNvSpPr/>
          <p:nvPr/>
        </p:nvSpPr>
        <p:spPr>
          <a:xfrm>
            <a:off x="548640" y="4498848"/>
            <a:ext cx="365760" cy="365760"/>
          </a:xfrm>
          <a:prstGeom prst="ellipse">
            <a:avLst/>
          </a:prstGeom>
          <a:solidFill>
            <a:srgbClr val="F2A93B"/>
          </a:solidFill>
          <a:ln/>
        </p:spPr>
      </p:sp>
      <p:sp>
        <p:nvSpPr>
          <p:cNvPr id="12" name="Text 10"/>
          <p:cNvSpPr/>
          <p:nvPr/>
        </p:nvSpPr>
        <p:spPr>
          <a:xfrm>
            <a:off x="548640" y="4498848"/>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3" name="Text 11"/>
          <p:cNvSpPr/>
          <p:nvPr/>
        </p:nvSpPr>
        <p:spPr>
          <a:xfrm>
            <a:off x="1143000" y="4471416"/>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With real, noisier classroom data, expect r to be lower than this clean textbook example.</a:t>
            </a:r>
            <a:endParaRPr lang="en-US" sz="2000" dirty="0"/>
          </a:p>
        </p:txBody>
      </p:sp>
      <p:sp>
        <p:nvSpPr>
          <p:cNvPr id="14" name="Shape 12"/>
          <p:cNvSpPr/>
          <p:nvPr/>
        </p:nvSpPr>
        <p:spPr>
          <a:xfrm>
            <a:off x="548640" y="5751576"/>
            <a:ext cx="365760" cy="365760"/>
          </a:xfrm>
          <a:prstGeom prst="ellipse">
            <a:avLst/>
          </a:prstGeom>
          <a:solidFill>
            <a:srgbClr val="F2A93B"/>
          </a:solidFill>
          <a:ln/>
        </p:spPr>
      </p:sp>
      <p:sp>
        <p:nvSpPr>
          <p:cNvPr id="15" name="Text 13"/>
          <p:cNvSpPr/>
          <p:nvPr/>
        </p:nvSpPr>
        <p:spPr>
          <a:xfrm>
            <a:off x="548640" y="5751576"/>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6" name="Text 14"/>
          <p:cNvSpPr/>
          <p:nvPr/>
        </p:nvSpPr>
        <p:spPr>
          <a:xfrm>
            <a:off x="1143000" y="5724144"/>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Always report both the number (r) and a plain-language sentence explaining what it means.</a:t>
            </a:r>
            <a:endParaRPr lang="en-US" sz="2000" dirty="0"/>
          </a:p>
        </p:txBody>
      </p:sp>
      <p:sp>
        <p:nvSpPr>
          <p:cNvPr id="17" name="Text 15"/>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5B7370"/>
                </a:solidFill>
                <a:latin typeface="Calibri" pitchFamily="34" charset="0"/>
                <a:ea typeface="Calibri" pitchFamily="34" charset="-122"/>
                <a:cs typeface="Calibri" pitchFamily="34" charset="-120"/>
              </a:rPr>
              <a:t>Presidency University | Dept. of AI &amp; Robotics | DSC4000 | Statics for Data Science</a:t>
            </a:r>
            <a:endParaRPr lang="en-US" sz="1000" dirty="0"/>
          </a:p>
        </p:txBody>
      </p:sp>
      <p:sp>
        <p:nvSpPr>
          <p:cNvPr id="18" name="Text 16"/>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7370"/>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3291840" cy="384048"/>
          </a:xfrm>
          <a:prstGeom prst="roundRect">
            <a:avLst>
              <a:gd name="adj" fmla="val 19048"/>
            </a:avLst>
          </a:prstGeom>
          <a:solidFill>
            <a:srgbClr val="E8F4F2"/>
          </a:solidFill>
          <a:ln/>
        </p:spPr>
      </p:sp>
      <p:sp>
        <p:nvSpPr>
          <p:cNvPr id="3" name="Text 1"/>
          <p:cNvSpPr/>
          <p:nvPr/>
        </p:nvSpPr>
        <p:spPr>
          <a:xfrm>
            <a:off x="548640" y="457200"/>
            <a:ext cx="3291840" cy="384048"/>
          </a:xfrm>
          <a:prstGeom prst="rect">
            <a:avLst/>
          </a:prstGeom>
          <a:noFill/>
          <a:ln/>
        </p:spPr>
        <p:txBody>
          <a:bodyPr wrap="square" rtlCol="0" anchor="ctr"/>
          <a:lstStyle/>
          <a:p>
            <a:pPr marL="0" indent="0" algn="ctr">
              <a:buNone/>
            </a:pPr>
            <a:r>
              <a:rPr lang="en-US" sz="1300" b="1" kern="0" spc="100" dirty="0">
                <a:solidFill>
                  <a:srgbClr val="0E5C56"/>
                </a:solidFill>
                <a:latin typeface="Calibri" pitchFamily="34" charset="0"/>
                <a:ea typeface="Calibri" pitchFamily="34" charset="-122"/>
                <a:cs typeface="Calibri" pitchFamily="34" charset="-120"/>
              </a:rPr>
              <a:t>WORKED EXAMPLE 2</a:t>
            </a:r>
            <a:endParaRPr lang="en-US" sz="1300" dirty="0"/>
          </a:p>
        </p:txBody>
      </p:sp>
      <p:sp>
        <p:nvSpPr>
          <p:cNvPr id="4" name="Text 2"/>
          <p:cNvSpPr/>
          <p:nvPr/>
        </p:nvSpPr>
        <p:spPr>
          <a:xfrm>
            <a:off x="548640" y="960120"/>
            <a:ext cx="11091672" cy="914400"/>
          </a:xfrm>
          <a:prstGeom prst="rect">
            <a:avLst/>
          </a:prstGeom>
          <a:noFill/>
          <a:ln/>
        </p:spPr>
        <p:txBody>
          <a:bodyPr wrap="square" rtlCol="0" anchor="t"/>
          <a:lstStyle/>
          <a:p>
            <a:pPr marL="0" indent="0" algn="l">
              <a:buNone/>
            </a:pPr>
            <a:r>
              <a:rPr lang="en-US" sz="3200" b="1" dirty="0">
                <a:solidFill>
                  <a:srgbClr val="1B2B2A"/>
                </a:solidFill>
                <a:latin typeface="Cambria" pitchFamily="34" charset="0"/>
                <a:ea typeface="Cambria" pitchFamily="34" charset="-122"/>
                <a:cs typeface="Cambria" pitchFamily="34" charset="-120"/>
              </a:rPr>
              <a:t>A Second Dataset: Temperature vs. Ice-Cream Sales</a:t>
            </a:r>
            <a:endParaRPr lang="en-US" sz="3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91672" cy="3401568"/>
        </p:xfrm>
        <a:graphic>
          <a:graphicData uri="http://schemas.openxmlformats.org/drawingml/2006/table">
            <a:tbl>
              <a:tblPr/>
              <a:tblGrid>
                <a:gridCol w="3697224">
                  <a:extLst>
                    <a:ext uri="{9D8B030D-6E8A-4147-A177-3AD203B41FA5}">
                      <a16:colId xmlns:a16="http://schemas.microsoft.com/office/drawing/2014/main" val="20000"/>
                    </a:ext>
                  </a:extLst>
                </a:gridCol>
                <a:gridCol w="3697224">
                  <a:extLst>
                    <a:ext uri="{9D8B030D-6E8A-4147-A177-3AD203B41FA5}">
                      <a16:colId xmlns:a16="http://schemas.microsoft.com/office/drawing/2014/main" val="20001"/>
                    </a:ext>
                  </a:extLst>
                </a:gridCol>
                <a:gridCol w="3697224">
                  <a:extLst>
                    <a:ext uri="{9D8B030D-6E8A-4147-A177-3AD203B41FA5}">
                      <a16:colId xmlns:a16="http://schemas.microsoft.com/office/drawing/2014/main" val="20002"/>
                    </a:ext>
                  </a:extLst>
                </a:gridCol>
              </a:tblGrid>
              <a:tr h="566928">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Day</a:t>
                      </a:r>
                      <a:endParaRPr lang="en-US" sz="1800" dirty="0">
                        <a:latin typeface="Calibri" charset="0"/>
                        <a:ea typeface="Calibri" charset="0"/>
                        <a:cs typeface="Calibri" charset="0"/>
                      </a:endParaRPr>
                    </a:p>
                  </a:txBody>
                  <a:tcPr anchor="ctr">
                    <a:lnL w="12700" cap="flat" cmpd="sng" algn="ctr">
                      <a:solidFill>
                        <a:srgbClr val="D7E6E4"/>
                      </a:solidFill>
                      <a:prstDash val="solid"/>
                      <a:round/>
                      <a:headEnd type="none" w="med" len="med"/>
                      <a:tailEnd type="none" w="med" len="med"/>
                    </a:lnL>
                    <a:lnR w="12700" cap="flat" cmpd="sng" algn="ctr">
                      <a:solidFill>
                        <a:srgbClr val="D7E6E4"/>
                      </a:solidFill>
                      <a:prstDash val="solid"/>
                      <a:round/>
                      <a:headEnd type="none" w="med" len="med"/>
                      <a:tailEnd type="none" w="med" len="med"/>
                    </a:lnR>
                    <a:lnT w="12700" cap="flat" cmpd="sng" algn="ctr">
                      <a:solidFill>
                        <a:srgbClr val="D7E6E4"/>
                      </a:solidFill>
                      <a:prstDash val="solid"/>
                      <a:round/>
                      <a:headEnd type="none" w="med" len="med"/>
                      <a:tailEnd type="none" w="med" len="med"/>
                    </a:lnT>
                    <a:lnB w="12700" cap="flat" cmpd="sng" algn="ctr">
                      <a:solidFill>
                        <a:srgbClr val="D7E6E4"/>
                      </a:solidFill>
                      <a:prstDash val="solid"/>
                      <a:round/>
                      <a:headEnd type="none" w="med" len="med"/>
                      <a:tailEnd type="none" w="med" len="med"/>
                    </a:lnB>
                    <a:solidFill>
                      <a:srgbClr val="0E5C56"/>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Temp (°C), X</a:t>
                      </a:r>
                      <a:endParaRPr lang="en-US" sz="1800" dirty="0">
                        <a:latin typeface="Calibri" charset="0"/>
                        <a:ea typeface="Calibri" charset="0"/>
                        <a:cs typeface="Calibri" charset="0"/>
                      </a:endParaRPr>
                    </a:p>
                  </a:txBody>
                  <a:tcPr anchor="ctr">
                    <a:lnL w="12700" cap="flat" cmpd="sng" algn="ctr">
                      <a:solidFill>
                        <a:srgbClr val="D7E6E4"/>
                      </a:solidFill>
                      <a:prstDash val="solid"/>
                      <a:round/>
                      <a:headEnd type="none" w="med" len="med"/>
                      <a:tailEnd type="none" w="med" len="med"/>
                    </a:lnL>
                    <a:lnR w="12700" cap="flat" cmpd="sng" algn="ctr">
                      <a:solidFill>
                        <a:srgbClr val="D7E6E4"/>
                      </a:solidFill>
                      <a:prstDash val="solid"/>
                      <a:round/>
                      <a:headEnd type="none" w="med" len="med"/>
                      <a:tailEnd type="none" w="med" len="med"/>
                    </a:lnR>
                    <a:lnT w="12700" cap="flat" cmpd="sng" algn="ctr">
                      <a:solidFill>
                        <a:srgbClr val="D7E6E4"/>
                      </a:solidFill>
                      <a:prstDash val="solid"/>
                      <a:round/>
                      <a:headEnd type="none" w="med" len="med"/>
                      <a:tailEnd type="none" w="med" len="med"/>
                    </a:lnT>
                    <a:lnB w="12700" cap="flat" cmpd="sng" algn="ctr">
                      <a:solidFill>
                        <a:srgbClr val="D7E6E4"/>
                      </a:solidFill>
                      <a:prstDash val="solid"/>
                      <a:round/>
                      <a:headEnd type="none" w="med" len="med"/>
                      <a:tailEnd type="none" w="med" len="med"/>
                    </a:lnB>
                    <a:solidFill>
                      <a:srgbClr val="0E5C56"/>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Sales (units), Y</a:t>
                      </a:r>
                      <a:endParaRPr lang="en-US" sz="1800" dirty="0">
                        <a:latin typeface="Calibri" charset="0"/>
                        <a:ea typeface="Calibri" charset="0"/>
                        <a:cs typeface="Calibri" charset="0"/>
                      </a:endParaRPr>
                    </a:p>
                  </a:txBody>
                  <a:tcPr anchor="ctr">
                    <a:lnL w="12700" cap="flat" cmpd="sng" algn="ctr">
                      <a:solidFill>
                        <a:srgbClr val="D7E6E4"/>
                      </a:solidFill>
                      <a:prstDash val="solid"/>
                      <a:round/>
                      <a:headEnd type="none" w="med" len="med"/>
                      <a:tailEnd type="none" w="med" len="med"/>
                    </a:lnL>
                    <a:lnR w="12700" cap="flat" cmpd="sng" algn="ctr">
                      <a:solidFill>
                        <a:srgbClr val="D7E6E4"/>
                      </a:solidFill>
                      <a:prstDash val="solid"/>
                      <a:round/>
                      <a:headEnd type="none" w="med" len="med"/>
                      <a:tailEnd type="none" w="med" len="med"/>
                    </a:lnR>
                    <a:lnT w="12700" cap="flat" cmpd="sng" algn="ctr">
                      <a:solidFill>
                        <a:srgbClr val="D7E6E4"/>
                      </a:solidFill>
                      <a:prstDash val="solid"/>
                      <a:round/>
                      <a:headEnd type="none" w="med" len="med"/>
                      <a:tailEnd type="none" w="med" len="med"/>
                    </a:lnT>
                    <a:lnB w="12700" cap="flat" cmpd="sng" algn="ctr">
                      <a:solidFill>
                        <a:srgbClr val="D7E6E4"/>
                      </a:solidFill>
                      <a:prstDash val="solid"/>
                      <a:round/>
                      <a:headEnd type="none" w="med" len="med"/>
                      <a:tailEnd type="none" w="med" len="med"/>
                    </a:lnB>
                    <a:solidFill>
                      <a:srgbClr val="0E5C56"/>
                    </a:solidFill>
                  </a:tcPr>
                </a:tc>
                <a:extLst>
                  <a:ext uri="{0D108BD9-81ED-4DB2-BD59-A6C34878D82A}">
                    <a16:rowId xmlns:a16="http://schemas.microsoft.com/office/drawing/2014/main" val="10000"/>
                  </a:ext>
                </a:extLst>
              </a:tr>
              <a:tr h="566928">
                <a:tc>
                  <a:txBody>
                    <a:bodyPr/>
                    <a:lstStyle/>
                    <a:p>
                      <a:pPr marL="0" indent="0" algn="ctr">
                        <a:buNone/>
                      </a:pPr>
                      <a:r>
                        <a:rPr lang="en-US" sz="1700" dirty="0">
                          <a:solidFill>
                            <a:srgbClr val="1B2B2A"/>
                          </a:solidFill>
                          <a:latin typeface="Calibri" pitchFamily="34" charset="0"/>
                          <a:ea typeface="Calibri" pitchFamily="34" charset="-122"/>
                          <a:cs typeface="Calibri" pitchFamily="34" charset="-120"/>
                        </a:rPr>
                        <a:t>1</a:t>
                      </a:r>
                      <a:endParaRPr lang="en-US" sz="1700" dirty="0">
                        <a:latin typeface="Calibri" charset="0"/>
                        <a:ea typeface="Calibri" charset="0"/>
                        <a:cs typeface="Calibri" charset="0"/>
                      </a:endParaRPr>
                    </a:p>
                  </a:txBody>
                  <a:tcPr anchor="ctr">
                    <a:lnL w="12700" cap="flat" cmpd="sng" algn="ctr">
                      <a:solidFill>
                        <a:srgbClr val="D7E6E4"/>
                      </a:solidFill>
                      <a:prstDash val="solid"/>
                      <a:round/>
                      <a:headEnd type="none" w="med" len="med"/>
                      <a:tailEnd type="none" w="med" len="med"/>
                    </a:lnL>
                    <a:lnR w="12700" cap="flat" cmpd="sng" algn="ctr">
                      <a:solidFill>
                        <a:srgbClr val="D7E6E4"/>
                      </a:solidFill>
                      <a:prstDash val="solid"/>
                      <a:round/>
                      <a:headEnd type="none" w="med" len="med"/>
                      <a:tailEnd type="none" w="med" len="med"/>
                    </a:lnR>
                    <a:lnT w="12700" cap="flat" cmpd="sng" algn="ctr">
                      <a:solidFill>
                        <a:srgbClr val="D7E6E4"/>
                      </a:solidFill>
                      <a:prstDash val="solid"/>
                      <a:round/>
                      <a:headEnd type="none" w="med" len="med"/>
                      <a:tailEnd type="none" w="med" len="med"/>
                    </a:lnT>
                    <a:lnB w="12700" cap="flat" cmpd="sng" algn="ctr">
                      <a:solidFill>
                        <a:srgbClr val="D7E6E4"/>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B2A"/>
                          </a:solidFill>
                          <a:latin typeface="Calibri" pitchFamily="34" charset="0"/>
                          <a:ea typeface="Calibri" pitchFamily="34" charset="-122"/>
                          <a:cs typeface="Calibri" pitchFamily="34" charset="-120"/>
                        </a:rPr>
                        <a:t>20</a:t>
                      </a:r>
                      <a:endParaRPr lang="en-US" sz="1700" dirty="0">
                        <a:latin typeface="Calibri" charset="0"/>
                        <a:ea typeface="Calibri" charset="0"/>
                        <a:cs typeface="Calibri" charset="0"/>
                      </a:endParaRPr>
                    </a:p>
                  </a:txBody>
                  <a:tcPr anchor="ctr">
                    <a:lnL w="12700" cap="flat" cmpd="sng" algn="ctr">
                      <a:solidFill>
                        <a:srgbClr val="D7E6E4"/>
                      </a:solidFill>
                      <a:prstDash val="solid"/>
                      <a:round/>
                      <a:headEnd type="none" w="med" len="med"/>
                      <a:tailEnd type="none" w="med" len="med"/>
                    </a:lnL>
                    <a:lnR w="12700" cap="flat" cmpd="sng" algn="ctr">
                      <a:solidFill>
                        <a:srgbClr val="D7E6E4"/>
                      </a:solidFill>
                      <a:prstDash val="solid"/>
                      <a:round/>
                      <a:headEnd type="none" w="med" len="med"/>
                      <a:tailEnd type="none" w="med" len="med"/>
                    </a:lnR>
                    <a:lnT w="12700" cap="flat" cmpd="sng" algn="ctr">
                      <a:solidFill>
                        <a:srgbClr val="D7E6E4"/>
                      </a:solidFill>
                      <a:prstDash val="solid"/>
                      <a:round/>
                      <a:headEnd type="none" w="med" len="med"/>
                      <a:tailEnd type="none" w="med" len="med"/>
                    </a:lnT>
                    <a:lnB w="12700" cap="flat" cmpd="sng" algn="ctr">
                      <a:solidFill>
                        <a:srgbClr val="D7E6E4"/>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B2A"/>
                          </a:solidFill>
                          <a:latin typeface="Calibri" pitchFamily="34" charset="0"/>
                          <a:ea typeface="Calibri" pitchFamily="34" charset="-122"/>
                          <a:cs typeface="Calibri" pitchFamily="34" charset="-120"/>
                        </a:rPr>
                        <a:t>30</a:t>
                      </a:r>
                      <a:endParaRPr lang="en-US" sz="1700" dirty="0">
                        <a:latin typeface="Calibri" charset="0"/>
                        <a:ea typeface="Calibri" charset="0"/>
                        <a:cs typeface="Calibri" charset="0"/>
                      </a:endParaRPr>
                    </a:p>
                  </a:txBody>
                  <a:tcPr anchor="ctr">
                    <a:lnL w="12700" cap="flat" cmpd="sng" algn="ctr">
                      <a:solidFill>
                        <a:srgbClr val="D7E6E4"/>
                      </a:solidFill>
                      <a:prstDash val="solid"/>
                      <a:round/>
                      <a:headEnd type="none" w="med" len="med"/>
                      <a:tailEnd type="none" w="med" len="med"/>
                    </a:lnL>
                    <a:lnR w="12700" cap="flat" cmpd="sng" algn="ctr">
                      <a:solidFill>
                        <a:srgbClr val="D7E6E4"/>
                      </a:solidFill>
                      <a:prstDash val="solid"/>
                      <a:round/>
                      <a:headEnd type="none" w="med" len="med"/>
                      <a:tailEnd type="none" w="med" len="med"/>
                    </a:lnR>
                    <a:lnT w="12700" cap="flat" cmpd="sng" algn="ctr">
                      <a:solidFill>
                        <a:srgbClr val="D7E6E4"/>
                      </a:solidFill>
                      <a:prstDash val="solid"/>
                      <a:round/>
                      <a:headEnd type="none" w="med" len="med"/>
                      <a:tailEnd type="none" w="med" len="med"/>
                    </a:lnT>
                    <a:lnB w="12700" cap="flat" cmpd="sng" algn="ctr">
                      <a:solidFill>
                        <a:srgbClr val="D7E6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ctr">
                        <a:buNone/>
                      </a:pPr>
                      <a:r>
                        <a:rPr lang="en-US" sz="1700" dirty="0">
                          <a:solidFill>
                            <a:srgbClr val="1B2B2A"/>
                          </a:solidFill>
                          <a:latin typeface="Calibri" pitchFamily="34" charset="0"/>
                          <a:ea typeface="Calibri" pitchFamily="34" charset="-122"/>
                          <a:cs typeface="Calibri" pitchFamily="34" charset="-120"/>
                        </a:rPr>
                        <a:t>2</a:t>
                      </a:r>
                      <a:endParaRPr lang="en-US" sz="1700" dirty="0">
                        <a:latin typeface="Calibri" charset="0"/>
                        <a:ea typeface="Calibri" charset="0"/>
                        <a:cs typeface="Calibri" charset="0"/>
                      </a:endParaRPr>
                    </a:p>
                  </a:txBody>
                  <a:tcPr anchor="ctr">
                    <a:lnL w="12700" cap="flat" cmpd="sng" algn="ctr">
                      <a:solidFill>
                        <a:srgbClr val="D7E6E4"/>
                      </a:solidFill>
                      <a:prstDash val="solid"/>
                      <a:round/>
                      <a:headEnd type="none" w="med" len="med"/>
                      <a:tailEnd type="none" w="med" len="med"/>
                    </a:lnL>
                    <a:lnR w="12700" cap="flat" cmpd="sng" algn="ctr">
                      <a:solidFill>
                        <a:srgbClr val="D7E6E4"/>
                      </a:solidFill>
                      <a:prstDash val="solid"/>
                      <a:round/>
                      <a:headEnd type="none" w="med" len="med"/>
                      <a:tailEnd type="none" w="med" len="med"/>
                    </a:lnR>
                    <a:lnT w="12700" cap="flat" cmpd="sng" algn="ctr">
                      <a:solidFill>
                        <a:srgbClr val="D7E6E4"/>
                      </a:solidFill>
                      <a:prstDash val="solid"/>
                      <a:round/>
                      <a:headEnd type="none" w="med" len="med"/>
                      <a:tailEnd type="none" w="med" len="med"/>
                    </a:lnT>
                    <a:lnB w="12700" cap="flat" cmpd="sng" algn="ctr">
                      <a:solidFill>
                        <a:srgbClr val="D7E6E4"/>
                      </a:solidFill>
                      <a:prstDash val="solid"/>
                      <a:round/>
                      <a:headEnd type="none" w="med" len="med"/>
                      <a:tailEnd type="none" w="med" len="med"/>
                    </a:lnB>
                    <a:solidFill>
                      <a:srgbClr val="E8F4F2"/>
                    </a:solidFill>
                  </a:tcPr>
                </a:tc>
                <a:tc>
                  <a:txBody>
                    <a:bodyPr/>
                    <a:lstStyle/>
                    <a:p>
                      <a:pPr marL="0" indent="0" algn="ctr">
                        <a:buNone/>
                      </a:pPr>
                      <a:r>
                        <a:rPr lang="en-US" sz="1700" dirty="0">
                          <a:solidFill>
                            <a:srgbClr val="1B2B2A"/>
                          </a:solidFill>
                          <a:latin typeface="Calibri" pitchFamily="34" charset="0"/>
                          <a:ea typeface="Calibri" pitchFamily="34" charset="-122"/>
                          <a:cs typeface="Calibri" pitchFamily="34" charset="-120"/>
                        </a:rPr>
                        <a:t>25</a:t>
                      </a:r>
                      <a:endParaRPr lang="en-US" sz="1700" dirty="0">
                        <a:latin typeface="Calibri" charset="0"/>
                        <a:ea typeface="Calibri" charset="0"/>
                        <a:cs typeface="Calibri" charset="0"/>
                      </a:endParaRPr>
                    </a:p>
                  </a:txBody>
                  <a:tcPr anchor="ctr">
                    <a:lnL w="12700" cap="flat" cmpd="sng" algn="ctr">
                      <a:solidFill>
                        <a:srgbClr val="D7E6E4"/>
                      </a:solidFill>
                      <a:prstDash val="solid"/>
                      <a:round/>
                      <a:headEnd type="none" w="med" len="med"/>
                      <a:tailEnd type="none" w="med" len="med"/>
                    </a:lnL>
                    <a:lnR w="12700" cap="flat" cmpd="sng" algn="ctr">
                      <a:solidFill>
                        <a:srgbClr val="D7E6E4"/>
                      </a:solidFill>
                      <a:prstDash val="solid"/>
                      <a:round/>
                      <a:headEnd type="none" w="med" len="med"/>
                      <a:tailEnd type="none" w="med" len="med"/>
                    </a:lnR>
                    <a:lnT w="12700" cap="flat" cmpd="sng" algn="ctr">
                      <a:solidFill>
                        <a:srgbClr val="D7E6E4"/>
                      </a:solidFill>
                      <a:prstDash val="solid"/>
                      <a:round/>
                      <a:headEnd type="none" w="med" len="med"/>
                      <a:tailEnd type="none" w="med" len="med"/>
                    </a:lnT>
                    <a:lnB w="12700" cap="flat" cmpd="sng" algn="ctr">
                      <a:solidFill>
                        <a:srgbClr val="D7E6E4"/>
                      </a:solidFill>
                      <a:prstDash val="solid"/>
                      <a:round/>
                      <a:headEnd type="none" w="med" len="med"/>
                      <a:tailEnd type="none" w="med" len="med"/>
                    </a:lnB>
                    <a:solidFill>
                      <a:srgbClr val="E8F4F2"/>
                    </a:solidFill>
                  </a:tcPr>
                </a:tc>
                <a:tc>
                  <a:txBody>
                    <a:bodyPr/>
                    <a:lstStyle/>
                    <a:p>
                      <a:pPr marL="0" indent="0" algn="ctr">
                        <a:buNone/>
                      </a:pPr>
                      <a:r>
                        <a:rPr lang="en-US" sz="1700" dirty="0">
                          <a:solidFill>
                            <a:srgbClr val="1B2B2A"/>
                          </a:solidFill>
                          <a:latin typeface="Calibri" pitchFamily="34" charset="0"/>
                          <a:ea typeface="Calibri" pitchFamily="34" charset="-122"/>
                          <a:cs typeface="Calibri" pitchFamily="34" charset="-120"/>
                        </a:rPr>
                        <a:t>45</a:t>
                      </a:r>
                      <a:endParaRPr lang="en-US" sz="1700" dirty="0">
                        <a:latin typeface="Calibri" charset="0"/>
                        <a:ea typeface="Calibri" charset="0"/>
                        <a:cs typeface="Calibri" charset="0"/>
                      </a:endParaRPr>
                    </a:p>
                  </a:txBody>
                  <a:tcPr anchor="ctr">
                    <a:lnL w="12700" cap="flat" cmpd="sng" algn="ctr">
                      <a:solidFill>
                        <a:srgbClr val="D7E6E4"/>
                      </a:solidFill>
                      <a:prstDash val="solid"/>
                      <a:round/>
                      <a:headEnd type="none" w="med" len="med"/>
                      <a:tailEnd type="none" w="med" len="med"/>
                    </a:lnL>
                    <a:lnR w="12700" cap="flat" cmpd="sng" algn="ctr">
                      <a:solidFill>
                        <a:srgbClr val="D7E6E4"/>
                      </a:solidFill>
                      <a:prstDash val="solid"/>
                      <a:round/>
                      <a:headEnd type="none" w="med" len="med"/>
                      <a:tailEnd type="none" w="med" len="med"/>
                    </a:lnR>
                    <a:lnT w="12700" cap="flat" cmpd="sng" algn="ctr">
                      <a:solidFill>
                        <a:srgbClr val="D7E6E4"/>
                      </a:solidFill>
                      <a:prstDash val="solid"/>
                      <a:round/>
                      <a:headEnd type="none" w="med" len="med"/>
                      <a:tailEnd type="none" w="med" len="med"/>
                    </a:lnT>
                    <a:lnB w="12700" cap="flat" cmpd="sng" algn="ctr">
                      <a:solidFill>
                        <a:srgbClr val="D7E6E4"/>
                      </a:solidFill>
                      <a:prstDash val="solid"/>
                      <a:round/>
                      <a:headEnd type="none" w="med" len="med"/>
                      <a:tailEnd type="none" w="med" len="med"/>
                    </a:lnB>
                    <a:solidFill>
                      <a:srgbClr val="E8F4F2"/>
                    </a:solidFill>
                  </a:tcPr>
                </a:tc>
                <a:extLst>
                  <a:ext uri="{0D108BD9-81ED-4DB2-BD59-A6C34878D82A}">
                    <a16:rowId xmlns:a16="http://schemas.microsoft.com/office/drawing/2014/main" val="10002"/>
                  </a:ext>
                </a:extLst>
              </a:tr>
              <a:tr h="566928">
                <a:tc>
                  <a:txBody>
                    <a:bodyPr/>
                    <a:lstStyle/>
                    <a:p>
                      <a:pPr marL="0" indent="0" algn="ctr">
                        <a:buNone/>
                      </a:pPr>
                      <a:r>
                        <a:rPr lang="en-US" sz="1700" dirty="0">
                          <a:solidFill>
                            <a:srgbClr val="1B2B2A"/>
                          </a:solidFill>
                          <a:latin typeface="Calibri" pitchFamily="34" charset="0"/>
                          <a:ea typeface="Calibri" pitchFamily="34" charset="-122"/>
                          <a:cs typeface="Calibri" pitchFamily="34" charset="-120"/>
                        </a:rPr>
                        <a:t>3</a:t>
                      </a:r>
                      <a:endParaRPr lang="en-US" sz="1700" dirty="0">
                        <a:latin typeface="Calibri" charset="0"/>
                        <a:ea typeface="Calibri" charset="0"/>
                        <a:cs typeface="Calibri" charset="0"/>
                      </a:endParaRPr>
                    </a:p>
                  </a:txBody>
                  <a:tcPr anchor="ctr">
                    <a:lnL w="12700" cap="flat" cmpd="sng" algn="ctr">
                      <a:solidFill>
                        <a:srgbClr val="D7E6E4"/>
                      </a:solidFill>
                      <a:prstDash val="solid"/>
                      <a:round/>
                      <a:headEnd type="none" w="med" len="med"/>
                      <a:tailEnd type="none" w="med" len="med"/>
                    </a:lnL>
                    <a:lnR w="12700" cap="flat" cmpd="sng" algn="ctr">
                      <a:solidFill>
                        <a:srgbClr val="D7E6E4"/>
                      </a:solidFill>
                      <a:prstDash val="solid"/>
                      <a:round/>
                      <a:headEnd type="none" w="med" len="med"/>
                      <a:tailEnd type="none" w="med" len="med"/>
                    </a:lnR>
                    <a:lnT w="12700" cap="flat" cmpd="sng" algn="ctr">
                      <a:solidFill>
                        <a:srgbClr val="D7E6E4"/>
                      </a:solidFill>
                      <a:prstDash val="solid"/>
                      <a:round/>
                      <a:headEnd type="none" w="med" len="med"/>
                      <a:tailEnd type="none" w="med" len="med"/>
                    </a:lnT>
                    <a:lnB w="12700" cap="flat" cmpd="sng" algn="ctr">
                      <a:solidFill>
                        <a:srgbClr val="D7E6E4"/>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B2A"/>
                          </a:solidFill>
                          <a:latin typeface="Calibri" pitchFamily="34" charset="0"/>
                          <a:ea typeface="Calibri" pitchFamily="34" charset="-122"/>
                          <a:cs typeface="Calibri" pitchFamily="34" charset="-120"/>
                        </a:rPr>
                        <a:t>30</a:t>
                      </a:r>
                      <a:endParaRPr lang="en-US" sz="1700" dirty="0">
                        <a:latin typeface="Calibri" charset="0"/>
                        <a:ea typeface="Calibri" charset="0"/>
                        <a:cs typeface="Calibri" charset="0"/>
                      </a:endParaRPr>
                    </a:p>
                  </a:txBody>
                  <a:tcPr anchor="ctr">
                    <a:lnL w="12700" cap="flat" cmpd="sng" algn="ctr">
                      <a:solidFill>
                        <a:srgbClr val="D7E6E4"/>
                      </a:solidFill>
                      <a:prstDash val="solid"/>
                      <a:round/>
                      <a:headEnd type="none" w="med" len="med"/>
                      <a:tailEnd type="none" w="med" len="med"/>
                    </a:lnL>
                    <a:lnR w="12700" cap="flat" cmpd="sng" algn="ctr">
                      <a:solidFill>
                        <a:srgbClr val="D7E6E4"/>
                      </a:solidFill>
                      <a:prstDash val="solid"/>
                      <a:round/>
                      <a:headEnd type="none" w="med" len="med"/>
                      <a:tailEnd type="none" w="med" len="med"/>
                    </a:lnR>
                    <a:lnT w="12700" cap="flat" cmpd="sng" algn="ctr">
                      <a:solidFill>
                        <a:srgbClr val="D7E6E4"/>
                      </a:solidFill>
                      <a:prstDash val="solid"/>
                      <a:round/>
                      <a:headEnd type="none" w="med" len="med"/>
                      <a:tailEnd type="none" w="med" len="med"/>
                    </a:lnT>
                    <a:lnB w="12700" cap="flat" cmpd="sng" algn="ctr">
                      <a:solidFill>
                        <a:srgbClr val="D7E6E4"/>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B2A"/>
                          </a:solidFill>
                          <a:latin typeface="Calibri" pitchFamily="34" charset="0"/>
                          <a:ea typeface="Calibri" pitchFamily="34" charset="-122"/>
                          <a:cs typeface="Calibri" pitchFamily="34" charset="-120"/>
                        </a:rPr>
                        <a:t>55</a:t>
                      </a:r>
                      <a:endParaRPr lang="en-US" sz="1700" dirty="0">
                        <a:latin typeface="Calibri" charset="0"/>
                        <a:ea typeface="Calibri" charset="0"/>
                        <a:cs typeface="Calibri" charset="0"/>
                      </a:endParaRPr>
                    </a:p>
                  </a:txBody>
                  <a:tcPr anchor="ctr">
                    <a:lnL w="12700" cap="flat" cmpd="sng" algn="ctr">
                      <a:solidFill>
                        <a:srgbClr val="D7E6E4"/>
                      </a:solidFill>
                      <a:prstDash val="solid"/>
                      <a:round/>
                      <a:headEnd type="none" w="med" len="med"/>
                      <a:tailEnd type="none" w="med" len="med"/>
                    </a:lnL>
                    <a:lnR w="12700" cap="flat" cmpd="sng" algn="ctr">
                      <a:solidFill>
                        <a:srgbClr val="D7E6E4"/>
                      </a:solidFill>
                      <a:prstDash val="solid"/>
                      <a:round/>
                      <a:headEnd type="none" w="med" len="med"/>
                      <a:tailEnd type="none" w="med" len="med"/>
                    </a:lnR>
                    <a:lnT w="12700" cap="flat" cmpd="sng" algn="ctr">
                      <a:solidFill>
                        <a:srgbClr val="D7E6E4"/>
                      </a:solidFill>
                      <a:prstDash val="solid"/>
                      <a:round/>
                      <a:headEnd type="none" w="med" len="med"/>
                      <a:tailEnd type="none" w="med" len="med"/>
                    </a:lnT>
                    <a:lnB w="12700" cap="flat" cmpd="sng" algn="ctr">
                      <a:solidFill>
                        <a:srgbClr val="D7E6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lgn="ctr">
                        <a:buNone/>
                      </a:pPr>
                      <a:r>
                        <a:rPr lang="en-US" sz="1700" dirty="0">
                          <a:solidFill>
                            <a:srgbClr val="1B2B2A"/>
                          </a:solidFill>
                          <a:latin typeface="Calibri" pitchFamily="34" charset="0"/>
                          <a:ea typeface="Calibri" pitchFamily="34" charset="-122"/>
                          <a:cs typeface="Calibri" pitchFamily="34" charset="-120"/>
                        </a:rPr>
                        <a:t>4</a:t>
                      </a:r>
                      <a:endParaRPr lang="en-US" sz="1700" dirty="0">
                        <a:latin typeface="Calibri" charset="0"/>
                        <a:ea typeface="Calibri" charset="0"/>
                        <a:cs typeface="Calibri" charset="0"/>
                      </a:endParaRPr>
                    </a:p>
                  </a:txBody>
                  <a:tcPr anchor="ctr">
                    <a:lnL w="12700" cap="flat" cmpd="sng" algn="ctr">
                      <a:solidFill>
                        <a:srgbClr val="D7E6E4"/>
                      </a:solidFill>
                      <a:prstDash val="solid"/>
                      <a:round/>
                      <a:headEnd type="none" w="med" len="med"/>
                      <a:tailEnd type="none" w="med" len="med"/>
                    </a:lnL>
                    <a:lnR w="12700" cap="flat" cmpd="sng" algn="ctr">
                      <a:solidFill>
                        <a:srgbClr val="D7E6E4"/>
                      </a:solidFill>
                      <a:prstDash val="solid"/>
                      <a:round/>
                      <a:headEnd type="none" w="med" len="med"/>
                      <a:tailEnd type="none" w="med" len="med"/>
                    </a:lnR>
                    <a:lnT w="12700" cap="flat" cmpd="sng" algn="ctr">
                      <a:solidFill>
                        <a:srgbClr val="D7E6E4"/>
                      </a:solidFill>
                      <a:prstDash val="solid"/>
                      <a:round/>
                      <a:headEnd type="none" w="med" len="med"/>
                      <a:tailEnd type="none" w="med" len="med"/>
                    </a:lnT>
                    <a:lnB w="12700" cap="flat" cmpd="sng" algn="ctr">
                      <a:solidFill>
                        <a:srgbClr val="D7E6E4"/>
                      </a:solidFill>
                      <a:prstDash val="solid"/>
                      <a:round/>
                      <a:headEnd type="none" w="med" len="med"/>
                      <a:tailEnd type="none" w="med" len="med"/>
                    </a:lnB>
                    <a:solidFill>
                      <a:srgbClr val="E8F4F2"/>
                    </a:solidFill>
                  </a:tcPr>
                </a:tc>
                <a:tc>
                  <a:txBody>
                    <a:bodyPr/>
                    <a:lstStyle/>
                    <a:p>
                      <a:pPr marL="0" indent="0" algn="ctr">
                        <a:buNone/>
                      </a:pPr>
                      <a:r>
                        <a:rPr lang="en-US" sz="1700" dirty="0">
                          <a:solidFill>
                            <a:srgbClr val="1B2B2A"/>
                          </a:solidFill>
                          <a:latin typeface="Calibri" pitchFamily="34" charset="0"/>
                          <a:ea typeface="Calibri" pitchFamily="34" charset="-122"/>
                          <a:cs typeface="Calibri" pitchFamily="34" charset="-120"/>
                        </a:rPr>
                        <a:t>35</a:t>
                      </a:r>
                      <a:endParaRPr lang="en-US" sz="1700" dirty="0">
                        <a:latin typeface="Calibri" charset="0"/>
                        <a:ea typeface="Calibri" charset="0"/>
                        <a:cs typeface="Calibri" charset="0"/>
                      </a:endParaRPr>
                    </a:p>
                  </a:txBody>
                  <a:tcPr anchor="ctr">
                    <a:lnL w="12700" cap="flat" cmpd="sng" algn="ctr">
                      <a:solidFill>
                        <a:srgbClr val="D7E6E4"/>
                      </a:solidFill>
                      <a:prstDash val="solid"/>
                      <a:round/>
                      <a:headEnd type="none" w="med" len="med"/>
                      <a:tailEnd type="none" w="med" len="med"/>
                    </a:lnL>
                    <a:lnR w="12700" cap="flat" cmpd="sng" algn="ctr">
                      <a:solidFill>
                        <a:srgbClr val="D7E6E4"/>
                      </a:solidFill>
                      <a:prstDash val="solid"/>
                      <a:round/>
                      <a:headEnd type="none" w="med" len="med"/>
                      <a:tailEnd type="none" w="med" len="med"/>
                    </a:lnR>
                    <a:lnT w="12700" cap="flat" cmpd="sng" algn="ctr">
                      <a:solidFill>
                        <a:srgbClr val="D7E6E4"/>
                      </a:solidFill>
                      <a:prstDash val="solid"/>
                      <a:round/>
                      <a:headEnd type="none" w="med" len="med"/>
                      <a:tailEnd type="none" w="med" len="med"/>
                    </a:lnT>
                    <a:lnB w="12700" cap="flat" cmpd="sng" algn="ctr">
                      <a:solidFill>
                        <a:srgbClr val="D7E6E4"/>
                      </a:solidFill>
                      <a:prstDash val="solid"/>
                      <a:round/>
                      <a:headEnd type="none" w="med" len="med"/>
                      <a:tailEnd type="none" w="med" len="med"/>
                    </a:lnB>
                    <a:solidFill>
                      <a:srgbClr val="E8F4F2"/>
                    </a:solidFill>
                  </a:tcPr>
                </a:tc>
                <a:tc>
                  <a:txBody>
                    <a:bodyPr/>
                    <a:lstStyle/>
                    <a:p>
                      <a:pPr marL="0" indent="0" algn="ctr">
                        <a:buNone/>
                      </a:pPr>
                      <a:r>
                        <a:rPr lang="en-US" sz="1700" dirty="0">
                          <a:solidFill>
                            <a:srgbClr val="1B2B2A"/>
                          </a:solidFill>
                          <a:latin typeface="Calibri" pitchFamily="34" charset="0"/>
                          <a:ea typeface="Calibri" pitchFamily="34" charset="-122"/>
                          <a:cs typeface="Calibri" pitchFamily="34" charset="-120"/>
                        </a:rPr>
                        <a:t>60</a:t>
                      </a:r>
                      <a:endParaRPr lang="en-US" sz="1700" dirty="0">
                        <a:latin typeface="Calibri" charset="0"/>
                        <a:ea typeface="Calibri" charset="0"/>
                        <a:cs typeface="Calibri" charset="0"/>
                      </a:endParaRPr>
                    </a:p>
                  </a:txBody>
                  <a:tcPr anchor="ctr">
                    <a:lnL w="12700" cap="flat" cmpd="sng" algn="ctr">
                      <a:solidFill>
                        <a:srgbClr val="D7E6E4"/>
                      </a:solidFill>
                      <a:prstDash val="solid"/>
                      <a:round/>
                      <a:headEnd type="none" w="med" len="med"/>
                      <a:tailEnd type="none" w="med" len="med"/>
                    </a:lnL>
                    <a:lnR w="12700" cap="flat" cmpd="sng" algn="ctr">
                      <a:solidFill>
                        <a:srgbClr val="D7E6E4"/>
                      </a:solidFill>
                      <a:prstDash val="solid"/>
                      <a:round/>
                      <a:headEnd type="none" w="med" len="med"/>
                      <a:tailEnd type="none" w="med" len="med"/>
                    </a:lnR>
                    <a:lnT w="12700" cap="flat" cmpd="sng" algn="ctr">
                      <a:solidFill>
                        <a:srgbClr val="D7E6E4"/>
                      </a:solidFill>
                      <a:prstDash val="solid"/>
                      <a:round/>
                      <a:headEnd type="none" w="med" len="med"/>
                      <a:tailEnd type="none" w="med" len="med"/>
                    </a:lnT>
                    <a:lnB w="12700" cap="flat" cmpd="sng" algn="ctr">
                      <a:solidFill>
                        <a:srgbClr val="D7E6E4"/>
                      </a:solidFill>
                      <a:prstDash val="solid"/>
                      <a:round/>
                      <a:headEnd type="none" w="med" len="med"/>
                      <a:tailEnd type="none" w="med" len="med"/>
                    </a:lnB>
                    <a:solidFill>
                      <a:srgbClr val="E8F4F2"/>
                    </a:solidFill>
                  </a:tcPr>
                </a:tc>
                <a:extLst>
                  <a:ext uri="{0D108BD9-81ED-4DB2-BD59-A6C34878D82A}">
                    <a16:rowId xmlns:a16="http://schemas.microsoft.com/office/drawing/2014/main" val="10004"/>
                  </a:ext>
                </a:extLst>
              </a:tr>
              <a:tr h="566928">
                <a:tc>
                  <a:txBody>
                    <a:bodyPr/>
                    <a:lstStyle/>
                    <a:p>
                      <a:pPr marL="0" indent="0" algn="ctr">
                        <a:buNone/>
                      </a:pPr>
                      <a:r>
                        <a:rPr lang="en-US" sz="1700" dirty="0">
                          <a:solidFill>
                            <a:srgbClr val="1B2B2A"/>
                          </a:solidFill>
                          <a:latin typeface="Calibri" pitchFamily="34" charset="0"/>
                          <a:ea typeface="Calibri" pitchFamily="34" charset="-122"/>
                          <a:cs typeface="Calibri" pitchFamily="34" charset="-120"/>
                        </a:rPr>
                        <a:t>5</a:t>
                      </a:r>
                      <a:endParaRPr lang="en-US" sz="1700" dirty="0">
                        <a:latin typeface="Calibri" charset="0"/>
                        <a:ea typeface="Calibri" charset="0"/>
                        <a:cs typeface="Calibri" charset="0"/>
                      </a:endParaRPr>
                    </a:p>
                  </a:txBody>
                  <a:tcPr anchor="ctr">
                    <a:lnL w="12700" cap="flat" cmpd="sng" algn="ctr">
                      <a:solidFill>
                        <a:srgbClr val="D7E6E4"/>
                      </a:solidFill>
                      <a:prstDash val="solid"/>
                      <a:round/>
                      <a:headEnd type="none" w="med" len="med"/>
                      <a:tailEnd type="none" w="med" len="med"/>
                    </a:lnL>
                    <a:lnR w="12700" cap="flat" cmpd="sng" algn="ctr">
                      <a:solidFill>
                        <a:srgbClr val="D7E6E4"/>
                      </a:solidFill>
                      <a:prstDash val="solid"/>
                      <a:round/>
                      <a:headEnd type="none" w="med" len="med"/>
                      <a:tailEnd type="none" w="med" len="med"/>
                    </a:lnR>
                    <a:lnT w="12700" cap="flat" cmpd="sng" algn="ctr">
                      <a:solidFill>
                        <a:srgbClr val="D7E6E4"/>
                      </a:solidFill>
                      <a:prstDash val="solid"/>
                      <a:round/>
                      <a:headEnd type="none" w="med" len="med"/>
                      <a:tailEnd type="none" w="med" len="med"/>
                    </a:lnT>
                    <a:lnB w="12700" cap="flat" cmpd="sng" algn="ctr">
                      <a:solidFill>
                        <a:srgbClr val="D7E6E4"/>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B2A"/>
                          </a:solidFill>
                          <a:latin typeface="Calibri" pitchFamily="34" charset="0"/>
                          <a:ea typeface="Calibri" pitchFamily="34" charset="-122"/>
                          <a:cs typeface="Calibri" pitchFamily="34" charset="-120"/>
                        </a:rPr>
                        <a:t>40</a:t>
                      </a:r>
                      <a:endParaRPr lang="en-US" sz="1700" dirty="0">
                        <a:latin typeface="Calibri" charset="0"/>
                        <a:ea typeface="Calibri" charset="0"/>
                        <a:cs typeface="Calibri" charset="0"/>
                      </a:endParaRPr>
                    </a:p>
                  </a:txBody>
                  <a:tcPr anchor="ctr">
                    <a:lnL w="12700" cap="flat" cmpd="sng" algn="ctr">
                      <a:solidFill>
                        <a:srgbClr val="D7E6E4"/>
                      </a:solidFill>
                      <a:prstDash val="solid"/>
                      <a:round/>
                      <a:headEnd type="none" w="med" len="med"/>
                      <a:tailEnd type="none" w="med" len="med"/>
                    </a:lnL>
                    <a:lnR w="12700" cap="flat" cmpd="sng" algn="ctr">
                      <a:solidFill>
                        <a:srgbClr val="D7E6E4"/>
                      </a:solidFill>
                      <a:prstDash val="solid"/>
                      <a:round/>
                      <a:headEnd type="none" w="med" len="med"/>
                      <a:tailEnd type="none" w="med" len="med"/>
                    </a:lnR>
                    <a:lnT w="12700" cap="flat" cmpd="sng" algn="ctr">
                      <a:solidFill>
                        <a:srgbClr val="D7E6E4"/>
                      </a:solidFill>
                      <a:prstDash val="solid"/>
                      <a:round/>
                      <a:headEnd type="none" w="med" len="med"/>
                      <a:tailEnd type="none" w="med" len="med"/>
                    </a:lnT>
                    <a:lnB w="12700" cap="flat" cmpd="sng" algn="ctr">
                      <a:solidFill>
                        <a:srgbClr val="D7E6E4"/>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B2A"/>
                          </a:solidFill>
                          <a:latin typeface="Calibri" pitchFamily="34" charset="0"/>
                          <a:ea typeface="Calibri" pitchFamily="34" charset="-122"/>
                          <a:cs typeface="Calibri" pitchFamily="34" charset="-120"/>
                        </a:rPr>
                        <a:t>85</a:t>
                      </a:r>
                      <a:endParaRPr lang="en-US" sz="1700" dirty="0">
                        <a:latin typeface="Calibri" charset="0"/>
                        <a:ea typeface="Calibri" charset="0"/>
                        <a:cs typeface="Calibri" charset="0"/>
                      </a:endParaRPr>
                    </a:p>
                  </a:txBody>
                  <a:tcPr anchor="ctr">
                    <a:lnL w="12700" cap="flat" cmpd="sng" algn="ctr">
                      <a:solidFill>
                        <a:srgbClr val="D7E6E4"/>
                      </a:solidFill>
                      <a:prstDash val="solid"/>
                      <a:round/>
                      <a:headEnd type="none" w="med" len="med"/>
                      <a:tailEnd type="none" w="med" len="med"/>
                    </a:lnL>
                    <a:lnR w="12700" cap="flat" cmpd="sng" algn="ctr">
                      <a:solidFill>
                        <a:srgbClr val="D7E6E4"/>
                      </a:solidFill>
                      <a:prstDash val="solid"/>
                      <a:round/>
                      <a:headEnd type="none" w="med" len="med"/>
                      <a:tailEnd type="none" w="med" len="med"/>
                    </a:lnR>
                    <a:lnT w="12700" cap="flat" cmpd="sng" algn="ctr">
                      <a:solidFill>
                        <a:srgbClr val="D7E6E4"/>
                      </a:solidFill>
                      <a:prstDash val="solid"/>
                      <a:round/>
                      <a:headEnd type="none" w="med" len="med"/>
                      <a:tailEnd type="none" w="med" len="med"/>
                    </a:lnT>
                    <a:lnB w="12700" cap="flat" cmpd="sng" algn="ctr">
                      <a:solidFill>
                        <a:srgbClr val="D7E6E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Text 3"/>
          <p:cNvSpPr/>
          <p:nvPr/>
        </p:nvSpPr>
        <p:spPr>
          <a:xfrm>
            <a:off x="548640" y="6035040"/>
            <a:ext cx="11091672" cy="365760"/>
          </a:xfrm>
          <a:prstGeom prst="rect">
            <a:avLst/>
          </a:prstGeom>
          <a:noFill/>
          <a:ln/>
        </p:spPr>
        <p:txBody>
          <a:bodyPr wrap="square" rtlCol="0" anchor="ctr"/>
          <a:lstStyle/>
          <a:p>
            <a:pPr marL="0" indent="0">
              <a:buNone/>
            </a:pPr>
            <a:r>
              <a:rPr lang="en-US" sz="1300" i="1" dirty="0">
                <a:solidFill>
                  <a:srgbClr val="5B7370"/>
                </a:solidFill>
                <a:latin typeface="Calibri" pitchFamily="34" charset="0"/>
                <a:ea typeface="Calibri" pitchFamily="34" charset="-122"/>
                <a:cs typeface="Calibri" pitchFamily="34" charset="-120"/>
              </a:rPr>
              <a:t>X̄ = 30, Ȳ = 55 — try computing the deviations yourself before the next slide.</a:t>
            </a:r>
            <a:endParaRPr lang="en-US" sz="1300" dirty="0"/>
          </a:p>
        </p:txBody>
      </p:sp>
      <p:sp>
        <p:nvSpPr>
          <p:cNvPr id="7" name="Text 4"/>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5B7370"/>
                </a:solidFill>
                <a:latin typeface="Calibri" pitchFamily="34" charset="0"/>
                <a:ea typeface="Calibri" pitchFamily="34" charset="-122"/>
                <a:cs typeface="Calibri" pitchFamily="34" charset="-120"/>
              </a:rPr>
              <a:t>Presidency University | Dept. of AI &amp; Robotics | DSC4000 | Statics for Data Science</a:t>
            </a:r>
            <a:endParaRPr lang="en-US" sz="1000" dirty="0"/>
          </a:p>
        </p:txBody>
      </p:sp>
      <p:sp>
        <p:nvSpPr>
          <p:cNvPr id="8" name="Text 5"/>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7370"/>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3291840" cy="384048"/>
          </a:xfrm>
          <a:prstGeom prst="roundRect">
            <a:avLst>
              <a:gd name="adj" fmla="val 19048"/>
            </a:avLst>
          </a:prstGeom>
          <a:solidFill>
            <a:srgbClr val="E8F4F2"/>
          </a:solidFill>
          <a:ln/>
        </p:spPr>
      </p:sp>
      <p:sp>
        <p:nvSpPr>
          <p:cNvPr id="3" name="Text 1"/>
          <p:cNvSpPr/>
          <p:nvPr/>
        </p:nvSpPr>
        <p:spPr>
          <a:xfrm>
            <a:off x="548640" y="457200"/>
            <a:ext cx="3291840" cy="384048"/>
          </a:xfrm>
          <a:prstGeom prst="rect">
            <a:avLst/>
          </a:prstGeom>
          <a:noFill/>
          <a:ln/>
        </p:spPr>
        <p:txBody>
          <a:bodyPr wrap="square" rtlCol="0" anchor="ctr"/>
          <a:lstStyle/>
          <a:p>
            <a:pPr marL="0" indent="0" algn="ctr">
              <a:buNone/>
            </a:pPr>
            <a:r>
              <a:rPr lang="en-US" sz="1300" b="1" kern="0" spc="100" dirty="0">
                <a:solidFill>
                  <a:srgbClr val="0E5C56"/>
                </a:solidFill>
                <a:latin typeface="Calibri" pitchFamily="34" charset="0"/>
                <a:ea typeface="Calibri" pitchFamily="34" charset="-122"/>
                <a:cs typeface="Calibri" pitchFamily="34" charset="-120"/>
              </a:rPr>
              <a:t>WORKED EXAMPLE 2</a:t>
            </a:r>
            <a:endParaRPr lang="en-US" sz="1300" dirty="0"/>
          </a:p>
        </p:txBody>
      </p:sp>
      <p:sp>
        <p:nvSpPr>
          <p:cNvPr id="4" name="Text 2"/>
          <p:cNvSpPr/>
          <p:nvPr/>
        </p:nvSpPr>
        <p:spPr>
          <a:xfrm>
            <a:off x="548640" y="960120"/>
            <a:ext cx="11091672" cy="914400"/>
          </a:xfrm>
          <a:prstGeom prst="rect">
            <a:avLst/>
          </a:prstGeom>
          <a:noFill/>
          <a:ln/>
        </p:spPr>
        <p:txBody>
          <a:bodyPr wrap="square" rtlCol="0" anchor="t"/>
          <a:lstStyle/>
          <a:p>
            <a:pPr marL="0" indent="0" algn="l">
              <a:buNone/>
            </a:pPr>
            <a:r>
              <a:rPr lang="en-US" sz="3200" b="1" dirty="0">
                <a:solidFill>
                  <a:srgbClr val="1B2B2A"/>
                </a:solidFill>
                <a:latin typeface="Cambria" pitchFamily="34" charset="0"/>
                <a:ea typeface="Cambria" pitchFamily="34" charset="-122"/>
                <a:cs typeface="Cambria" pitchFamily="34" charset="-120"/>
              </a:rPr>
              <a:t>Step-by-Step Solution</a:t>
            </a:r>
            <a:endParaRPr lang="en-US" sz="3200" dirty="0"/>
          </a:p>
        </p:txBody>
      </p:sp>
      <p:sp>
        <p:nvSpPr>
          <p:cNvPr id="5" name="Shape 3"/>
          <p:cNvSpPr/>
          <p:nvPr/>
        </p:nvSpPr>
        <p:spPr>
          <a:xfrm>
            <a:off x="548640" y="2205990"/>
            <a:ext cx="457200" cy="457200"/>
          </a:xfrm>
          <a:prstGeom prst="ellipse">
            <a:avLst/>
          </a:prstGeom>
          <a:solidFill>
            <a:srgbClr val="0E5C56"/>
          </a:solidFill>
          <a:ln/>
        </p:spPr>
      </p:sp>
      <p:sp>
        <p:nvSpPr>
          <p:cNvPr id="6" name="Text 4"/>
          <p:cNvSpPr/>
          <p:nvPr/>
        </p:nvSpPr>
        <p:spPr>
          <a:xfrm>
            <a:off x="548640" y="2205990"/>
            <a:ext cx="45720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234440" y="1920240"/>
            <a:ext cx="10360152" cy="1028700"/>
          </a:xfrm>
          <a:prstGeom prst="rect">
            <a:avLst/>
          </a:prstGeom>
          <a:noFill/>
          <a:ln/>
        </p:spPr>
        <p:txBody>
          <a:bodyPr wrap="square" rtlCol="0" anchor="ctr"/>
          <a:lstStyle/>
          <a:p>
            <a:pPr marL="0" indent="0">
              <a:buNone/>
            </a:pPr>
            <a:r>
              <a:rPr lang="en-US" sz="1900" dirty="0">
                <a:solidFill>
                  <a:srgbClr val="1B2B2A"/>
                </a:solidFill>
                <a:latin typeface="Calibri" pitchFamily="34" charset="0"/>
                <a:ea typeface="Calibri" pitchFamily="34" charset="-122"/>
                <a:cs typeface="Calibri" pitchFamily="34" charset="-120"/>
              </a:rPr>
              <a:t>Deviations (Xᵢ − X̄): −10, −5, 0, 5, 10. Deviations (Yᵢ − Ȳ): −25, −10, 0, 5, 30.</a:t>
            </a:r>
            <a:endParaRPr lang="en-US" sz="1900" dirty="0"/>
          </a:p>
        </p:txBody>
      </p:sp>
      <p:sp>
        <p:nvSpPr>
          <p:cNvPr id="8" name="Shape 6"/>
          <p:cNvSpPr/>
          <p:nvPr/>
        </p:nvSpPr>
        <p:spPr>
          <a:xfrm>
            <a:off x="777240" y="2903220"/>
            <a:ext cx="0" cy="137160"/>
          </a:xfrm>
          <a:prstGeom prst="line">
            <a:avLst/>
          </a:prstGeom>
          <a:noFill/>
          <a:ln w="19050">
            <a:solidFill>
              <a:srgbClr val="D7E6E4"/>
            </a:solidFill>
            <a:prstDash val="solid"/>
          </a:ln>
        </p:spPr>
      </p:sp>
      <p:sp>
        <p:nvSpPr>
          <p:cNvPr id="9" name="Shape 7"/>
          <p:cNvSpPr/>
          <p:nvPr/>
        </p:nvSpPr>
        <p:spPr>
          <a:xfrm>
            <a:off x="548640" y="3234690"/>
            <a:ext cx="457200" cy="457200"/>
          </a:xfrm>
          <a:prstGeom prst="ellipse">
            <a:avLst/>
          </a:prstGeom>
          <a:solidFill>
            <a:srgbClr val="0E5C56"/>
          </a:solidFill>
          <a:ln/>
        </p:spPr>
      </p:sp>
      <p:sp>
        <p:nvSpPr>
          <p:cNvPr id="10" name="Text 8"/>
          <p:cNvSpPr/>
          <p:nvPr/>
        </p:nvSpPr>
        <p:spPr>
          <a:xfrm>
            <a:off x="548640" y="3234690"/>
            <a:ext cx="45720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234440" y="2948940"/>
            <a:ext cx="10360152" cy="1028700"/>
          </a:xfrm>
          <a:prstGeom prst="rect">
            <a:avLst/>
          </a:prstGeom>
          <a:noFill/>
          <a:ln/>
        </p:spPr>
        <p:txBody>
          <a:bodyPr wrap="square" rtlCol="0" anchor="ctr"/>
          <a:lstStyle/>
          <a:p>
            <a:pPr marL="0" indent="0">
              <a:buNone/>
            </a:pPr>
            <a:r>
              <a:rPr lang="en-US" sz="1900" dirty="0">
                <a:solidFill>
                  <a:srgbClr val="1B2B2A"/>
                </a:solidFill>
                <a:latin typeface="Calibri" pitchFamily="34" charset="0"/>
                <a:ea typeface="Calibri" pitchFamily="34" charset="-122"/>
                <a:cs typeface="Calibri" pitchFamily="34" charset="-120"/>
              </a:rPr>
              <a:t>Products of deviations: 250, 50, 0, 25, 300 → sum = 625 → Cov(X, Y) = 625 / 4 = 156.25.</a:t>
            </a:r>
            <a:endParaRPr lang="en-US" sz="1900" dirty="0"/>
          </a:p>
        </p:txBody>
      </p:sp>
      <p:sp>
        <p:nvSpPr>
          <p:cNvPr id="12" name="Shape 10"/>
          <p:cNvSpPr/>
          <p:nvPr/>
        </p:nvSpPr>
        <p:spPr>
          <a:xfrm>
            <a:off x="777240" y="3931920"/>
            <a:ext cx="0" cy="137160"/>
          </a:xfrm>
          <a:prstGeom prst="line">
            <a:avLst/>
          </a:prstGeom>
          <a:noFill/>
          <a:ln w="19050">
            <a:solidFill>
              <a:srgbClr val="D7E6E4"/>
            </a:solidFill>
            <a:prstDash val="solid"/>
          </a:ln>
        </p:spPr>
      </p:sp>
      <p:sp>
        <p:nvSpPr>
          <p:cNvPr id="13" name="Shape 11"/>
          <p:cNvSpPr/>
          <p:nvPr/>
        </p:nvSpPr>
        <p:spPr>
          <a:xfrm>
            <a:off x="548640" y="4263390"/>
            <a:ext cx="457200" cy="457200"/>
          </a:xfrm>
          <a:prstGeom prst="ellipse">
            <a:avLst/>
          </a:prstGeom>
          <a:solidFill>
            <a:srgbClr val="0E5C56"/>
          </a:solidFill>
          <a:ln/>
        </p:spPr>
      </p:sp>
      <p:sp>
        <p:nvSpPr>
          <p:cNvPr id="14" name="Text 12"/>
          <p:cNvSpPr/>
          <p:nvPr/>
        </p:nvSpPr>
        <p:spPr>
          <a:xfrm>
            <a:off x="548640" y="4263390"/>
            <a:ext cx="45720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1234440" y="3977640"/>
            <a:ext cx="10360152" cy="1028700"/>
          </a:xfrm>
          <a:prstGeom prst="rect">
            <a:avLst/>
          </a:prstGeom>
          <a:noFill/>
          <a:ln/>
        </p:spPr>
        <p:txBody>
          <a:bodyPr wrap="square" rtlCol="0" anchor="ctr"/>
          <a:lstStyle/>
          <a:p>
            <a:pPr marL="0" indent="0">
              <a:buNone/>
            </a:pPr>
            <a:r>
              <a:rPr lang="en-US" sz="1900" dirty="0">
                <a:solidFill>
                  <a:srgbClr val="1B2B2A"/>
                </a:solidFill>
                <a:latin typeface="Calibri" pitchFamily="34" charset="0"/>
                <a:ea typeface="Calibri" pitchFamily="34" charset="-122"/>
                <a:cs typeface="Calibri" pitchFamily="34" charset="-120"/>
              </a:rPr>
              <a:t>σx = √(250/4) = 7.91.  σy: squared deviations sum to 1650 → σy = √(1650/4) = 20.31.</a:t>
            </a:r>
            <a:endParaRPr lang="en-US" sz="1900" dirty="0"/>
          </a:p>
        </p:txBody>
      </p:sp>
      <p:sp>
        <p:nvSpPr>
          <p:cNvPr id="16" name="Shape 14"/>
          <p:cNvSpPr/>
          <p:nvPr/>
        </p:nvSpPr>
        <p:spPr>
          <a:xfrm>
            <a:off x="777240" y="4960620"/>
            <a:ext cx="0" cy="137160"/>
          </a:xfrm>
          <a:prstGeom prst="line">
            <a:avLst/>
          </a:prstGeom>
          <a:noFill/>
          <a:ln w="19050">
            <a:solidFill>
              <a:srgbClr val="D7E6E4"/>
            </a:solidFill>
            <a:prstDash val="solid"/>
          </a:ln>
        </p:spPr>
      </p:sp>
      <p:sp>
        <p:nvSpPr>
          <p:cNvPr id="17" name="Shape 15"/>
          <p:cNvSpPr/>
          <p:nvPr/>
        </p:nvSpPr>
        <p:spPr>
          <a:xfrm>
            <a:off x="548640" y="5292090"/>
            <a:ext cx="457200" cy="457200"/>
          </a:xfrm>
          <a:prstGeom prst="ellipse">
            <a:avLst/>
          </a:prstGeom>
          <a:solidFill>
            <a:srgbClr val="0E5C56"/>
          </a:solidFill>
          <a:ln/>
        </p:spPr>
      </p:sp>
      <p:sp>
        <p:nvSpPr>
          <p:cNvPr id="18" name="Text 16"/>
          <p:cNvSpPr/>
          <p:nvPr/>
        </p:nvSpPr>
        <p:spPr>
          <a:xfrm>
            <a:off x="548640" y="5292090"/>
            <a:ext cx="45720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p:nvPr/>
        </p:nvSpPr>
        <p:spPr>
          <a:xfrm>
            <a:off x="1234440" y="5006340"/>
            <a:ext cx="10360152" cy="1028700"/>
          </a:xfrm>
          <a:prstGeom prst="rect">
            <a:avLst/>
          </a:prstGeom>
          <a:noFill/>
          <a:ln/>
        </p:spPr>
        <p:txBody>
          <a:bodyPr wrap="square" rtlCol="0" anchor="ctr"/>
          <a:lstStyle/>
          <a:p>
            <a:pPr marL="0" indent="0">
              <a:buNone/>
            </a:pPr>
            <a:r>
              <a:rPr lang="en-US" sz="1900" dirty="0">
                <a:solidFill>
                  <a:srgbClr val="1B2B2A"/>
                </a:solidFill>
                <a:latin typeface="Calibri" pitchFamily="34" charset="0"/>
                <a:ea typeface="Calibri" pitchFamily="34" charset="-122"/>
                <a:cs typeface="Calibri" pitchFamily="34" charset="-120"/>
              </a:rPr>
              <a:t>r = 156.25 / (7.91 × 20.31) = 156.25 / 160.65 ≈ 0.973.</a:t>
            </a:r>
            <a:endParaRPr lang="en-US" sz="1900" dirty="0"/>
          </a:p>
        </p:txBody>
      </p:sp>
      <p:sp>
        <p:nvSpPr>
          <p:cNvPr id="20" name="Text 18"/>
          <p:cNvSpPr/>
          <p:nvPr/>
        </p:nvSpPr>
        <p:spPr>
          <a:xfrm>
            <a:off x="548640" y="6080760"/>
            <a:ext cx="11091672" cy="320040"/>
          </a:xfrm>
          <a:prstGeom prst="rect">
            <a:avLst/>
          </a:prstGeom>
          <a:noFill/>
          <a:ln/>
        </p:spPr>
        <p:txBody>
          <a:bodyPr wrap="square" rtlCol="0" anchor="ctr"/>
          <a:lstStyle/>
          <a:p>
            <a:pPr marL="0" indent="0">
              <a:buNone/>
            </a:pPr>
            <a:r>
              <a:rPr lang="en-US" sz="1300" i="1" dirty="0">
                <a:solidFill>
                  <a:srgbClr val="5B7370"/>
                </a:solidFill>
                <a:latin typeface="Calibri" pitchFamily="34" charset="0"/>
                <a:ea typeface="Calibri" pitchFamily="34" charset="-122"/>
                <a:cs typeface="Calibri" pitchFamily="34" charset="-120"/>
              </a:rPr>
              <a:t>r ≈ 0.973 — again a strong positive relationship: hotter days see higher ice-cream sales.</a:t>
            </a:r>
            <a:endParaRPr lang="en-US" sz="1300" dirty="0"/>
          </a:p>
        </p:txBody>
      </p:sp>
      <p:sp>
        <p:nvSpPr>
          <p:cNvPr id="21" name="Text 19"/>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5B7370"/>
                </a:solidFill>
                <a:latin typeface="Calibri" pitchFamily="34" charset="0"/>
                <a:ea typeface="Calibri" pitchFamily="34" charset="-122"/>
                <a:cs typeface="Calibri" pitchFamily="34" charset="-120"/>
              </a:rPr>
              <a:t>Presidency University | Dept. of AI &amp; Robotics | DSC4000 | Statics for Data Science</a:t>
            </a:r>
            <a:endParaRPr lang="en-US" sz="1000" dirty="0"/>
          </a:p>
        </p:txBody>
      </p:sp>
      <p:sp>
        <p:nvSpPr>
          <p:cNvPr id="22" name="Text 20"/>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7370"/>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3291840" cy="384048"/>
          </a:xfrm>
          <a:prstGeom prst="roundRect">
            <a:avLst>
              <a:gd name="adj" fmla="val 19048"/>
            </a:avLst>
          </a:prstGeom>
          <a:solidFill>
            <a:srgbClr val="E8F4F2"/>
          </a:solidFill>
          <a:ln/>
        </p:spPr>
      </p:sp>
      <p:sp>
        <p:nvSpPr>
          <p:cNvPr id="3" name="Text 1"/>
          <p:cNvSpPr/>
          <p:nvPr/>
        </p:nvSpPr>
        <p:spPr>
          <a:xfrm>
            <a:off x="548640" y="457200"/>
            <a:ext cx="3291840" cy="384048"/>
          </a:xfrm>
          <a:prstGeom prst="rect">
            <a:avLst/>
          </a:prstGeom>
          <a:noFill/>
          <a:ln/>
        </p:spPr>
        <p:txBody>
          <a:bodyPr wrap="square" rtlCol="0" anchor="ctr"/>
          <a:lstStyle/>
          <a:p>
            <a:pPr marL="0" indent="0" algn="ctr">
              <a:buNone/>
            </a:pPr>
            <a:r>
              <a:rPr lang="en-US" sz="1300" b="1" kern="0" spc="100" dirty="0">
                <a:solidFill>
                  <a:srgbClr val="0E5C56"/>
                </a:solidFill>
                <a:latin typeface="Calibri" pitchFamily="34" charset="0"/>
                <a:ea typeface="Calibri" pitchFamily="34" charset="-122"/>
                <a:cs typeface="Calibri" pitchFamily="34" charset="-120"/>
              </a:rPr>
              <a:t>WORKED EXAMPLE 2</a:t>
            </a:r>
            <a:endParaRPr lang="en-US" sz="1300" dirty="0"/>
          </a:p>
        </p:txBody>
      </p:sp>
      <p:sp>
        <p:nvSpPr>
          <p:cNvPr id="4" name="Text 2"/>
          <p:cNvSpPr/>
          <p:nvPr/>
        </p:nvSpPr>
        <p:spPr>
          <a:xfrm>
            <a:off x="548640" y="960120"/>
            <a:ext cx="11091672" cy="914400"/>
          </a:xfrm>
          <a:prstGeom prst="rect">
            <a:avLst/>
          </a:prstGeom>
          <a:noFill/>
          <a:ln/>
        </p:spPr>
        <p:txBody>
          <a:bodyPr wrap="square" rtlCol="0" anchor="t"/>
          <a:lstStyle/>
          <a:p>
            <a:pPr marL="0" indent="0" algn="l">
              <a:buNone/>
            </a:pPr>
            <a:r>
              <a:rPr lang="en-US" sz="3200" b="1" dirty="0">
                <a:solidFill>
                  <a:srgbClr val="1B2B2A"/>
                </a:solidFill>
                <a:latin typeface="Cambria" pitchFamily="34" charset="0"/>
                <a:ea typeface="Cambria" pitchFamily="34" charset="-122"/>
                <a:cs typeface="Cambria" pitchFamily="34" charset="-120"/>
              </a:rPr>
              <a:t>Interpreting the Result</a:t>
            </a:r>
            <a:endParaRPr lang="en-US" sz="3200" dirty="0"/>
          </a:p>
        </p:txBody>
      </p:sp>
      <p:sp>
        <p:nvSpPr>
          <p:cNvPr id="5" name="Shape 3"/>
          <p:cNvSpPr/>
          <p:nvPr/>
        </p:nvSpPr>
        <p:spPr>
          <a:xfrm>
            <a:off x="548640" y="1993392"/>
            <a:ext cx="365760" cy="365760"/>
          </a:xfrm>
          <a:prstGeom prst="ellipse">
            <a:avLst/>
          </a:prstGeom>
          <a:solidFill>
            <a:srgbClr val="F2A93B"/>
          </a:solidFill>
          <a:ln/>
        </p:spPr>
      </p:sp>
      <p:sp>
        <p:nvSpPr>
          <p:cNvPr id="6" name="Text 4"/>
          <p:cNvSpPr/>
          <p:nvPr/>
        </p:nvSpPr>
        <p:spPr>
          <a:xfrm>
            <a:off x="548640" y="1993392"/>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7" name="Text 5"/>
          <p:cNvSpPr/>
          <p:nvPr/>
        </p:nvSpPr>
        <p:spPr>
          <a:xfrm>
            <a:off x="1143000" y="1965960"/>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r ≈ 0.973 — temperature and ice-cream sales move together very strongly and positively.</a:t>
            </a:r>
            <a:endParaRPr lang="en-US" sz="2000" dirty="0"/>
          </a:p>
        </p:txBody>
      </p:sp>
      <p:sp>
        <p:nvSpPr>
          <p:cNvPr id="8" name="Shape 6"/>
          <p:cNvSpPr/>
          <p:nvPr/>
        </p:nvSpPr>
        <p:spPr>
          <a:xfrm>
            <a:off x="548640" y="3246120"/>
            <a:ext cx="365760" cy="365760"/>
          </a:xfrm>
          <a:prstGeom prst="ellipse">
            <a:avLst/>
          </a:prstGeom>
          <a:solidFill>
            <a:srgbClr val="F2A93B"/>
          </a:solidFill>
          <a:ln/>
        </p:spPr>
      </p:sp>
      <p:sp>
        <p:nvSpPr>
          <p:cNvPr id="9" name="Text 7"/>
          <p:cNvSpPr/>
          <p:nvPr/>
        </p:nvSpPr>
        <p:spPr>
          <a:xfrm>
            <a:off x="548640" y="3246120"/>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0" name="Text 8"/>
          <p:cNvSpPr/>
          <p:nvPr/>
        </p:nvSpPr>
        <p:spPr>
          <a:xfrm>
            <a:off x="1143000" y="3218688"/>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This is a classic textbook example of correlation, often paired with a THIRD variable warning.</a:t>
            </a:r>
            <a:endParaRPr lang="en-US" sz="2000" dirty="0"/>
          </a:p>
        </p:txBody>
      </p:sp>
      <p:sp>
        <p:nvSpPr>
          <p:cNvPr id="11" name="Shape 9"/>
          <p:cNvSpPr/>
          <p:nvPr/>
        </p:nvSpPr>
        <p:spPr>
          <a:xfrm>
            <a:off x="548640" y="4498848"/>
            <a:ext cx="365760" cy="365760"/>
          </a:xfrm>
          <a:prstGeom prst="ellipse">
            <a:avLst/>
          </a:prstGeom>
          <a:solidFill>
            <a:srgbClr val="F2A93B"/>
          </a:solidFill>
          <a:ln/>
        </p:spPr>
      </p:sp>
      <p:sp>
        <p:nvSpPr>
          <p:cNvPr id="12" name="Text 10"/>
          <p:cNvSpPr/>
          <p:nvPr/>
        </p:nvSpPr>
        <p:spPr>
          <a:xfrm>
            <a:off x="548640" y="4498848"/>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3" name="Text 11"/>
          <p:cNvSpPr/>
          <p:nvPr/>
        </p:nvSpPr>
        <p:spPr>
          <a:xfrm>
            <a:off x="1143000" y="4471416"/>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Notice both examples used small, clean datasets — real data will show more scatter and lower |r|.</a:t>
            </a:r>
            <a:endParaRPr lang="en-US" sz="2000" dirty="0"/>
          </a:p>
        </p:txBody>
      </p:sp>
      <p:sp>
        <p:nvSpPr>
          <p:cNvPr id="14" name="Shape 12"/>
          <p:cNvSpPr/>
          <p:nvPr/>
        </p:nvSpPr>
        <p:spPr>
          <a:xfrm>
            <a:off x="548640" y="5751576"/>
            <a:ext cx="365760" cy="365760"/>
          </a:xfrm>
          <a:prstGeom prst="ellipse">
            <a:avLst/>
          </a:prstGeom>
          <a:solidFill>
            <a:srgbClr val="F2A93B"/>
          </a:solidFill>
          <a:ln/>
        </p:spPr>
      </p:sp>
      <p:sp>
        <p:nvSpPr>
          <p:cNvPr id="15" name="Text 13"/>
          <p:cNvSpPr/>
          <p:nvPr/>
        </p:nvSpPr>
        <p:spPr>
          <a:xfrm>
            <a:off x="548640" y="5751576"/>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6" name="Text 14"/>
          <p:cNvSpPr/>
          <p:nvPr/>
        </p:nvSpPr>
        <p:spPr>
          <a:xfrm>
            <a:off x="1143000" y="5724144"/>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We'll return to this exact ice-cream example later when discussing correlation vs. causation.</a:t>
            </a:r>
            <a:endParaRPr lang="en-US" sz="2000" dirty="0"/>
          </a:p>
        </p:txBody>
      </p:sp>
      <p:sp>
        <p:nvSpPr>
          <p:cNvPr id="17" name="Text 15"/>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5B7370"/>
                </a:solidFill>
                <a:latin typeface="Calibri" pitchFamily="34" charset="0"/>
                <a:ea typeface="Calibri" pitchFamily="34" charset="-122"/>
                <a:cs typeface="Calibri" pitchFamily="34" charset="-120"/>
              </a:rPr>
              <a:t>Presidency University | Dept. of AI &amp; Robotics | DSC4000 | Statics for Data Science</a:t>
            </a:r>
            <a:endParaRPr lang="en-US" sz="1000" dirty="0"/>
          </a:p>
        </p:txBody>
      </p:sp>
      <p:sp>
        <p:nvSpPr>
          <p:cNvPr id="18" name="Text 16"/>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7370"/>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73B37"/>
        </a:solidFill>
        <a:effectLst/>
      </p:bgPr>
    </p:bg>
    <p:spTree>
      <p:nvGrpSpPr>
        <p:cNvPr id="1" name=""/>
        <p:cNvGrpSpPr/>
        <p:nvPr/>
      </p:nvGrpSpPr>
      <p:grpSpPr>
        <a:xfrm>
          <a:off x="0" y="0"/>
          <a:ext cx="0" cy="0"/>
          <a:chOff x="0" y="0"/>
          <a:chExt cx="0" cy="0"/>
        </a:xfrm>
      </p:grpSpPr>
      <p:sp>
        <p:nvSpPr>
          <p:cNvPr id="2" name="Shape 0"/>
          <p:cNvSpPr/>
          <p:nvPr/>
        </p:nvSpPr>
        <p:spPr>
          <a:xfrm>
            <a:off x="10332720" y="-1097280"/>
            <a:ext cx="3657600" cy="3657600"/>
          </a:xfrm>
          <a:prstGeom prst="ellipse">
            <a:avLst/>
          </a:prstGeom>
          <a:solidFill>
            <a:srgbClr val="0E5C56"/>
          </a:solidFill>
          <a:ln/>
        </p:spPr>
      </p:sp>
      <p:sp>
        <p:nvSpPr>
          <p:cNvPr id="3" name="Text 1"/>
          <p:cNvSpPr/>
          <p:nvPr/>
        </p:nvSpPr>
        <p:spPr>
          <a:xfrm>
            <a:off x="640080" y="548640"/>
            <a:ext cx="7315200" cy="457200"/>
          </a:xfrm>
          <a:prstGeom prst="rect">
            <a:avLst/>
          </a:prstGeom>
          <a:noFill/>
          <a:ln/>
        </p:spPr>
        <p:txBody>
          <a:bodyPr wrap="square" rtlCol="0" anchor="ctr"/>
          <a:lstStyle/>
          <a:p>
            <a:pPr marL="0" indent="0">
              <a:buNone/>
            </a:pPr>
            <a:r>
              <a:rPr lang="en-US" sz="1500" b="1" kern="0" spc="200" dirty="0">
                <a:solidFill>
                  <a:srgbClr val="F2A93B"/>
                </a:solidFill>
                <a:latin typeface="Calibri" pitchFamily="34" charset="0"/>
                <a:ea typeface="Calibri" pitchFamily="34" charset="-122"/>
                <a:cs typeface="Calibri" pitchFamily="34" charset="-120"/>
              </a:rPr>
              <a:t>QUICK CHECK</a:t>
            </a:r>
            <a:endParaRPr lang="en-US" sz="1500" dirty="0"/>
          </a:p>
        </p:txBody>
      </p:sp>
      <p:sp>
        <p:nvSpPr>
          <p:cNvPr id="4" name="Text 2"/>
          <p:cNvSpPr/>
          <p:nvPr/>
        </p:nvSpPr>
        <p:spPr>
          <a:xfrm>
            <a:off x="640080" y="1005840"/>
            <a:ext cx="10058400" cy="82296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Your Turn — Predict the Sign</a:t>
            </a:r>
            <a:endParaRPr lang="en-US" sz="3000" dirty="0"/>
          </a:p>
        </p:txBody>
      </p:sp>
      <p:sp>
        <p:nvSpPr>
          <p:cNvPr id="5" name="Shape 3"/>
          <p:cNvSpPr/>
          <p:nvPr/>
        </p:nvSpPr>
        <p:spPr>
          <a:xfrm>
            <a:off x="640080" y="2148840"/>
            <a:ext cx="502920" cy="502920"/>
          </a:xfrm>
          <a:prstGeom prst="ellipse">
            <a:avLst/>
          </a:prstGeom>
          <a:solidFill>
            <a:srgbClr val="F2A93B"/>
          </a:solidFill>
          <a:ln/>
        </p:spPr>
      </p:sp>
      <p:sp>
        <p:nvSpPr>
          <p:cNvPr id="6" name="Text 4"/>
          <p:cNvSpPr/>
          <p:nvPr/>
        </p:nvSpPr>
        <p:spPr>
          <a:xfrm>
            <a:off x="640080" y="2148840"/>
            <a:ext cx="502920" cy="502920"/>
          </a:xfrm>
          <a:prstGeom prst="rect">
            <a:avLst/>
          </a:prstGeom>
          <a:noFill/>
          <a:ln/>
        </p:spPr>
        <p:txBody>
          <a:bodyPr wrap="square" rtlCol="0" anchor="ctr"/>
          <a:lstStyle/>
          <a:p>
            <a:pPr marL="0" indent="0" algn="ctr">
              <a:buNone/>
            </a:pPr>
            <a:r>
              <a:rPr lang="en-US" sz="1400" b="1" dirty="0">
                <a:solidFill>
                  <a:srgbClr val="073B37"/>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371600" y="2103120"/>
            <a:ext cx="9875520" cy="777240"/>
          </a:xfrm>
          <a:prstGeom prst="rect">
            <a:avLst/>
          </a:prstGeom>
          <a:noFill/>
          <a:ln/>
        </p:spPr>
        <p:txBody>
          <a:bodyPr wrap="square" rtlCol="0" anchor="ctr"/>
          <a:lstStyle/>
          <a:p>
            <a:pPr marL="0" indent="0">
              <a:buNone/>
            </a:pPr>
            <a:r>
              <a:rPr lang="en-US" sz="2000" dirty="0">
                <a:solidFill>
                  <a:srgbClr val="FFFFFF"/>
                </a:solidFill>
                <a:latin typeface="Calibri" pitchFamily="34" charset="0"/>
                <a:ea typeface="Calibri" pitchFamily="34" charset="-122"/>
                <a:cs typeface="Calibri" pitchFamily="34" charset="-120"/>
              </a:rPr>
              <a:t>Number of hours of exercise per week vs. resting heart rate — positive or negative?</a:t>
            </a:r>
            <a:endParaRPr lang="en-US" sz="2000" dirty="0"/>
          </a:p>
        </p:txBody>
      </p:sp>
      <p:sp>
        <p:nvSpPr>
          <p:cNvPr id="8" name="Shape 6"/>
          <p:cNvSpPr/>
          <p:nvPr/>
        </p:nvSpPr>
        <p:spPr>
          <a:xfrm>
            <a:off x="640080" y="3063240"/>
            <a:ext cx="502920" cy="502920"/>
          </a:xfrm>
          <a:prstGeom prst="ellipse">
            <a:avLst/>
          </a:prstGeom>
          <a:solidFill>
            <a:srgbClr val="F2A93B"/>
          </a:solidFill>
          <a:ln/>
        </p:spPr>
      </p:sp>
      <p:sp>
        <p:nvSpPr>
          <p:cNvPr id="9" name="Text 7"/>
          <p:cNvSpPr/>
          <p:nvPr/>
        </p:nvSpPr>
        <p:spPr>
          <a:xfrm>
            <a:off x="640080" y="3063240"/>
            <a:ext cx="502920" cy="502920"/>
          </a:xfrm>
          <a:prstGeom prst="rect">
            <a:avLst/>
          </a:prstGeom>
          <a:noFill/>
          <a:ln/>
        </p:spPr>
        <p:txBody>
          <a:bodyPr wrap="square" rtlCol="0" anchor="ctr"/>
          <a:lstStyle/>
          <a:p>
            <a:pPr marL="0" indent="0" algn="ctr">
              <a:buNone/>
            </a:pPr>
            <a:r>
              <a:rPr lang="en-US" sz="1400" b="1" dirty="0">
                <a:solidFill>
                  <a:srgbClr val="073B37"/>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1371600" y="3017520"/>
            <a:ext cx="9875520" cy="777240"/>
          </a:xfrm>
          <a:prstGeom prst="rect">
            <a:avLst/>
          </a:prstGeom>
          <a:noFill/>
          <a:ln/>
        </p:spPr>
        <p:txBody>
          <a:bodyPr wrap="square" rtlCol="0" anchor="ctr"/>
          <a:lstStyle/>
          <a:p>
            <a:pPr marL="0" indent="0">
              <a:buNone/>
            </a:pPr>
            <a:r>
              <a:rPr lang="en-US" sz="2000" dirty="0">
                <a:solidFill>
                  <a:srgbClr val="FFFFFF"/>
                </a:solidFill>
                <a:latin typeface="Calibri" pitchFamily="34" charset="0"/>
                <a:ea typeface="Calibri" pitchFamily="34" charset="-122"/>
                <a:cs typeface="Calibri" pitchFamily="34" charset="-120"/>
              </a:rPr>
              <a:t>A car's age vs. its resale value — positive or negative?</a:t>
            </a:r>
            <a:endParaRPr lang="en-US" sz="2000" dirty="0"/>
          </a:p>
        </p:txBody>
      </p:sp>
      <p:sp>
        <p:nvSpPr>
          <p:cNvPr id="11" name="Shape 9"/>
          <p:cNvSpPr/>
          <p:nvPr/>
        </p:nvSpPr>
        <p:spPr>
          <a:xfrm>
            <a:off x="640080" y="3977640"/>
            <a:ext cx="502920" cy="502920"/>
          </a:xfrm>
          <a:prstGeom prst="ellipse">
            <a:avLst/>
          </a:prstGeom>
          <a:solidFill>
            <a:srgbClr val="F2A93B"/>
          </a:solidFill>
          <a:ln/>
        </p:spPr>
      </p:sp>
      <p:sp>
        <p:nvSpPr>
          <p:cNvPr id="12" name="Text 10"/>
          <p:cNvSpPr/>
          <p:nvPr/>
        </p:nvSpPr>
        <p:spPr>
          <a:xfrm>
            <a:off x="640080" y="3977640"/>
            <a:ext cx="502920" cy="502920"/>
          </a:xfrm>
          <a:prstGeom prst="rect">
            <a:avLst/>
          </a:prstGeom>
          <a:noFill/>
          <a:ln/>
        </p:spPr>
        <p:txBody>
          <a:bodyPr wrap="square" rtlCol="0" anchor="ctr"/>
          <a:lstStyle/>
          <a:p>
            <a:pPr marL="0" indent="0" algn="ctr">
              <a:buNone/>
            </a:pPr>
            <a:r>
              <a:rPr lang="en-US" sz="1400" b="1" dirty="0">
                <a:solidFill>
                  <a:srgbClr val="073B37"/>
                </a:solidFill>
                <a:latin typeface="Calibri" pitchFamily="34" charset="0"/>
                <a:ea typeface="Calibri" pitchFamily="34" charset="-122"/>
                <a:cs typeface="Calibri" pitchFamily="34" charset="-120"/>
              </a:rPr>
              <a:t>3</a:t>
            </a:r>
            <a:endParaRPr lang="en-US" sz="1400" dirty="0"/>
          </a:p>
        </p:txBody>
      </p:sp>
      <p:sp>
        <p:nvSpPr>
          <p:cNvPr id="13" name="Text 11"/>
          <p:cNvSpPr/>
          <p:nvPr/>
        </p:nvSpPr>
        <p:spPr>
          <a:xfrm>
            <a:off x="1371600" y="3931920"/>
            <a:ext cx="9875520" cy="777240"/>
          </a:xfrm>
          <a:prstGeom prst="rect">
            <a:avLst/>
          </a:prstGeom>
          <a:noFill/>
          <a:ln/>
        </p:spPr>
        <p:txBody>
          <a:bodyPr wrap="square" rtlCol="0" anchor="ctr"/>
          <a:lstStyle/>
          <a:p>
            <a:pPr marL="0" indent="0">
              <a:buNone/>
            </a:pPr>
            <a:r>
              <a:rPr lang="en-US" sz="2000" dirty="0">
                <a:solidFill>
                  <a:srgbClr val="FFFFFF"/>
                </a:solidFill>
                <a:latin typeface="Calibri" pitchFamily="34" charset="0"/>
                <a:ea typeface="Calibri" pitchFamily="34" charset="-122"/>
                <a:cs typeface="Calibri" pitchFamily="34" charset="-120"/>
              </a:rPr>
              <a:t>Class attendance vs. final grade — positive or negative?</a:t>
            </a:r>
            <a:endParaRPr lang="en-US" sz="2000" dirty="0"/>
          </a:p>
        </p:txBody>
      </p:sp>
      <p:sp>
        <p:nvSpPr>
          <p:cNvPr id="14" name="Text 12"/>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5B7370"/>
                </a:solidFill>
                <a:latin typeface="Calibri" pitchFamily="34" charset="0"/>
                <a:ea typeface="Calibri" pitchFamily="34" charset="-122"/>
                <a:cs typeface="Calibri" pitchFamily="34" charset="-120"/>
              </a:rPr>
              <a:t>Presidency University | Dept. of AI &amp; Robotics | DSC4000 | Statics for Data Science</a:t>
            </a:r>
            <a:endParaRPr lang="en-US" sz="1000" dirty="0"/>
          </a:p>
        </p:txBody>
      </p:sp>
      <p:sp>
        <p:nvSpPr>
          <p:cNvPr id="15" name="Text 13"/>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7370"/>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3291840" cy="384048"/>
          </a:xfrm>
          <a:prstGeom prst="roundRect">
            <a:avLst>
              <a:gd name="adj" fmla="val 19048"/>
            </a:avLst>
          </a:prstGeom>
          <a:solidFill>
            <a:srgbClr val="E8F4F2"/>
          </a:solidFill>
          <a:ln/>
        </p:spPr>
      </p:sp>
      <p:sp>
        <p:nvSpPr>
          <p:cNvPr id="3" name="Text 1"/>
          <p:cNvSpPr/>
          <p:nvPr/>
        </p:nvSpPr>
        <p:spPr>
          <a:xfrm>
            <a:off x="548640" y="457200"/>
            <a:ext cx="3291840" cy="384048"/>
          </a:xfrm>
          <a:prstGeom prst="rect">
            <a:avLst/>
          </a:prstGeom>
          <a:noFill/>
          <a:ln/>
        </p:spPr>
        <p:txBody>
          <a:bodyPr wrap="square" rtlCol="0" anchor="ctr"/>
          <a:lstStyle/>
          <a:p>
            <a:pPr marL="0" indent="0" algn="ctr">
              <a:buNone/>
            </a:pPr>
            <a:r>
              <a:rPr lang="en-US" sz="1300" b="1" kern="0" spc="100" dirty="0">
                <a:solidFill>
                  <a:srgbClr val="0E5C56"/>
                </a:solidFill>
                <a:latin typeface="Calibri" pitchFamily="34" charset="0"/>
                <a:ea typeface="Calibri" pitchFamily="34" charset="-122"/>
                <a:cs typeface="Calibri" pitchFamily="34" charset="-120"/>
              </a:rPr>
              <a:t>REAL-WORLD APPLICATION</a:t>
            </a:r>
            <a:endParaRPr lang="en-US" sz="1300" dirty="0"/>
          </a:p>
        </p:txBody>
      </p:sp>
      <p:sp>
        <p:nvSpPr>
          <p:cNvPr id="4" name="Text 2"/>
          <p:cNvSpPr/>
          <p:nvPr/>
        </p:nvSpPr>
        <p:spPr>
          <a:xfrm>
            <a:off x="548640" y="960120"/>
            <a:ext cx="11091672" cy="914400"/>
          </a:xfrm>
          <a:prstGeom prst="rect">
            <a:avLst/>
          </a:prstGeom>
          <a:noFill/>
          <a:ln/>
        </p:spPr>
        <p:txBody>
          <a:bodyPr wrap="square" rtlCol="0" anchor="t"/>
          <a:lstStyle/>
          <a:p>
            <a:pPr marL="0" indent="0" algn="l">
              <a:buNone/>
            </a:pPr>
            <a:r>
              <a:rPr lang="en-US" sz="3200" b="1" dirty="0">
                <a:solidFill>
                  <a:srgbClr val="1B2B2A"/>
                </a:solidFill>
                <a:latin typeface="Cambria" pitchFamily="34" charset="0"/>
                <a:ea typeface="Cambria" pitchFamily="34" charset="-122"/>
                <a:cs typeface="Cambria" pitchFamily="34" charset="-120"/>
              </a:rPr>
              <a:t>Correlation in Healthcare</a:t>
            </a:r>
            <a:endParaRPr lang="en-US" sz="3200" dirty="0"/>
          </a:p>
        </p:txBody>
      </p:sp>
      <p:sp>
        <p:nvSpPr>
          <p:cNvPr id="5" name="Shape 3"/>
          <p:cNvSpPr/>
          <p:nvPr/>
        </p:nvSpPr>
        <p:spPr>
          <a:xfrm>
            <a:off x="548640" y="1993392"/>
            <a:ext cx="365760" cy="365760"/>
          </a:xfrm>
          <a:prstGeom prst="ellipse">
            <a:avLst/>
          </a:prstGeom>
          <a:solidFill>
            <a:srgbClr val="F2A93B"/>
          </a:solidFill>
          <a:ln/>
        </p:spPr>
      </p:sp>
      <p:sp>
        <p:nvSpPr>
          <p:cNvPr id="6" name="Text 4"/>
          <p:cNvSpPr/>
          <p:nvPr/>
        </p:nvSpPr>
        <p:spPr>
          <a:xfrm>
            <a:off x="548640" y="1993392"/>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7" name="Text 5"/>
          <p:cNvSpPr/>
          <p:nvPr/>
        </p:nvSpPr>
        <p:spPr>
          <a:xfrm>
            <a:off x="1143000" y="1965960"/>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Researchers examine correlation between a biomarker (like blood pressure) and disease risk.</a:t>
            </a:r>
            <a:endParaRPr lang="en-US" sz="2000" dirty="0"/>
          </a:p>
        </p:txBody>
      </p:sp>
      <p:sp>
        <p:nvSpPr>
          <p:cNvPr id="8" name="Shape 6"/>
          <p:cNvSpPr/>
          <p:nvPr/>
        </p:nvSpPr>
        <p:spPr>
          <a:xfrm>
            <a:off x="548640" y="3246120"/>
            <a:ext cx="365760" cy="365760"/>
          </a:xfrm>
          <a:prstGeom prst="ellipse">
            <a:avLst/>
          </a:prstGeom>
          <a:solidFill>
            <a:srgbClr val="F2A93B"/>
          </a:solidFill>
          <a:ln/>
        </p:spPr>
      </p:sp>
      <p:sp>
        <p:nvSpPr>
          <p:cNvPr id="9" name="Text 7"/>
          <p:cNvSpPr/>
          <p:nvPr/>
        </p:nvSpPr>
        <p:spPr>
          <a:xfrm>
            <a:off x="548640" y="3246120"/>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0" name="Text 8"/>
          <p:cNvSpPr/>
          <p:nvPr/>
        </p:nvSpPr>
        <p:spPr>
          <a:xfrm>
            <a:off x="1143000" y="3218688"/>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Correlation helps flag candidate risk factors before running expensive, controlled clinical trials.</a:t>
            </a:r>
            <a:endParaRPr lang="en-US" sz="2000" dirty="0"/>
          </a:p>
        </p:txBody>
      </p:sp>
      <p:sp>
        <p:nvSpPr>
          <p:cNvPr id="11" name="Shape 9"/>
          <p:cNvSpPr/>
          <p:nvPr/>
        </p:nvSpPr>
        <p:spPr>
          <a:xfrm>
            <a:off x="548640" y="4498848"/>
            <a:ext cx="365760" cy="365760"/>
          </a:xfrm>
          <a:prstGeom prst="ellipse">
            <a:avLst/>
          </a:prstGeom>
          <a:solidFill>
            <a:srgbClr val="F2A93B"/>
          </a:solidFill>
          <a:ln/>
        </p:spPr>
      </p:sp>
      <p:sp>
        <p:nvSpPr>
          <p:cNvPr id="12" name="Text 10"/>
          <p:cNvSpPr/>
          <p:nvPr/>
        </p:nvSpPr>
        <p:spPr>
          <a:xfrm>
            <a:off x="548640" y="4498848"/>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3" name="Text 11"/>
          <p:cNvSpPr/>
          <p:nvPr/>
        </p:nvSpPr>
        <p:spPr>
          <a:xfrm>
            <a:off x="1143000" y="4471416"/>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Medical imaging analytics uses correlation to check how strongly two extracted features relate.</a:t>
            </a:r>
            <a:endParaRPr lang="en-US" sz="2000" dirty="0"/>
          </a:p>
        </p:txBody>
      </p:sp>
      <p:sp>
        <p:nvSpPr>
          <p:cNvPr id="14" name="Shape 12"/>
          <p:cNvSpPr/>
          <p:nvPr/>
        </p:nvSpPr>
        <p:spPr>
          <a:xfrm>
            <a:off x="548640" y="5751576"/>
            <a:ext cx="365760" cy="365760"/>
          </a:xfrm>
          <a:prstGeom prst="ellipse">
            <a:avLst/>
          </a:prstGeom>
          <a:solidFill>
            <a:srgbClr val="F2A93B"/>
          </a:solidFill>
          <a:ln/>
        </p:spPr>
      </p:sp>
      <p:sp>
        <p:nvSpPr>
          <p:cNvPr id="15" name="Text 13"/>
          <p:cNvSpPr/>
          <p:nvPr/>
        </p:nvSpPr>
        <p:spPr>
          <a:xfrm>
            <a:off x="548640" y="5751576"/>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6" name="Text 14"/>
          <p:cNvSpPr/>
          <p:nvPr/>
        </p:nvSpPr>
        <p:spPr>
          <a:xfrm>
            <a:off x="1143000" y="5724144"/>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Caution: a strong correlation between a biomarker and an outcome is a starting hypothesis, never a diagnosis.</a:t>
            </a:r>
            <a:endParaRPr lang="en-US" sz="2000" dirty="0"/>
          </a:p>
        </p:txBody>
      </p:sp>
      <p:sp>
        <p:nvSpPr>
          <p:cNvPr id="17" name="Text 15"/>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5B7370"/>
                </a:solidFill>
                <a:latin typeface="Calibri" pitchFamily="34" charset="0"/>
                <a:ea typeface="Calibri" pitchFamily="34" charset="-122"/>
                <a:cs typeface="Calibri" pitchFamily="34" charset="-120"/>
              </a:rPr>
              <a:t>Presidency University | Dept. of AI &amp; Robotics | DSC4000 | Statics for Data Science</a:t>
            </a:r>
            <a:endParaRPr lang="en-US" sz="1000" dirty="0"/>
          </a:p>
        </p:txBody>
      </p:sp>
      <p:sp>
        <p:nvSpPr>
          <p:cNvPr id="18" name="Text 16"/>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7370"/>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3291840" cy="384048"/>
          </a:xfrm>
          <a:prstGeom prst="roundRect">
            <a:avLst>
              <a:gd name="adj" fmla="val 19048"/>
            </a:avLst>
          </a:prstGeom>
          <a:solidFill>
            <a:srgbClr val="E8F4F2"/>
          </a:solidFill>
          <a:ln/>
        </p:spPr>
      </p:sp>
      <p:sp>
        <p:nvSpPr>
          <p:cNvPr id="3" name="Text 1"/>
          <p:cNvSpPr/>
          <p:nvPr/>
        </p:nvSpPr>
        <p:spPr>
          <a:xfrm>
            <a:off x="548640" y="457200"/>
            <a:ext cx="3291840" cy="384048"/>
          </a:xfrm>
          <a:prstGeom prst="rect">
            <a:avLst/>
          </a:prstGeom>
          <a:noFill/>
          <a:ln/>
        </p:spPr>
        <p:txBody>
          <a:bodyPr wrap="square" rtlCol="0" anchor="ctr"/>
          <a:lstStyle/>
          <a:p>
            <a:pPr marL="0" indent="0" algn="ctr">
              <a:buNone/>
            </a:pPr>
            <a:r>
              <a:rPr lang="en-US" sz="1300" b="1" kern="0" spc="100" dirty="0">
                <a:solidFill>
                  <a:srgbClr val="0E5C56"/>
                </a:solidFill>
                <a:latin typeface="Calibri" pitchFamily="34" charset="0"/>
                <a:ea typeface="Calibri" pitchFamily="34" charset="-122"/>
                <a:cs typeface="Calibri" pitchFamily="34" charset="-120"/>
              </a:rPr>
              <a:t>REAL-WORLD APPLICATION</a:t>
            </a:r>
            <a:endParaRPr lang="en-US" sz="1300" dirty="0"/>
          </a:p>
        </p:txBody>
      </p:sp>
      <p:sp>
        <p:nvSpPr>
          <p:cNvPr id="4" name="Text 2"/>
          <p:cNvSpPr/>
          <p:nvPr/>
        </p:nvSpPr>
        <p:spPr>
          <a:xfrm>
            <a:off x="548640" y="960120"/>
            <a:ext cx="11091672" cy="914400"/>
          </a:xfrm>
          <a:prstGeom prst="rect">
            <a:avLst/>
          </a:prstGeom>
          <a:noFill/>
          <a:ln/>
        </p:spPr>
        <p:txBody>
          <a:bodyPr wrap="square" rtlCol="0" anchor="t"/>
          <a:lstStyle/>
          <a:p>
            <a:pPr marL="0" indent="0" algn="l">
              <a:buNone/>
            </a:pPr>
            <a:r>
              <a:rPr lang="en-US" sz="3200" b="1" dirty="0">
                <a:solidFill>
                  <a:srgbClr val="1B2B2A"/>
                </a:solidFill>
                <a:latin typeface="Cambria" pitchFamily="34" charset="0"/>
                <a:ea typeface="Cambria" pitchFamily="34" charset="-122"/>
                <a:cs typeface="Cambria" pitchFamily="34" charset="-120"/>
              </a:rPr>
              <a:t>Correlation in Finance</a:t>
            </a:r>
            <a:endParaRPr lang="en-US" sz="3200" dirty="0"/>
          </a:p>
        </p:txBody>
      </p:sp>
      <p:sp>
        <p:nvSpPr>
          <p:cNvPr id="5" name="Shape 3"/>
          <p:cNvSpPr/>
          <p:nvPr/>
        </p:nvSpPr>
        <p:spPr>
          <a:xfrm>
            <a:off x="548640" y="1993392"/>
            <a:ext cx="365760" cy="365760"/>
          </a:xfrm>
          <a:prstGeom prst="ellipse">
            <a:avLst/>
          </a:prstGeom>
          <a:solidFill>
            <a:srgbClr val="F2A93B"/>
          </a:solidFill>
          <a:ln/>
        </p:spPr>
      </p:sp>
      <p:sp>
        <p:nvSpPr>
          <p:cNvPr id="6" name="Text 4"/>
          <p:cNvSpPr/>
          <p:nvPr/>
        </p:nvSpPr>
        <p:spPr>
          <a:xfrm>
            <a:off x="548640" y="1993392"/>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7" name="Text 5"/>
          <p:cNvSpPr/>
          <p:nvPr/>
        </p:nvSpPr>
        <p:spPr>
          <a:xfrm>
            <a:off x="1143000" y="1965960"/>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Investors check correlation between two stocks or assets before building a portfolio.</a:t>
            </a:r>
            <a:endParaRPr lang="en-US" sz="2000" dirty="0"/>
          </a:p>
        </p:txBody>
      </p:sp>
      <p:sp>
        <p:nvSpPr>
          <p:cNvPr id="8" name="Shape 6"/>
          <p:cNvSpPr/>
          <p:nvPr/>
        </p:nvSpPr>
        <p:spPr>
          <a:xfrm>
            <a:off x="548640" y="3246120"/>
            <a:ext cx="365760" cy="365760"/>
          </a:xfrm>
          <a:prstGeom prst="ellipse">
            <a:avLst/>
          </a:prstGeom>
          <a:solidFill>
            <a:srgbClr val="F2A93B"/>
          </a:solidFill>
          <a:ln/>
        </p:spPr>
      </p:sp>
      <p:sp>
        <p:nvSpPr>
          <p:cNvPr id="9" name="Text 7"/>
          <p:cNvSpPr/>
          <p:nvPr/>
        </p:nvSpPr>
        <p:spPr>
          <a:xfrm>
            <a:off x="548640" y="3246120"/>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0" name="Text 8"/>
          <p:cNvSpPr/>
          <p:nvPr/>
        </p:nvSpPr>
        <p:spPr>
          <a:xfrm>
            <a:off x="1143000" y="3218688"/>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Low or negative correlation between assets helps diversify risk — if one falls, the other may not.</a:t>
            </a:r>
            <a:endParaRPr lang="en-US" sz="2000" dirty="0"/>
          </a:p>
        </p:txBody>
      </p:sp>
      <p:sp>
        <p:nvSpPr>
          <p:cNvPr id="11" name="Shape 9"/>
          <p:cNvSpPr/>
          <p:nvPr/>
        </p:nvSpPr>
        <p:spPr>
          <a:xfrm>
            <a:off x="548640" y="4498848"/>
            <a:ext cx="365760" cy="365760"/>
          </a:xfrm>
          <a:prstGeom prst="ellipse">
            <a:avLst/>
          </a:prstGeom>
          <a:solidFill>
            <a:srgbClr val="F2A93B"/>
          </a:solidFill>
          <a:ln/>
        </p:spPr>
      </p:sp>
      <p:sp>
        <p:nvSpPr>
          <p:cNvPr id="12" name="Text 10"/>
          <p:cNvSpPr/>
          <p:nvPr/>
        </p:nvSpPr>
        <p:spPr>
          <a:xfrm>
            <a:off x="548640" y="4498848"/>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3" name="Text 11"/>
          <p:cNvSpPr/>
          <p:nvPr/>
        </p:nvSpPr>
        <p:spPr>
          <a:xfrm>
            <a:off x="1143000" y="4471416"/>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Correlation matrices across many assets are a standard first output of portfolio-analysis software.</a:t>
            </a:r>
            <a:endParaRPr lang="en-US" sz="2000" dirty="0"/>
          </a:p>
        </p:txBody>
      </p:sp>
      <p:sp>
        <p:nvSpPr>
          <p:cNvPr id="14" name="Shape 12"/>
          <p:cNvSpPr/>
          <p:nvPr/>
        </p:nvSpPr>
        <p:spPr>
          <a:xfrm>
            <a:off x="548640" y="5751576"/>
            <a:ext cx="365760" cy="365760"/>
          </a:xfrm>
          <a:prstGeom prst="ellipse">
            <a:avLst/>
          </a:prstGeom>
          <a:solidFill>
            <a:srgbClr val="F2A93B"/>
          </a:solidFill>
          <a:ln/>
        </p:spPr>
      </p:sp>
      <p:sp>
        <p:nvSpPr>
          <p:cNvPr id="15" name="Text 13"/>
          <p:cNvSpPr/>
          <p:nvPr/>
        </p:nvSpPr>
        <p:spPr>
          <a:xfrm>
            <a:off x="548640" y="5751576"/>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6" name="Text 14"/>
          <p:cNvSpPr/>
          <p:nvPr/>
        </p:nvSpPr>
        <p:spPr>
          <a:xfrm>
            <a:off x="1143000" y="5724144"/>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A correlation that held in the past can break down suddenly during a market crisis — a well-known risk.</a:t>
            </a:r>
            <a:endParaRPr lang="en-US" sz="2000" dirty="0"/>
          </a:p>
        </p:txBody>
      </p:sp>
      <p:sp>
        <p:nvSpPr>
          <p:cNvPr id="17" name="Text 15"/>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5B7370"/>
                </a:solidFill>
                <a:latin typeface="Calibri" pitchFamily="34" charset="0"/>
                <a:ea typeface="Calibri" pitchFamily="34" charset="-122"/>
                <a:cs typeface="Calibri" pitchFamily="34" charset="-120"/>
              </a:rPr>
              <a:t>Presidency University | Dept. of AI &amp; Robotics | DSC4000 | Statics for Data Science</a:t>
            </a:r>
            <a:endParaRPr lang="en-US" sz="1000" dirty="0"/>
          </a:p>
        </p:txBody>
      </p:sp>
      <p:sp>
        <p:nvSpPr>
          <p:cNvPr id="18" name="Text 16"/>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7370"/>
                </a:solidFill>
                <a:latin typeface="Calibri" pitchFamily="34" charset="0"/>
                <a:ea typeface="Calibri" pitchFamily="34" charset="-122"/>
                <a:cs typeface="Calibri" pitchFamily="34" charset="-120"/>
              </a:rPr>
              <a:t>30</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3291840" cy="384048"/>
          </a:xfrm>
          <a:prstGeom prst="roundRect">
            <a:avLst>
              <a:gd name="adj" fmla="val 19048"/>
            </a:avLst>
          </a:prstGeom>
          <a:solidFill>
            <a:srgbClr val="E8F4F2"/>
          </a:solidFill>
          <a:ln/>
        </p:spPr>
      </p:sp>
      <p:sp>
        <p:nvSpPr>
          <p:cNvPr id="3" name="Text 1"/>
          <p:cNvSpPr/>
          <p:nvPr/>
        </p:nvSpPr>
        <p:spPr>
          <a:xfrm>
            <a:off x="548640" y="457200"/>
            <a:ext cx="3291840" cy="384048"/>
          </a:xfrm>
          <a:prstGeom prst="rect">
            <a:avLst/>
          </a:prstGeom>
          <a:noFill/>
          <a:ln/>
        </p:spPr>
        <p:txBody>
          <a:bodyPr wrap="square" rtlCol="0" anchor="ctr"/>
          <a:lstStyle/>
          <a:p>
            <a:pPr marL="0" indent="0" algn="ctr">
              <a:buNone/>
            </a:pPr>
            <a:r>
              <a:rPr lang="en-US" sz="1300" b="1" kern="0" spc="100" dirty="0">
                <a:solidFill>
                  <a:srgbClr val="0E5C56"/>
                </a:solidFill>
                <a:latin typeface="Calibri" pitchFamily="34" charset="0"/>
                <a:ea typeface="Calibri" pitchFamily="34" charset="-122"/>
                <a:cs typeface="Calibri" pitchFamily="34" charset="-120"/>
              </a:rPr>
              <a:t>REAL-WORLD APPLICATION</a:t>
            </a:r>
            <a:endParaRPr lang="en-US" sz="1300" dirty="0"/>
          </a:p>
        </p:txBody>
      </p:sp>
      <p:sp>
        <p:nvSpPr>
          <p:cNvPr id="4" name="Text 2"/>
          <p:cNvSpPr/>
          <p:nvPr/>
        </p:nvSpPr>
        <p:spPr>
          <a:xfrm>
            <a:off x="548640" y="960120"/>
            <a:ext cx="11091672" cy="914400"/>
          </a:xfrm>
          <a:prstGeom prst="rect">
            <a:avLst/>
          </a:prstGeom>
          <a:noFill/>
          <a:ln/>
        </p:spPr>
        <p:txBody>
          <a:bodyPr wrap="square" rtlCol="0" anchor="t"/>
          <a:lstStyle/>
          <a:p>
            <a:pPr marL="0" indent="0" algn="l">
              <a:buNone/>
            </a:pPr>
            <a:r>
              <a:rPr lang="en-US" sz="3200" b="1" dirty="0">
                <a:solidFill>
                  <a:srgbClr val="1B2B2A"/>
                </a:solidFill>
                <a:latin typeface="Cambria" pitchFamily="34" charset="0"/>
                <a:ea typeface="Cambria" pitchFamily="34" charset="-122"/>
                <a:cs typeface="Cambria" pitchFamily="34" charset="-120"/>
              </a:rPr>
              <a:t>Correlation in Sports &amp; Social Media Analytics</a:t>
            </a:r>
            <a:endParaRPr lang="en-US" sz="3200" dirty="0"/>
          </a:p>
        </p:txBody>
      </p:sp>
      <p:sp>
        <p:nvSpPr>
          <p:cNvPr id="5" name="Shape 3"/>
          <p:cNvSpPr/>
          <p:nvPr/>
        </p:nvSpPr>
        <p:spPr>
          <a:xfrm>
            <a:off x="548640" y="1993392"/>
            <a:ext cx="365760" cy="365760"/>
          </a:xfrm>
          <a:prstGeom prst="ellipse">
            <a:avLst/>
          </a:prstGeom>
          <a:solidFill>
            <a:srgbClr val="F2A93B"/>
          </a:solidFill>
          <a:ln/>
        </p:spPr>
      </p:sp>
      <p:sp>
        <p:nvSpPr>
          <p:cNvPr id="6" name="Text 4"/>
          <p:cNvSpPr/>
          <p:nvPr/>
        </p:nvSpPr>
        <p:spPr>
          <a:xfrm>
            <a:off x="548640" y="1993392"/>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7" name="Text 5"/>
          <p:cNvSpPr/>
          <p:nvPr/>
        </p:nvSpPr>
        <p:spPr>
          <a:xfrm>
            <a:off x="1143000" y="1965960"/>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Sports analysts check correlation between a player's training load and match performance.</a:t>
            </a:r>
            <a:endParaRPr lang="en-US" sz="2000" dirty="0"/>
          </a:p>
        </p:txBody>
      </p:sp>
      <p:sp>
        <p:nvSpPr>
          <p:cNvPr id="8" name="Shape 6"/>
          <p:cNvSpPr/>
          <p:nvPr/>
        </p:nvSpPr>
        <p:spPr>
          <a:xfrm>
            <a:off x="548640" y="3246120"/>
            <a:ext cx="365760" cy="365760"/>
          </a:xfrm>
          <a:prstGeom prst="ellipse">
            <a:avLst/>
          </a:prstGeom>
          <a:solidFill>
            <a:srgbClr val="F2A93B"/>
          </a:solidFill>
          <a:ln/>
        </p:spPr>
      </p:sp>
      <p:sp>
        <p:nvSpPr>
          <p:cNvPr id="9" name="Text 7"/>
          <p:cNvSpPr/>
          <p:nvPr/>
        </p:nvSpPr>
        <p:spPr>
          <a:xfrm>
            <a:off x="548640" y="3246120"/>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0" name="Text 8"/>
          <p:cNvSpPr/>
          <p:nvPr/>
        </p:nvSpPr>
        <p:spPr>
          <a:xfrm>
            <a:off x="1143000" y="3218688"/>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Social media platforms measure correlation between posting frequency and engagement metrics.</a:t>
            </a:r>
            <a:endParaRPr lang="en-US" sz="2000" dirty="0"/>
          </a:p>
        </p:txBody>
      </p:sp>
      <p:sp>
        <p:nvSpPr>
          <p:cNvPr id="11" name="Shape 9"/>
          <p:cNvSpPr/>
          <p:nvPr/>
        </p:nvSpPr>
        <p:spPr>
          <a:xfrm>
            <a:off x="548640" y="4498848"/>
            <a:ext cx="365760" cy="365760"/>
          </a:xfrm>
          <a:prstGeom prst="ellipse">
            <a:avLst/>
          </a:prstGeom>
          <a:solidFill>
            <a:srgbClr val="F2A93B"/>
          </a:solidFill>
          <a:ln/>
        </p:spPr>
      </p:sp>
      <p:sp>
        <p:nvSpPr>
          <p:cNvPr id="12" name="Text 10"/>
          <p:cNvSpPr/>
          <p:nvPr/>
        </p:nvSpPr>
        <p:spPr>
          <a:xfrm>
            <a:off x="548640" y="4498848"/>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3" name="Text 11"/>
          <p:cNvSpPr/>
          <p:nvPr/>
        </p:nvSpPr>
        <p:spPr>
          <a:xfrm>
            <a:off x="1143000" y="4471416"/>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Marketing teams use correlation to see which campaign variables move together with sales.</a:t>
            </a:r>
            <a:endParaRPr lang="en-US" sz="2000" dirty="0"/>
          </a:p>
        </p:txBody>
      </p:sp>
      <p:sp>
        <p:nvSpPr>
          <p:cNvPr id="14" name="Shape 12"/>
          <p:cNvSpPr/>
          <p:nvPr/>
        </p:nvSpPr>
        <p:spPr>
          <a:xfrm>
            <a:off x="548640" y="5751576"/>
            <a:ext cx="365760" cy="365760"/>
          </a:xfrm>
          <a:prstGeom prst="ellipse">
            <a:avLst/>
          </a:prstGeom>
          <a:solidFill>
            <a:srgbClr val="F2A93B"/>
          </a:solidFill>
          <a:ln/>
        </p:spPr>
      </p:sp>
      <p:sp>
        <p:nvSpPr>
          <p:cNvPr id="15" name="Text 13"/>
          <p:cNvSpPr/>
          <p:nvPr/>
        </p:nvSpPr>
        <p:spPr>
          <a:xfrm>
            <a:off x="548640" y="5751576"/>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6" name="Text 14"/>
          <p:cNvSpPr/>
          <p:nvPr/>
        </p:nvSpPr>
        <p:spPr>
          <a:xfrm>
            <a:off x="1143000" y="5724144"/>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In every case, correlation is a starting signal for deeper analysis, not a final answer.</a:t>
            </a:r>
            <a:endParaRPr lang="en-US" sz="2000" dirty="0"/>
          </a:p>
        </p:txBody>
      </p:sp>
      <p:sp>
        <p:nvSpPr>
          <p:cNvPr id="17" name="Text 15"/>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5B7370"/>
                </a:solidFill>
                <a:latin typeface="Calibri" pitchFamily="34" charset="0"/>
                <a:ea typeface="Calibri" pitchFamily="34" charset="-122"/>
                <a:cs typeface="Calibri" pitchFamily="34" charset="-120"/>
              </a:rPr>
              <a:t>Presidency University | Dept. of AI &amp; Robotics | DSC4000 | Statics for Data Science</a:t>
            </a:r>
            <a:endParaRPr lang="en-US" sz="1000" dirty="0"/>
          </a:p>
        </p:txBody>
      </p:sp>
      <p:sp>
        <p:nvSpPr>
          <p:cNvPr id="18" name="Text 16"/>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7370"/>
                </a:solidFill>
                <a:latin typeface="Calibri" pitchFamily="34" charset="0"/>
                <a:ea typeface="Calibri" pitchFamily="34" charset="-122"/>
                <a:cs typeface="Calibri" pitchFamily="34" charset="-120"/>
              </a:rPr>
              <a:t>31</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3291840" cy="384048"/>
          </a:xfrm>
          <a:prstGeom prst="roundRect">
            <a:avLst>
              <a:gd name="adj" fmla="val 19048"/>
            </a:avLst>
          </a:prstGeom>
          <a:solidFill>
            <a:srgbClr val="E8F4F2"/>
          </a:solidFill>
          <a:ln/>
        </p:spPr>
      </p:sp>
      <p:sp>
        <p:nvSpPr>
          <p:cNvPr id="3" name="Text 1"/>
          <p:cNvSpPr/>
          <p:nvPr/>
        </p:nvSpPr>
        <p:spPr>
          <a:xfrm>
            <a:off x="548640" y="457200"/>
            <a:ext cx="3291840" cy="384048"/>
          </a:xfrm>
          <a:prstGeom prst="rect">
            <a:avLst/>
          </a:prstGeom>
          <a:noFill/>
          <a:ln/>
        </p:spPr>
        <p:txBody>
          <a:bodyPr wrap="square" rtlCol="0" anchor="ctr"/>
          <a:lstStyle/>
          <a:p>
            <a:pPr marL="0" indent="0" algn="ctr">
              <a:buNone/>
            </a:pPr>
            <a:r>
              <a:rPr lang="en-US" sz="1300" b="1" kern="0" spc="100" dirty="0">
                <a:solidFill>
                  <a:srgbClr val="0E5C56"/>
                </a:solidFill>
                <a:latin typeface="Calibri" pitchFamily="34" charset="0"/>
                <a:ea typeface="Calibri" pitchFamily="34" charset="-122"/>
                <a:cs typeface="Calibri" pitchFamily="34" charset="-120"/>
              </a:rPr>
              <a:t>DATA VISUALIZATION</a:t>
            </a:r>
            <a:endParaRPr lang="en-US" sz="1300" dirty="0"/>
          </a:p>
        </p:txBody>
      </p:sp>
      <p:sp>
        <p:nvSpPr>
          <p:cNvPr id="4" name="Text 2"/>
          <p:cNvSpPr/>
          <p:nvPr/>
        </p:nvSpPr>
        <p:spPr>
          <a:xfrm>
            <a:off x="548640" y="960120"/>
            <a:ext cx="11091672" cy="914400"/>
          </a:xfrm>
          <a:prstGeom prst="rect">
            <a:avLst/>
          </a:prstGeom>
          <a:noFill/>
          <a:ln/>
        </p:spPr>
        <p:txBody>
          <a:bodyPr wrap="square" rtlCol="0" anchor="t"/>
          <a:lstStyle/>
          <a:p>
            <a:pPr marL="0" indent="0" algn="l">
              <a:buNone/>
            </a:pPr>
            <a:r>
              <a:rPr lang="en-US" sz="3200" b="1" dirty="0">
                <a:solidFill>
                  <a:srgbClr val="1B2B2A"/>
                </a:solidFill>
                <a:latin typeface="Cambria" pitchFamily="34" charset="0"/>
                <a:ea typeface="Cambria" pitchFamily="34" charset="-122"/>
                <a:cs typeface="Cambria" pitchFamily="34" charset="-120"/>
              </a:rPr>
              <a:t>Visualizing Relationships — Beyond the Scatter Plot</a:t>
            </a:r>
            <a:endParaRPr lang="en-US" sz="3200" dirty="0"/>
          </a:p>
        </p:txBody>
      </p:sp>
      <p:sp>
        <p:nvSpPr>
          <p:cNvPr id="5" name="Shape 3"/>
          <p:cNvSpPr/>
          <p:nvPr/>
        </p:nvSpPr>
        <p:spPr>
          <a:xfrm>
            <a:off x="548640" y="1993392"/>
            <a:ext cx="365760" cy="365760"/>
          </a:xfrm>
          <a:prstGeom prst="ellipse">
            <a:avLst/>
          </a:prstGeom>
          <a:solidFill>
            <a:srgbClr val="F2A93B"/>
          </a:solidFill>
          <a:ln/>
        </p:spPr>
      </p:sp>
      <p:sp>
        <p:nvSpPr>
          <p:cNvPr id="6" name="Text 4"/>
          <p:cNvSpPr/>
          <p:nvPr/>
        </p:nvSpPr>
        <p:spPr>
          <a:xfrm>
            <a:off x="548640" y="1993392"/>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7" name="Text 5"/>
          <p:cNvSpPr/>
          <p:nvPr/>
        </p:nvSpPr>
        <p:spPr>
          <a:xfrm>
            <a:off x="1143000" y="1965960"/>
            <a:ext cx="10497312" cy="612648"/>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A scatter plot works well for ONE pair of variables at a time.</a:t>
            </a:r>
            <a:endParaRPr lang="en-US" sz="2000" dirty="0"/>
          </a:p>
        </p:txBody>
      </p:sp>
      <p:sp>
        <p:nvSpPr>
          <p:cNvPr id="8" name="Shape 6"/>
          <p:cNvSpPr/>
          <p:nvPr/>
        </p:nvSpPr>
        <p:spPr>
          <a:xfrm>
            <a:off x="548640" y="2862072"/>
            <a:ext cx="365760" cy="365760"/>
          </a:xfrm>
          <a:prstGeom prst="ellipse">
            <a:avLst/>
          </a:prstGeom>
          <a:solidFill>
            <a:srgbClr val="F2A93B"/>
          </a:solidFill>
          <a:ln/>
        </p:spPr>
      </p:sp>
      <p:sp>
        <p:nvSpPr>
          <p:cNvPr id="9" name="Text 7"/>
          <p:cNvSpPr/>
          <p:nvPr/>
        </p:nvSpPr>
        <p:spPr>
          <a:xfrm>
            <a:off x="548640" y="2862072"/>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0" name="Text 8"/>
          <p:cNvSpPr/>
          <p:nvPr/>
        </p:nvSpPr>
        <p:spPr>
          <a:xfrm>
            <a:off x="1143000" y="2834640"/>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Real datasets often have many variables — we need a way to see all pairwise relationships at once.</a:t>
            </a:r>
            <a:endParaRPr lang="en-US" sz="2000" dirty="0"/>
          </a:p>
        </p:txBody>
      </p:sp>
      <p:sp>
        <p:nvSpPr>
          <p:cNvPr id="11" name="Shape 9"/>
          <p:cNvSpPr/>
          <p:nvPr/>
        </p:nvSpPr>
        <p:spPr>
          <a:xfrm>
            <a:off x="548640" y="4114800"/>
            <a:ext cx="365760" cy="365760"/>
          </a:xfrm>
          <a:prstGeom prst="ellipse">
            <a:avLst/>
          </a:prstGeom>
          <a:solidFill>
            <a:srgbClr val="F2A93B"/>
          </a:solidFill>
          <a:ln/>
        </p:spPr>
      </p:sp>
      <p:sp>
        <p:nvSpPr>
          <p:cNvPr id="12" name="Text 10"/>
          <p:cNvSpPr/>
          <p:nvPr/>
        </p:nvSpPr>
        <p:spPr>
          <a:xfrm>
            <a:off x="548640" y="4114800"/>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3" name="Text 11"/>
          <p:cNvSpPr/>
          <p:nvPr/>
        </p:nvSpPr>
        <p:spPr>
          <a:xfrm>
            <a:off x="1143000" y="4087368"/>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Two powerful tools: the correlation heatmap and the pair plot (scatterplot matrix).</a:t>
            </a:r>
            <a:endParaRPr lang="en-US" sz="2000" dirty="0"/>
          </a:p>
        </p:txBody>
      </p:sp>
      <p:sp>
        <p:nvSpPr>
          <p:cNvPr id="14" name="Shape 12"/>
          <p:cNvSpPr/>
          <p:nvPr/>
        </p:nvSpPr>
        <p:spPr>
          <a:xfrm>
            <a:off x="548640" y="5367528"/>
            <a:ext cx="365760" cy="365760"/>
          </a:xfrm>
          <a:prstGeom prst="ellipse">
            <a:avLst/>
          </a:prstGeom>
          <a:solidFill>
            <a:srgbClr val="F2A93B"/>
          </a:solidFill>
          <a:ln/>
        </p:spPr>
      </p:sp>
      <p:sp>
        <p:nvSpPr>
          <p:cNvPr id="15" name="Text 13"/>
          <p:cNvSpPr/>
          <p:nvPr/>
        </p:nvSpPr>
        <p:spPr>
          <a:xfrm>
            <a:off x="548640" y="5367528"/>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6" name="Text 14"/>
          <p:cNvSpPr/>
          <p:nvPr/>
        </p:nvSpPr>
        <p:spPr>
          <a:xfrm>
            <a:off x="1143000" y="5340096"/>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Both are visual summaries of many correlation coefficients computed at once.</a:t>
            </a:r>
            <a:endParaRPr lang="en-US" sz="2000" dirty="0"/>
          </a:p>
        </p:txBody>
      </p:sp>
      <p:sp>
        <p:nvSpPr>
          <p:cNvPr id="17" name="Text 15"/>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5B7370"/>
                </a:solidFill>
                <a:latin typeface="Calibri" pitchFamily="34" charset="0"/>
                <a:ea typeface="Calibri" pitchFamily="34" charset="-122"/>
                <a:cs typeface="Calibri" pitchFamily="34" charset="-120"/>
              </a:rPr>
              <a:t>Presidency University | Dept. of AI &amp; Robotics | DSC4000 | Statics for Data Science</a:t>
            </a:r>
            <a:endParaRPr lang="en-US" sz="1000" dirty="0"/>
          </a:p>
        </p:txBody>
      </p:sp>
      <p:sp>
        <p:nvSpPr>
          <p:cNvPr id="18" name="Text 16"/>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7370"/>
                </a:solidFill>
                <a:latin typeface="Calibri" pitchFamily="34" charset="0"/>
                <a:ea typeface="Calibri" pitchFamily="34" charset="-122"/>
                <a:cs typeface="Calibri" pitchFamily="34" charset="-120"/>
              </a:rPr>
              <a:t>32</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3291840" cy="384048"/>
          </a:xfrm>
          <a:prstGeom prst="roundRect">
            <a:avLst>
              <a:gd name="adj" fmla="val 19048"/>
            </a:avLst>
          </a:prstGeom>
          <a:solidFill>
            <a:srgbClr val="E8F4F2"/>
          </a:solidFill>
          <a:ln/>
        </p:spPr>
      </p:sp>
      <p:sp>
        <p:nvSpPr>
          <p:cNvPr id="3" name="Text 1"/>
          <p:cNvSpPr/>
          <p:nvPr/>
        </p:nvSpPr>
        <p:spPr>
          <a:xfrm>
            <a:off x="548640" y="457200"/>
            <a:ext cx="3291840" cy="384048"/>
          </a:xfrm>
          <a:prstGeom prst="rect">
            <a:avLst/>
          </a:prstGeom>
          <a:noFill/>
          <a:ln/>
        </p:spPr>
        <p:txBody>
          <a:bodyPr wrap="square" rtlCol="0" anchor="ctr"/>
          <a:lstStyle/>
          <a:p>
            <a:pPr marL="0" indent="0" algn="ctr">
              <a:buNone/>
            </a:pPr>
            <a:r>
              <a:rPr lang="en-US" sz="1300" b="1" kern="0" spc="100" dirty="0">
                <a:solidFill>
                  <a:srgbClr val="0E5C56"/>
                </a:solidFill>
                <a:latin typeface="Calibri" pitchFamily="34" charset="0"/>
                <a:ea typeface="Calibri" pitchFamily="34" charset="-122"/>
                <a:cs typeface="Calibri" pitchFamily="34" charset="-120"/>
              </a:rPr>
              <a:t>DATA VISUALIZATION</a:t>
            </a:r>
            <a:endParaRPr lang="en-US" sz="1300" dirty="0"/>
          </a:p>
        </p:txBody>
      </p:sp>
      <p:sp>
        <p:nvSpPr>
          <p:cNvPr id="4" name="Text 2"/>
          <p:cNvSpPr/>
          <p:nvPr/>
        </p:nvSpPr>
        <p:spPr>
          <a:xfrm>
            <a:off x="548640" y="960120"/>
            <a:ext cx="11091672" cy="914400"/>
          </a:xfrm>
          <a:prstGeom prst="rect">
            <a:avLst/>
          </a:prstGeom>
          <a:noFill/>
          <a:ln/>
        </p:spPr>
        <p:txBody>
          <a:bodyPr wrap="square" rtlCol="0" anchor="t"/>
          <a:lstStyle/>
          <a:p>
            <a:pPr marL="0" indent="0" algn="l">
              <a:buNone/>
            </a:pPr>
            <a:r>
              <a:rPr lang="en-US" sz="3200" b="1" dirty="0">
                <a:solidFill>
                  <a:srgbClr val="1B2B2A"/>
                </a:solidFill>
                <a:latin typeface="Cambria" pitchFamily="34" charset="0"/>
                <a:ea typeface="Cambria" pitchFamily="34" charset="-122"/>
                <a:cs typeface="Cambria" pitchFamily="34" charset="-120"/>
              </a:rPr>
              <a:t>The Correlation Heatmap</a:t>
            </a:r>
            <a:endParaRPr lang="en-US" sz="3200" dirty="0"/>
          </a:p>
        </p:txBody>
      </p:sp>
      <p:sp>
        <p:nvSpPr>
          <p:cNvPr id="5" name="Text 3"/>
          <p:cNvSpPr/>
          <p:nvPr/>
        </p:nvSpPr>
        <p:spPr>
          <a:xfrm>
            <a:off x="2377440" y="1645920"/>
            <a:ext cx="960120" cy="457200"/>
          </a:xfrm>
          <a:prstGeom prst="rect">
            <a:avLst/>
          </a:prstGeom>
          <a:noFill/>
          <a:ln/>
        </p:spPr>
        <p:txBody>
          <a:bodyPr wrap="square" rtlCol="0" anchor="b"/>
          <a:lstStyle/>
          <a:p>
            <a:pPr marL="0" indent="0" algn="ctr">
              <a:buNone/>
            </a:pPr>
            <a:r>
              <a:rPr lang="en-US" sz="1300" b="1" dirty="0">
                <a:solidFill>
                  <a:srgbClr val="1B2B2A"/>
                </a:solidFill>
                <a:latin typeface="Calibri" pitchFamily="34" charset="0"/>
                <a:ea typeface="Calibri" pitchFamily="34" charset="-122"/>
                <a:cs typeface="Calibri" pitchFamily="34" charset="-120"/>
              </a:rPr>
              <a:t>Hours</a:t>
            </a:r>
            <a:endParaRPr lang="en-US" sz="1300" dirty="0"/>
          </a:p>
        </p:txBody>
      </p:sp>
      <p:sp>
        <p:nvSpPr>
          <p:cNvPr id="6" name="Text 4"/>
          <p:cNvSpPr/>
          <p:nvPr/>
        </p:nvSpPr>
        <p:spPr>
          <a:xfrm>
            <a:off x="3337560" y="1645920"/>
            <a:ext cx="960120" cy="457200"/>
          </a:xfrm>
          <a:prstGeom prst="rect">
            <a:avLst/>
          </a:prstGeom>
          <a:noFill/>
          <a:ln/>
        </p:spPr>
        <p:txBody>
          <a:bodyPr wrap="square" rtlCol="0" anchor="b"/>
          <a:lstStyle/>
          <a:p>
            <a:pPr marL="0" indent="0" algn="ctr">
              <a:buNone/>
            </a:pPr>
            <a:r>
              <a:rPr lang="en-US" sz="1300" b="1" dirty="0">
                <a:solidFill>
                  <a:srgbClr val="1B2B2A"/>
                </a:solidFill>
                <a:latin typeface="Calibri" pitchFamily="34" charset="0"/>
                <a:ea typeface="Calibri" pitchFamily="34" charset="-122"/>
                <a:cs typeface="Calibri" pitchFamily="34" charset="-120"/>
              </a:rPr>
              <a:t>Marks</a:t>
            </a:r>
            <a:endParaRPr lang="en-US" sz="1300" dirty="0"/>
          </a:p>
        </p:txBody>
      </p:sp>
      <p:sp>
        <p:nvSpPr>
          <p:cNvPr id="7" name="Text 5"/>
          <p:cNvSpPr/>
          <p:nvPr/>
        </p:nvSpPr>
        <p:spPr>
          <a:xfrm>
            <a:off x="4297680" y="1645920"/>
            <a:ext cx="960120" cy="457200"/>
          </a:xfrm>
          <a:prstGeom prst="rect">
            <a:avLst/>
          </a:prstGeom>
          <a:noFill/>
          <a:ln/>
        </p:spPr>
        <p:txBody>
          <a:bodyPr wrap="square" rtlCol="0" anchor="b"/>
          <a:lstStyle/>
          <a:p>
            <a:pPr marL="0" indent="0" algn="ctr">
              <a:buNone/>
            </a:pPr>
            <a:r>
              <a:rPr lang="en-US" sz="1300" b="1" dirty="0">
                <a:solidFill>
                  <a:srgbClr val="1B2B2A"/>
                </a:solidFill>
                <a:latin typeface="Calibri" pitchFamily="34" charset="0"/>
                <a:ea typeface="Calibri" pitchFamily="34" charset="-122"/>
                <a:cs typeface="Calibri" pitchFamily="34" charset="-120"/>
              </a:rPr>
              <a:t>Attend.</a:t>
            </a:r>
            <a:endParaRPr lang="en-US" sz="1300" dirty="0"/>
          </a:p>
        </p:txBody>
      </p:sp>
      <p:sp>
        <p:nvSpPr>
          <p:cNvPr id="8" name="Text 6"/>
          <p:cNvSpPr/>
          <p:nvPr/>
        </p:nvSpPr>
        <p:spPr>
          <a:xfrm>
            <a:off x="640080" y="2148840"/>
            <a:ext cx="1600200" cy="960120"/>
          </a:xfrm>
          <a:prstGeom prst="rect">
            <a:avLst/>
          </a:prstGeom>
          <a:noFill/>
          <a:ln/>
        </p:spPr>
        <p:txBody>
          <a:bodyPr wrap="square" rtlCol="0" anchor="ctr"/>
          <a:lstStyle/>
          <a:p>
            <a:pPr marL="0" indent="0" algn="r">
              <a:buNone/>
            </a:pPr>
            <a:r>
              <a:rPr lang="en-US" sz="1300" b="1" dirty="0">
                <a:solidFill>
                  <a:srgbClr val="1B2B2A"/>
                </a:solidFill>
                <a:latin typeface="Calibri" pitchFamily="34" charset="0"/>
                <a:ea typeface="Calibri" pitchFamily="34" charset="-122"/>
                <a:cs typeface="Calibri" pitchFamily="34" charset="-120"/>
              </a:rPr>
              <a:t>Hours</a:t>
            </a:r>
            <a:endParaRPr lang="en-US" sz="1300" dirty="0"/>
          </a:p>
        </p:txBody>
      </p:sp>
      <p:sp>
        <p:nvSpPr>
          <p:cNvPr id="9" name="Shape 7"/>
          <p:cNvSpPr/>
          <p:nvPr/>
        </p:nvSpPr>
        <p:spPr>
          <a:xfrm>
            <a:off x="2377440" y="2148840"/>
            <a:ext cx="905256" cy="905256"/>
          </a:xfrm>
          <a:prstGeom prst="rect">
            <a:avLst/>
          </a:prstGeom>
          <a:solidFill>
            <a:srgbClr val="0E5C56"/>
          </a:solidFill>
          <a:ln w="25400">
            <a:solidFill>
              <a:srgbClr val="FFFFFF"/>
            </a:solidFill>
            <a:prstDash val="solid"/>
          </a:ln>
        </p:spPr>
      </p:sp>
      <p:sp>
        <p:nvSpPr>
          <p:cNvPr id="10" name="Text 8"/>
          <p:cNvSpPr/>
          <p:nvPr/>
        </p:nvSpPr>
        <p:spPr>
          <a:xfrm>
            <a:off x="2377440" y="2148840"/>
            <a:ext cx="905256" cy="905256"/>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1.00</a:t>
            </a:r>
            <a:endParaRPr lang="en-US" sz="1500" dirty="0"/>
          </a:p>
        </p:txBody>
      </p:sp>
      <p:sp>
        <p:nvSpPr>
          <p:cNvPr id="11" name="Shape 9"/>
          <p:cNvSpPr/>
          <p:nvPr/>
        </p:nvSpPr>
        <p:spPr>
          <a:xfrm>
            <a:off x="3337560" y="2148840"/>
            <a:ext cx="905256" cy="905256"/>
          </a:xfrm>
          <a:prstGeom prst="rect">
            <a:avLst/>
          </a:prstGeom>
          <a:solidFill>
            <a:srgbClr val="15615B"/>
          </a:solidFill>
          <a:ln w="25400">
            <a:solidFill>
              <a:srgbClr val="FFFFFF"/>
            </a:solidFill>
            <a:prstDash val="solid"/>
          </a:ln>
        </p:spPr>
      </p:sp>
      <p:sp>
        <p:nvSpPr>
          <p:cNvPr id="12" name="Text 10"/>
          <p:cNvSpPr/>
          <p:nvPr/>
        </p:nvSpPr>
        <p:spPr>
          <a:xfrm>
            <a:off x="3337560" y="2148840"/>
            <a:ext cx="905256" cy="905256"/>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0.97</a:t>
            </a:r>
            <a:endParaRPr lang="en-US" sz="1500" dirty="0"/>
          </a:p>
        </p:txBody>
      </p:sp>
      <p:sp>
        <p:nvSpPr>
          <p:cNvPr id="13" name="Shape 11"/>
          <p:cNvSpPr/>
          <p:nvPr/>
        </p:nvSpPr>
        <p:spPr>
          <a:xfrm>
            <a:off x="4297680" y="2148840"/>
            <a:ext cx="905256" cy="905256"/>
          </a:xfrm>
          <a:prstGeom prst="rect">
            <a:avLst/>
          </a:prstGeom>
          <a:solidFill>
            <a:srgbClr val="6A9A96"/>
          </a:solidFill>
          <a:ln w="25400">
            <a:solidFill>
              <a:srgbClr val="FFFFFF"/>
            </a:solidFill>
            <a:prstDash val="solid"/>
          </a:ln>
        </p:spPr>
      </p:sp>
      <p:sp>
        <p:nvSpPr>
          <p:cNvPr id="14" name="Text 12"/>
          <p:cNvSpPr/>
          <p:nvPr/>
        </p:nvSpPr>
        <p:spPr>
          <a:xfrm>
            <a:off x="4297680" y="2148840"/>
            <a:ext cx="905256" cy="905256"/>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0.62</a:t>
            </a:r>
            <a:endParaRPr lang="en-US" sz="1500" dirty="0"/>
          </a:p>
        </p:txBody>
      </p:sp>
      <p:sp>
        <p:nvSpPr>
          <p:cNvPr id="15" name="Text 13"/>
          <p:cNvSpPr/>
          <p:nvPr/>
        </p:nvSpPr>
        <p:spPr>
          <a:xfrm>
            <a:off x="640080" y="3108960"/>
            <a:ext cx="1600200" cy="960120"/>
          </a:xfrm>
          <a:prstGeom prst="rect">
            <a:avLst/>
          </a:prstGeom>
          <a:noFill/>
          <a:ln/>
        </p:spPr>
        <p:txBody>
          <a:bodyPr wrap="square" rtlCol="0" anchor="ctr"/>
          <a:lstStyle/>
          <a:p>
            <a:pPr marL="0" indent="0" algn="r">
              <a:buNone/>
            </a:pPr>
            <a:r>
              <a:rPr lang="en-US" sz="1300" b="1" dirty="0">
                <a:solidFill>
                  <a:srgbClr val="1B2B2A"/>
                </a:solidFill>
                <a:latin typeface="Calibri" pitchFamily="34" charset="0"/>
                <a:ea typeface="Calibri" pitchFamily="34" charset="-122"/>
                <a:cs typeface="Calibri" pitchFamily="34" charset="-120"/>
              </a:rPr>
              <a:t>Marks</a:t>
            </a:r>
            <a:endParaRPr lang="en-US" sz="1300" dirty="0"/>
          </a:p>
        </p:txBody>
      </p:sp>
      <p:sp>
        <p:nvSpPr>
          <p:cNvPr id="16" name="Shape 14"/>
          <p:cNvSpPr/>
          <p:nvPr/>
        </p:nvSpPr>
        <p:spPr>
          <a:xfrm>
            <a:off x="2377440" y="3108960"/>
            <a:ext cx="905256" cy="905256"/>
          </a:xfrm>
          <a:prstGeom prst="rect">
            <a:avLst/>
          </a:prstGeom>
          <a:solidFill>
            <a:srgbClr val="15615B"/>
          </a:solidFill>
          <a:ln w="25400">
            <a:solidFill>
              <a:srgbClr val="FFFFFF"/>
            </a:solidFill>
            <a:prstDash val="solid"/>
          </a:ln>
        </p:spPr>
      </p:sp>
      <p:sp>
        <p:nvSpPr>
          <p:cNvPr id="17" name="Text 15"/>
          <p:cNvSpPr/>
          <p:nvPr/>
        </p:nvSpPr>
        <p:spPr>
          <a:xfrm>
            <a:off x="2377440" y="3108960"/>
            <a:ext cx="905256" cy="905256"/>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0.97</a:t>
            </a:r>
            <a:endParaRPr lang="en-US" sz="1500" dirty="0"/>
          </a:p>
        </p:txBody>
      </p:sp>
      <p:sp>
        <p:nvSpPr>
          <p:cNvPr id="18" name="Shape 16"/>
          <p:cNvSpPr/>
          <p:nvPr/>
        </p:nvSpPr>
        <p:spPr>
          <a:xfrm>
            <a:off x="3337560" y="3108960"/>
            <a:ext cx="905256" cy="905256"/>
          </a:xfrm>
          <a:prstGeom prst="rect">
            <a:avLst/>
          </a:prstGeom>
          <a:solidFill>
            <a:srgbClr val="0E5C56"/>
          </a:solidFill>
          <a:ln w="25400">
            <a:solidFill>
              <a:srgbClr val="FFFFFF"/>
            </a:solidFill>
            <a:prstDash val="solid"/>
          </a:ln>
        </p:spPr>
      </p:sp>
      <p:sp>
        <p:nvSpPr>
          <p:cNvPr id="19" name="Text 17"/>
          <p:cNvSpPr/>
          <p:nvPr/>
        </p:nvSpPr>
        <p:spPr>
          <a:xfrm>
            <a:off x="3337560" y="3108960"/>
            <a:ext cx="905256" cy="905256"/>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1.00</a:t>
            </a:r>
            <a:endParaRPr lang="en-US" sz="1500" dirty="0"/>
          </a:p>
        </p:txBody>
      </p:sp>
      <p:sp>
        <p:nvSpPr>
          <p:cNvPr id="20" name="Shape 18"/>
          <p:cNvSpPr/>
          <p:nvPr/>
        </p:nvSpPr>
        <p:spPr>
          <a:xfrm>
            <a:off x="4297680" y="3108960"/>
            <a:ext cx="905256" cy="905256"/>
          </a:xfrm>
          <a:prstGeom prst="rect">
            <a:avLst/>
          </a:prstGeom>
          <a:solidFill>
            <a:srgbClr val="73A09D"/>
          </a:solidFill>
          <a:ln w="25400">
            <a:solidFill>
              <a:srgbClr val="FFFFFF"/>
            </a:solidFill>
            <a:prstDash val="solid"/>
          </a:ln>
        </p:spPr>
      </p:sp>
      <p:sp>
        <p:nvSpPr>
          <p:cNvPr id="21" name="Text 19"/>
          <p:cNvSpPr/>
          <p:nvPr/>
        </p:nvSpPr>
        <p:spPr>
          <a:xfrm>
            <a:off x="4297680" y="3108960"/>
            <a:ext cx="905256" cy="905256"/>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0.58</a:t>
            </a:r>
            <a:endParaRPr lang="en-US" sz="1500" dirty="0"/>
          </a:p>
        </p:txBody>
      </p:sp>
      <p:sp>
        <p:nvSpPr>
          <p:cNvPr id="22" name="Text 20"/>
          <p:cNvSpPr/>
          <p:nvPr/>
        </p:nvSpPr>
        <p:spPr>
          <a:xfrm>
            <a:off x="640080" y="4069080"/>
            <a:ext cx="1600200" cy="960120"/>
          </a:xfrm>
          <a:prstGeom prst="rect">
            <a:avLst/>
          </a:prstGeom>
          <a:noFill/>
          <a:ln/>
        </p:spPr>
        <p:txBody>
          <a:bodyPr wrap="square" rtlCol="0" anchor="ctr"/>
          <a:lstStyle/>
          <a:p>
            <a:pPr marL="0" indent="0" algn="r">
              <a:buNone/>
            </a:pPr>
            <a:r>
              <a:rPr lang="en-US" sz="1300" b="1" dirty="0">
                <a:solidFill>
                  <a:srgbClr val="1B2B2A"/>
                </a:solidFill>
                <a:latin typeface="Calibri" pitchFamily="34" charset="0"/>
                <a:ea typeface="Calibri" pitchFamily="34" charset="-122"/>
                <a:cs typeface="Calibri" pitchFamily="34" charset="-120"/>
              </a:rPr>
              <a:t>Attend.</a:t>
            </a:r>
            <a:endParaRPr lang="en-US" sz="1300" dirty="0"/>
          </a:p>
        </p:txBody>
      </p:sp>
      <p:sp>
        <p:nvSpPr>
          <p:cNvPr id="23" name="Shape 21"/>
          <p:cNvSpPr/>
          <p:nvPr/>
        </p:nvSpPr>
        <p:spPr>
          <a:xfrm>
            <a:off x="2377440" y="4069080"/>
            <a:ext cx="905256" cy="905256"/>
          </a:xfrm>
          <a:prstGeom prst="rect">
            <a:avLst/>
          </a:prstGeom>
          <a:solidFill>
            <a:srgbClr val="6A9A96"/>
          </a:solidFill>
          <a:ln w="25400">
            <a:solidFill>
              <a:srgbClr val="FFFFFF"/>
            </a:solidFill>
            <a:prstDash val="solid"/>
          </a:ln>
        </p:spPr>
      </p:sp>
      <p:sp>
        <p:nvSpPr>
          <p:cNvPr id="24" name="Text 22"/>
          <p:cNvSpPr/>
          <p:nvPr/>
        </p:nvSpPr>
        <p:spPr>
          <a:xfrm>
            <a:off x="2377440" y="4069080"/>
            <a:ext cx="905256" cy="905256"/>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0.62</a:t>
            </a:r>
            <a:endParaRPr lang="en-US" sz="1500" dirty="0"/>
          </a:p>
        </p:txBody>
      </p:sp>
      <p:sp>
        <p:nvSpPr>
          <p:cNvPr id="25" name="Shape 23"/>
          <p:cNvSpPr/>
          <p:nvPr/>
        </p:nvSpPr>
        <p:spPr>
          <a:xfrm>
            <a:off x="3337560" y="4069080"/>
            <a:ext cx="905256" cy="905256"/>
          </a:xfrm>
          <a:prstGeom prst="rect">
            <a:avLst/>
          </a:prstGeom>
          <a:solidFill>
            <a:srgbClr val="73A09D"/>
          </a:solidFill>
          <a:ln w="25400">
            <a:solidFill>
              <a:srgbClr val="FFFFFF"/>
            </a:solidFill>
            <a:prstDash val="solid"/>
          </a:ln>
        </p:spPr>
      </p:sp>
      <p:sp>
        <p:nvSpPr>
          <p:cNvPr id="26" name="Text 24"/>
          <p:cNvSpPr/>
          <p:nvPr/>
        </p:nvSpPr>
        <p:spPr>
          <a:xfrm>
            <a:off x="3337560" y="4069080"/>
            <a:ext cx="905256" cy="905256"/>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0.58</a:t>
            </a:r>
            <a:endParaRPr lang="en-US" sz="1500" dirty="0"/>
          </a:p>
        </p:txBody>
      </p:sp>
      <p:sp>
        <p:nvSpPr>
          <p:cNvPr id="27" name="Shape 25"/>
          <p:cNvSpPr/>
          <p:nvPr/>
        </p:nvSpPr>
        <p:spPr>
          <a:xfrm>
            <a:off x="4297680" y="4069080"/>
            <a:ext cx="905256" cy="905256"/>
          </a:xfrm>
          <a:prstGeom prst="rect">
            <a:avLst/>
          </a:prstGeom>
          <a:solidFill>
            <a:srgbClr val="0E5C56"/>
          </a:solidFill>
          <a:ln w="25400">
            <a:solidFill>
              <a:srgbClr val="FFFFFF"/>
            </a:solidFill>
            <a:prstDash val="solid"/>
          </a:ln>
        </p:spPr>
      </p:sp>
      <p:sp>
        <p:nvSpPr>
          <p:cNvPr id="28" name="Text 26"/>
          <p:cNvSpPr/>
          <p:nvPr/>
        </p:nvSpPr>
        <p:spPr>
          <a:xfrm>
            <a:off x="4297680" y="4069080"/>
            <a:ext cx="905256" cy="905256"/>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1.00</a:t>
            </a:r>
            <a:endParaRPr lang="en-US" sz="1500" dirty="0"/>
          </a:p>
        </p:txBody>
      </p:sp>
      <p:sp>
        <p:nvSpPr>
          <p:cNvPr id="29" name="Text 27"/>
          <p:cNvSpPr/>
          <p:nvPr/>
        </p:nvSpPr>
        <p:spPr>
          <a:xfrm>
            <a:off x="548640" y="5303520"/>
            <a:ext cx="11091672" cy="457200"/>
          </a:xfrm>
          <a:prstGeom prst="rect">
            <a:avLst/>
          </a:prstGeom>
          <a:noFill/>
          <a:ln/>
        </p:spPr>
        <p:txBody>
          <a:bodyPr wrap="square" rtlCol="0" anchor="ctr"/>
          <a:lstStyle/>
          <a:p>
            <a:pPr marL="0" indent="0">
              <a:buNone/>
            </a:pPr>
            <a:r>
              <a:rPr lang="en-US" sz="1400" i="1" dirty="0">
                <a:solidFill>
                  <a:srgbClr val="5B7370"/>
                </a:solidFill>
                <a:latin typeface="Calibri" pitchFamily="34" charset="0"/>
                <a:ea typeface="Calibri" pitchFamily="34" charset="-122"/>
                <a:cs typeface="Calibri" pitchFamily="34" charset="-120"/>
              </a:rPr>
              <a:t>Darker teal = stronger positive correlation. The diagonal is always 1.0 (a variable perfectly correlates with itself).</a:t>
            </a:r>
            <a:endParaRPr lang="en-US" sz="1400" dirty="0"/>
          </a:p>
        </p:txBody>
      </p:sp>
      <p:sp>
        <p:nvSpPr>
          <p:cNvPr id="30" name="Text 28"/>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5B7370"/>
                </a:solidFill>
                <a:latin typeface="Calibri" pitchFamily="34" charset="0"/>
                <a:ea typeface="Calibri" pitchFamily="34" charset="-122"/>
                <a:cs typeface="Calibri" pitchFamily="34" charset="-120"/>
              </a:rPr>
              <a:t>Presidency University | Dept. of AI &amp; Robotics | DSC4000 | Statics for Data Science</a:t>
            </a:r>
            <a:endParaRPr lang="en-US" sz="1000" dirty="0"/>
          </a:p>
        </p:txBody>
      </p:sp>
      <p:sp>
        <p:nvSpPr>
          <p:cNvPr id="31" name="Text 29"/>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7370"/>
                </a:solidFill>
                <a:latin typeface="Calibri" pitchFamily="34" charset="0"/>
                <a:ea typeface="Calibri" pitchFamily="34" charset="-122"/>
                <a:cs typeface="Calibri" pitchFamily="34" charset="-120"/>
              </a:rPr>
              <a:t>33</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3291840" cy="384048"/>
          </a:xfrm>
          <a:prstGeom prst="roundRect">
            <a:avLst>
              <a:gd name="adj" fmla="val 19048"/>
            </a:avLst>
          </a:prstGeom>
          <a:solidFill>
            <a:srgbClr val="E8F4F2"/>
          </a:solidFill>
          <a:ln/>
        </p:spPr>
      </p:sp>
      <p:sp>
        <p:nvSpPr>
          <p:cNvPr id="3" name="Text 1"/>
          <p:cNvSpPr/>
          <p:nvPr/>
        </p:nvSpPr>
        <p:spPr>
          <a:xfrm>
            <a:off x="548640" y="457200"/>
            <a:ext cx="3291840" cy="384048"/>
          </a:xfrm>
          <a:prstGeom prst="rect">
            <a:avLst/>
          </a:prstGeom>
          <a:noFill/>
          <a:ln/>
        </p:spPr>
        <p:txBody>
          <a:bodyPr wrap="square" rtlCol="0" anchor="ctr"/>
          <a:lstStyle/>
          <a:p>
            <a:pPr marL="0" indent="0" algn="ctr">
              <a:buNone/>
            </a:pPr>
            <a:r>
              <a:rPr lang="en-US" sz="1300" b="1" kern="0" spc="100" dirty="0">
                <a:solidFill>
                  <a:srgbClr val="0E5C56"/>
                </a:solidFill>
                <a:latin typeface="Calibri" pitchFamily="34" charset="0"/>
                <a:ea typeface="Calibri" pitchFamily="34" charset="-122"/>
                <a:cs typeface="Calibri" pitchFamily="34" charset="-120"/>
              </a:rPr>
              <a:t>DATA VISUALIZATION</a:t>
            </a:r>
            <a:endParaRPr lang="en-US" sz="1300" dirty="0"/>
          </a:p>
        </p:txBody>
      </p:sp>
      <p:sp>
        <p:nvSpPr>
          <p:cNvPr id="4" name="Text 2"/>
          <p:cNvSpPr/>
          <p:nvPr/>
        </p:nvSpPr>
        <p:spPr>
          <a:xfrm>
            <a:off x="548640" y="960120"/>
            <a:ext cx="11091672" cy="914400"/>
          </a:xfrm>
          <a:prstGeom prst="rect">
            <a:avLst/>
          </a:prstGeom>
          <a:noFill/>
          <a:ln/>
        </p:spPr>
        <p:txBody>
          <a:bodyPr wrap="square" rtlCol="0" anchor="t"/>
          <a:lstStyle/>
          <a:p>
            <a:pPr marL="0" indent="0" algn="l">
              <a:buNone/>
            </a:pPr>
            <a:r>
              <a:rPr lang="en-US" sz="3200" b="1" dirty="0">
                <a:solidFill>
                  <a:srgbClr val="1B2B2A"/>
                </a:solidFill>
                <a:latin typeface="Cambria" pitchFamily="34" charset="0"/>
                <a:ea typeface="Cambria" pitchFamily="34" charset="-122"/>
                <a:cs typeface="Cambria" pitchFamily="34" charset="-120"/>
              </a:rPr>
              <a:t>Reading a Correlation Matrix</a:t>
            </a:r>
            <a:endParaRPr lang="en-US" sz="3200" dirty="0"/>
          </a:p>
        </p:txBody>
      </p:sp>
      <p:sp>
        <p:nvSpPr>
          <p:cNvPr id="5" name="Shape 3"/>
          <p:cNvSpPr/>
          <p:nvPr/>
        </p:nvSpPr>
        <p:spPr>
          <a:xfrm>
            <a:off x="548640" y="1993392"/>
            <a:ext cx="365760" cy="365760"/>
          </a:xfrm>
          <a:prstGeom prst="ellipse">
            <a:avLst/>
          </a:prstGeom>
          <a:solidFill>
            <a:srgbClr val="F2A93B"/>
          </a:solidFill>
          <a:ln/>
        </p:spPr>
      </p:sp>
      <p:sp>
        <p:nvSpPr>
          <p:cNvPr id="6" name="Text 4"/>
          <p:cNvSpPr/>
          <p:nvPr/>
        </p:nvSpPr>
        <p:spPr>
          <a:xfrm>
            <a:off x="548640" y="1993392"/>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7" name="Text 5"/>
          <p:cNvSpPr/>
          <p:nvPr/>
        </p:nvSpPr>
        <p:spPr>
          <a:xfrm>
            <a:off x="1143000" y="1965960"/>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The matrix is always symmetric: the value for (A, B) equals the value for (B, A).</a:t>
            </a:r>
            <a:endParaRPr lang="en-US" sz="2000" dirty="0"/>
          </a:p>
        </p:txBody>
      </p:sp>
      <p:sp>
        <p:nvSpPr>
          <p:cNvPr id="8" name="Shape 6"/>
          <p:cNvSpPr/>
          <p:nvPr/>
        </p:nvSpPr>
        <p:spPr>
          <a:xfrm>
            <a:off x="548640" y="3246120"/>
            <a:ext cx="365760" cy="365760"/>
          </a:xfrm>
          <a:prstGeom prst="ellipse">
            <a:avLst/>
          </a:prstGeom>
          <a:solidFill>
            <a:srgbClr val="F2A93B"/>
          </a:solidFill>
          <a:ln/>
        </p:spPr>
      </p:sp>
      <p:sp>
        <p:nvSpPr>
          <p:cNvPr id="9" name="Text 7"/>
          <p:cNvSpPr/>
          <p:nvPr/>
        </p:nvSpPr>
        <p:spPr>
          <a:xfrm>
            <a:off x="548640" y="3246120"/>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0" name="Text 8"/>
          <p:cNvSpPr/>
          <p:nvPr/>
        </p:nvSpPr>
        <p:spPr>
          <a:xfrm>
            <a:off x="1143000" y="3218688"/>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The diagonal is always 1.0 — a variable is perfectly correlated with itself.</a:t>
            </a:r>
            <a:endParaRPr lang="en-US" sz="2000" dirty="0"/>
          </a:p>
        </p:txBody>
      </p:sp>
      <p:sp>
        <p:nvSpPr>
          <p:cNvPr id="11" name="Shape 9"/>
          <p:cNvSpPr/>
          <p:nvPr/>
        </p:nvSpPr>
        <p:spPr>
          <a:xfrm>
            <a:off x="548640" y="4498848"/>
            <a:ext cx="365760" cy="365760"/>
          </a:xfrm>
          <a:prstGeom prst="ellipse">
            <a:avLst/>
          </a:prstGeom>
          <a:solidFill>
            <a:srgbClr val="F2A93B"/>
          </a:solidFill>
          <a:ln/>
        </p:spPr>
      </p:sp>
      <p:sp>
        <p:nvSpPr>
          <p:cNvPr id="12" name="Text 10"/>
          <p:cNvSpPr/>
          <p:nvPr/>
        </p:nvSpPr>
        <p:spPr>
          <a:xfrm>
            <a:off x="548640" y="4498848"/>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3" name="Text 11"/>
          <p:cNvSpPr/>
          <p:nvPr/>
        </p:nvSpPr>
        <p:spPr>
          <a:xfrm>
            <a:off x="1143000" y="4471416"/>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Scan for the darkest off-diagonal cells first — these are your strongest relationships to investigate.</a:t>
            </a:r>
            <a:endParaRPr lang="en-US" sz="2000" dirty="0"/>
          </a:p>
        </p:txBody>
      </p:sp>
      <p:sp>
        <p:nvSpPr>
          <p:cNvPr id="14" name="Shape 12"/>
          <p:cNvSpPr/>
          <p:nvPr/>
        </p:nvSpPr>
        <p:spPr>
          <a:xfrm>
            <a:off x="548640" y="5751576"/>
            <a:ext cx="365760" cy="365760"/>
          </a:xfrm>
          <a:prstGeom prst="ellipse">
            <a:avLst/>
          </a:prstGeom>
          <a:solidFill>
            <a:srgbClr val="F2A93B"/>
          </a:solidFill>
          <a:ln/>
        </p:spPr>
      </p:sp>
      <p:sp>
        <p:nvSpPr>
          <p:cNvPr id="15" name="Text 13"/>
          <p:cNvSpPr/>
          <p:nvPr/>
        </p:nvSpPr>
        <p:spPr>
          <a:xfrm>
            <a:off x="548640" y="5751576"/>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6" name="Text 14"/>
          <p:cNvSpPr/>
          <p:nvPr/>
        </p:nvSpPr>
        <p:spPr>
          <a:xfrm>
            <a:off x="1143000" y="5724144"/>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A matrix with many near-zero cells suggests the variables are mostly independent of one another.</a:t>
            </a:r>
            <a:endParaRPr lang="en-US" sz="2000" dirty="0"/>
          </a:p>
        </p:txBody>
      </p:sp>
      <p:sp>
        <p:nvSpPr>
          <p:cNvPr id="17" name="Text 15"/>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5B7370"/>
                </a:solidFill>
                <a:latin typeface="Calibri" pitchFamily="34" charset="0"/>
                <a:ea typeface="Calibri" pitchFamily="34" charset="-122"/>
                <a:cs typeface="Calibri" pitchFamily="34" charset="-120"/>
              </a:rPr>
              <a:t>Presidency University | Dept. of AI &amp; Robotics | DSC4000 | Statics for Data Science</a:t>
            </a:r>
            <a:endParaRPr lang="en-US" sz="1000" dirty="0"/>
          </a:p>
        </p:txBody>
      </p:sp>
      <p:sp>
        <p:nvSpPr>
          <p:cNvPr id="18" name="Text 16"/>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7370"/>
                </a:solidFill>
                <a:latin typeface="Calibri" pitchFamily="34" charset="0"/>
                <a:ea typeface="Calibri" pitchFamily="34" charset="-122"/>
                <a:cs typeface="Calibri" pitchFamily="34" charset="-120"/>
              </a:rPr>
              <a:t>34</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3291840" cy="384048"/>
          </a:xfrm>
          <a:prstGeom prst="roundRect">
            <a:avLst>
              <a:gd name="adj" fmla="val 19048"/>
            </a:avLst>
          </a:prstGeom>
          <a:solidFill>
            <a:srgbClr val="E8F4F2"/>
          </a:solidFill>
          <a:ln/>
        </p:spPr>
      </p:sp>
      <p:sp>
        <p:nvSpPr>
          <p:cNvPr id="3" name="Text 1"/>
          <p:cNvSpPr/>
          <p:nvPr/>
        </p:nvSpPr>
        <p:spPr>
          <a:xfrm>
            <a:off x="548640" y="457200"/>
            <a:ext cx="3291840" cy="384048"/>
          </a:xfrm>
          <a:prstGeom prst="rect">
            <a:avLst/>
          </a:prstGeom>
          <a:noFill/>
          <a:ln/>
        </p:spPr>
        <p:txBody>
          <a:bodyPr wrap="square" rtlCol="0" anchor="ctr"/>
          <a:lstStyle/>
          <a:p>
            <a:pPr marL="0" indent="0" algn="ctr">
              <a:buNone/>
            </a:pPr>
            <a:r>
              <a:rPr lang="en-US" sz="1300" b="1" kern="0" spc="100" dirty="0">
                <a:solidFill>
                  <a:srgbClr val="0E5C56"/>
                </a:solidFill>
                <a:latin typeface="Calibri" pitchFamily="34" charset="0"/>
                <a:ea typeface="Calibri" pitchFamily="34" charset="-122"/>
                <a:cs typeface="Calibri" pitchFamily="34" charset="-120"/>
              </a:rPr>
              <a:t>DATA VISUALIZATION</a:t>
            </a:r>
            <a:endParaRPr lang="en-US" sz="1300" dirty="0"/>
          </a:p>
        </p:txBody>
      </p:sp>
      <p:sp>
        <p:nvSpPr>
          <p:cNvPr id="4" name="Text 2"/>
          <p:cNvSpPr/>
          <p:nvPr/>
        </p:nvSpPr>
        <p:spPr>
          <a:xfrm>
            <a:off x="548640" y="960120"/>
            <a:ext cx="11091672" cy="914400"/>
          </a:xfrm>
          <a:prstGeom prst="rect">
            <a:avLst/>
          </a:prstGeom>
          <a:noFill/>
          <a:ln/>
        </p:spPr>
        <p:txBody>
          <a:bodyPr wrap="square" rtlCol="0" anchor="t"/>
          <a:lstStyle/>
          <a:p>
            <a:pPr marL="0" indent="0" algn="l">
              <a:buNone/>
            </a:pPr>
            <a:r>
              <a:rPr lang="en-US" sz="3200" b="1" dirty="0">
                <a:solidFill>
                  <a:srgbClr val="1B2B2A"/>
                </a:solidFill>
                <a:latin typeface="Cambria" pitchFamily="34" charset="0"/>
                <a:ea typeface="Cambria" pitchFamily="34" charset="-122"/>
                <a:cs typeface="Cambria" pitchFamily="34" charset="-120"/>
              </a:rPr>
              <a:t>Pair Plots for Multivariate Data</a:t>
            </a:r>
            <a:endParaRPr lang="en-US" sz="3200" dirty="0"/>
          </a:p>
        </p:txBody>
      </p:sp>
      <p:sp>
        <p:nvSpPr>
          <p:cNvPr id="5" name="Shape 3"/>
          <p:cNvSpPr/>
          <p:nvPr/>
        </p:nvSpPr>
        <p:spPr>
          <a:xfrm>
            <a:off x="548640" y="1993392"/>
            <a:ext cx="365760" cy="365760"/>
          </a:xfrm>
          <a:prstGeom prst="ellipse">
            <a:avLst/>
          </a:prstGeom>
          <a:solidFill>
            <a:srgbClr val="F2A93B"/>
          </a:solidFill>
          <a:ln/>
        </p:spPr>
      </p:sp>
      <p:sp>
        <p:nvSpPr>
          <p:cNvPr id="6" name="Text 4"/>
          <p:cNvSpPr/>
          <p:nvPr/>
        </p:nvSpPr>
        <p:spPr>
          <a:xfrm>
            <a:off x="548640" y="1993392"/>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7" name="Text 5"/>
          <p:cNvSpPr/>
          <p:nvPr/>
        </p:nvSpPr>
        <p:spPr>
          <a:xfrm>
            <a:off x="1143000" y="1965960"/>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A pair plot arranges a small scatter plot for every pair of variables into one big grid.</a:t>
            </a:r>
            <a:endParaRPr lang="en-US" sz="2000" dirty="0"/>
          </a:p>
        </p:txBody>
      </p:sp>
      <p:sp>
        <p:nvSpPr>
          <p:cNvPr id="8" name="Shape 6"/>
          <p:cNvSpPr/>
          <p:nvPr/>
        </p:nvSpPr>
        <p:spPr>
          <a:xfrm>
            <a:off x="548640" y="3246120"/>
            <a:ext cx="365760" cy="365760"/>
          </a:xfrm>
          <a:prstGeom prst="ellipse">
            <a:avLst/>
          </a:prstGeom>
          <a:solidFill>
            <a:srgbClr val="F2A93B"/>
          </a:solidFill>
          <a:ln/>
        </p:spPr>
      </p:sp>
      <p:sp>
        <p:nvSpPr>
          <p:cNvPr id="9" name="Text 7"/>
          <p:cNvSpPr/>
          <p:nvPr/>
        </p:nvSpPr>
        <p:spPr>
          <a:xfrm>
            <a:off x="548640" y="3246120"/>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0" name="Text 8"/>
          <p:cNvSpPr/>
          <p:nvPr/>
        </p:nvSpPr>
        <p:spPr>
          <a:xfrm>
            <a:off x="1143000" y="3218688"/>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It combines the heatmap's 'see everything at once' benefit with the scatter plot's visual detail.</a:t>
            </a:r>
            <a:endParaRPr lang="en-US" sz="2000" dirty="0"/>
          </a:p>
        </p:txBody>
      </p:sp>
      <p:sp>
        <p:nvSpPr>
          <p:cNvPr id="11" name="Shape 9"/>
          <p:cNvSpPr/>
          <p:nvPr/>
        </p:nvSpPr>
        <p:spPr>
          <a:xfrm>
            <a:off x="548640" y="4498848"/>
            <a:ext cx="365760" cy="365760"/>
          </a:xfrm>
          <a:prstGeom prst="ellipse">
            <a:avLst/>
          </a:prstGeom>
          <a:solidFill>
            <a:srgbClr val="F2A93B"/>
          </a:solidFill>
          <a:ln/>
        </p:spPr>
      </p:sp>
      <p:sp>
        <p:nvSpPr>
          <p:cNvPr id="12" name="Text 10"/>
          <p:cNvSpPr/>
          <p:nvPr/>
        </p:nvSpPr>
        <p:spPr>
          <a:xfrm>
            <a:off x="548640" y="4498848"/>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3" name="Text 11"/>
          <p:cNvSpPr/>
          <p:nvPr/>
        </p:nvSpPr>
        <p:spPr>
          <a:xfrm>
            <a:off x="1143000" y="4471416"/>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Useful for spotting non-linear patterns that a single correlation number would miss.</a:t>
            </a:r>
            <a:endParaRPr lang="en-US" sz="2000" dirty="0"/>
          </a:p>
        </p:txBody>
      </p:sp>
      <p:sp>
        <p:nvSpPr>
          <p:cNvPr id="14" name="Shape 12"/>
          <p:cNvSpPr/>
          <p:nvPr/>
        </p:nvSpPr>
        <p:spPr>
          <a:xfrm>
            <a:off x="548640" y="5751576"/>
            <a:ext cx="365760" cy="365760"/>
          </a:xfrm>
          <a:prstGeom prst="ellipse">
            <a:avLst/>
          </a:prstGeom>
          <a:solidFill>
            <a:srgbClr val="F2A93B"/>
          </a:solidFill>
          <a:ln/>
        </p:spPr>
      </p:sp>
      <p:sp>
        <p:nvSpPr>
          <p:cNvPr id="15" name="Text 13"/>
          <p:cNvSpPr/>
          <p:nvPr/>
        </p:nvSpPr>
        <p:spPr>
          <a:xfrm>
            <a:off x="548640" y="5751576"/>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6" name="Text 14"/>
          <p:cNvSpPr/>
          <p:nvPr/>
        </p:nvSpPr>
        <p:spPr>
          <a:xfrm>
            <a:off x="1143000" y="5724144"/>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Common in exploratory data analysis (EDA) before building any predictive model.</a:t>
            </a:r>
            <a:endParaRPr lang="en-US" sz="2000" dirty="0"/>
          </a:p>
        </p:txBody>
      </p:sp>
      <p:sp>
        <p:nvSpPr>
          <p:cNvPr id="17" name="Text 15"/>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5B7370"/>
                </a:solidFill>
                <a:latin typeface="Calibri" pitchFamily="34" charset="0"/>
                <a:ea typeface="Calibri" pitchFamily="34" charset="-122"/>
                <a:cs typeface="Calibri" pitchFamily="34" charset="-120"/>
              </a:rPr>
              <a:t>Presidency University | Dept. of AI &amp; Robotics | DSC4000 | Statics for Data Science</a:t>
            </a:r>
            <a:endParaRPr lang="en-US" sz="1000" dirty="0"/>
          </a:p>
        </p:txBody>
      </p:sp>
      <p:sp>
        <p:nvSpPr>
          <p:cNvPr id="18" name="Text 16"/>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7370"/>
                </a:solidFill>
                <a:latin typeface="Calibri" pitchFamily="34" charset="0"/>
                <a:ea typeface="Calibri" pitchFamily="34" charset="-122"/>
                <a:cs typeface="Calibri" pitchFamily="34" charset="-120"/>
              </a:rPr>
              <a:t>35</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3291840" cy="384048"/>
          </a:xfrm>
          <a:prstGeom prst="roundRect">
            <a:avLst>
              <a:gd name="adj" fmla="val 19048"/>
            </a:avLst>
          </a:prstGeom>
          <a:solidFill>
            <a:srgbClr val="E8F4F2"/>
          </a:solidFill>
          <a:ln/>
        </p:spPr>
      </p:sp>
      <p:sp>
        <p:nvSpPr>
          <p:cNvPr id="3" name="Text 1"/>
          <p:cNvSpPr/>
          <p:nvPr/>
        </p:nvSpPr>
        <p:spPr>
          <a:xfrm>
            <a:off x="548640" y="457200"/>
            <a:ext cx="3291840" cy="384048"/>
          </a:xfrm>
          <a:prstGeom prst="rect">
            <a:avLst/>
          </a:prstGeom>
          <a:noFill/>
          <a:ln/>
        </p:spPr>
        <p:txBody>
          <a:bodyPr wrap="square" rtlCol="0" anchor="ctr"/>
          <a:lstStyle/>
          <a:p>
            <a:pPr marL="0" indent="0" algn="ctr">
              <a:buNone/>
            </a:pPr>
            <a:r>
              <a:rPr lang="en-US" sz="1300" b="1" kern="0" spc="100" dirty="0">
                <a:solidFill>
                  <a:srgbClr val="0E5C56"/>
                </a:solidFill>
                <a:latin typeface="Calibri" pitchFamily="34" charset="0"/>
                <a:ea typeface="Calibri" pitchFamily="34" charset="-122"/>
                <a:cs typeface="Calibri" pitchFamily="34" charset="-120"/>
              </a:rPr>
              <a:t>EXTENSION</a:t>
            </a:r>
            <a:endParaRPr lang="en-US" sz="1300" dirty="0"/>
          </a:p>
        </p:txBody>
      </p:sp>
      <p:sp>
        <p:nvSpPr>
          <p:cNvPr id="4" name="Text 2"/>
          <p:cNvSpPr/>
          <p:nvPr/>
        </p:nvSpPr>
        <p:spPr>
          <a:xfrm>
            <a:off x="548640" y="960120"/>
            <a:ext cx="11091672" cy="914400"/>
          </a:xfrm>
          <a:prstGeom prst="rect">
            <a:avLst/>
          </a:prstGeom>
          <a:noFill/>
          <a:ln/>
        </p:spPr>
        <p:txBody>
          <a:bodyPr wrap="square" rtlCol="0" anchor="t"/>
          <a:lstStyle/>
          <a:p>
            <a:pPr marL="0" indent="0" algn="l">
              <a:buNone/>
            </a:pPr>
            <a:r>
              <a:rPr lang="en-US" sz="3200" b="1" dirty="0">
                <a:solidFill>
                  <a:srgbClr val="1B2B2A"/>
                </a:solidFill>
                <a:latin typeface="Cambria" pitchFamily="34" charset="0"/>
                <a:ea typeface="Cambria" pitchFamily="34" charset="-122"/>
                <a:cs typeface="Cambria" pitchFamily="34" charset="-120"/>
              </a:rPr>
              <a:t>Beyond Pearson: Spearman's Rank Correlation</a:t>
            </a:r>
            <a:endParaRPr lang="en-US" sz="3200" dirty="0"/>
          </a:p>
        </p:txBody>
      </p:sp>
      <p:sp>
        <p:nvSpPr>
          <p:cNvPr id="5" name="Shape 3"/>
          <p:cNvSpPr/>
          <p:nvPr/>
        </p:nvSpPr>
        <p:spPr>
          <a:xfrm>
            <a:off x="548640" y="1993392"/>
            <a:ext cx="365760" cy="365760"/>
          </a:xfrm>
          <a:prstGeom prst="ellipse">
            <a:avLst/>
          </a:prstGeom>
          <a:solidFill>
            <a:srgbClr val="F2A93B"/>
          </a:solidFill>
          <a:ln/>
        </p:spPr>
      </p:sp>
      <p:sp>
        <p:nvSpPr>
          <p:cNvPr id="6" name="Text 4"/>
          <p:cNvSpPr/>
          <p:nvPr/>
        </p:nvSpPr>
        <p:spPr>
          <a:xfrm>
            <a:off x="548640" y="1993392"/>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7" name="Text 5"/>
          <p:cNvSpPr/>
          <p:nvPr/>
        </p:nvSpPr>
        <p:spPr>
          <a:xfrm>
            <a:off x="1143000" y="1965960"/>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Pearson's r assumes a roughly LINEAR relationship and is sensitive to outliers.</a:t>
            </a:r>
            <a:endParaRPr lang="en-US" sz="2000" dirty="0"/>
          </a:p>
        </p:txBody>
      </p:sp>
      <p:sp>
        <p:nvSpPr>
          <p:cNvPr id="8" name="Shape 6"/>
          <p:cNvSpPr/>
          <p:nvPr/>
        </p:nvSpPr>
        <p:spPr>
          <a:xfrm>
            <a:off x="548640" y="3246120"/>
            <a:ext cx="365760" cy="365760"/>
          </a:xfrm>
          <a:prstGeom prst="ellipse">
            <a:avLst/>
          </a:prstGeom>
          <a:solidFill>
            <a:srgbClr val="F2A93B"/>
          </a:solidFill>
          <a:ln/>
        </p:spPr>
      </p:sp>
      <p:sp>
        <p:nvSpPr>
          <p:cNvPr id="9" name="Text 7"/>
          <p:cNvSpPr/>
          <p:nvPr/>
        </p:nvSpPr>
        <p:spPr>
          <a:xfrm>
            <a:off x="548640" y="3246120"/>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0" name="Text 8"/>
          <p:cNvSpPr/>
          <p:nvPr/>
        </p:nvSpPr>
        <p:spPr>
          <a:xfrm>
            <a:off x="1143000" y="3218688"/>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Spearman's rank correlation instead measures how well the relationship follows a consistent MONOTONIC trend, linear or not.</a:t>
            </a:r>
            <a:endParaRPr lang="en-US" sz="2000" dirty="0"/>
          </a:p>
        </p:txBody>
      </p:sp>
      <p:sp>
        <p:nvSpPr>
          <p:cNvPr id="11" name="Shape 9"/>
          <p:cNvSpPr/>
          <p:nvPr/>
        </p:nvSpPr>
        <p:spPr>
          <a:xfrm>
            <a:off x="548640" y="4498848"/>
            <a:ext cx="365760" cy="365760"/>
          </a:xfrm>
          <a:prstGeom prst="ellipse">
            <a:avLst/>
          </a:prstGeom>
          <a:solidFill>
            <a:srgbClr val="F2A93B"/>
          </a:solidFill>
          <a:ln/>
        </p:spPr>
      </p:sp>
      <p:sp>
        <p:nvSpPr>
          <p:cNvPr id="12" name="Text 10"/>
          <p:cNvSpPr/>
          <p:nvPr/>
        </p:nvSpPr>
        <p:spPr>
          <a:xfrm>
            <a:off x="548640" y="4498848"/>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3" name="Text 11"/>
          <p:cNvSpPr/>
          <p:nvPr/>
        </p:nvSpPr>
        <p:spPr>
          <a:xfrm>
            <a:off x="1143000" y="4471416"/>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It works by first converting each variable's values into ranks, then computing Pearson's formula on those ranks.</a:t>
            </a:r>
            <a:endParaRPr lang="en-US" sz="2000" dirty="0"/>
          </a:p>
        </p:txBody>
      </p:sp>
      <p:sp>
        <p:nvSpPr>
          <p:cNvPr id="14" name="Shape 12"/>
          <p:cNvSpPr/>
          <p:nvPr/>
        </p:nvSpPr>
        <p:spPr>
          <a:xfrm>
            <a:off x="548640" y="5751576"/>
            <a:ext cx="365760" cy="365760"/>
          </a:xfrm>
          <a:prstGeom prst="ellipse">
            <a:avLst/>
          </a:prstGeom>
          <a:solidFill>
            <a:srgbClr val="F2A93B"/>
          </a:solidFill>
          <a:ln/>
        </p:spPr>
      </p:sp>
      <p:sp>
        <p:nvSpPr>
          <p:cNvPr id="15" name="Text 13"/>
          <p:cNvSpPr/>
          <p:nvPr/>
        </p:nvSpPr>
        <p:spPr>
          <a:xfrm>
            <a:off x="548640" y="5751576"/>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6" name="Text 14"/>
          <p:cNvSpPr/>
          <p:nvPr/>
        </p:nvSpPr>
        <p:spPr>
          <a:xfrm>
            <a:off x="1143000" y="5724144"/>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Spearman is more robust when data is skewed, has outliers, or the relationship curves consistently upward or downward.</a:t>
            </a:r>
            <a:endParaRPr lang="en-US" sz="2000" dirty="0"/>
          </a:p>
        </p:txBody>
      </p:sp>
      <p:sp>
        <p:nvSpPr>
          <p:cNvPr id="17" name="Text 15"/>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5B7370"/>
                </a:solidFill>
                <a:latin typeface="Calibri" pitchFamily="34" charset="0"/>
                <a:ea typeface="Calibri" pitchFamily="34" charset="-122"/>
                <a:cs typeface="Calibri" pitchFamily="34" charset="-120"/>
              </a:rPr>
              <a:t>Presidency University | Dept. of AI &amp; Robotics | DSC4000 | Statics for Data Science</a:t>
            </a:r>
            <a:endParaRPr lang="en-US" sz="1000" dirty="0"/>
          </a:p>
        </p:txBody>
      </p:sp>
      <p:sp>
        <p:nvSpPr>
          <p:cNvPr id="18" name="Text 16"/>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7370"/>
                </a:solidFill>
                <a:latin typeface="Calibri" pitchFamily="34" charset="0"/>
                <a:ea typeface="Calibri" pitchFamily="34" charset="-122"/>
                <a:cs typeface="Calibri" pitchFamily="34" charset="-120"/>
              </a:rPr>
              <a:t>36</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3291840" cy="384048"/>
          </a:xfrm>
          <a:prstGeom prst="roundRect">
            <a:avLst>
              <a:gd name="adj" fmla="val 19048"/>
            </a:avLst>
          </a:prstGeom>
          <a:solidFill>
            <a:srgbClr val="E8F4F2"/>
          </a:solidFill>
          <a:ln/>
        </p:spPr>
      </p:sp>
      <p:sp>
        <p:nvSpPr>
          <p:cNvPr id="3" name="Text 1"/>
          <p:cNvSpPr/>
          <p:nvPr/>
        </p:nvSpPr>
        <p:spPr>
          <a:xfrm>
            <a:off x="548640" y="457200"/>
            <a:ext cx="3291840" cy="384048"/>
          </a:xfrm>
          <a:prstGeom prst="rect">
            <a:avLst/>
          </a:prstGeom>
          <a:noFill/>
          <a:ln/>
        </p:spPr>
        <p:txBody>
          <a:bodyPr wrap="square" rtlCol="0" anchor="ctr"/>
          <a:lstStyle/>
          <a:p>
            <a:pPr marL="0" indent="0" algn="ctr">
              <a:buNone/>
            </a:pPr>
            <a:r>
              <a:rPr lang="en-US" sz="1300" b="1" kern="0" spc="100" dirty="0">
                <a:solidFill>
                  <a:srgbClr val="0E5C56"/>
                </a:solidFill>
                <a:latin typeface="Calibri" pitchFamily="34" charset="0"/>
                <a:ea typeface="Calibri" pitchFamily="34" charset="-122"/>
                <a:cs typeface="Calibri" pitchFamily="34" charset="-120"/>
              </a:rPr>
              <a:t>EXTENSION</a:t>
            </a:r>
            <a:endParaRPr lang="en-US" sz="1300" dirty="0"/>
          </a:p>
        </p:txBody>
      </p:sp>
      <p:sp>
        <p:nvSpPr>
          <p:cNvPr id="4" name="Text 2"/>
          <p:cNvSpPr/>
          <p:nvPr/>
        </p:nvSpPr>
        <p:spPr>
          <a:xfrm>
            <a:off x="548640" y="960120"/>
            <a:ext cx="11091672" cy="914400"/>
          </a:xfrm>
          <a:prstGeom prst="rect">
            <a:avLst/>
          </a:prstGeom>
          <a:noFill/>
          <a:ln/>
        </p:spPr>
        <p:txBody>
          <a:bodyPr wrap="square" rtlCol="0" anchor="t"/>
          <a:lstStyle/>
          <a:p>
            <a:pPr marL="0" indent="0" algn="l">
              <a:buNone/>
            </a:pPr>
            <a:r>
              <a:rPr lang="en-US" sz="3200" b="1" dirty="0">
                <a:solidFill>
                  <a:srgbClr val="1B2B2A"/>
                </a:solidFill>
                <a:latin typeface="Cambria" pitchFamily="34" charset="0"/>
                <a:ea typeface="Cambria" pitchFamily="34" charset="-122"/>
                <a:cs typeface="Cambria" pitchFamily="34" charset="-120"/>
              </a:rPr>
              <a:t>When to Use Spearman vs. Pearson</a:t>
            </a:r>
            <a:endParaRPr lang="en-US" sz="3200" dirty="0"/>
          </a:p>
        </p:txBody>
      </p:sp>
      <p:sp>
        <p:nvSpPr>
          <p:cNvPr id="5" name="Shape 3"/>
          <p:cNvSpPr/>
          <p:nvPr/>
        </p:nvSpPr>
        <p:spPr>
          <a:xfrm>
            <a:off x="548640" y="1965960"/>
            <a:ext cx="5212080" cy="502920"/>
          </a:xfrm>
          <a:prstGeom prst="roundRect">
            <a:avLst>
              <a:gd name="adj" fmla="val 14545"/>
            </a:avLst>
          </a:prstGeom>
          <a:solidFill>
            <a:srgbClr val="E8F4F2"/>
          </a:solidFill>
          <a:ln/>
        </p:spPr>
      </p:sp>
      <p:sp>
        <p:nvSpPr>
          <p:cNvPr id="6" name="Text 4"/>
          <p:cNvSpPr/>
          <p:nvPr/>
        </p:nvSpPr>
        <p:spPr>
          <a:xfrm>
            <a:off x="548640" y="1965960"/>
            <a:ext cx="5212080" cy="502920"/>
          </a:xfrm>
          <a:prstGeom prst="rect">
            <a:avLst/>
          </a:prstGeom>
          <a:noFill/>
          <a:ln/>
        </p:spPr>
        <p:txBody>
          <a:bodyPr wrap="square" rtlCol="0" anchor="ctr"/>
          <a:lstStyle/>
          <a:p>
            <a:pPr marL="0" indent="0" algn="ctr">
              <a:buNone/>
            </a:pPr>
            <a:r>
              <a:rPr lang="en-US" sz="1900" b="1" dirty="0">
                <a:solidFill>
                  <a:srgbClr val="0E5C56"/>
                </a:solidFill>
                <a:latin typeface="Calibri" pitchFamily="34" charset="0"/>
                <a:ea typeface="Calibri" pitchFamily="34" charset="-122"/>
                <a:cs typeface="Calibri" pitchFamily="34" charset="-120"/>
              </a:rPr>
              <a:t>Use Pearson's r when...</a:t>
            </a:r>
            <a:endParaRPr lang="en-US" sz="1900" dirty="0"/>
          </a:p>
        </p:txBody>
      </p:sp>
      <p:sp>
        <p:nvSpPr>
          <p:cNvPr id="7" name="Text 5"/>
          <p:cNvSpPr/>
          <p:nvPr/>
        </p:nvSpPr>
        <p:spPr>
          <a:xfrm>
            <a:off x="640080" y="2697480"/>
            <a:ext cx="5029200" cy="914400"/>
          </a:xfrm>
          <a:prstGeom prst="rect">
            <a:avLst/>
          </a:prstGeom>
          <a:noFill/>
          <a:ln/>
        </p:spPr>
        <p:txBody>
          <a:bodyPr wrap="square" rtlCol="0" anchor="t"/>
          <a:lstStyle/>
          <a:p>
            <a:pPr marL="0" indent="0">
              <a:buNone/>
            </a:pPr>
            <a:r>
              <a:rPr lang="en-US" sz="1800" dirty="0">
                <a:solidFill>
                  <a:srgbClr val="1B2B2A"/>
                </a:solidFill>
                <a:latin typeface="Calibri" pitchFamily="34" charset="0"/>
                <a:ea typeface="Calibri" pitchFamily="34" charset="-122"/>
                <a:cs typeface="Calibri" pitchFamily="34" charset="-120"/>
              </a:rPr>
              <a:t>•  The relationship looks roughly linear on a scatter plot.</a:t>
            </a:r>
            <a:endParaRPr lang="en-US" sz="1800" dirty="0"/>
          </a:p>
        </p:txBody>
      </p:sp>
      <p:sp>
        <p:nvSpPr>
          <p:cNvPr id="8" name="Text 6"/>
          <p:cNvSpPr/>
          <p:nvPr/>
        </p:nvSpPr>
        <p:spPr>
          <a:xfrm>
            <a:off x="640080" y="3776472"/>
            <a:ext cx="5029200" cy="914400"/>
          </a:xfrm>
          <a:prstGeom prst="rect">
            <a:avLst/>
          </a:prstGeom>
          <a:noFill/>
          <a:ln/>
        </p:spPr>
        <p:txBody>
          <a:bodyPr wrap="square" rtlCol="0" anchor="t"/>
          <a:lstStyle/>
          <a:p>
            <a:pPr marL="0" indent="0">
              <a:buNone/>
            </a:pPr>
            <a:r>
              <a:rPr lang="en-US" sz="1800" dirty="0">
                <a:solidFill>
                  <a:srgbClr val="1B2B2A"/>
                </a:solidFill>
                <a:latin typeface="Calibri" pitchFamily="34" charset="0"/>
                <a:ea typeface="Calibri" pitchFamily="34" charset="-122"/>
                <a:cs typeface="Calibri" pitchFamily="34" charset="-120"/>
              </a:rPr>
              <a:t>•  Both variables are continuous, numeric data.</a:t>
            </a:r>
            <a:endParaRPr lang="en-US" sz="1800" dirty="0"/>
          </a:p>
        </p:txBody>
      </p:sp>
      <p:sp>
        <p:nvSpPr>
          <p:cNvPr id="9" name="Text 7"/>
          <p:cNvSpPr/>
          <p:nvPr/>
        </p:nvSpPr>
        <p:spPr>
          <a:xfrm>
            <a:off x="640080" y="4855464"/>
            <a:ext cx="5029200" cy="914400"/>
          </a:xfrm>
          <a:prstGeom prst="rect">
            <a:avLst/>
          </a:prstGeom>
          <a:noFill/>
          <a:ln/>
        </p:spPr>
        <p:txBody>
          <a:bodyPr wrap="square" rtlCol="0" anchor="t"/>
          <a:lstStyle/>
          <a:p>
            <a:pPr marL="0" indent="0">
              <a:buNone/>
            </a:pPr>
            <a:r>
              <a:rPr lang="en-US" sz="1800" dirty="0">
                <a:solidFill>
                  <a:srgbClr val="1B2B2A"/>
                </a:solidFill>
                <a:latin typeface="Calibri" pitchFamily="34" charset="0"/>
                <a:ea typeface="Calibri" pitchFamily="34" charset="-122"/>
                <a:cs typeface="Calibri" pitchFamily="34" charset="-120"/>
              </a:rPr>
              <a:t>•  There are no extreme outliers distorting the pattern.</a:t>
            </a:r>
            <a:endParaRPr lang="en-US" sz="1800" dirty="0"/>
          </a:p>
        </p:txBody>
      </p:sp>
      <p:sp>
        <p:nvSpPr>
          <p:cNvPr id="10" name="Shape 8"/>
          <p:cNvSpPr/>
          <p:nvPr/>
        </p:nvSpPr>
        <p:spPr>
          <a:xfrm>
            <a:off x="6185916" y="1965960"/>
            <a:ext cx="5212080" cy="502920"/>
          </a:xfrm>
          <a:prstGeom prst="roundRect">
            <a:avLst>
              <a:gd name="adj" fmla="val 14545"/>
            </a:avLst>
          </a:prstGeom>
          <a:solidFill>
            <a:srgbClr val="E8F4F2"/>
          </a:solidFill>
          <a:ln/>
        </p:spPr>
      </p:sp>
      <p:sp>
        <p:nvSpPr>
          <p:cNvPr id="11" name="Text 9"/>
          <p:cNvSpPr/>
          <p:nvPr/>
        </p:nvSpPr>
        <p:spPr>
          <a:xfrm>
            <a:off x="6185916" y="1965960"/>
            <a:ext cx="5212080" cy="502920"/>
          </a:xfrm>
          <a:prstGeom prst="rect">
            <a:avLst/>
          </a:prstGeom>
          <a:noFill/>
          <a:ln/>
        </p:spPr>
        <p:txBody>
          <a:bodyPr wrap="square" rtlCol="0" anchor="ctr"/>
          <a:lstStyle/>
          <a:p>
            <a:pPr marL="0" indent="0" algn="ctr">
              <a:buNone/>
            </a:pPr>
            <a:r>
              <a:rPr lang="en-US" sz="1900" b="1" dirty="0">
                <a:solidFill>
                  <a:srgbClr val="C97F12"/>
                </a:solidFill>
                <a:latin typeface="Calibri" pitchFamily="34" charset="0"/>
                <a:ea typeface="Calibri" pitchFamily="34" charset="-122"/>
                <a:cs typeface="Calibri" pitchFamily="34" charset="-120"/>
              </a:rPr>
              <a:t>Use Spearman's rho when...</a:t>
            </a:r>
            <a:endParaRPr lang="en-US" sz="1900" dirty="0"/>
          </a:p>
        </p:txBody>
      </p:sp>
      <p:sp>
        <p:nvSpPr>
          <p:cNvPr id="12" name="Text 10"/>
          <p:cNvSpPr/>
          <p:nvPr/>
        </p:nvSpPr>
        <p:spPr>
          <a:xfrm>
            <a:off x="6277356" y="2697480"/>
            <a:ext cx="5029200" cy="914400"/>
          </a:xfrm>
          <a:prstGeom prst="rect">
            <a:avLst/>
          </a:prstGeom>
          <a:noFill/>
          <a:ln/>
        </p:spPr>
        <p:txBody>
          <a:bodyPr wrap="square" rtlCol="0" anchor="t"/>
          <a:lstStyle/>
          <a:p>
            <a:pPr marL="0" indent="0">
              <a:buNone/>
            </a:pPr>
            <a:r>
              <a:rPr lang="en-US" sz="1800" dirty="0">
                <a:solidFill>
                  <a:srgbClr val="1B2B2A"/>
                </a:solidFill>
                <a:latin typeface="Calibri" pitchFamily="34" charset="0"/>
                <a:ea typeface="Calibri" pitchFamily="34" charset="-122"/>
                <a:cs typeface="Calibri" pitchFamily="34" charset="-120"/>
              </a:rPr>
              <a:t>•  The relationship is consistently increasing/decreasing but curved.</a:t>
            </a:r>
            <a:endParaRPr lang="en-US" sz="1800" dirty="0"/>
          </a:p>
        </p:txBody>
      </p:sp>
      <p:sp>
        <p:nvSpPr>
          <p:cNvPr id="13" name="Text 11"/>
          <p:cNvSpPr/>
          <p:nvPr/>
        </p:nvSpPr>
        <p:spPr>
          <a:xfrm>
            <a:off x="6277356" y="3776472"/>
            <a:ext cx="5029200" cy="914400"/>
          </a:xfrm>
          <a:prstGeom prst="rect">
            <a:avLst/>
          </a:prstGeom>
          <a:noFill/>
          <a:ln/>
        </p:spPr>
        <p:txBody>
          <a:bodyPr wrap="square" rtlCol="0" anchor="t"/>
          <a:lstStyle/>
          <a:p>
            <a:pPr marL="0" indent="0">
              <a:buNone/>
            </a:pPr>
            <a:r>
              <a:rPr lang="en-US" sz="1800" dirty="0">
                <a:solidFill>
                  <a:srgbClr val="1B2B2A"/>
                </a:solidFill>
                <a:latin typeface="Calibri" pitchFamily="34" charset="0"/>
                <a:ea typeface="Calibri" pitchFamily="34" charset="-122"/>
                <a:cs typeface="Calibri" pitchFamily="34" charset="-120"/>
              </a:rPr>
              <a:t>•  The data includes ranked or ordinal variables.</a:t>
            </a:r>
            <a:endParaRPr lang="en-US" sz="1800" dirty="0"/>
          </a:p>
        </p:txBody>
      </p:sp>
      <p:sp>
        <p:nvSpPr>
          <p:cNvPr id="14" name="Text 12"/>
          <p:cNvSpPr/>
          <p:nvPr/>
        </p:nvSpPr>
        <p:spPr>
          <a:xfrm>
            <a:off x="6277356" y="4855464"/>
            <a:ext cx="5029200" cy="914400"/>
          </a:xfrm>
          <a:prstGeom prst="rect">
            <a:avLst/>
          </a:prstGeom>
          <a:noFill/>
          <a:ln/>
        </p:spPr>
        <p:txBody>
          <a:bodyPr wrap="square" rtlCol="0" anchor="t"/>
          <a:lstStyle/>
          <a:p>
            <a:pPr marL="0" indent="0">
              <a:buNone/>
            </a:pPr>
            <a:r>
              <a:rPr lang="en-US" sz="1800" dirty="0">
                <a:solidFill>
                  <a:srgbClr val="1B2B2A"/>
                </a:solidFill>
                <a:latin typeface="Calibri" pitchFamily="34" charset="0"/>
                <a:ea typeface="Calibri" pitchFamily="34" charset="-122"/>
                <a:cs typeface="Calibri" pitchFamily="34" charset="-120"/>
              </a:rPr>
              <a:t>•  Outliers are present and could distort Pearson's r.</a:t>
            </a:r>
            <a:endParaRPr lang="en-US" sz="1800" dirty="0"/>
          </a:p>
        </p:txBody>
      </p:sp>
      <p:sp>
        <p:nvSpPr>
          <p:cNvPr id="15" name="Text 13"/>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5B7370"/>
                </a:solidFill>
                <a:latin typeface="Calibri" pitchFamily="34" charset="0"/>
                <a:ea typeface="Calibri" pitchFamily="34" charset="-122"/>
                <a:cs typeface="Calibri" pitchFamily="34" charset="-120"/>
              </a:rPr>
              <a:t>Presidency University | Dept. of AI &amp; Robotics | DSC4000 | Statics for Data Science</a:t>
            </a:r>
            <a:endParaRPr lang="en-US" sz="1000" dirty="0"/>
          </a:p>
        </p:txBody>
      </p:sp>
      <p:sp>
        <p:nvSpPr>
          <p:cNvPr id="16" name="Text 14"/>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7370"/>
                </a:solidFill>
                <a:latin typeface="Calibri" pitchFamily="34" charset="0"/>
                <a:ea typeface="Calibri" pitchFamily="34" charset="-122"/>
                <a:cs typeface="Calibri" pitchFamily="34" charset="-120"/>
              </a:rPr>
              <a:t>37</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3291840" cy="384048"/>
          </a:xfrm>
          <a:prstGeom prst="roundRect">
            <a:avLst>
              <a:gd name="adj" fmla="val 19048"/>
            </a:avLst>
          </a:prstGeom>
          <a:solidFill>
            <a:srgbClr val="E8F4F2"/>
          </a:solidFill>
          <a:ln/>
        </p:spPr>
      </p:sp>
      <p:sp>
        <p:nvSpPr>
          <p:cNvPr id="3" name="Text 1"/>
          <p:cNvSpPr/>
          <p:nvPr/>
        </p:nvSpPr>
        <p:spPr>
          <a:xfrm>
            <a:off x="548640" y="457200"/>
            <a:ext cx="3291840" cy="384048"/>
          </a:xfrm>
          <a:prstGeom prst="rect">
            <a:avLst/>
          </a:prstGeom>
          <a:noFill/>
          <a:ln/>
        </p:spPr>
        <p:txBody>
          <a:bodyPr wrap="square" rtlCol="0" anchor="ctr"/>
          <a:lstStyle/>
          <a:p>
            <a:pPr marL="0" indent="0" algn="ctr">
              <a:buNone/>
            </a:pPr>
            <a:r>
              <a:rPr lang="en-US" sz="1300" b="1" kern="0" spc="100" dirty="0">
                <a:solidFill>
                  <a:srgbClr val="0E5C56"/>
                </a:solidFill>
                <a:latin typeface="Calibri" pitchFamily="34" charset="0"/>
                <a:ea typeface="Calibri" pitchFamily="34" charset="-122"/>
                <a:cs typeface="Calibri" pitchFamily="34" charset="-120"/>
              </a:rPr>
              <a:t>EXTENSION</a:t>
            </a:r>
            <a:endParaRPr lang="en-US" sz="1300" dirty="0"/>
          </a:p>
        </p:txBody>
      </p:sp>
      <p:sp>
        <p:nvSpPr>
          <p:cNvPr id="4" name="Text 2"/>
          <p:cNvSpPr/>
          <p:nvPr/>
        </p:nvSpPr>
        <p:spPr>
          <a:xfrm>
            <a:off x="548640" y="960120"/>
            <a:ext cx="11091672" cy="914400"/>
          </a:xfrm>
          <a:prstGeom prst="rect">
            <a:avLst/>
          </a:prstGeom>
          <a:noFill/>
          <a:ln/>
        </p:spPr>
        <p:txBody>
          <a:bodyPr wrap="square" rtlCol="0" anchor="t"/>
          <a:lstStyle/>
          <a:p>
            <a:pPr marL="0" indent="0" algn="l">
              <a:buNone/>
            </a:pPr>
            <a:r>
              <a:rPr lang="en-US" sz="3200" b="1" dirty="0">
                <a:solidFill>
                  <a:srgbClr val="1B2B2A"/>
                </a:solidFill>
                <a:latin typeface="Cambria" pitchFamily="34" charset="0"/>
                <a:ea typeface="Cambria" pitchFamily="34" charset="-122"/>
                <a:cs typeface="Cambria" pitchFamily="34" charset="-120"/>
              </a:rPr>
              <a:t>Spearman — Mini Worked Example</a:t>
            </a:r>
            <a:endParaRPr lang="en-US" sz="3200" dirty="0"/>
          </a:p>
        </p:txBody>
      </p:sp>
      <p:sp>
        <p:nvSpPr>
          <p:cNvPr id="5" name="Shape 3"/>
          <p:cNvSpPr/>
          <p:nvPr/>
        </p:nvSpPr>
        <p:spPr>
          <a:xfrm>
            <a:off x="548640" y="2205990"/>
            <a:ext cx="457200" cy="457200"/>
          </a:xfrm>
          <a:prstGeom prst="ellipse">
            <a:avLst/>
          </a:prstGeom>
          <a:solidFill>
            <a:srgbClr val="0E5C56"/>
          </a:solidFill>
          <a:ln/>
        </p:spPr>
      </p:sp>
      <p:sp>
        <p:nvSpPr>
          <p:cNvPr id="6" name="Text 4"/>
          <p:cNvSpPr/>
          <p:nvPr/>
        </p:nvSpPr>
        <p:spPr>
          <a:xfrm>
            <a:off x="548640" y="2205990"/>
            <a:ext cx="45720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234440" y="1920240"/>
            <a:ext cx="10360152" cy="1028700"/>
          </a:xfrm>
          <a:prstGeom prst="rect">
            <a:avLst/>
          </a:prstGeom>
          <a:noFill/>
          <a:ln/>
        </p:spPr>
        <p:txBody>
          <a:bodyPr wrap="square" rtlCol="0" anchor="ctr"/>
          <a:lstStyle/>
          <a:p>
            <a:pPr marL="0" indent="0">
              <a:buNone/>
            </a:pPr>
            <a:r>
              <a:rPr lang="en-US" sz="1900" dirty="0">
                <a:solidFill>
                  <a:srgbClr val="1B2B2A"/>
                </a:solidFill>
                <a:latin typeface="Calibri" pitchFamily="34" charset="0"/>
                <a:ea typeface="Calibri" pitchFamily="34" charset="-122"/>
                <a:cs typeface="Calibri" pitchFamily="34" charset="-120"/>
              </a:rPr>
              <a:t>Data: X = [5, 20, 8], Y = [10, 90, 15] — one large outlier in both variables.</a:t>
            </a:r>
            <a:endParaRPr lang="en-US" sz="1900" dirty="0"/>
          </a:p>
        </p:txBody>
      </p:sp>
      <p:sp>
        <p:nvSpPr>
          <p:cNvPr id="8" name="Shape 6"/>
          <p:cNvSpPr/>
          <p:nvPr/>
        </p:nvSpPr>
        <p:spPr>
          <a:xfrm>
            <a:off x="777240" y="2903220"/>
            <a:ext cx="0" cy="137160"/>
          </a:xfrm>
          <a:prstGeom prst="line">
            <a:avLst/>
          </a:prstGeom>
          <a:noFill/>
          <a:ln w="19050">
            <a:solidFill>
              <a:srgbClr val="D7E6E4"/>
            </a:solidFill>
            <a:prstDash val="solid"/>
          </a:ln>
        </p:spPr>
      </p:sp>
      <p:sp>
        <p:nvSpPr>
          <p:cNvPr id="9" name="Shape 7"/>
          <p:cNvSpPr/>
          <p:nvPr/>
        </p:nvSpPr>
        <p:spPr>
          <a:xfrm>
            <a:off x="548640" y="3234690"/>
            <a:ext cx="457200" cy="457200"/>
          </a:xfrm>
          <a:prstGeom prst="ellipse">
            <a:avLst/>
          </a:prstGeom>
          <a:solidFill>
            <a:srgbClr val="0E5C56"/>
          </a:solidFill>
          <a:ln/>
        </p:spPr>
      </p:sp>
      <p:sp>
        <p:nvSpPr>
          <p:cNvPr id="10" name="Text 8"/>
          <p:cNvSpPr/>
          <p:nvPr/>
        </p:nvSpPr>
        <p:spPr>
          <a:xfrm>
            <a:off x="548640" y="3234690"/>
            <a:ext cx="45720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234440" y="2948940"/>
            <a:ext cx="10360152" cy="1028700"/>
          </a:xfrm>
          <a:prstGeom prst="rect">
            <a:avLst/>
          </a:prstGeom>
          <a:noFill/>
          <a:ln/>
        </p:spPr>
        <p:txBody>
          <a:bodyPr wrap="square" rtlCol="0" anchor="ctr"/>
          <a:lstStyle/>
          <a:p>
            <a:pPr marL="0" indent="0">
              <a:buNone/>
            </a:pPr>
            <a:r>
              <a:rPr lang="en-US" sz="1900" dirty="0">
                <a:solidFill>
                  <a:srgbClr val="1B2B2A"/>
                </a:solidFill>
                <a:latin typeface="Calibri" pitchFamily="34" charset="0"/>
                <a:ea typeface="Calibri" pitchFamily="34" charset="-122"/>
                <a:cs typeface="Calibri" pitchFamily="34" charset="-120"/>
              </a:rPr>
              <a:t>Convert X to ranks: 5→1, 8→2, 20→3. Convert Y to ranks: 10→1, 15→2, 90→3.</a:t>
            </a:r>
            <a:endParaRPr lang="en-US" sz="1900" dirty="0"/>
          </a:p>
        </p:txBody>
      </p:sp>
      <p:sp>
        <p:nvSpPr>
          <p:cNvPr id="12" name="Shape 10"/>
          <p:cNvSpPr/>
          <p:nvPr/>
        </p:nvSpPr>
        <p:spPr>
          <a:xfrm>
            <a:off x="777240" y="3931920"/>
            <a:ext cx="0" cy="137160"/>
          </a:xfrm>
          <a:prstGeom prst="line">
            <a:avLst/>
          </a:prstGeom>
          <a:noFill/>
          <a:ln w="19050">
            <a:solidFill>
              <a:srgbClr val="D7E6E4"/>
            </a:solidFill>
            <a:prstDash val="solid"/>
          </a:ln>
        </p:spPr>
      </p:sp>
      <p:sp>
        <p:nvSpPr>
          <p:cNvPr id="13" name="Shape 11"/>
          <p:cNvSpPr/>
          <p:nvPr/>
        </p:nvSpPr>
        <p:spPr>
          <a:xfrm>
            <a:off x="548640" y="4263390"/>
            <a:ext cx="457200" cy="457200"/>
          </a:xfrm>
          <a:prstGeom prst="ellipse">
            <a:avLst/>
          </a:prstGeom>
          <a:solidFill>
            <a:srgbClr val="0E5C56"/>
          </a:solidFill>
          <a:ln/>
        </p:spPr>
      </p:sp>
      <p:sp>
        <p:nvSpPr>
          <p:cNvPr id="14" name="Text 12"/>
          <p:cNvSpPr/>
          <p:nvPr/>
        </p:nvSpPr>
        <p:spPr>
          <a:xfrm>
            <a:off x="548640" y="4263390"/>
            <a:ext cx="45720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1234440" y="3977640"/>
            <a:ext cx="10360152" cy="1028700"/>
          </a:xfrm>
          <a:prstGeom prst="rect">
            <a:avLst/>
          </a:prstGeom>
          <a:noFill/>
          <a:ln/>
        </p:spPr>
        <p:txBody>
          <a:bodyPr wrap="square" rtlCol="0" anchor="ctr"/>
          <a:lstStyle/>
          <a:p>
            <a:pPr marL="0" indent="0">
              <a:buNone/>
            </a:pPr>
            <a:r>
              <a:rPr lang="en-US" sz="1900" dirty="0">
                <a:solidFill>
                  <a:srgbClr val="1B2B2A"/>
                </a:solidFill>
                <a:latin typeface="Calibri" pitchFamily="34" charset="0"/>
                <a:ea typeface="Calibri" pitchFamily="34" charset="-122"/>
                <a:cs typeface="Calibri" pitchFamily="34" charset="-120"/>
              </a:rPr>
              <a:t>Now compute Pearson's r on the RANKS (1,2,3) instead of the raw values.</a:t>
            </a:r>
            <a:endParaRPr lang="en-US" sz="1900" dirty="0"/>
          </a:p>
        </p:txBody>
      </p:sp>
      <p:sp>
        <p:nvSpPr>
          <p:cNvPr id="16" name="Shape 14"/>
          <p:cNvSpPr/>
          <p:nvPr/>
        </p:nvSpPr>
        <p:spPr>
          <a:xfrm>
            <a:off x="777240" y="4960620"/>
            <a:ext cx="0" cy="137160"/>
          </a:xfrm>
          <a:prstGeom prst="line">
            <a:avLst/>
          </a:prstGeom>
          <a:noFill/>
          <a:ln w="19050">
            <a:solidFill>
              <a:srgbClr val="D7E6E4"/>
            </a:solidFill>
            <a:prstDash val="solid"/>
          </a:ln>
        </p:spPr>
      </p:sp>
      <p:sp>
        <p:nvSpPr>
          <p:cNvPr id="17" name="Shape 15"/>
          <p:cNvSpPr/>
          <p:nvPr/>
        </p:nvSpPr>
        <p:spPr>
          <a:xfrm>
            <a:off x="548640" y="5292090"/>
            <a:ext cx="457200" cy="457200"/>
          </a:xfrm>
          <a:prstGeom prst="ellipse">
            <a:avLst/>
          </a:prstGeom>
          <a:solidFill>
            <a:srgbClr val="0E5C56"/>
          </a:solidFill>
          <a:ln/>
        </p:spPr>
      </p:sp>
      <p:sp>
        <p:nvSpPr>
          <p:cNvPr id="18" name="Text 16"/>
          <p:cNvSpPr/>
          <p:nvPr/>
        </p:nvSpPr>
        <p:spPr>
          <a:xfrm>
            <a:off x="548640" y="5292090"/>
            <a:ext cx="45720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p:nvPr/>
        </p:nvSpPr>
        <p:spPr>
          <a:xfrm>
            <a:off x="1234440" y="5006340"/>
            <a:ext cx="10360152" cy="1028700"/>
          </a:xfrm>
          <a:prstGeom prst="rect">
            <a:avLst/>
          </a:prstGeom>
          <a:noFill/>
          <a:ln/>
        </p:spPr>
        <p:txBody>
          <a:bodyPr wrap="square" rtlCol="0" anchor="ctr"/>
          <a:lstStyle/>
          <a:p>
            <a:pPr marL="0" indent="0">
              <a:buNone/>
            </a:pPr>
            <a:r>
              <a:rPr lang="en-US" sz="1900" dirty="0">
                <a:solidFill>
                  <a:srgbClr val="1B2B2A"/>
                </a:solidFill>
                <a:latin typeface="Calibri" pitchFamily="34" charset="0"/>
                <a:ea typeface="Calibri" pitchFamily="34" charset="-122"/>
                <a:cs typeface="Calibri" pitchFamily="34" charset="-120"/>
              </a:rPr>
              <a:t>Because the ranks increase together perfectly, Spearman's rho = 1.0, even though the raw values are unevenly spaced.</a:t>
            </a:r>
            <a:endParaRPr lang="en-US" sz="1900" dirty="0"/>
          </a:p>
        </p:txBody>
      </p:sp>
      <p:sp>
        <p:nvSpPr>
          <p:cNvPr id="20" name="Text 18"/>
          <p:cNvSpPr/>
          <p:nvPr/>
        </p:nvSpPr>
        <p:spPr>
          <a:xfrm>
            <a:off x="548640" y="6080760"/>
            <a:ext cx="11091672" cy="320040"/>
          </a:xfrm>
          <a:prstGeom prst="rect">
            <a:avLst/>
          </a:prstGeom>
          <a:noFill/>
          <a:ln/>
        </p:spPr>
        <p:txBody>
          <a:bodyPr wrap="square" rtlCol="0" anchor="ctr"/>
          <a:lstStyle/>
          <a:p>
            <a:pPr marL="0" indent="0">
              <a:buNone/>
            </a:pPr>
            <a:r>
              <a:rPr lang="en-US" sz="1300" i="1" dirty="0">
                <a:solidFill>
                  <a:srgbClr val="5B7370"/>
                </a:solidFill>
                <a:latin typeface="Calibri" pitchFamily="34" charset="0"/>
                <a:ea typeface="Calibri" pitchFamily="34" charset="-122"/>
                <a:cs typeface="Calibri" pitchFamily="34" charset="-120"/>
              </a:rPr>
              <a:t>Spearman rho = 1.0 shows a perfect monotonic trend, undistorted by the size of the outlier value 90.</a:t>
            </a:r>
            <a:endParaRPr lang="en-US" sz="1300" dirty="0"/>
          </a:p>
        </p:txBody>
      </p:sp>
      <p:sp>
        <p:nvSpPr>
          <p:cNvPr id="21" name="Text 19"/>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5B7370"/>
                </a:solidFill>
                <a:latin typeface="Calibri" pitchFamily="34" charset="0"/>
                <a:ea typeface="Calibri" pitchFamily="34" charset="-122"/>
                <a:cs typeface="Calibri" pitchFamily="34" charset="-120"/>
              </a:rPr>
              <a:t>Presidency University | Dept. of AI &amp; Robotics | DSC4000 | Statics for Data Science</a:t>
            </a:r>
            <a:endParaRPr lang="en-US" sz="1000" dirty="0"/>
          </a:p>
        </p:txBody>
      </p:sp>
      <p:sp>
        <p:nvSpPr>
          <p:cNvPr id="22" name="Text 20"/>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7370"/>
                </a:solidFill>
                <a:latin typeface="Calibri" pitchFamily="34" charset="0"/>
                <a:ea typeface="Calibri" pitchFamily="34" charset="-122"/>
                <a:cs typeface="Calibri" pitchFamily="34" charset="-120"/>
              </a:rPr>
              <a:t>38</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3291840" cy="384048"/>
          </a:xfrm>
          <a:prstGeom prst="roundRect">
            <a:avLst>
              <a:gd name="adj" fmla="val 19048"/>
            </a:avLst>
          </a:prstGeom>
          <a:solidFill>
            <a:srgbClr val="E8F4F2"/>
          </a:solidFill>
          <a:ln/>
        </p:spPr>
      </p:sp>
      <p:sp>
        <p:nvSpPr>
          <p:cNvPr id="3" name="Text 1"/>
          <p:cNvSpPr/>
          <p:nvPr/>
        </p:nvSpPr>
        <p:spPr>
          <a:xfrm>
            <a:off x="548640" y="457200"/>
            <a:ext cx="3291840" cy="384048"/>
          </a:xfrm>
          <a:prstGeom prst="rect">
            <a:avLst/>
          </a:prstGeom>
          <a:noFill/>
          <a:ln/>
        </p:spPr>
        <p:txBody>
          <a:bodyPr wrap="square" rtlCol="0" anchor="ctr"/>
          <a:lstStyle/>
          <a:p>
            <a:pPr marL="0" indent="0" algn="ctr">
              <a:buNone/>
            </a:pPr>
            <a:r>
              <a:rPr lang="en-US" sz="1300" b="1" kern="0" spc="100" dirty="0">
                <a:solidFill>
                  <a:srgbClr val="0E5C56"/>
                </a:solidFill>
                <a:latin typeface="Calibri" pitchFamily="34" charset="0"/>
                <a:ea typeface="Calibri" pitchFamily="34" charset="-122"/>
                <a:cs typeface="Calibri" pitchFamily="34" charset="-120"/>
              </a:rPr>
              <a:t>CRITICAL THINKING</a:t>
            </a:r>
            <a:endParaRPr lang="en-US" sz="1300" dirty="0"/>
          </a:p>
        </p:txBody>
      </p:sp>
      <p:sp>
        <p:nvSpPr>
          <p:cNvPr id="4" name="Text 2"/>
          <p:cNvSpPr/>
          <p:nvPr/>
        </p:nvSpPr>
        <p:spPr>
          <a:xfrm>
            <a:off x="548640" y="960120"/>
            <a:ext cx="11091672" cy="914400"/>
          </a:xfrm>
          <a:prstGeom prst="rect">
            <a:avLst/>
          </a:prstGeom>
          <a:noFill/>
          <a:ln/>
        </p:spPr>
        <p:txBody>
          <a:bodyPr wrap="square" rtlCol="0" anchor="t"/>
          <a:lstStyle/>
          <a:p>
            <a:pPr marL="0" indent="0" algn="l">
              <a:buNone/>
            </a:pPr>
            <a:r>
              <a:rPr lang="en-US" sz="3200" b="1" dirty="0">
                <a:solidFill>
                  <a:srgbClr val="1B2B2A"/>
                </a:solidFill>
                <a:latin typeface="Cambria" pitchFamily="34" charset="0"/>
                <a:ea typeface="Cambria" pitchFamily="34" charset="-122"/>
                <a:cs typeface="Cambria" pitchFamily="34" charset="-120"/>
              </a:rPr>
              <a:t>Correlation ≠ Causation</a:t>
            </a:r>
            <a:endParaRPr lang="en-US" sz="3200" dirty="0"/>
          </a:p>
        </p:txBody>
      </p:sp>
      <p:sp>
        <p:nvSpPr>
          <p:cNvPr id="5" name="Shape 3"/>
          <p:cNvSpPr/>
          <p:nvPr/>
        </p:nvSpPr>
        <p:spPr>
          <a:xfrm>
            <a:off x="548640" y="1993392"/>
            <a:ext cx="365760" cy="365760"/>
          </a:xfrm>
          <a:prstGeom prst="ellipse">
            <a:avLst/>
          </a:prstGeom>
          <a:solidFill>
            <a:srgbClr val="F2A93B"/>
          </a:solidFill>
          <a:ln/>
        </p:spPr>
      </p:sp>
      <p:sp>
        <p:nvSpPr>
          <p:cNvPr id="6" name="Text 4"/>
          <p:cNvSpPr/>
          <p:nvPr/>
        </p:nvSpPr>
        <p:spPr>
          <a:xfrm>
            <a:off x="548640" y="1993392"/>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7" name="Text 5"/>
          <p:cNvSpPr/>
          <p:nvPr/>
        </p:nvSpPr>
        <p:spPr>
          <a:xfrm>
            <a:off x="1143000" y="1965960"/>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A high correlation only tells us two variables move together — it never proves that one CAUSES the other.</a:t>
            </a:r>
            <a:endParaRPr lang="en-US" sz="2000" dirty="0"/>
          </a:p>
        </p:txBody>
      </p:sp>
      <p:sp>
        <p:nvSpPr>
          <p:cNvPr id="8" name="Shape 6"/>
          <p:cNvSpPr/>
          <p:nvPr/>
        </p:nvSpPr>
        <p:spPr>
          <a:xfrm>
            <a:off x="548640" y="3246120"/>
            <a:ext cx="365760" cy="365760"/>
          </a:xfrm>
          <a:prstGeom prst="ellipse">
            <a:avLst/>
          </a:prstGeom>
          <a:solidFill>
            <a:srgbClr val="F2A93B"/>
          </a:solidFill>
          <a:ln/>
        </p:spPr>
      </p:sp>
      <p:sp>
        <p:nvSpPr>
          <p:cNvPr id="9" name="Text 7"/>
          <p:cNvSpPr/>
          <p:nvPr/>
        </p:nvSpPr>
        <p:spPr>
          <a:xfrm>
            <a:off x="548640" y="3246120"/>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0" name="Text 8"/>
          <p:cNvSpPr/>
          <p:nvPr/>
        </p:nvSpPr>
        <p:spPr>
          <a:xfrm>
            <a:off x="1143000" y="3218688"/>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There are three possibilities behind any correlation: A causes B, B causes A, or a hidden third variable causes both.</a:t>
            </a:r>
            <a:endParaRPr lang="en-US" sz="2000" dirty="0"/>
          </a:p>
        </p:txBody>
      </p:sp>
      <p:sp>
        <p:nvSpPr>
          <p:cNvPr id="11" name="Shape 9"/>
          <p:cNvSpPr/>
          <p:nvPr/>
        </p:nvSpPr>
        <p:spPr>
          <a:xfrm>
            <a:off x="548640" y="4498848"/>
            <a:ext cx="365760" cy="365760"/>
          </a:xfrm>
          <a:prstGeom prst="ellipse">
            <a:avLst/>
          </a:prstGeom>
          <a:solidFill>
            <a:srgbClr val="F2A93B"/>
          </a:solidFill>
          <a:ln/>
        </p:spPr>
      </p:sp>
      <p:sp>
        <p:nvSpPr>
          <p:cNvPr id="12" name="Text 10"/>
          <p:cNvSpPr/>
          <p:nvPr/>
        </p:nvSpPr>
        <p:spPr>
          <a:xfrm>
            <a:off x="548640" y="4498848"/>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3" name="Text 11"/>
          <p:cNvSpPr/>
          <p:nvPr/>
        </p:nvSpPr>
        <p:spPr>
          <a:xfrm>
            <a:off x="1143000" y="4471416"/>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Proving causation requires controlled experiments or careful causal-inference methods, not just a correlation number.</a:t>
            </a:r>
            <a:endParaRPr lang="en-US" sz="2000" dirty="0"/>
          </a:p>
        </p:txBody>
      </p:sp>
      <p:sp>
        <p:nvSpPr>
          <p:cNvPr id="14" name="Shape 12"/>
          <p:cNvSpPr/>
          <p:nvPr/>
        </p:nvSpPr>
        <p:spPr>
          <a:xfrm>
            <a:off x="548640" y="5751576"/>
            <a:ext cx="365760" cy="365760"/>
          </a:xfrm>
          <a:prstGeom prst="ellipse">
            <a:avLst/>
          </a:prstGeom>
          <a:solidFill>
            <a:srgbClr val="F2A93B"/>
          </a:solidFill>
          <a:ln/>
        </p:spPr>
      </p:sp>
      <p:sp>
        <p:nvSpPr>
          <p:cNvPr id="15" name="Text 13"/>
          <p:cNvSpPr/>
          <p:nvPr/>
        </p:nvSpPr>
        <p:spPr>
          <a:xfrm>
            <a:off x="548640" y="5751576"/>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6" name="Text 14"/>
          <p:cNvSpPr/>
          <p:nvPr/>
        </p:nvSpPr>
        <p:spPr>
          <a:xfrm>
            <a:off x="1143000" y="5724144"/>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This is one of the most important — and most often ignored — rules in all of Statics for Data Science.</a:t>
            </a:r>
            <a:endParaRPr lang="en-US" sz="2000" dirty="0"/>
          </a:p>
        </p:txBody>
      </p:sp>
      <p:sp>
        <p:nvSpPr>
          <p:cNvPr id="17" name="Text 15"/>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5B7370"/>
                </a:solidFill>
                <a:latin typeface="Calibri" pitchFamily="34" charset="0"/>
                <a:ea typeface="Calibri" pitchFamily="34" charset="-122"/>
                <a:cs typeface="Calibri" pitchFamily="34" charset="-120"/>
              </a:rPr>
              <a:t>Presidency University | Dept. of AI &amp; Robotics | DSC4000 | Statics for Data Science</a:t>
            </a:r>
            <a:endParaRPr lang="en-US" sz="1000" dirty="0"/>
          </a:p>
        </p:txBody>
      </p:sp>
      <p:sp>
        <p:nvSpPr>
          <p:cNvPr id="18" name="Text 16"/>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7370"/>
                </a:solidFill>
                <a:latin typeface="Calibri" pitchFamily="34" charset="0"/>
                <a:ea typeface="Calibri" pitchFamily="34" charset="-122"/>
                <a:cs typeface="Calibri" pitchFamily="34" charset="-120"/>
              </a:rPr>
              <a:t>39</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3291840" cy="384048"/>
          </a:xfrm>
          <a:prstGeom prst="roundRect">
            <a:avLst>
              <a:gd name="adj" fmla="val 19048"/>
            </a:avLst>
          </a:prstGeom>
          <a:solidFill>
            <a:srgbClr val="E8F4F2"/>
          </a:solidFill>
          <a:ln/>
        </p:spPr>
      </p:sp>
      <p:sp>
        <p:nvSpPr>
          <p:cNvPr id="3" name="Text 1"/>
          <p:cNvSpPr/>
          <p:nvPr/>
        </p:nvSpPr>
        <p:spPr>
          <a:xfrm>
            <a:off x="548640" y="457200"/>
            <a:ext cx="3291840" cy="384048"/>
          </a:xfrm>
          <a:prstGeom prst="rect">
            <a:avLst/>
          </a:prstGeom>
          <a:noFill/>
          <a:ln/>
        </p:spPr>
        <p:txBody>
          <a:bodyPr wrap="square" rtlCol="0" anchor="ctr"/>
          <a:lstStyle/>
          <a:p>
            <a:pPr marL="0" indent="0" algn="ctr">
              <a:buNone/>
            </a:pPr>
            <a:r>
              <a:rPr lang="en-US" sz="1300" b="1" kern="0" spc="100" dirty="0">
                <a:solidFill>
                  <a:srgbClr val="0E5C56"/>
                </a:solidFill>
                <a:latin typeface="Calibri" pitchFamily="34" charset="0"/>
                <a:ea typeface="Calibri" pitchFamily="34" charset="-122"/>
                <a:cs typeface="Calibri" pitchFamily="34" charset="-120"/>
              </a:rPr>
              <a:t>CRITICAL THINKING</a:t>
            </a:r>
            <a:endParaRPr lang="en-US" sz="1300" dirty="0"/>
          </a:p>
        </p:txBody>
      </p:sp>
      <p:sp>
        <p:nvSpPr>
          <p:cNvPr id="4" name="Text 2"/>
          <p:cNvSpPr/>
          <p:nvPr/>
        </p:nvSpPr>
        <p:spPr>
          <a:xfrm>
            <a:off x="548640" y="960120"/>
            <a:ext cx="11091672" cy="914400"/>
          </a:xfrm>
          <a:prstGeom prst="rect">
            <a:avLst/>
          </a:prstGeom>
          <a:noFill/>
          <a:ln/>
        </p:spPr>
        <p:txBody>
          <a:bodyPr wrap="square" rtlCol="0" anchor="t"/>
          <a:lstStyle/>
          <a:p>
            <a:pPr marL="0" indent="0" algn="l">
              <a:buNone/>
            </a:pPr>
            <a:r>
              <a:rPr lang="en-US" sz="3200" b="1" dirty="0">
                <a:solidFill>
                  <a:srgbClr val="1B2B2A"/>
                </a:solidFill>
                <a:latin typeface="Cambria" pitchFamily="34" charset="0"/>
                <a:ea typeface="Cambria" pitchFamily="34" charset="-122"/>
                <a:cs typeface="Cambria" pitchFamily="34" charset="-120"/>
              </a:rPr>
              <a:t>Classic Example: Ice-Cream Sales &amp; Drowning Incidents</a:t>
            </a:r>
            <a:endParaRPr lang="en-US" sz="3200" dirty="0"/>
          </a:p>
        </p:txBody>
      </p:sp>
      <p:sp>
        <p:nvSpPr>
          <p:cNvPr id="5" name="Shape 3"/>
          <p:cNvSpPr/>
          <p:nvPr/>
        </p:nvSpPr>
        <p:spPr>
          <a:xfrm>
            <a:off x="548640" y="1993392"/>
            <a:ext cx="365760" cy="365760"/>
          </a:xfrm>
          <a:prstGeom prst="ellipse">
            <a:avLst/>
          </a:prstGeom>
          <a:solidFill>
            <a:srgbClr val="F2A93B"/>
          </a:solidFill>
          <a:ln/>
        </p:spPr>
      </p:sp>
      <p:sp>
        <p:nvSpPr>
          <p:cNvPr id="6" name="Text 4"/>
          <p:cNvSpPr/>
          <p:nvPr/>
        </p:nvSpPr>
        <p:spPr>
          <a:xfrm>
            <a:off x="548640" y="1993392"/>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7" name="Text 5"/>
          <p:cNvSpPr/>
          <p:nvPr/>
        </p:nvSpPr>
        <p:spPr>
          <a:xfrm>
            <a:off x="1143000" y="1965960"/>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Data shows ice-cream sales and drowning incidents are strongly positively correlated across months.</a:t>
            </a:r>
            <a:endParaRPr lang="en-US" sz="2000" dirty="0"/>
          </a:p>
        </p:txBody>
      </p:sp>
      <p:sp>
        <p:nvSpPr>
          <p:cNvPr id="8" name="Shape 6"/>
          <p:cNvSpPr/>
          <p:nvPr/>
        </p:nvSpPr>
        <p:spPr>
          <a:xfrm>
            <a:off x="548640" y="3246120"/>
            <a:ext cx="365760" cy="365760"/>
          </a:xfrm>
          <a:prstGeom prst="ellipse">
            <a:avLst/>
          </a:prstGeom>
          <a:solidFill>
            <a:srgbClr val="F2A93B"/>
          </a:solidFill>
          <a:ln/>
        </p:spPr>
      </p:sp>
      <p:sp>
        <p:nvSpPr>
          <p:cNvPr id="9" name="Text 7"/>
          <p:cNvSpPr/>
          <p:nvPr/>
        </p:nvSpPr>
        <p:spPr>
          <a:xfrm>
            <a:off x="548640" y="3246120"/>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0" name="Text 8"/>
          <p:cNvSpPr/>
          <p:nvPr/>
        </p:nvSpPr>
        <p:spPr>
          <a:xfrm>
            <a:off x="1143000" y="3218688"/>
            <a:ext cx="10497312" cy="612648"/>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Does eating ice cream cause drowning? Obviously not.</a:t>
            </a:r>
            <a:endParaRPr lang="en-US" sz="2000" dirty="0"/>
          </a:p>
        </p:txBody>
      </p:sp>
      <p:sp>
        <p:nvSpPr>
          <p:cNvPr id="11" name="Shape 9"/>
          <p:cNvSpPr/>
          <p:nvPr/>
        </p:nvSpPr>
        <p:spPr>
          <a:xfrm>
            <a:off x="548640" y="4114800"/>
            <a:ext cx="365760" cy="365760"/>
          </a:xfrm>
          <a:prstGeom prst="ellipse">
            <a:avLst/>
          </a:prstGeom>
          <a:solidFill>
            <a:srgbClr val="F2A93B"/>
          </a:solidFill>
          <a:ln/>
        </p:spPr>
      </p:sp>
      <p:sp>
        <p:nvSpPr>
          <p:cNvPr id="12" name="Text 10"/>
          <p:cNvSpPr/>
          <p:nvPr/>
        </p:nvSpPr>
        <p:spPr>
          <a:xfrm>
            <a:off x="548640" y="4114800"/>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3" name="Text 11"/>
          <p:cNvSpPr/>
          <p:nvPr/>
        </p:nvSpPr>
        <p:spPr>
          <a:xfrm>
            <a:off x="1143000" y="4087368"/>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The hidden third variable is hot weather — it increases both ice-cream sales AND swimming, and hence drownings.</a:t>
            </a:r>
            <a:endParaRPr lang="en-US" sz="2000" dirty="0"/>
          </a:p>
        </p:txBody>
      </p:sp>
      <p:sp>
        <p:nvSpPr>
          <p:cNvPr id="14" name="Shape 12"/>
          <p:cNvSpPr/>
          <p:nvPr/>
        </p:nvSpPr>
        <p:spPr>
          <a:xfrm>
            <a:off x="548640" y="5367528"/>
            <a:ext cx="365760" cy="365760"/>
          </a:xfrm>
          <a:prstGeom prst="ellipse">
            <a:avLst/>
          </a:prstGeom>
          <a:solidFill>
            <a:srgbClr val="F2A93B"/>
          </a:solidFill>
          <a:ln/>
        </p:spPr>
      </p:sp>
      <p:sp>
        <p:nvSpPr>
          <p:cNvPr id="15" name="Text 13"/>
          <p:cNvSpPr/>
          <p:nvPr/>
        </p:nvSpPr>
        <p:spPr>
          <a:xfrm>
            <a:off x="548640" y="5367528"/>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6" name="Text 14"/>
          <p:cNvSpPr/>
          <p:nvPr/>
        </p:nvSpPr>
        <p:spPr>
          <a:xfrm>
            <a:off x="1143000" y="5340096"/>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This is called a CONFOUNDING VARIABLE — remember our temperature/ice-cream worked example from earlier?</a:t>
            </a:r>
            <a:endParaRPr lang="en-US" sz="2000" dirty="0"/>
          </a:p>
        </p:txBody>
      </p:sp>
      <p:sp>
        <p:nvSpPr>
          <p:cNvPr id="17" name="Text 15"/>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5B7370"/>
                </a:solidFill>
                <a:latin typeface="Calibri" pitchFamily="34" charset="0"/>
                <a:ea typeface="Calibri" pitchFamily="34" charset="-122"/>
                <a:cs typeface="Calibri" pitchFamily="34" charset="-120"/>
              </a:rPr>
              <a:t>Presidency University | Dept. of AI &amp; Robotics | DSC4000 | Statics for Data Science</a:t>
            </a:r>
            <a:endParaRPr lang="en-US" sz="1000" dirty="0"/>
          </a:p>
        </p:txBody>
      </p:sp>
      <p:sp>
        <p:nvSpPr>
          <p:cNvPr id="18" name="Text 16"/>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7370"/>
                </a:solidFill>
                <a:latin typeface="Calibri" pitchFamily="34" charset="0"/>
                <a:ea typeface="Calibri" pitchFamily="34" charset="-122"/>
                <a:cs typeface="Calibri" pitchFamily="34" charset="-120"/>
              </a:rPr>
              <a:t>40</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3291840" cy="384048"/>
          </a:xfrm>
          <a:prstGeom prst="roundRect">
            <a:avLst>
              <a:gd name="adj" fmla="val 19048"/>
            </a:avLst>
          </a:prstGeom>
          <a:solidFill>
            <a:srgbClr val="E8F4F2"/>
          </a:solidFill>
          <a:ln/>
        </p:spPr>
      </p:sp>
      <p:sp>
        <p:nvSpPr>
          <p:cNvPr id="3" name="Text 1"/>
          <p:cNvSpPr/>
          <p:nvPr/>
        </p:nvSpPr>
        <p:spPr>
          <a:xfrm>
            <a:off x="548640" y="457200"/>
            <a:ext cx="3291840" cy="384048"/>
          </a:xfrm>
          <a:prstGeom prst="rect">
            <a:avLst/>
          </a:prstGeom>
          <a:noFill/>
          <a:ln/>
        </p:spPr>
        <p:txBody>
          <a:bodyPr wrap="square" rtlCol="0" anchor="ctr"/>
          <a:lstStyle/>
          <a:p>
            <a:pPr marL="0" indent="0" algn="ctr">
              <a:buNone/>
            </a:pPr>
            <a:r>
              <a:rPr lang="en-US" sz="1300" b="1" kern="0" spc="100" dirty="0">
                <a:solidFill>
                  <a:srgbClr val="0E5C56"/>
                </a:solidFill>
                <a:latin typeface="Calibri" pitchFamily="34" charset="0"/>
                <a:ea typeface="Calibri" pitchFamily="34" charset="-122"/>
                <a:cs typeface="Calibri" pitchFamily="34" charset="-120"/>
              </a:rPr>
              <a:t>CRITICAL THINKING</a:t>
            </a:r>
            <a:endParaRPr lang="en-US" sz="1300" dirty="0"/>
          </a:p>
        </p:txBody>
      </p:sp>
      <p:sp>
        <p:nvSpPr>
          <p:cNvPr id="4" name="Text 2"/>
          <p:cNvSpPr/>
          <p:nvPr/>
        </p:nvSpPr>
        <p:spPr>
          <a:xfrm>
            <a:off x="548640" y="960120"/>
            <a:ext cx="11091672" cy="914400"/>
          </a:xfrm>
          <a:prstGeom prst="rect">
            <a:avLst/>
          </a:prstGeom>
          <a:noFill/>
          <a:ln/>
        </p:spPr>
        <p:txBody>
          <a:bodyPr wrap="square" rtlCol="0" anchor="t"/>
          <a:lstStyle/>
          <a:p>
            <a:pPr marL="0" indent="0" algn="l">
              <a:buNone/>
            </a:pPr>
            <a:r>
              <a:rPr lang="en-US" sz="3200" b="1" dirty="0">
                <a:solidFill>
                  <a:srgbClr val="1B2B2A"/>
                </a:solidFill>
                <a:latin typeface="Cambria" pitchFamily="34" charset="0"/>
                <a:ea typeface="Cambria" pitchFamily="34" charset="-122"/>
                <a:cs typeface="Cambria" pitchFamily="34" charset="-120"/>
              </a:rPr>
              <a:t>Simpson's Paradox — A Hidden Trap</a:t>
            </a:r>
            <a:endParaRPr lang="en-US" sz="3200" dirty="0"/>
          </a:p>
        </p:txBody>
      </p:sp>
      <p:sp>
        <p:nvSpPr>
          <p:cNvPr id="5" name="Shape 3"/>
          <p:cNvSpPr/>
          <p:nvPr/>
        </p:nvSpPr>
        <p:spPr>
          <a:xfrm>
            <a:off x="548640" y="1993392"/>
            <a:ext cx="365760" cy="365760"/>
          </a:xfrm>
          <a:prstGeom prst="ellipse">
            <a:avLst/>
          </a:prstGeom>
          <a:solidFill>
            <a:srgbClr val="F2A93B"/>
          </a:solidFill>
          <a:ln/>
        </p:spPr>
      </p:sp>
      <p:sp>
        <p:nvSpPr>
          <p:cNvPr id="6" name="Text 4"/>
          <p:cNvSpPr/>
          <p:nvPr/>
        </p:nvSpPr>
        <p:spPr>
          <a:xfrm>
            <a:off x="548640" y="1993392"/>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7" name="Text 5"/>
          <p:cNvSpPr/>
          <p:nvPr/>
        </p:nvSpPr>
        <p:spPr>
          <a:xfrm>
            <a:off x="1143000" y="1965960"/>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Simpson's Paradox: a trend appears in several groups of data but disappears or reverses when the groups are combined.</a:t>
            </a:r>
            <a:endParaRPr lang="en-US" sz="2000" dirty="0"/>
          </a:p>
        </p:txBody>
      </p:sp>
      <p:sp>
        <p:nvSpPr>
          <p:cNvPr id="8" name="Shape 6"/>
          <p:cNvSpPr/>
          <p:nvPr/>
        </p:nvSpPr>
        <p:spPr>
          <a:xfrm>
            <a:off x="548640" y="3246120"/>
            <a:ext cx="365760" cy="365760"/>
          </a:xfrm>
          <a:prstGeom prst="ellipse">
            <a:avLst/>
          </a:prstGeom>
          <a:solidFill>
            <a:srgbClr val="F2A93B"/>
          </a:solidFill>
          <a:ln/>
        </p:spPr>
      </p:sp>
      <p:sp>
        <p:nvSpPr>
          <p:cNvPr id="9" name="Text 7"/>
          <p:cNvSpPr/>
          <p:nvPr/>
        </p:nvSpPr>
        <p:spPr>
          <a:xfrm>
            <a:off x="548640" y="3246120"/>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0" name="Text 8"/>
          <p:cNvSpPr/>
          <p:nvPr/>
        </p:nvSpPr>
        <p:spPr>
          <a:xfrm>
            <a:off x="1143000" y="3218688"/>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Example: a treatment can look effective within each age group separately, but appear ineffective for the combined population.</a:t>
            </a:r>
            <a:endParaRPr lang="en-US" sz="2000" dirty="0"/>
          </a:p>
        </p:txBody>
      </p:sp>
      <p:sp>
        <p:nvSpPr>
          <p:cNvPr id="11" name="Shape 9"/>
          <p:cNvSpPr/>
          <p:nvPr/>
        </p:nvSpPr>
        <p:spPr>
          <a:xfrm>
            <a:off x="548640" y="4498848"/>
            <a:ext cx="365760" cy="365760"/>
          </a:xfrm>
          <a:prstGeom prst="ellipse">
            <a:avLst/>
          </a:prstGeom>
          <a:solidFill>
            <a:srgbClr val="F2A93B"/>
          </a:solidFill>
          <a:ln/>
        </p:spPr>
      </p:sp>
      <p:sp>
        <p:nvSpPr>
          <p:cNvPr id="12" name="Text 10"/>
          <p:cNvSpPr/>
          <p:nvPr/>
        </p:nvSpPr>
        <p:spPr>
          <a:xfrm>
            <a:off x="548640" y="4498848"/>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3" name="Text 11"/>
          <p:cNvSpPr/>
          <p:nvPr/>
        </p:nvSpPr>
        <p:spPr>
          <a:xfrm>
            <a:off x="1143000" y="4471416"/>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This happens when group sizes are unequal and a lurking (confounding) variable — like age group — isn't accounted for.</a:t>
            </a:r>
            <a:endParaRPr lang="en-US" sz="2000" dirty="0"/>
          </a:p>
        </p:txBody>
      </p:sp>
      <p:sp>
        <p:nvSpPr>
          <p:cNvPr id="14" name="Shape 12"/>
          <p:cNvSpPr/>
          <p:nvPr/>
        </p:nvSpPr>
        <p:spPr>
          <a:xfrm>
            <a:off x="548640" y="5751576"/>
            <a:ext cx="365760" cy="365760"/>
          </a:xfrm>
          <a:prstGeom prst="ellipse">
            <a:avLst/>
          </a:prstGeom>
          <a:solidFill>
            <a:srgbClr val="F2A93B"/>
          </a:solidFill>
          <a:ln/>
        </p:spPr>
      </p:sp>
      <p:sp>
        <p:nvSpPr>
          <p:cNvPr id="15" name="Text 13"/>
          <p:cNvSpPr/>
          <p:nvPr/>
        </p:nvSpPr>
        <p:spPr>
          <a:xfrm>
            <a:off x="548640" y="5751576"/>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6" name="Text 14"/>
          <p:cNvSpPr/>
          <p:nvPr/>
        </p:nvSpPr>
        <p:spPr>
          <a:xfrm>
            <a:off x="1143000" y="5724144"/>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Lesson: always check whether a correlation holds up within meaningful subgroups, not just in the aggregate.</a:t>
            </a:r>
            <a:endParaRPr lang="en-US" sz="2000" dirty="0"/>
          </a:p>
        </p:txBody>
      </p:sp>
      <p:sp>
        <p:nvSpPr>
          <p:cNvPr id="17" name="Text 15"/>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5B7370"/>
                </a:solidFill>
                <a:latin typeface="Calibri" pitchFamily="34" charset="0"/>
                <a:ea typeface="Calibri" pitchFamily="34" charset="-122"/>
                <a:cs typeface="Calibri" pitchFamily="34" charset="-120"/>
              </a:rPr>
              <a:t>Presidency University | Dept. of AI &amp; Robotics | DSC4000 | Statics for Data Science</a:t>
            </a:r>
            <a:endParaRPr lang="en-US" sz="1000" dirty="0"/>
          </a:p>
        </p:txBody>
      </p:sp>
      <p:sp>
        <p:nvSpPr>
          <p:cNvPr id="18" name="Text 16"/>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7370"/>
                </a:solidFill>
                <a:latin typeface="Calibri" pitchFamily="34" charset="0"/>
                <a:ea typeface="Calibri" pitchFamily="34" charset="-122"/>
                <a:cs typeface="Calibri" pitchFamily="34" charset="-120"/>
              </a:rPr>
              <a:t>41</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3291840" cy="384048"/>
          </a:xfrm>
          <a:prstGeom prst="roundRect">
            <a:avLst>
              <a:gd name="adj" fmla="val 19048"/>
            </a:avLst>
          </a:prstGeom>
          <a:solidFill>
            <a:srgbClr val="E8F4F2"/>
          </a:solidFill>
          <a:ln/>
        </p:spPr>
      </p:sp>
      <p:sp>
        <p:nvSpPr>
          <p:cNvPr id="3" name="Text 1"/>
          <p:cNvSpPr/>
          <p:nvPr/>
        </p:nvSpPr>
        <p:spPr>
          <a:xfrm>
            <a:off x="548640" y="457200"/>
            <a:ext cx="3291840" cy="384048"/>
          </a:xfrm>
          <a:prstGeom prst="rect">
            <a:avLst/>
          </a:prstGeom>
          <a:noFill/>
          <a:ln/>
        </p:spPr>
        <p:txBody>
          <a:bodyPr wrap="square" rtlCol="0" anchor="ctr"/>
          <a:lstStyle/>
          <a:p>
            <a:pPr marL="0" indent="0" algn="ctr">
              <a:buNone/>
            </a:pPr>
            <a:r>
              <a:rPr lang="en-US" sz="1300" b="1" kern="0" spc="100" dirty="0">
                <a:solidFill>
                  <a:srgbClr val="0E5C56"/>
                </a:solidFill>
                <a:latin typeface="Calibri" pitchFamily="34" charset="0"/>
                <a:ea typeface="Calibri" pitchFamily="34" charset="-122"/>
                <a:cs typeface="Calibri" pitchFamily="34" charset="-120"/>
              </a:rPr>
              <a:t>COMMON PITFALLS</a:t>
            </a:r>
            <a:endParaRPr lang="en-US" sz="1300" dirty="0"/>
          </a:p>
        </p:txBody>
      </p:sp>
      <p:sp>
        <p:nvSpPr>
          <p:cNvPr id="4" name="Text 2"/>
          <p:cNvSpPr/>
          <p:nvPr/>
        </p:nvSpPr>
        <p:spPr>
          <a:xfrm>
            <a:off x="548640" y="960120"/>
            <a:ext cx="11091672" cy="914400"/>
          </a:xfrm>
          <a:prstGeom prst="rect">
            <a:avLst/>
          </a:prstGeom>
          <a:noFill/>
          <a:ln/>
        </p:spPr>
        <p:txBody>
          <a:bodyPr wrap="square" rtlCol="0" anchor="t"/>
          <a:lstStyle/>
          <a:p>
            <a:pPr marL="0" indent="0" algn="l">
              <a:buNone/>
            </a:pPr>
            <a:r>
              <a:rPr lang="en-US" sz="3200" b="1" dirty="0">
                <a:solidFill>
                  <a:srgbClr val="1B2B2A"/>
                </a:solidFill>
                <a:latin typeface="Cambria" pitchFamily="34" charset="0"/>
                <a:ea typeface="Cambria" pitchFamily="34" charset="-122"/>
                <a:cs typeface="Cambria" pitchFamily="34" charset="-120"/>
              </a:rPr>
              <a:t>Outliers Can Fool Correlation</a:t>
            </a:r>
            <a:endParaRPr lang="en-US" sz="3200" dirty="0"/>
          </a:p>
        </p:txBody>
      </p:sp>
      <p:sp>
        <p:nvSpPr>
          <p:cNvPr id="5" name="Shape 3"/>
          <p:cNvSpPr/>
          <p:nvPr/>
        </p:nvSpPr>
        <p:spPr>
          <a:xfrm>
            <a:off x="548640" y="1993392"/>
            <a:ext cx="365760" cy="365760"/>
          </a:xfrm>
          <a:prstGeom prst="ellipse">
            <a:avLst/>
          </a:prstGeom>
          <a:solidFill>
            <a:srgbClr val="F2A93B"/>
          </a:solidFill>
          <a:ln/>
        </p:spPr>
      </p:sp>
      <p:sp>
        <p:nvSpPr>
          <p:cNvPr id="6" name="Text 4"/>
          <p:cNvSpPr/>
          <p:nvPr/>
        </p:nvSpPr>
        <p:spPr>
          <a:xfrm>
            <a:off x="548640" y="1993392"/>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7" name="Text 5"/>
          <p:cNvSpPr/>
          <p:nvPr/>
        </p:nvSpPr>
        <p:spPr>
          <a:xfrm>
            <a:off x="1143000" y="1965960"/>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A single extreme outlier can swing Pearson's r dramatically, in either direction.</a:t>
            </a:r>
            <a:endParaRPr lang="en-US" sz="2000" dirty="0"/>
          </a:p>
        </p:txBody>
      </p:sp>
      <p:sp>
        <p:nvSpPr>
          <p:cNvPr id="8" name="Shape 6"/>
          <p:cNvSpPr/>
          <p:nvPr/>
        </p:nvSpPr>
        <p:spPr>
          <a:xfrm>
            <a:off x="548640" y="3246120"/>
            <a:ext cx="365760" cy="365760"/>
          </a:xfrm>
          <a:prstGeom prst="ellipse">
            <a:avLst/>
          </a:prstGeom>
          <a:solidFill>
            <a:srgbClr val="F2A93B"/>
          </a:solidFill>
          <a:ln/>
        </p:spPr>
      </p:sp>
      <p:sp>
        <p:nvSpPr>
          <p:cNvPr id="9" name="Text 7"/>
          <p:cNvSpPr/>
          <p:nvPr/>
        </p:nvSpPr>
        <p:spPr>
          <a:xfrm>
            <a:off x="548640" y="3246120"/>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0" name="Text 8"/>
          <p:cNvSpPr/>
          <p:nvPr/>
        </p:nvSpPr>
        <p:spPr>
          <a:xfrm>
            <a:off x="1143000" y="3218688"/>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One unusual data point can make an otherwise uncorrelated dataset look strongly correlated — or vice versa.</a:t>
            </a:r>
            <a:endParaRPr lang="en-US" sz="2000" dirty="0"/>
          </a:p>
        </p:txBody>
      </p:sp>
      <p:sp>
        <p:nvSpPr>
          <p:cNvPr id="11" name="Shape 9"/>
          <p:cNvSpPr/>
          <p:nvPr/>
        </p:nvSpPr>
        <p:spPr>
          <a:xfrm>
            <a:off x="548640" y="4498848"/>
            <a:ext cx="365760" cy="365760"/>
          </a:xfrm>
          <a:prstGeom prst="ellipse">
            <a:avLst/>
          </a:prstGeom>
          <a:solidFill>
            <a:srgbClr val="F2A93B"/>
          </a:solidFill>
          <a:ln/>
        </p:spPr>
      </p:sp>
      <p:sp>
        <p:nvSpPr>
          <p:cNvPr id="12" name="Text 10"/>
          <p:cNvSpPr/>
          <p:nvPr/>
        </p:nvSpPr>
        <p:spPr>
          <a:xfrm>
            <a:off x="548640" y="4498848"/>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3" name="Text 11"/>
          <p:cNvSpPr/>
          <p:nvPr/>
        </p:nvSpPr>
        <p:spPr>
          <a:xfrm>
            <a:off x="1143000" y="4471416"/>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Always plot the scatter plot and visually check for outliers before trusting a correlation number.</a:t>
            </a:r>
            <a:endParaRPr lang="en-US" sz="2000" dirty="0"/>
          </a:p>
        </p:txBody>
      </p:sp>
      <p:sp>
        <p:nvSpPr>
          <p:cNvPr id="14" name="Shape 12"/>
          <p:cNvSpPr/>
          <p:nvPr/>
        </p:nvSpPr>
        <p:spPr>
          <a:xfrm>
            <a:off x="548640" y="5751576"/>
            <a:ext cx="365760" cy="365760"/>
          </a:xfrm>
          <a:prstGeom prst="ellipse">
            <a:avLst/>
          </a:prstGeom>
          <a:solidFill>
            <a:srgbClr val="F2A93B"/>
          </a:solidFill>
          <a:ln/>
        </p:spPr>
      </p:sp>
      <p:sp>
        <p:nvSpPr>
          <p:cNvPr id="15" name="Text 13"/>
          <p:cNvSpPr/>
          <p:nvPr/>
        </p:nvSpPr>
        <p:spPr>
          <a:xfrm>
            <a:off x="548640" y="5751576"/>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6" name="Text 14"/>
          <p:cNvSpPr/>
          <p:nvPr/>
        </p:nvSpPr>
        <p:spPr>
          <a:xfrm>
            <a:off x="1143000" y="5724144"/>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If outliers are a concern, consider Spearman's rank correlation instead, as we discussed earlier.</a:t>
            </a:r>
            <a:endParaRPr lang="en-US" sz="2000" dirty="0"/>
          </a:p>
        </p:txBody>
      </p:sp>
      <p:sp>
        <p:nvSpPr>
          <p:cNvPr id="17" name="Text 15"/>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5B7370"/>
                </a:solidFill>
                <a:latin typeface="Calibri" pitchFamily="34" charset="0"/>
                <a:ea typeface="Calibri" pitchFamily="34" charset="-122"/>
                <a:cs typeface="Calibri" pitchFamily="34" charset="-120"/>
              </a:rPr>
              <a:t>Presidency University | Dept. of AI &amp; Robotics | DSC4000 | Statics for Data Science</a:t>
            </a:r>
            <a:endParaRPr lang="en-US" sz="1000" dirty="0"/>
          </a:p>
        </p:txBody>
      </p:sp>
      <p:sp>
        <p:nvSpPr>
          <p:cNvPr id="18" name="Text 16"/>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7370"/>
                </a:solidFill>
                <a:latin typeface="Calibri" pitchFamily="34" charset="0"/>
                <a:ea typeface="Calibri" pitchFamily="34" charset="-122"/>
                <a:cs typeface="Calibri" pitchFamily="34" charset="-120"/>
              </a:rPr>
              <a:t>42</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3291840" cy="384048"/>
          </a:xfrm>
          <a:prstGeom prst="roundRect">
            <a:avLst>
              <a:gd name="adj" fmla="val 19048"/>
            </a:avLst>
          </a:prstGeom>
          <a:solidFill>
            <a:srgbClr val="E8F4F2"/>
          </a:solidFill>
          <a:ln/>
        </p:spPr>
      </p:sp>
      <p:sp>
        <p:nvSpPr>
          <p:cNvPr id="3" name="Text 1"/>
          <p:cNvSpPr/>
          <p:nvPr/>
        </p:nvSpPr>
        <p:spPr>
          <a:xfrm>
            <a:off x="548640" y="457200"/>
            <a:ext cx="3291840" cy="384048"/>
          </a:xfrm>
          <a:prstGeom prst="rect">
            <a:avLst/>
          </a:prstGeom>
          <a:noFill/>
          <a:ln/>
        </p:spPr>
        <p:txBody>
          <a:bodyPr wrap="square" rtlCol="0" anchor="ctr"/>
          <a:lstStyle/>
          <a:p>
            <a:pPr marL="0" indent="0" algn="ctr">
              <a:buNone/>
            </a:pPr>
            <a:r>
              <a:rPr lang="en-US" sz="1300" b="1" kern="0" spc="100" dirty="0">
                <a:solidFill>
                  <a:srgbClr val="0E5C56"/>
                </a:solidFill>
                <a:latin typeface="Calibri" pitchFamily="34" charset="0"/>
                <a:ea typeface="Calibri" pitchFamily="34" charset="-122"/>
                <a:cs typeface="Calibri" pitchFamily="34" charset="-120"/>
              </a:rPr>
              <a:t>COMMON PITFALLS</a:t>
            </a:r>
            <a:endParaRPr lang="en-US" sz="1300" dirty="0"/>
          </a:p>
        </p:txBody>
      </p:sp>
      <p:sp>
        <p:nvSpPr>
          <p:cNvPr id="4" name="Text 2"/>
          <p:cNvSpPr/>
          <p:nvPr/>
        </p:nvSpPr>
        <p:spPr>
          <a:xfrm>
            <a:off x="548640" y="960120"/>
            <a:ext cx="11091672" cy="914400"/>
          </a:xfrm>
          <a:prstGeom prst="rect">
            <a:avLst/>
          </a:prstGeom>
          <a:noFill/>
          <a:ln/>
        </p:spPr>
        <p:txBody>
          <a:bodyPr wrap="square" rtlCol="0" anchor="t"/>
          <a:lstStyle/>
          <a:p>
            <a:pPr marL="0" indent="0" algn="l">
              <a:buNone/>
            </a:pPr>
            <a:r>
              <a:rPr lang="en-US" sz="3200" b="1" dirty="0">
                <a:solidFill>
                  <a:srgbClr val="1B2B2A"/>
                </a:solidFill>
                <a:latin typeface="Cambria" pitchFamily="34" charset="0"/>
                <a:ea typeface="Cambria" pitchFamily="34" charset="-122"/>
                <a:cs typeface="Cambria" pitchFamily="34" charset="-120"/>
              </a:rPr>
              <a:t>Non-Linear Relationships — Another Trap</a:t>
            </a:r>
            <a:endParaRPr lang="en-US" sz="3200" dirty="0"/>
          </a:p>
        </p:txBody>
      </p:sp>
      <p:sp>
        <p:nvSpPr>
          <p:cNvPr id="5" name="Shape 3"/>
          <p:cNvSpPr/>
          <p:nvPr/>
        </p:nvSpPr>
        <p:spPr>
          <a:xfrm>
            <a:off x="548640" y="1993392"/>
            <a:ext cx="365760" cy="365760"/>
          </a:xfrm>
          <a:prstGeom prst="ellipse">
            <a:avLst/>
          </a:prstGeom>
          <a:solidFill>
            <a:srgbClr val="F2A93B"/>
          </a:solidFill>
          <a:ln/>
        </p:spPr>
      </p:sp>
      <p:sp>
        <p:nvSpPr>
          <p:cNvPr id="6" name="Text 4"/>
          <p:cNvSpPr/>
          <p:nvPr/>
        </p:nvSpPr>
        <p:spPr>
          <a:xfrm>
            <a:off x="548640" y="1993392"/>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7" name="Text 5"/>
          <p:cNvSpPr/>
          <p:nvPr/>
        </p:nvSpPr>
        <p:spPr>
          <a:xfrm>
            <a:off x="1143000" y="1965960"/>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Pearson's r can be close to 0 even when X and Y have a strong, clear relationship — if that relationship is curved, not straight.</a:t>
            </a:r>
            <a:endParaRPr lang="en-US" sz="2000" dirty="0"/>
          </a:p>
        </p:txBody>
      </p:sp>
      <p:sp>
        <p:nvSpPr>
          <p:cNvPr id="8" name="Shape 6"/>
          <p:cNvSpPr/>
          <p:nvPr/>
        </p:nvSpPr>
        <p:spPr>
          <a:xfrm>
            <a:off x="548640" y="3246120"/>
            <a:ext cx="365760" cy="365760"/>
          </a:xfrm>
          <a:prstGeom prst="ellipse">
            <a:avLst/>
          </a:prstGeom>
          <a:solidFill>
            <a:srgbClr val="F2A93B"/>
          </a:solidFill>
          <a:ln/>
        </p:spPr>
      </p:sp>
      <p:sp>
        <p:nvSpPr>
          <p:cNvPr id="9" name="Text 7"/>
          <p:cNvSpPr/>
          <p:nvPr/>
        </p:nvSpPr>
        <p:spPr>
          <a:xfrm>
            <a:off x="548640" y="3246120"/>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0" name="Text 8"/>
          <p:cNvSpPr/>
          <p:nvPr/>
        </p:nvSpPr>
        <p:spPr>
          <a:xfrm>
            <a:off x="1143000" y="3218688"/>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Classic example: Y = X² produces a U-shaped scatter plot, yet Pearson's r can be near zero.</a:t>
            </a:r>
            <a:endParaRPr lang="en-US" sz="2000" dirty="0"/>
          </a:p>
        </p:txBody>
      </p:sp>
      <p:sp>
        <p:nvSpPr>
          <p:cNvPr id="11" name="Shape 9"/>
          <p:cNvSpPr/>
          <p:nvPr/>
        </p:nvSpPr>
        <p:spPr>
          <a:xfrm>
            <a:off x="548640" y="4498848"/>
            <a:ext cx="365760" cy="365760"/>
          </a:xfrm>
          <a:prstGeom prst="ellipse">
            <a:avLst/>
          </a:prstGeom>
          <a:solidFill>
            <a:srgbClr val="F2A93B"/>
          </a:solidFill>
          <a:ln/>
        </p:spPr>
      </p:sp>
      <p:sp>
        <p:nvSpPr>
          <p:cNvPr id="12" name="Text 10"/>
          <p:cNvSpPr/>
          <p:nvPr/>
        </p:nvSpPr>
        <p:spPr>
          <a:xfrm>
            <a:off x="548640" y="4498848"/>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3" name="Text 11"/>
          <p:cNvSpPr/>
          <p:nvPr/>
        </p:nvSpPr>
        <p:spPr>
          <a:xfrm>
            <a:off x="1143000" y="4471416"/>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This is why you should always LOOK at the scatter plot, not just read the correlation number.</a:t>
            </a:r>
            <a:endParaRPr lang="en-US" sz="2000" dirty="0"/>
          </a:p>
        </p:txBody>
      </p:sp>
      <p:sp>
        <p:nvSpPr>
          <p:cNvPr id="14" name="Shape 12"/>
          <p:cNvSpPr/>
          <p:nvPr/>
        </p:nvSpPr>
        <p:spPr>
          <a:xfrm>
            <a:off x="548640" y="5751576"/>
            <a:ext cx="365760" cy="365760"/>
          </a:xfrm>
          <a:prstGeom prst="ellipse">
            <a:avLst/>
          </a:prstGeom>
          <a:solidFill>
            <a:srgbClr val="F2A93B"/>
          </a:solidFill>
          <a:ln/>
        </p:spPr>
      </p:sp>
      <p:sp>
        <p:nvSpPr>
          <p:cNvPr id="15" name="Text 13"/>
          <p:cNvSpPr/>
          <p:nvPr/>
        </p:nvSpPr>
        <p:spPr>
          <a:xfrm>
            <a:off x="548640" y="5751576"/>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6" name="Text 14"/>
          <p:cNvSpPr/>
          <p:nvPr/>
        </p:nvSpPr>
        <p:spPr>
          <a:xfrm>
            <a:off x="1143000" y="5724144"/>
            <a:ext cx="10497312" cy="1380744"/>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Anscombe's Quartet is a famous dataset built specifically to show this danger — four very different-looking scatter plots can share nearly identical correlation values.</a:t>
            </a:r>
            <a:endParaRPr lang="en-US" sz="2000" dirty="0"/>
          </a:p>
        </p:txBody>
      </p:sp>
      <p:sp>
        <p:nvSpPr>
          <p:cNvPr id="17" name="Text 15"/>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5B7370"/>
                </a:solidFill>
                <a:latin typeface="Calibri" pitchFamily="34" charset="0"/>
                <a:ea typeface="Calibri" pitchFamily="34" charset="-122"/>
                <a:cs typeface="Calibri" pitchFamily="34" charset="-120"/>
              </a:rPr>
              <a:t>Presidency University | Dept. of AI &amp; Robotics | DSC4000 | Statics for Data Science</a:t>
            </a:r>
            <a:endParaRPr lang="en-US" sz="1000" dirty="0"/>
          </a:p>
        </p:txBody>
      </p:sp>
      <p:sp>
        <p:nvSpPr>
          <p:cNvPr id="18" name="Text 16"/>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7370"/>
                </a:solidFill>
                <a:latin typeface="Calibri" pitchFamily="34" charset="0"/>
                <a:ea typeface="Calibri" pitchFamily="34" charset="-122"/>
                <a:cs typeface="Calibri" pitchFamily="34" charset="-120"/>
              </a:rPr>
              <a:t>43</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3291840" cy="384048"/>
          </a:xfrm>
          <a:prstGeom prst="roundRect">
            <a:avLst>
              <a:gd name="adj" fmla="val 19048"/>
            </a:avLst>
          </a:prstGeom>
          <a:solidFill>
            <a:srgbClr val="E8F4F2"/>
          </a:solidFill>
          <a:ln/>
        </p:spPr>
      </p:sp>
      <p:sp>
        <p:nvSpPr>
          <p:cNvPr id="3" name="Text 1"/>
          <p:cNvSpPr/>
          <p:nvPr/>
        </p:nvSpPr>
        <p:spPr>
          <a:xfrm>
            <a:off x="548640" y="457200"/>
            <a:ext cx="3291840" cy="384048"/>
          </a:xfrm>
          <a:prstGeom prst="rect">
            <a:avLst/>
          </a:prstGeom>
          <a:noFill/>
          <a:ln/>
        </p:spPr>
        <p:txBody>
          <a:bodyPr wrap="square" rtlCol="0" anchor="ctr"/>
          <a:lstStyle/>
          <a:p>
            <a:pPr marL="0" indent="0" algn="ctr">
              <a:buNone/>
            </a:pPr>
            <a:r>
              <a:rPr lang="en-US" sz="1300" b="1" kern="0" spc="100" dirty="0">
                <a:solidFill>
                  <a:srgbClr val="0E5C56"/>
                </a:solidFill>
                <a:latin typeface="Calibri" pitchFamily="34" charset="0"/>
                <a:ea typeface="Calibri" pitchFamily="34" charset="-122"/>
                <a:cs typeface="Calibri" pitchFamily="34" charset="-120"/>
              </a:rPr>
              <a:t>RECAP</a:t>
            </a:r>
            <a:endParaRPr lang="en-US" sz="1300" dirty="0"/>
          </a:p>
        </p:txBody>
      </p:sp>
      <p:sp>
        <p:nvSpPr>
          <p:cNvPr id="4" name="Text 2"/>
          <p:cNvSpPr/>
          <p:nvPr/>
        </p:nvSpPr>
        <p:spPr>
          <a:xfrm>
            <a:off x="548640" y="960120"/>
            <a:ext cx="11091672" cy="914400"/>
          </a:xfrm>
          <a:prstGeom prst="rect">
            <a:avLst/>
          </a:prstGeom>
          <a:noFill/>
          <a:ln/>
        </p:spPr>
        <p:txBody>
          <a:bodyPr wrap="square" rtlCol="0" anchor="t"/>
          <a:lstStyle/>
          <a:p>
            <a:pPr marL="0" indent="0" algn="l">
              <a:buNone/>
            </a:pPr>
            <a:r>
              <a:rPr lang="en-US" sz="3200" b="1" dirty="0">
                <a:solidFill>
                  <a:srgbClr val="1B2B2A"/>
                </a:solidFill>
                <a:latin typeface="Cambria" pitchFamily="34" charset="0"/>
                <a:ea typeface="Cambria" pitchFamily="34" charset="-122"/>
                <a:cs typeface="Cambria" pitchFamily="34" charset="-120"/>
              </a:rPr>
              <a:t>Common Misconceptions — Quick Recap</a:t>
            </a:r>
            <a:endParaRPr lang="en-US" sz="3200" dirty="0"/>
          </a:p>
        </p:txBody>
      </p:sp>
      <p:sp>
        <p:nvSpPr>
          <p:cNvPr id="5" name="Shape 3"/>
          <p:cNvSpPr/>
          <p:nvPr/>
        </p:nvSpPr>
        <p:spPr>
          <a:xfrm>
            <a:off x="548640" y="1993392"/>
            <a:ext cx="365760" cy="365760"/>
          </a:xfrm>
          <a:prstGeom prst="ellipse">
            <a:avLst/>
          </a:prstGeom>
          <a:solidFill>
            <a:srgbClr val="F2A93B"/>
          </a:solidFill>
          <a:ln/>
        </p:spPr>
      </p:sp>
      <p:sp>
        <p:nvSpPr>
          <p:cNvPr id="6" name="Text 4"/>
          <p:cNvSpPr/>
          <p:nvPr/>
        </p:nvSpPr>
        <p:spPr>
          <a:xfrm>
            <a:off x="548640" y="1993392"/>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7" name="Text 5"/>
          <p:cNvSpPr/>
          <p:nvPr/>
        </p:nvSpPr>
        <p:spPr>
          <a:xfrm>
            <a:off x="1143000" y="1965960"/>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'High correlation proves causation' — false; it only shows two variables move together.</a:t>
            </a:r>
            <a:endParaRPr lang="en-US" sz="2000" dirty="0"/>
          </a:p>
        </p:txBody>
      </p:sp>
      <p:sp>
        <p:nvSpPr>
          <p:cNvPr id="8" name="Shape 6"/>
          <p:cNvSpPr/>
          <p:nvPr/>
        </p:nvSpPr>
        <p:spPr>
          <a:xfrm>
            <a:off x="548640" y="3246120"/>
            <a:ext cx="365760" cy="365760"/>
          </a:xfrm>
          <a:prstGeom prst="ellipse">
            <a:avLst/>
          </a:prstGeom>
          <a:solidFill>
            <a:srgbClr val="F2A93B"/>
          </a:solidFill>
          <a:ln/>
        </p:spPr>
      </p:sp>
      <p:sp>
        <p:nvSpPr>
          <p:cNvPr id="9" name="Text 7"/>
          <p:cNvSpPr/>
          <p:nvPr/>
        </p:nvSpPr>
        <p:spPr>
          <a:xfrm>
            <a:off x="548640" y="3246120"/>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0" name="Text 8"/>
          <p:cNvSpPr/>
          <p:nvPr/>
        </p:nvSpPr>
        <p:spPr>
          <a:xfrm>
            <a:off x="1143000" y="3218688"/>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'r = 0 means no relationship at all' — false; it means no LINEAR relationship specifically.</a:t>
            </a:r>
            <a:endParaRPr lang="en-US" sz="2000" dirty="0"/>
          </a:p>
        </p:txBody>
      </p:sp>
      <p:sp>
        <p:nvSpPr>
          <p:cNvPr id="11" name="Shape 9"/>
          <p:cNvSpPr/>
          <p:nvPr/>
        </p:nvSpPr>
        <p:spPr>
          <a:xfrm>
            <a:off x="548640" y="4498848"/>
            <a:ext cx="365760" cy="365760"/>
          </a:xfrm>
          <a:prstGeom prst="ellipse">
            <a:avLst/>
          </a:prstGeom>
          <a:solidFill>
            <a:srgbClr val="F2A93B"/>
          </a:solidFill>
          <a:ln/>
        </p:spPr>
      </p:sp>
      <p:sp>
        <p:nvSpPr>
          <p:cNvPr id="12" name="Text 10"/>
          <p:cNvSpPr/>
          <p:nvPr/>
        </p:nvSpPr>
        <p:spPr>
          <a:xfrm>
            <a:off x="548640" y="4498848"/>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3" name="Text 11"/>
          <p:cNvSpPr/>
          <p:nvPr/>
        </p:nvSpPr>
        <p:spPr>
          <a:xfrm>
            <a:off x="1143000" y="4471416"/>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'A high correlation in aggregated data always applies to subgroups' — false; watch for Simpson's Paradox.</a:t>
            </a:r>
            <a:endParaRPr lang="en-US" sz="2000" dirty="0"/>
          </a:p>
        </p:txBody>
      </p:sp>
      <p:sp>
        <p:nvSpPr>
          <p:cNvPr id="14" name="Shape 12"/>
          <p:cNvSpPr/>
          <p:nvPr/>
        </p:nvSpPr>
        <p:spPr>
          <a:xfrm>
            <a:off x="548640" y="5751576"/>
            <a:ext cx="365760" cy="365760"/>
          </a:xfrm>
          <a:prstGeom prst="ellipse">
            <a:avLst/>
          </a:prstGeom>
          <a:solidFill>
            <a:srgbClr val="F2A93B"/>
          </a:solidFill>
          <a:ln/>
        </p:spPr>
      </p:sp>
      <p:sp>
        <p:nvSpPr>
          <p:cNvPr id="15" name="Text 13"/>
          <p:cNvSpPr/>
          <p:nvPr/>
        </p:nvSpPr>
        <p:spPr>
          <a:xfrm>
            <a:off x="548640" y="5751576"/>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6" name="Text 14"/>
          <p:cNvSpPr/>
          <p:nvPr/>
        </p:nvSpPr>
        <p:spPr>
          <a:xfrm>
            <a:off x="1143000" y="5724144"/>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'Correlation is immune to outliers' — false; a single point can distort r significantly.</a:t>
            </a:r>
            <a:endParaRPr lang="en-US" sz="2000" dirty="0"/>
          </a:p>
        </p:txBody>
      </p:sp>
      <p:sp>
        <p:nvSpPr>
          <p:cNvPr id="17" name="Text 15"/>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5B7370"/>
                </a:solidFill>
                <a:latin typeface="Calibri" pitchFamily="34" charset="0"/>
                <a:ea typeface="Calibri" pitchFamily="34" charset="-122"/>
                <a:cs typeface="Calibri" pitchFamily="34" charset="-120"/>
              </a:rPr>
              <a:t>Presidency University | Dept. of AI &amp; Robotics | DSC4000 | Statics for Data Science</a:t>
            </a:r>
            <a:endParaRPr lang="en-US" sz="1000" dirty="0"/>
          </a:p>
        </p:txBody>
      </p:sp>
      <p:sp>
        <p:nvSpPr>
          <p:cNvPr id="18" name="Text 16"/>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7370"/>
                </a:solidFill>
                <a:latin typeface="Calibri" pitchFamily="34" charset="0"/>
                <a:ea typeface="Calibri" pitchFamily="34" charset="-122"/>
                <a:cs typeface="Calibri" pitchFamily="34" charset="-120"/>
              </a:rPr>
              <a:t>44</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73B37"/>
        </a:solidFill>
        <a:effectLst/>
      </p:bgPr>
    </p:bg>
    <p:spTree>
      <p:nvGrpSpPr>
        <p:cNvPr id="1" name=""/>
        <p:cNvGrpSpPr/>
        <p:nvPr/>
      </p:nvGrpSpPr>
      <p:grpSpPr>
        <a:xfrm>
          <a:off x="0" y="0"/>
          <a:ext cx="0" cy="0"/>
          <a:chOff x="0" y="0"/>
          <a:chExt cx="0" cy="0"/>
        </a:xfrm>
      </p:grpSpPr>
      <p:sp>
        <p:nvSpPr>
          <p:cNvPr id="2" name="Shape 0"/>
          <p:cNvSpPr/>
          <p:nvPr/>
        </p:nvSpPr>
        <p:spPr>
          <a:xfrm>
            <a:off x="10332720" y="-1097280"/>
            <a:ext cx="3657600" cy="3657600"/>
          </a:xfrm>
          <a:prstGeom prst="ellipse">
            <a:avLst/>
          </a:prstGeom>
          <a:solidFill>
            <a:srgbClr val="0E5C56"/>
          </a:solidFill>
          <a:ln/>
        </p:spPr>
      </p:sp>
      <p:sp>
        <p:nvSpPr>
          <p:cNvPr id="3" name="Text 1"/>
          <p:cNvSpPr/>
          <p:nvPr/>
        </p:nvSpPr>
        <p:spPr>
          <a:xfrm>
            <a:off x="640080" y="548640"/>
            <a:ext cx="7315200" cy="457200"/>
          </a:xfrm>
          <a:prstGeom prst="rect">
            <a:avLst/>
          </a:prstGeom>
          <a:noFill/>
          <a:ln/>
        </p:spPr>
        <p:txBody>
          <a:bodyPr wrap="square" rtlCol="0" anchor="ctr"/>
          <a:lstStyle/>
          <a:p>
            <a:pPr marL="0" indent="0">
              <a:buNone/>
            </a:pPr>
            <a:r>
              <a:rPr lang="en-US" sz="1500" b="1" kern="0" spc="200" dirty="0">
                <a:solidFill>
                  <a:srgbClr val="F2A93B"/>
                </a:solidFill>
                <a:latin typeface="Calibri" pitchFamily="34" charset="0"/>
                <a:ea typeface="Calibri" pitchFamily="34" charset="-122"/>
                <a:cs typeface="Calibri" pitchFamily="34" charset="-120"/>
              </a:rPr>
              <a:t>MINI ACTIVITY</a:t>
            </a:r>
            <a:endParaRPr lang="en-US" sz="1500" dirty="0"/>
          </a:p>
        </p:txBody>
      </p:sp>
      <p:sp>
        <p:nvSpPr>
          <p:cNvPr id="4" name="Text 2"/>
          <p:cNvSpPr/>
          <p:nvPr/>
        </p:nvSpPr>
        <p:spPr>
          <a:xfrm>
            <a:off x="640080" y="1005840"/>
            <a:ext cx="10058400" cy="82296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Guess the Correlation</a:t>
            </a:r>
            <a:endParaRPr lang="en-US" sz="3000" dirty="0"/>
          </a:p>
        </p:txBody>
      </p:sp>
      <p:sp>
        <p:nvSpPr>
          <p:cNvPr id="5" name="Shape 3"/>
          <p:cNvSpPr/>
          <p:nvPr/>
        </p:nvSpPr>
        <p:spPr>
          <a:xfrm>
            <a:off x="640080" y="2148840"/>
            <a:ext cx="502920" cy="502920"/>
          </a:xfrm>
          <a:prstGeom prst="ellipse">
            <a:avLst/>
          </a:prstGeom>
          <a:solidFill>
            <a:srgbClr val="F2A93B"/>
          </a:solidFill>
          <a:ln/>
        </p:spPr>
      </p:sp>
      <p:sp>
        <p:nvSpPr>
          <p:cNvPr id="6" name="Text 4"/>
          <p:cNvSpPr/>
          <p:nvPr/>
        </p:nvSpPr>
        <p:spPr>
          <a:xfrm>
            <a:off x="640080" y="2148840"/>
            <a:ext cx="502920" cy="502920"/>
          </a:xfrm>
          <a:prstGeom prst="rect">
            <a:avLst/>
          </a:prstGeom>
          <a:noFill/>
          <a:ln/>
        </p:spPr>
        <p:txBody>
          <a:bodyPr wrap="square" rtlCol="0" anchor="ctr"/>
          <a:lstStyle/>
          <a:p>
            <a:pPr marL="0" indent="0" algn="ctr">
              <a:buNone/>
            </a:pPr>
            <a:r>
              <a:rPr lang="en-US" sz="1400" b="1" dirty="0">
                <a:solidFill>
                  <a:srgbClr val="073B37"/>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371600" y="2103120"/>
            <a:ext cx="9875520" cy="777240"/>
          </a:xfrm>
          <a:prstGeom prst="rect">
            <a:avLst/>
          </a:prstGeom>
          <a:noFill/>
          <a:ln/>
        </p:spPr>
        <p:txBody>
          <a:bodyPr wrap="square" rtlCol="0" anchor="ctr"/>
          <a:lstStyle/>
          <a:p>
            <a:pPr marL="0" indent="0">
              <a:buNone/>
            </a:pPr>
            <a:r>
              <a:rPr lang="en-US" sz="2000" dirty="0">
                <a:solidFill>
                  <a:srgbClr val="FFFFFF"/>
                </a:solidFill>
                <a:latin typeface="Calibri" pitchFamily="34" charset="0"/>
                <a:ea typeface="Calibri" pitchFamily="34" charset="-122"/>
                <a:cs typeface="Calibri" pitchFamily="34" charset="-120"/>
              </a:rPr>
              <a:t>I'll describe a scatter plot verbally — you shout out 'strong positive', 'weak', or 'strong negative'.</a:t>
            </a:r>
            <a:endParaRPr lang="en-US" sz="2000" dirty="0"/>
          </a:p>
        </p:txBody>
      </p:sp>
      <p:sp>
        <p:nvSpPr>
          <p:cNvPr id="8" name="Shape 6"/>
          <p:cNvSpPr/>
          <p:nvPr/>
        </p:nvSpPr>
        <p:spPr>
          <a:xfrm>
            <a:off x="640080" y="3063240"/>
            <a:ext cx="502920" cy="502920"/>
          </a:xfrm>
          <a:prstGeom prst="ellipse">
            <a:avLst/>
          </a:prstGeom>
          <a:solidFill>
            <a:srgbClr val="F2A93B"/>
          </a:solidFill>
          <a:ln/>
        </p:spPr>
      </p:sp>
      <p:sp>
        <p:nvSpPr>
          <p:cNvPr id="9" name="Text 7"/>
          <p:cNvSpPr/>
          <p:nvPr/>
        </p:nvSpPr>
        <p:spPr>
          <a:xfrm>
            <a:off x="640080" y="3063240"/>
            <a:ext cx="502920" cy="502920"/>
          </a:xfrm>
          <a:prstGeom prst="rect">
            <a:avLst/>
          </a:prstGeom>
          <a:noFill/>
          <a:ln/>
        </p:spPr>
        <p:txBody>
          <a:bodyPr wrap="square" rtlCol="0" anchor="ctr"/>
          <a:lstStyle/>
          <a:p>
            <a:pPr marL="0" indent="0" algn="ctr">
              <a:buNone/>
            </a:pPr>
            <a:r>
              <a:rPr lang="en-US" sz="1400" b="1" dirty="0">
                <a:solidFill>
                  <a:srgbClr val="073B37"/>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1371600" y="3017520"/>
            <a:ext cx="9875520" cy="777240"/>
          </a:xfrm>
          <a:prstGeom prst="rect">
            <a:avLst/>
          </a:prstGeom>
          <a:noFill/>
          <a:ln/>
        </p:spPr>
        <p:txBody>
          <a:bodyPr wrap="square" rtlCol="0" anchor="ctr"/>
          <a:lstStyle/>
          <a:p>
            <a:pPr marL="0" indent="0">
              <a:buNone/>
            </a:pPr>
            <a:r>
              <a:rPr lang="en-US" sz="2000" dirty="0">
                <a:solidFill>
                  <a:srgbClr val="FFFFFF"/>
                </a:solidFill>
                <a:latin typeface="Calibri" pitchFamily="34" charset="0"/>
                <a:ea typeface="Calibri" pitchFamily="34" charset="-122"/>
                <a:cs typeface="Calibri" pitchFamily="34" charset="-120"/>
              </a:rPr>
              <a:t>Plot 1: points tightly hugging a line that rises steeply from bottom-left to top-right.</a:t>
            </a:r>
            <a:endParaRPr lang="en-US" sz="2000" dirty="0"/>
          </a:p>
        </p:txBody>
      </p:sp>
      <p:sp>
        <p:nvSpPr>
          <p:cNvPr id="11" name="Shape 9"/>
          <p:cNvSpPr/>
          <p:nvPr/>
        </p:nvSpPr>
        <p:spPr>
          <a:xfrm>
            <a:off x="640080" y="3977640"/>
            <a:ext cx="502920" cy="502920"/>
          </a:xfrm>
          <a:prstGeom prst="ellipse">
            <a:avLst/>
          </a:prstGeom>
          <a:solidFill>
            <a:srgbClr val="F2A93B"/>
          </a:solidFill>
          <a:ln/>
        </p:spPr>
      </p:sp>
      <p:sp>
        <p:nvSpPr>
          <p:cNvPr id="12" name="Text 10"/>
          <p:cNvSpPr/>
          <p:nvPr/>
        </p:nvSpPr>
        <p:spPr>
          <a:xfrm>
            <a:off x="640080" y="3977640"/>
            <a:ext cx="502920" cy="502920"/>
          </a:xfrm>
          <a:prstGeom prst="rect">
            <a:avLst/>
          </a:prstGeom>
          <a:noFill/>
          <a:ln/>
        </p:spPr>
        <p:txBody>
          <a:bodyPr wrap="square" rtlCol="0" anchor="ctr"/>
          <a:lstStyle/>
          <a:p>
            <a:pPr marL="0" indent="0" algn="ctr">
              <a:buNone/>
            </a:pPr>
            <a:r>
              <a:rPr lang="en-US" sz="1400" b="1" dirty="0">
                <a:solidFill>
                  <a:srgbClr val="073B37"/>
                </a:solidFill>
                <a:latin typeface="Calibri" pitchFamily="34" charset="0"/>
                <a:ea typeface="Calibri" pitchFamily="34" charset="-122"/>
                <a:cs typeface="Calibri" pitchFamily="34" charset="-120"/>
              </a:rPr>
              <a:t>3</a:t>
            </a:r>
            <a:endParaRPr lang="en-US" sz="1400" dirty="0"/>
          </a:p>
        </p:txBody>
      </p:sp>
      <p:sp>
        <p:nvSpPr>
          <p:cNvPr id="13" name="Text 11"/>
          <p:cNvSpPr/>
          <p:nvPr/>
        </p:nvSpPr>
        <p:spPr>
          <a:xfrm>
            <a:off x="1371600" y="3931920"/>
            <a:ext cx="9875520" cy="777240"/>
          </a:xfrm>
          <a:prstGeom prst="rect">
            <a:avLst/>
          </a:prstGeom>
          <a:noFill/>
          <a:ln/>
        </p:spPr>
        <p:txBody>
          <a:bodyPr wrap="square" rtlCol="0" anchor="ctr"/>
          <a:lstStyle/>
          <a:p>
            <a:pPr marL="0" indent="0">
              <a:buNone/>
            </a:pPr>
            <a:r>
              <a:rPr lang="en-US" sz="2000" dirty="0">
                <a:solidFill>
                  <a:srgbClr val="FFFFFF"/>
                </a:solidFill>
                <a:latin typeface="Calibri" pitchFamily="34" charset="0"/>
                <a:ea typeface="Calibri" pitchFamily="34" charset="-122"/>
                <a:cs typeface="Calibri" pitchFamily="34" charset="-120"/>
              </a:rPr>
              <a:t>Plot 2: points scattered in a loose circle with no visible trend.</a:t>
            </a:r>
            <a:endParaRPr lang="en-US" sz="2000" dirty="0"/>
          </a:p>
        </p:txBody>
      </p:sp>
      <p:sp>
        <p:nvSpPr>
          <p:cNvPr id="14" name="Text 12"/>
          <p:cNvSpPr/>
          <p:nvPr/>
        </p:nvSpPr>
        <p:spPr>
          <a:xfrm>
            <a:off x="640080" y="6080760"/>
            <a:ext cx="10058400" cy="365760"/>
          </a:xfrm>
          <a:prstGeom prst="rect">
            <a:avLst/>
          </a:prstGeom>
          <a:noFill/>
          <a:ln/>
        </p:spPr>
        <p:txBody>
          <a:bodyPr wrap="square" rtlCol="0" anchor="ctr"/>
          <a:lstStyle/>
          <a:p>
            <a:pPr marL="0" indent="0">
              <a:buNone/>
            </a:pPr>
            <a:r>
              <a:rPr lang="en-US" sz="1300" i="1" dirty="0">
                <a:solidFill>
                  <a:srgbClr val="9DBDB9"/>
                </a:solidFill>
                <a:latin typeface="Calibri" pitchFamily="34" charset="0"/>
                <a:ea typeface="Calibri" pitchFamily="34" charset="-122"/>
                <a:cs typeface="Calibri" pitchFamily="34" charset="-120"/>
              </a:rPr>
              <a:t>(Answers: Plot 1 = strong positive; Plot 2 = weak / near-zero.)</a:t>
            </a:r>
            <a:endParaRPr lang="en-US" sz="1300" dirty="0"/>
          </a:p>
        </p:txBody>
      </p:sp>
      <p:sp>
        <p:nvSpPr>
          <p:cNvPr id="15" name="Text 13"/>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5B7370"/>
                </a:solidFill>
                <a:latin typeface="Calibri" pitchFamily="34" charset="0"/>
                <a:ea typeface="Calibri" pitchFamily="34" charset="-122"/>
                <a:cs typeface="Calibri" pitchFamily="34" charset="-120"/>
              </a:rPr>
              <a:t>Presidency University | Dept. of AI &amp; Robotics | DSC4000 | Statics for Data Science</a:t>
            </a:r>
            <a:endParaRPr lang="en-US" sz="1000" dirty="0"/>
          </a:p>
        </p:txBody>
      </p:sp>
      <p:sp>
        <p:nvSpPr>
          <p:cNvPr id="16" name="Text 14"/>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7370"/>
                </a:solidFill>
                <a:latin typeface="Calibri" pitchFamily="34" charset="0"/>
                <a:ea typeface="Calibri" pitchFamily="34" charset="-122"/>
                <a:cs typeface="Calibri" pitchFamily="34" charset="-120"/>
              </a:rPr>
              <a:t>45</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73B37"/>
        </a:solidFill>
        <a:effectLst/>
      </p:bgPr>
    </p:bg>
    <p:spTree>
      <p:nvGrpSpPr>
        <p:cNvPr id="1" name=""/>
        <p:cNvGrpSpPr/>
        <p:nvPr/>
      </p:nvGrpSpPr>
      <p:grpSpPr>
        <a:xfrm>
          <a:off x="0" y="0"/>
          <a:ext cx="0" cy="0"/>
          <a:chOff x="0" y="0"/>
          <a:chExt cx="0" cy="0"/>
        </a:xfrm>
      </p:grpSpPr>
      <p:sp>
        <p:nvSpPr>
          <p:cNvPr id="2" name="Shape 0"/>
          <p:cNvSpPr/>
          <p:nvPr/>
        </p:nvSpPr>
        <p:spPr>
          <a:xfrm>
            <a:off x="10332720" y="-1097280"/>
            <a:ext cx="3657600" cy="3657600"/>
          </a:xfrm>
          <a:prstGeom prst="ellipse">
            <a:avLst/>
          </a:prstGeom>
          <a:solidFill>
            <a:srgbClr val="0E5C56"/>
          </a:solidFill>
          <a:ln/>
        </p:spPr>
      </p:sp>
      <p:sp>
        <p:nvSpPr>
          <p:cNvPr id="3" name="Text 1"/>
          <p:cNvSpPr/>
          <p:nvPr/>
        </p:nvSpPr>
        <p:spPr>
          <a:xfrm>
            <a:off x="640080" y="548640"/>
            <a:ext cx="7315200" cy="457200"/>
          </a:xfrm>
          <a:prstGeom prst="rect">
            <a:avLst/>
          </a:prstGeom>
          <a:noFill/>
          <a:ln/>
        </p:spPr>
        <p:txBody>
          <a:bodyPr wrap="square" rtlCol="0" anchor="ctr"/>
          <a:lstStyle/>
          <a:p>
            <a:pPr marL="0" indent="0">
              <a:buNone/>
            </a:pPr>
            <a:r>
              <a:rPr lang="en-US" sz="1500" b="1" kern="0" spc="200" dirty="0">
                <a:solidFill>
                  <a:srgbClr val="F2A93B"/>
                </a:solidFill>
                <a:latin typeface="Calibri" pitchFamily="34" charset="0"/>
                <a:ea typeface="Calibri" pitchFamily="34" charset="-122"/>
                <a:cs typeface="Calibri" pitchFamily="34" charset="-120"/>
              </a:rPr>
              <a:t>MINI ACTIVITY</a:t>
            </a:r>
            <a:endParaRPr lang="en-US" sz="1500" dirty="0"/>
          </a:p>
        </p:txBody>
      </p:sp>
      <p:sp>
        <p:nvSpPr>
          <p:cNvPr id="4" name="Text 2"/>
          <p:cNvSpPr/>
          <p:nvPr/>
        </p:nvSpPr>
        <p:spPr>
          <a:xfrm>
            <a:off x="640080" y="1005840"/>
            <a:ext cx="10058400" cy="82296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Spot the Real-World Variable Pair</a:t>
            </a:r>
            <a:endParaRPr lang="en-US" sz="3000" dirty="0"/>
          </a:p>
        </p:txBody>
      </p:sp>
      <p:sp>
        <p:nvSpPr>
          <p:cNvPr id="5" name="Shape 3"/>
          <p:cNvSpPr/>
          <p:nvPr/>
        </p:nvSpPr>
        <p:spPr>
          <a:xfrm>
            <a:off x="640080" y="2148840"/>
            <a:ext cx="502920" cy="502920"/>
          </a:xfrm>
          <a:prstGeom prst="ellipse">
            <a:avLst/>
          </a:prstGeom>
          <a:solidFill>
            <a:srgbClr val="F2A93B"/>
          </a:solidFill>
          <a:ln/>
        </p:spPr>
      </p:sp>
      <p:sp>
        <p:nvSpPr>
          <p:cNvPr id="6" name="Text 4"/>
          <p:cNvSpPr/>
          <p:nvPr/>
        </p:nvSpPr>
        <p:spPr>
          <a:xfrm>
            <a:off x="640080" y="2148840"/>
            <a:ext cx="502920" cy="502920"/>
          </a:xfrm>
          <a:prstGeom prst="rect">
            <a:avLst/>
          </a:prstGeom>
          <a:noFill/>
          <a:ln/>
        </p:spPr>
        <p:txBody>
          <a:bodyPr wrap="square" rtlCol="0" anchor="ctr"/>
          <a:lstStyle/>
          <a:p>
            <a:pPr marL="0" indent="0" algn="ctr">
              <a:buNone/>
            </a:pPr>
            <a:r>
              <a:rPr lang="en-US" sz="1400" b="1" dirty="0">
                <a:solidFill>
                  <a:srgbClr val="073B37"/>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371600" y="2103120"/>
            <a:ext cx="9875520" cy="777240"/>
          </a:xfrm>
          <a:prstGeom prst="rect">
            <a:avLst/>
          </a:prstGeom>
          <a:noFill/>
          <a:ln/>
        </p:spPr>
        <p:txBody>
          <a:bodyPr wrap="square" rtlCol="0" anchor="ctr"/>
          <a:lstStyle/>
          <a:p>
            <a:pPr marL="0" indent="0">
              <a:buNone/>
            </a:pPr>
            <a:r>
              <a:rPr lang="en-US" sz="2000" dirty="0">
                <a:solidFill>
                  <a:srgbClr val="FFFFFF"/>
                </a:solidFill>
                <a:latin typeface="Calibri" pitchFamily="34" charset="0"/>
                <a:ea typeface="Calibri" pitchFamily="34" charset="-122"/>
                <a:cs typeface="Calibri" pitchFamily="34" charset="-120"/>
              </a:rPr>
              <a:t>In pairs, name one variable pair you'd expect to be POSITIVELY correlated in your daily campus life.</a:t>
            </a:r>
            <a:endParaRPr lang="en-US" sz="2000" dirty="0"/>
          </a:p>
        </p:txBody>
      </p:sp>
      <p:sp>
        <p:nvSpPr>
          <p:cNvPr id="8" name="Shape 6"/>
          <p:cNvSpPr/>
          <p:nvPr/>
        </p:nvSpPr>
        <p:spPr>
          <a:xfrm>
            <a:off x="640080" y="3063240"/>
            <a:ext cx="502920" cy="502920"/>
          </a:xfrm>
          <a:prstGeom prst="ellipse">
            <a:avLst/>
          </a:prstGeom>
          <a:solidFill>
            <a:srgbClr val="F2A93B"/>
          </a:solidFill>
          <a:ln/>
        </p:spPr>
      </p:sp>
      <p:sp>
        <p:nvSpPr>
          <p:cNvPr id="9" name="Text 7"/>
          <p:cNvSpPr/>
          <p:nvPr/>
        </p:nvSpPr>
        <p:spPr>
          <a:xfrm>
            <a:off x="640080" y="3063240"/>
            <a:ext cx="502920" cy="502920"/>
          </a:xfrm>
          <a:prstGeom prst="rect">
            <a:avLst/>
          </a:prstGeom>
          <a:noFill/>
          <a:ln/>
        </p:spPr>
        <p:txBody>
          <a:bodyPr wrap="square" rtlCol="0" anchor="ctr"/>
          <a:lstStyle/>
          <a:p>
            <a:pPr marL="0" indent="0" algn="ctr">
              <a:buNone/>
            </a:pPr>
            <a:r>
              <a:rPr lang="en-US" sz="1400" b="1" dirty="0">
                <a:solidFill>
                  <a:srgbClr val="073B37"/>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1371600" y="3017520"/>
            <a:ext cx="9875520" cy="777240"/>
          </a:xfrm>
          <a:prstGeom prst="rect">
            <a:avLst/>
          </a:prstGeom>
          <a:noFill/>
          <a:ln/>
        </p:spPr>
        <p:txBody>
          <a:bodyPr wrap="square" rtlCol="0" anchor="ctr"/>
          <a:lstStyle/>
          <a:p>
            <a:pPr marL="0" indent="0">
              <a:buNone/>
            </a:pPr>
            <a:r>
              <a:rPr lang="en-US" sz="2000" dirty="0">
                <a:solidFill>
                  <a:srgbClr val="FFFFFF"/>
                </a:solidFill>
                <a:latin typeface="Calibri" pitchFamily="34" charset="0"/>
                <a:ea typeface="Calibri" pitchFamily="34" charset="-122"/>
                <a:cs typeface="Calibri" pitchFamily="34" charset="-120"/>
              </a:rPr>
              <a:t>Now name one pair you'd expect to be NEGATIVELY correlated.</a:t>
            </a:r>
            <a:endParaRPr lang="en-US" sz="2000" dirty="0"/>
          </a:p>
        </p:txBody>
      </p:sp>
      <p:sp>
        <p:nvSpPr>
          <p:cNvPr id="11" name="Shape 9"/>
          <p:cNvSpPr/>
          <p:nvPr/>
        </p:nvSpPr>
        <p:spPr>
          <a:xfrm>
            <a:off x="640080" y="3977640"/>
            <a:ext cx="502920" cy="502920"/>
          </a:xfrm>
          <a:prstGeom prst="ellipse">
            <a:avLst/>
          </a:prstGeom>
          <a:solidFill>
            <a:srgbClr val="F2A93B"/>
          </a:solidFill>
          <a:ln/>
        </p:spPr>
      </p:sp>
      <p:sp>
        <p:nvSpPr>
          <p:cNvPr id="12" name="Text 10"/>
          <p:cNvSpPr/>
          <p:nvPr/>
        </p:nvSpPr>
        <p:spPr>
          <a:xfrm>
            <a:off x="640080" y="3977640"/>
            <a:ext cx="502920" cy="502920"/>
          </a:xfrm>
          <a:prstGeom prst="rect">
            <a:avLst/>
          </a:prstGeom>
          <a:noFill/>
          <a:ln/>
        </p:spPr>
        <p:txBody>
          <a:bodyPr wrap="square" rtlCol="0" anchor="ctr"/>
          <a:lstStyle/>
          <a:p>
            <a:pPr marL="0" indent="0" algn="ctr">
              <a:buNone/>
            </a:pPr>
            <a:r>
              <a:rPr lang="en-US" sz="1400" b="1" dirty="0">
                <a:solidFill>
                  <a:srgbClr val="073B37"/>
                </a:solidFill>
                <a:latin typeface="Calibri" pitchFamily="34" charset="0"/>
                <a:ea typeface="Calibri" pitchFamily="34" charset="-122"/>
                <a:cs typeface="Calibri" pitchFamily="34" charset="-120"/>
              </a:rPr>
              <a:t>3</a:t>
            </a:r>
            <a:endParaRPr lang="en-US" sz="1400" dirty="0"/>
          </a:p>
        </p:txBody>
      </p:sp>
      <p:sp>
        <p:nvSpPr>
          <p:cNvPr id="13" name="Text 11"/>
          <p:cNvSpPr/>
          <p:nvPr/>
        </p:nvSpPr>
        <p:spPr>
          <a:xfrm>
            <a:off x="1371600" y="3931920"/>
            <a:ext cx="9875520" cy="777240"/>
          </a:xfrm>
          <a:prstGeom prst="rect">
            <a:avLst/>
          </a:prstGeom>
          <a:noFill/>
          <a:ln/>
        </p:spPr>
        <p:txBody>
          <a:bodyPr wrap="square" rtlCol="0" anchor="ctr"/>
          <a:lstStyle/>
          <a:p>
            <a:pPr marL="0" indent="0">
              <a:buNone/>
            </a:pPr>
            <a:r>
              <a:rPr lang="en-US" sz="2000" dirty="0">
                <a:solidFill>
                  <a:srgbClr val="FFFFFF"/>
                </a:solidFill>
                <a:latin typeface="Calibri" pitchFamily="34" charset="0"/>
                <a:ea typeface="Calibri" pitchFamily="34" charset="-122"/>
                <a:cs typeface="Calibri" pitchFamily="34" charset="-120"/>
              </a:rPr>
              <a:t>Finally: can you think of a pair that LOOKS correlated but is probably just a coincidence (spurious correlation)?</a:t>
            </a:r>
            <a:endParaRPr lang="en-US" sz="2000" dirty="0"/>
          </a:p>
        </p:txBody>
      </p:sp>
      <p:sp>
        <p:nvSpPr>
          <p:cNvPr id="14" name="Text 12"/>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5B7370"/>
                </a:solidFill>
                <a:latin typeface="Calibri" pitchFamily="34" charset="0"/>
                <a:ea typeface="Calibri" pitchFamily="34" charset="-122"/>
                <a:cs typeface="Calibri" pitchFamily="34" charset="-120"/>
              </a:rPr>
              <a:t>Presidency University | Dept. of AI &amp; Robotics | DSC4000 | Statics for Data Science</a:t>
            </a:r>
            <a:endParaRPr lang="en-US" sz="1000" dirty="0"/>
          </a:p>
        </p:txBody>
      </p:sp>
      <p:sp>
        <p:nvSpPr>
          <p:cNvPr id="15" name="Text 13"/>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7370"/>
                </a:solidFill>
                <a:latin typeface="Calibri" pitchFamily="34" charset="0"/>
                <a:ea typeface="Calibri" pitchFamily="34" charset="-122"/>
                <a:cs typeface="Calibri" pitchFamily="34" charset="-120"/>
              </a:rPr>
              <a:t>46</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3291840" cy="384048"/>
          </a:xfrm>
          <a:prstGeom prst="roundRect">
            <a:avLst>
              <a:gd name="adj" fmla="val 19048"/>
            </a:avLst>
          </a:prstGeom>
          <a:solidFill>
            <a:srgbClr val="E8F4F2"/>
          </a:solidFill>
          <a:ln/>
        </p:spPr>
      </p:sp>
      <p:sp>
        <p:nvSpPr>
          <p:cNvPr id="3" name="Text 1"/>
          <p:cNvSpPr/>
          <p:nvPr/>
        </p:nvSpPr>
        <p:spPr>
          <a:xfrm>
            <a:off x="548640" y="457200"/>
            <a:ext cx="3291840" cy="384048"/>
          </a:xfrm>
          <a:prstGeom prst="rect">
            <a:avLst/>
          </a:prstGeom>
          <a:noFill/>
          <a:ln/>
        </p:spPr>
        <p:txBody>
          <a:bodyPr wrap="square" rtlCol="0" anchor="ctr"/>
          <a:lstStyle/>
          <a:p>
            <a:pPr marL="0" indent="0" algn="ctr">
              <a:buNone/>
            </a:pPr>
            <a:r>
              <a:rPr lang="en-US" sz="1300" b="1" kern="0" spc="100" dirty="0">
                <a:solidFill>
                  <a:srgbClr val="0E5C56"/>
                </a:solidFill>
                <a:latin typeface="Calibri" pitchFamily="34" charset="0"/>
                <a:ea typeface="Calibri" pitchFamily="34" charset="-122"/>
                <a:cs typeface="Calibri" pitchFamily="34" charset="-120"/>
              </a:rPr>
              <a:t>CHECK YOUR UNDERSTANDING</a:t>
            </a:r>
            <a:endParaRPr lang="en-US" sz="1300" dirty="0"/>
          </a:p>
        </p:txBody>
      </p:sp>
      <p:sp>
        <p:nvSpPr>
          <p:cNvPr id="4" name="Text 2"/>
          <p:cNvSpPr/>
          <p:nvPr/>
        </p:nvSpPr>
        <p:spPr>
          <a:xfrm>
            <a:off x="548640" y="960120"/>
            <a:ext cx="11091672" cy="914400"/>
          </a:xfrm>
          <a:prstGeom prst="rect">
            <a:avLst/>
          </a:prstGeom>
          <a:noFill/>
          <a:ln/>
        </p:spPr>
        <p:txBody>
          <a:bodyPr wrap="square" rtlCol="0" anchor="t"/>
          <a:lstStyle/>
          <a:p>
            <a:pPr marL="0" indent="0" algn="l">
              <a:buNone/>
            </a:pPr>
            <a:r>
              <a:rPr lang="en-US" sz="3200" b="1" dirty="0">
                <a:solidFill>
                  <a:srgbClr val="1B2B2A"/>
                </a:solidFill>
                <a:latin typeface="Cambria" pitchFamily="34" charset="0"/>
                <a:ea typeface="Cambria" pitchFamily="34" charset="-122"/>
                <a:cs typeface="Cambria" pitchFamily="34" charset="-120"/>
              </a:rPr>
              <a:t>Before We Summarize...</a:t>
            </a:r>
            <a:endParaRPr lang="en-US" sz="3200" dirty="0"/>
          </a:p>
        </p:txBody>
      </p:sp>
      <p:sp>
        <p:nvSpPr>
          <p:cNvPr id="5" name="Shape 3"/>
          <p:cNvSpPr/>
          <p:nvPr/>
        </p:nvSpPr>
        <p:spPr>
          <a:xfrm>
            <a:off x="548640" y="1993392"/>
            <a:ext cx="365760" cy="365760"/>
          </a:xfrm>
          <a:prstGeom prst="ellipse">
            <a:avLst/>
          </a:prstGeom>
          <a:solidFill>
            <a:srgbClr val="F2A93B"/>
          </a:solidFill>
          <a:ln/>
        </p:spPr>
      </p:sp>
      <p:sp>
        <p:nvSpPr>
          <p:cNvPr id="6" name="Text 4"/>
          <p:cNvSpPr/>
          <p:nvPr/>
        </p:nvSpPr>
        <p:spPr>
          <a:xfrm>
            <a:off x="548640" y="1993392"/>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7" name="Text 5"/>
          <p:cNvSpPr/>
          <p:nvPr/>
        </p:nvSpPr>
        <p:spPr>
          <a:xfrm>
            <a:off x="1143000" y="1965960"/>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Can you state, in one sentence, the difference between covariance and correlation?</a:t>
            </a:r>
            <a:endParaRPr lang="en-US" sz="2000" dirty="0"/>
          </a:p>
        </p:txBody>
      </p:sp>
      <p:sp>
        <p:nvSpPr>
          <p:cNvPr id="8" name="Shape 6"/>
          <p:cNvSpPr/>
          <p:nvPr/>
        </p:nvSpPr>
        <p:spPr>
          <a:xfrm>
            <a:off x="548640" y="3246120"/>
            <a:ext cx="365760" cy="365760"/>
          </a:xfrm>
          <a:prstGeom prst="ellipse">
            <a:avLst/>
          </a:prstGeom>
          <a:solidFill>
            <a:srgbClr val="F2A93B"/>
          </a:solidFill>
          <a:ln/>
        </p:spPr>
      </p:sp>
      <p:sp>
        <p:nvSpPr>
          <p:cNvPr id="9" name="Text 7"/>
          <p:cNvSpPr/>
          <p:nvPr/>
        </p:nvSpPr>
        <p:spPr>
          <a:xfrm>
            <a:off x="548640" y="3246120"/>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0" name="Text 8"/>
          <p:cNvSpPr/>
          <p:nvPr/>
        </p:nvSpPr>
        <p:spPr>
          <a:xfrm>
            <a:off x="1143000" y="3218688"/>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Can you explain why correlation is always between −1 and +1, but covariance is not?</a:t>
            </a:r>
            <a:endParaRPr lang="en-US" sz="2000" dirty="0"/>
          </a:p>
        </p:txBody>
      </p:sp>
      <p:sp>
        <p:nvSpPr>
          <p:cNvPr id="11" name="Shape 9"/>
          <p:cNvSpPr/>
          <p:nvPr/>
        </p:nvSpPr>
        <p:spPr>
          <a:xfrm>
            <a:off x="548640" y="4498848"/>
            <a:ext cx="365760" cy="365760"/>
          </a:xfrm>
          <a:prstGeom prst="ellipse">
            <a:avLst/>
          </a:prstGeom>
          <a:solidFill>
            <a:srgbClr val="F2A93B"/>
          </a:solidFill>
          <a:ln/>
        </p:spPr>
      </p:sp>
      <p:sp>
        <p:nvSpPr>
          <p:cNvPr id="12" name="Text 10"/>
          <p:cNvSpPr/>
          <p:nvPr/>
        </p:nvSpPr>
        <p:spPr>
          <a:xfrm>
            <a:off x="548640" y="4498848"/>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3" name="Text 11"/>
          <p:cNvSpPr/>
          <p:nvPr/>
        </p:nvSpPr>
        <p:spPr>
          <a:xfrm>
            <a:off x="1143000" y="4471416"/>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Can you name one real-world example where correlation was mistaken for causation?</a:t>
            </a:r>
            <a:endParaRPr lang="en-US" sz="2000" dirty="0"/>
          </a:p>
        </p:txBody>
      </p:sp>
      <p:sp>
        <p:nvSpPr>
          <p:cNvPr id="14" name="Shape 12"/>
          <p:cNvSpPr/>
          <p:nvPr/>
        </p:nvSpPr>
        <p:spPr>
          <a:xfrm>
            <a:off x="548640" y="5751576"/>
            <a:ext cx="365760" cy="365760"/>
          </a:xfrm>
          <a:prstGeom prst="ellipse">
            <a:avLst/>
          </a:prstGeom>
          <a:solidFill>
            <a:srgbClr val="F2A93B"/>
          </a:solidFill>
          <a:ln/>
        </p:spPr>
      </p:sp>
      <p:sp>
        <p:nvSpPr>
          <p:cNvPr id="15" name="Text 13"/>
          <p:cNvSpPr/>
          <p:nvPr/>
        </p:nvSpPr>
        <p:spPr>
          <a:xfrm>
            <a:off x="548640" y="5751576"/>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6" name="Text 14"/>
          <p:cNvSpPr/>
          <p:nvPr/>
        </p:nvSpPr>
        <p:spPr>
          <a:xfrm>
            <a:off x="1143000" y="5724144"/>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If you're unsure about any of these, flag it now — we have a few minutes before the summary.</a:t>
            </a:r>
            <a:endParaRPr lang="en-US" sz="2000" dirty="0"/>
          </a:p>
        </p:txBody>
      </p:sp>
      <p:sp>
        <p:nvSpPr>
          <p:cNvPr id="17" name="Text 15"/>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5B7370"/>
                </a:solidFill>
                <a:latin typeface="Calibri" pitchFamily="34" charset="0"/>
                <a:ea typeface="Calibri" pitchFamily="34" charset="-122"/>
                <a:cs typeface="Calibri" pitchFamily="34" charset="-120"/>
              </a:rPr>
              <a:t>Presidency University | Dept. of AI &amp; Robotics | DSC4000 | Statics for Data Science</a:t>
            </a:r>
            <a:endParaRPr lang="en-US" sz="1000" dirty="0"/>
          </a:p>
        </p:txBody>
      </p:sp>
      <p:sp>
        <p:nvSpPr>
          <p:cNvPr id="18" name="Text 16"/>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7370"/>
                </a:solidFill>
                <a:latin typeface="Calibri" pitchFamily="34" charset="0"/>
                <a:ea typeface="Calibri" pitchFamily="34" charset="-122"/>
                <a:cs typeface="Calibri" pitchFamily="34" charset="-120"/>
              </a:rPr>
              <a:t>47</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3291840" cy="384048"/>
          </a:xfrm>
          <a:prstGeom prst="roundRect">
            <a:avLst>
              <a:gd name="adj" fmla="val 19048"/>
            </a:avLst>
          </a:prstGeom>
          <a:solidFill>
            <a:srgbClr val="E8F4F2"/>
          </a:solidFill>
          <a:ln/>
        </p:spPr>
      </p:sp>
      <p:sp>
        <p:nvSpPr>
          <p:cNvPr id="3" name="Text 1"/>
          <p:cNvSpPr/>
          <p:nvPr/>
        </p:nvSpPr>
        <p:spPr>
          <a:xfrm>
            <a:off x="548640" y="457200"/>
            <a:ext cx="3291840" cy="384048"/>
          </a:xfrm>
          <a:prstGeom prst="rect">
            <a:avLst/>
          </a:prstGeom>
          <a:noFill/>
          <a:ln/>
        </p:spPr>
        <p:txBody>
          <a:bodyPr wrap="square" rtlCol="0" anchor="ctr"/>
          <a:lstStyle/>
          <a:p>
            <a:pPr marL="0" indent="0" algn="ctr">
              <a:buNone/>
            </a:pPr>
            <a:r>
              <a:rPr lang="en-US" sz="1300" b="1" kern="0" spc="100" dirty="0">
                <a:solidFill>
                  <a:srgbClr val="0E5C56"/>
                </a:solidFill>
                <a:latin typeface="Calibri" pitchFamily="34" charset="0"/>
                <a:ea typeface="Calibri" pitchFamily="34" charset="-122"/>
                <a:cs typeface="Calibri" pitchFamily="34" charset="-120"/>
              </a:rPr>
              <a:t>SUMMARY</a:t>
            </a:r>
            <a:endParaRPr lang="en-US" sz="1300" dirty="0"/>
          </a:p>
        </p:txBody>
      </p:sp>
      <p:sp>
        <p:nvSpPr>
          <p:cNvPr id="4" name="Text 2"/>
          <p:cNvSpPr/>
          <p:nvPr/>
        </p:nvSpPr>
        <p:spPr>
          <a:xfrm>
            <a:off x="548640" y="960120"/>
            <a:ext cx="11091672" cy="914400"/>
          </a:xfrm>
          <a:prstGeom prst="rect">
            <a:avLst/>
          </a:prstGeom>
          <a:noFill/>
          <a:ln/>
        </p:spPr>
        <p:txBody>
          <a:bodyPr wrap="square" rtlCol="0" anchor="t"/>
          <a:lstStyle/>
          <a:p>
            <a:pPr marL="0" indent="0" algn="l">
              <a:buNone/>
            </a:pPr>
            <a:r>
              <a:rPr lang="en-US" sz="3200" b="1" dirty="0">
                <a:solidFill>
                  <a:srgbClr val="1B2B2A"/>
                </a:solidFill>
                <a:latin typeface="Cambria" pitchFamily="34" charset="0"/>
                <a:ea typeface="Cambria" pitchFamily="34" charset="-122"/>
                <a:cs typeface="Cambria" pitchFamily="34" charset="-120"/>
              </a:rPr>
              <a:t>Key Takeaways</a:t>
            </a:r>
            <a:endParaRPr lang="en-US" sz="3200" dirty="0"/>
          </a:p>
        </p:txBody>
      </p:sp>
      <p:sp>
        <p:nvSpPr>
          <p:cNvPr id="5" name="Shape 3"/>
          <p:cNvSpPr/>
          <p:nvPr/>
        </p:nvSpPr>
        <p:spPr>
          <a:xfrm>
            <a:off x="548640" y="1993392"/>
            <a:ext cx="365760" cy="365760"/>
          </a:xfrm>
          <a:prstGeom prst="ellipse">
            <a:avLst/>
          </a:prstGeom>
          <a:solidFill>
            <a:srgbClr val="F2A93B"/>
          </a:solidFill>
          <a:ln/>
        </p:spPr>
      </p:sp>
      <p:sp>
        <p:nvSpPr>
          <p:cNvPr id="6" name="Text 4"/>
          <p:cNvSpPr/>
          <p:nvPr/>
        </p:nvSpPr>
        <p:spPr>
          <a:xfrm>
            <a:off x="548640" y="1993392"/>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7" name="Text 5"/>
          <p:cNvSpPr/>
          <p:nvPr/>
        </p:nvSpPr>
        <p:spPr>
          <a:xfrm>
            <a:off x="1143000" y="1965960"/>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Covariance shows the DIRECTION two variables move in, but its size depends on units.</a:t>
            </a:r>
            <a:endParaRPr lang="en-US" sz="2000" dirty="0"/>
          </a:p>
        </p:txBody>
      </p:sp>
      <p:sp>
        <p:nvSpPr>
          <p:cNvPr id="8" name="Shape 6"/>
          <p:cNvSpPr/>
          <p:nvPr/>
        </p:nvSpPr>
        <p:spPr>
          <a:xfrm>
            <a:off x="548640" y="3246120"/>
            <a:ext cx="365760" cy="365760"/>
          </a:xfrm>
          <a:prstGeom prst="ellipse">
            <a:avLst/>
          </a:prstGeom>
          <a:solidFill>
            <a:srgbClr val="F2A93B"/>
          </a:solidFill>
          <a:ln/>
        </p:spPr>
      </p:sp>
      <p:sp>
        <p:nvSpPr>
          <p:cNvPr id="9" name="Text 7"/>
          <p:cNvSpPr/>
          <p:nvPr/>
        </p:nvSpPr>
        <p:spPr>
          <a:xfrm>
            <a:off x="548640" y="3246120"/>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0" name="Text 8"/>
          <p:cNvSpPr/>
          <p:nvPr/>
        </p:nvSpPr>
        <p:spPr>
          <a:xfrm>
            <a:off x="1143000" y="3218688"/>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Correlation (Pearson's r) rescales covariance into a unit-free number between −1 and +1, showing direction AND strength.</a:t>
            </a:r>
            <a:endParaRPr lang="en-US" sz="2000" dirty="0"/>
          </a:p>
        </p:txBody>
      </p:sp>
      <p:sp>
        <p:nvSpPr>
          <p:cNvPr id="11" name="Shape 9"/>
          <p:cNvSpPr/>
          <p:nvPr/>
        </p:nvSpPr>
        <p:spPr>
          <a:xfrm>
            <a:off x="548640" y="4498848"/>
            <a:ext cx="365760" cy="365760"/>
          </a:xfrm>
          <a:prstGeom prst="ellipse">
            <a:avLst/>
          </a:prstGeom>
          <a:solidFill>
            <a:srgbClr val="F2A93B"/>
          </a:solidFill>
          <a:ln/>
        </p:spPr>
      </p:sp>
      <p:sp>
        <p:nvSpPr>
          <p:cNvPr id="12" name="Text 10"/>
          <p:cNvSpPr/>
          <p:nvPr/>
        </p:nvSpPr>
        <p:spPr>
          <a:xfrm>
            <a:off x="548640" y="4498848"/>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3" name="Text 11"/>
          <p:cNvSpPr/>
          <p:nvPr/>
        </p:nvSpPr>
        <p:spPr>
          <a:xfrm>
            <a:off x="1143000" y="4471416"/>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Always visualize with scatter plots, heatmaps, or pair plots — never trust a single number blindly.</a:t>
            </a:r>
            <a:endParaRPr lang="en-US" sz="2000" dirty="0"/>
          </a:p>
        </p:txBody>
      </p:sp>
      <p:sp>
        <p:nvSpPr>
          <p:cNvPr id="14" name="Shape 12"/>
          <p:cNvSpPr/>
          <p:nvPr/>
        </p:nvSpPr>
        <p:spPr>
          <a:xfrm>
            <a:off x="548640" y="5751576"/>
            <a:ext cx="365760" cy="365760"/>
          </a:xfrm>
          <a:prstGeom prst="ellipse">
            <a:avLst/>
          </a:prstGeom>
          <a:solidFill>
            <a:srgbClr val="F2A93B"/>
          </a:solidFill>
          <a:ln/>
        </p:spPr>
      </p:sp>
      <p:sp>
        <p:nvSpPr>
          <p:cNvPr id="15" name="Text 13"/>
          <p:cNvSpPr/>
          <p:nvPr/>
        </p:nvSpPr>
        <p:spPr>
          <a:xfrm>
            <a:off x="548640" y="5751576"/>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6" name="Text 14"/>
          <p:cNvSpPr/>
          <p:nvPr/>
        </p:nvSpPr>
        <p:spPr>
          <a:xfrm>
            <a:off x="1143000" y="5724144"/>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Correlation is never proof of causation — always consider confounding variables and check for non-linearity and outliers.</a:t>
            </a:r>
            <a:endParaRPr lang="en-US" sz="2000" dirty="0"/>
          </a:p>
        </p:txBody>
      </p:sp>
      <p:sp>
        <p:nvSpPr>
          <p:cNvPr id="17" name="Text 15"/>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5B7370"/>
                </a:solidFill>
                <a:latin typeface="Calibri" pitchFamily="34" charset="0"/>
                <a:ea typeface="Calibri" pitchFamily="34" charset="-122"/>
                <a:cs typeface="Calibri" pitchFamily="34" charset="-120"/>
              </a:rPr>
              <a:t>Presidency University | Dept. of AI &amp; Robotics | DSC4000 | Statics for Data Science</a:t>
            </a:r>
            <a:endParaRPr lang="en-US" sz="1000" dirty="0"/>
          </a:p>
        </p:txBody>
      </p:sp>
      <p:sp>
        <p:nvSpPr>
          <p:cNvPr id="18" name="Text 16"/>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7370"/>
                </a:solidFill>
                <a:latin typeface="Calibri" pitchFamily="34" charset="0"/>
                <a:ea typeface="Calibri" pitchFamily="34" charset="-122"/>
                <a:cs typeface="Calibri" pitchFamily="34" charset="-120"/>
              </a:rPr>
              <a:t>48</a:t>
            </a:r>
            <a:endParaRPr lang="en-US" sz="1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E8F4F2"/>
        </a:solidFill>
        <a:effectLst/>
      </p:bgPr>
    </p:bg>
    <p:spTree>
      <p:nvGrpSpPr>
        <p:cNvPr id="1" name=""/>
        <p:cNvGrpSpPr/>
        <p:nvPr/>
      </p:nvGrpSpPr>
      <p:grpSpPr>
        <a:xfrm>
          <a:off x="0" y="0"/>
          <a:ext cx="0" cy="0"/>
          <a:chOff x="0" y="0"/>
          <a:chExt cx="0" cy="0"/>
        </a:xfrm>
      </p:grpSpPr>
      <p:sp>
        <p:nvSpPr>
          <p:cNvPr id="2" name="Shape 0"/>
          <p:cNvSpPr/>
          <p:nvPr/>
        </p:nvSpPr>
        <p:spPr>
          <a:xfrm>
            <a:off x="548640" y="457200"/>
            <a:ext cx="3291840" cy="384048"/>
          </a:xfrm>
          <a:prstGeom prst="roundRect">
            <a:avLst>
              <a:gd name="adj" fmla="val 19048"/>
            </a:avLst>
          </a:prstGeom>
          <a:solidFill>
            <a:srgbClr val="E8F4F2"/>
          </a:solidFill>
          <a:ln/>
        </p:spPr>
      </p:sp>
      <p:sp>
        <p:nvSpPr>
          <p:cNvPr id="3" name="Text 1"/>
          <p:cNvSpPr/>
          <p:nvPr/>
        </p:nvSpPr>
        <p:spPr>
          <a:xfrm>
            <a:off x="548640" y="457200"/>
            <a:ext cx="3291840" cy="384048"/>
          </a:xfrm>
          <a:prstGeom prst="rect">
            <a:avLst/>
          </a:prstGeom>
          <a:noFill/>
          <a:ln/>
        </p:spPr>
        <p:txBody>
          <a:bodyPr wrap="square" rtlCol="0" anchor="ctr"/>
          <a:lstStyle/>
          <a:p>
            <a:pPr marL="0" indent="0" algn="ctr">
              <a:buNone/>
            </a:pPr>
            <a:r>
              <a:rPr lang="en-US" sz="1300" b="1" kern="0" spc="100" dirty="0">
                <a:solidFill>
                  <a:srgbClr val="0E5C56"/>
                </a:solidFill>
                <a:latin typeface="Calibri" pitchFamily="34" charset="0"/>
                <a:ea typeface="Calibri" pitchFamily="34" charset="-122"/>
                <a:cs typeface="Calibri" pitchFamily="34" charset="-120"/>
              </a:rPr>
              <a:t>QUIZ</a:t>
            </a:r>
            <a:endParaRPr lang="en-US" sz="1300" dirty="0"/>
          </a:p>
        </p:txBody>
      </p:sp>
      <p:sp>
        <p:nvSpPr>
          <p:cNvPr id="4" name="Text 2"/>
          <p:cNvSpPr/>
          <p:nvPr/>
        </p:nvSpPr>
        <p:spPr>
          <a:xfrm>
            <a:off x="548640" y="960120"/>
            <a:ext cx="11091672" cy="914400"/>
          </a:xfrm>
          <a:prstGeom prst="rect">
            <a:avLst/>
          </a:prstGeom>
          <a:noFill/>
          <a:ln/>
        </p:spPr>
        <p:txBody>
          <a:bodyPr wrap="square" rtlCol="0" anchor="t"/>
          <a:lstStyle/>
          <a:p>
            <a:pPr marL="0" indent="0" algn="l">
              <a:buNone/>
            </a:pPr>
            <a:r>
              <a:rPr lang="en-US" sz="3200" b="1" dirty="0">
                <a:solidFill>
                  <a:srgbClr val="1B2B2A"/>
                </a:solidFill>
                <a:latin typeface="Cambria" pitchFamily="34" charset="0"/>
                <a:ea typeface="Cambria" pitchFamily="34" charset="-122"/>
                <a:cs typeface="Cambria" pitchFamily="34" charset="-120"/>
              </a:rPr>
              <a:t>Quiz — Questions (Part 1 of 2)</a:t>
            </a:r>
            <a:endParaRPr lang="en-US" sz="3200" dirty="0"/>
          </a:p>
        </p:txBody>
      </p:sp>
      <p:sp>
        <p:nvSpPr>
          <p:cNvPr id="5" name="Shape 3"/>
          <p:cNvSpPr/>
          <p:nvPr/>
        </p:nvSpPr>
        <p:spPr>
          <a:xfrm>
            <a:off x="548640" y="1938528"/>
            <a:ext cx="365760" cy="365760"/>
          </a:xfrm>
          <a:prstGeom prst="ellipse">
            <a:avLst/>
          </a:prstGeom>
          <a:solidFill>
            <a:srgbClr val="F2A93B"/>
          </a:solidFill>
          <a:ln/>
        </p:spPr>
      </p:sp>
      <p:sp>
        <p:nvSpPr>
          <p:cNvPr id="6" name="Text 4"/>
          <p:cNvSpPr/>
          <p:nvPr/>
        </p:nvSpPr>
        <p:spPr>
          <a:xfrm>
            <a:off x="548640" y="1938528"/>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Q1</a:t>
            </a:r>
            <a:endParaRPr lang="en-US" sz="1000" dirty="0"/>
          </a:p>
        </p:txBody>
      </p:sp>
      <p:sp>
        <p:nvSpPr>
          <p:cNvPr id="7" name="Text 5"/>
          <p:cNvSpPr/>
          <p:nvPr/>
        </p:nvSpPr>
        <p:spPr>
          <a:xfrm>
            <a:off x="1234440" y="1920240"/>
            <a:ext cx="10360152" cy="411480"/>
          </a:xfrm>
          <a:prstGeom prst="rect">
            <a:avLst/>
          </a:prstGeom>
          <a:noFill/>
          <a:ln/>
        </p:spPr>
        <p:txBody>
          <a:bodyPr wrap="square" rtlCol="0" anchor="t"/>
          <a:lstStyle/>
          <a:p>
            <a:pPr marL="0" indent="0">
              <a:buNone/>
            </a:pPr>
            <a:r>
              <a:rPr lang="en-US" sz="1800" dirty="0">
                <a:solidFill>
                  <a:srgbClr val="1B2B2A"/>
                </a:solidFill>
                <a:latin typeface="Calibri" pitchFamily="34" charset="0"/>
                <a:ea typeface="Calibri" pitchFamily="34" charset="-122"/>
                <a:cs typeface="Calibri" pitchFamily="34" charset="-120"/>
              </a:rPr>
              <a:t>Q1 (True/False): Covariance and correlation always give the same numeric value.</a:t>
            </a:r>
            <a:endParaRPr lang="en-US" sz="1800" dirty="0"/>
          </a:p>
        </p:txBody>
      </p:sp>
      <p:sp>
        <p:nvSpPr>
          <p:cNvPr id="8" name="Shape 6"/>
          <p:cNvSpPr/>
          <p:nvPr/>
        </p:nvSpPr>
        <p:spPr>
          <a:xfrm>
            <a:off x="548640" y="2496312"/>
            <a:ext cx="365760" cy="365760"/>
          </a:xfrm>
          <a:prstGeom prst="ellipse">
            <a:avLst/>
          </a:prstGeom>
          <a:solidFill>
            <a:srgbClr val="F2A93B"/>
          </a:solidFill>
          <a:ln/>
        </p:spPr>
      </p:sp>
      <p:sp>
        <p:nvSpPr>
          <p:cNvPr id="9" name="Text 7"/>
          <p:cNvSpPr/>
          <p:nvPr/>
        </p:nvSpPr>
        <p:spPr>
          <a:xfrm>
            <a:off x="548640" y="2496312"/>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Q2</a:t>
            </a:r>
            <a:endParaRPr lang="en-US" sz="1000" dirty="0"/>
          </a:p>
        </p:txBody>
      </p:sp>
      <p:sp>
        <p:nvSpPr>
          <p:cNvPr id="10" name="Text 8"/>
          <p:cNvSpPr/>
          <p:nvPr/>
        </p:nvSpPr>
        <p:spPr>
          <a:xfrm>
            <a:off x="1234440" y="2478024"/>
            <a:ext cx="10360152" cy="713232"/>
          </a:xfrm>
          <a:prstGeom prst="rect">
            <a:avLst/>
          </a:prstGeom>
          <a:noFill/>
          <a:ln/>
        </p:spPr>
        <p:txBody>
          <a:bodyPr wrap="square" rtlCol="0" anchor="t"/>
          <a:lstStyle/>
          <a:p>
            <a:pPr marL="0" indent="0">
              <a:buNone/>
            </a:pPr>
            <a:r>
              <a:rPr lang="en-US" sz="1800" dirty="0">
                <a:solidFill>
                  <a:srgbClr val="1B2B2A"/>
                </a:solidFill>
                <a:latin typeface="Calibri" pitchFamily="34" charset="0"/>
                <a:ea typeface="Calibri" pitchFamily="34" charset="-122"/>
                <a:cs typeface="Calibri" pitchFamily="34" charset="-120"/>
              </a:rPr>
              <a:t>Q2 (MCQ): Which value of r indicates the strongest relationship?</a:t>
            </a:r>
            <a:endParaRPr lang="en-US" sz="1800" dirty="0"/>
          </a:p>
          <a:p>
            <a:pPr marL="0" indent="0">
              <a:buNone/>
            </a:pPr>
            <a:r>
              <a:rPr lang="en-US" sz="1800" dirty="0">
                <a:solidFill>
                  <a:srgbClr val="1B2B2A"/>
                </a:solidFill>
                <a:latin typeface="Calibri" pitchFamily="34" charset="0"/>
                <a:ea typeface="Calibri" pitchFamily="34" charset="-122"/>
                <a:cs typeface="Calibri" pitchFamily="34" charset="-120"/>
              </a:rPr>
              <a:t>(a) 0.2  (b) −0.9  (c) 0.5  (d) 0</a:t>
            </a:r>
            <a:endParaRPr lang="en-US" sz="1800" dirty="0"/>
          </a:p>
        </p:txBody>
      </p:sp>
      <p:sp>
        <p:nvSpPr>
          <p:cNvPr id="11" name="Shape 9"/>
          <p:cNvSpPr/>
          <p:nvPr/>
        </p:nvSpPr>
        <p:spPr>
          <a:xfrm>
            <a:off x="548640" y="3355848"/>
            <a:ext cx="365760" cy="365760"/>
          </a:xfrm>
          <a:prstGeom prst="ellipse">
            <a:avLst/>
          </a:prstGeom>
          <a:solidFill>
            <a:srgbClr val="F2A93B"/>
          </a:solidFill>
          <a:ln/>
        </p:spPr>
      </p:sp>
      <p:sp>
        <p:nvSpPr>
          <p:cNvPr id="12" name="Text 10"/>
          <p:cNvSpPr/>
          <p:nvPr/>
        </p:nvSpPr>
        <p:spPr>
          <a:xfrm>
            <a:off x="548640" y="3355848"/>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Q3</a:t>
            </a:r>
            <a:endParaRPr lang="en-US" sz="1000" dirty="0"/>
          </a:p>
        </p:txBody>
      </p:sp>
      <p:sp>
        <p:nvSpPr>
          <p:cNvPr id="13" name="Text 11"/>
          <p:cNvSpPr/>
          <p:nvPr/>
        </p:nvSpPr>
        <p:spPr>
          <a:xfrm>
            <a:off x="1234440" y="3337560"/>
            <a:ext cx="10360152" cy="713232"/>
          </a:xfrm>
          <a:prstGeom prst="rect">
            <a:avLst/>
          </a:prstGeom>
          <a:noFill/>
          <a:ln/>
        </p:spPr>
        <p:txBody>
          <a:bodyPr wrap="square" rtlCol="0" anchor="t"/>
          <a:lstStyle/>
          <a:p>
            <a:pPr marL="0" indent="0">
              <a:buNone/>
            </a:pPr>
            <a:r>
              <a:rPr lang="en-US" sz="1800" dirty="0">
                <a:solidFill>
                  <a:srgbClr val="1B2B2A"/>
                </a:solidFill>
                <a:latin typeface="Calibri" pitchFamily="34" charset="0"/>
                <a:ea typeface="Calibri" pitchFamily="34" charset="-122"/>
                <a:cs typeface="Calibri" pitchFamily="34" charset="-120"/>
              </a:rPr>
              <a:t>Q3 (Short answer): Why is correlation preferred over covariance when comparing two different datasets?</a:t>
            </a:r>
            <a:endParaRPr lang="en-US" sz="1800" dirty="0"/>
          </a:p>
        </p:txBody>
      </p:sp>
      <p:sp>
        <p:nvSpPr>
          <p:cNvPr id="14" name="Shape 12"/>
          <p:cNvSpPr/>
          <p:nvPr/>
        </p:nvSpPr>
        <p:spPr>
          <a:xfrm>
            <a:off x="548640" y="4215384"/>
            <a:ext cx="365760" cy="365760"/>
          </a:xfrm>
          <a:prstGeom prst="ellipse">
            <a:avLst/>
          </a:prstGeom>
          <a:solidFill>
            <a:srgbClr val="F2A93B"/>
          </a:solidFill>
          <a:ln/>
        </p:spPr>
      </p:sp>
      <p:sp>
        <p:nvSpPr>
          <p:cNvPr id="15" name="Text 13"/>
          <p:cNvSpPr/>
          <p:nvPr/>
        </p:nvSpPr>
        <p:spPr>
          <a:xfrm>
            <a:off x="548640" y="4215384"/>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Q4</a:t>
            </a:r>
            <a:endParaRPr lang="en-US" sz="1000" dirty="0"/>
          </a:p>
        </p:txBody>
      </p:sp>
      <p:sp>
        <p:nvSpPr>
          <p:cNvPr id="16" name="Text 14"/>
          <p:cNvSpPr/>
          <p:nvPr/>
        </p:nvSpPr>
        <p:spPr>
          <a:xfrm>
            <a:off x="1234440" y="4197096"/>
            <a:ext cx="10360152" cy="713232"/>
          </a:xfrm>
          <a:prstGeom prst="rect">
            <a:avLst/>
          </a:prstGeom>
          <a:noFill/>
          <a:ln/>
        </p:spPr>
        <p:txBody>
          <a:bodyPr wrap="square" rtlCol="0" anchor="t"/>
          <a:lstStyle/>
          <a:p>
            <a:pPr marL="0" indent="0">
              <a:buNone/>
            </a:pPr>
            <a:r>
              <a:rPr lang="en-US" sz="1800" dirty="0">
                <a:solidFill>
                  <a:srgbClr val="1B2B2A"/>
                </a:solidFill>
                <a:latin typeface="Calibri" pitchFamily="34" charset="0"/>
                <a:ea typeface="Calibri" pitchFamily="34" charset="-122"/>
                <a:cs typeface="Calibri" pitchFamily="34" charset="-120"/>
              </a:rPr>
              <a:t>Q4 (True/False): A correlation of 0 always means there is no relationship at all between two variables.</a:t>
            </a:r>
            <a:endParaRPr lang="en-US" sz="1800" dirty="0"/>
          </a:p>
        </p:txBody>
      </p:sp>
      <p:sp>
        <p:nvSpPr>
          <p:cNvPr id="17" name="Text 15"/>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5B7370"/>
                </a:solidFill>
                <a:latin typeface="Calibri" pitchFamily="34" charset="0"/>
                <a:ea typeface="Calibri" pitchFamily="34" charset="-122"/>
                <a:cs typeface="Calibri" pitchFamily="34" charset="-120"/>
              </a:rPr>
              <a:t>Presidency University | Dept. of AI &amp; Robotics | DSC4000 | Statics for Data Science</a:t>
            </a:r>
            <a:endParaRPr lang="en-US" sz="1000" dirty="0"/>
          </a:p>
        </p:txBody>
      </p:sp>
      <p:sp>
        <p:nvSpPr>
          <p:cNvPr id="18" name="Text 16"/>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7370"/>
                </a:solidFill>
                <a:latin typeface="Calibri" pitchFamily="34" charset="0"/>
                <a:ea typeface="Calibri" pitchFamily="34" charset="-122"/>
                <a:cs typeface="Calibri" pitchFamily="34" charset="-120"/>
              </a:rPr>
              <a:t>49</a:t>
            </a:r>
            <a:endParaRPr lang="en-US" sz="1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E8F4F2"/>
        </a:solidFill>
        <a:effectLst/>
      </p:bgPr>
    </p:bg>
    <p:spTree>
      <p:nvGrpSpPr>
        <p:cNvPr id="1" name=""/>
        <p:cNvGrpSpPr/>
        <p:nvPr/>
      </p:nvGrpSpPr>
      <p:grpSpPr>
        <a:xfrm>
          <a:off x="0" y="0"/>
          <a:ext cx="0" cy="0"/>
          <a:chOff x="0" y="0"/>
          <a:chExt cx="0" cy="0"/>
        </a:xfrm>
      </p:grpSpPr>
      <p:sp>
        <p:nvSpPr>
          <p:cNvPr id="2" name="Shape 0"/>
          <p:cNvSpPr/>
          <p:nvPr/>
        </p:nvSpPr>
        <p:spPr>
          <a:xfrm>
            <a:off x="548640" y="457200"/>
            <a:ext cx="3291840" cy="384048"/>
          </a:xfrm>
          <a:prstGeom prst="roundRect">
            <a:avLst>
              <a:gd name="adj" fmla="val 19048"/>
            </a:avLst>
          </a:prstGeom>
          <a:solidFill>
            <a:srgbClr val="E8F4F2"/>
          </a:solidFill>
          <a:ln/>
        </p:spPr>
      </p:sp>
      <p:sp>
        <p:nvSpPr>
          <p:cNvPr id="3" name="Text 1"/>
          <p:cNvSpPr/>
          <p:nvPr/>
        </p:nvSpPr>
        <p:spPr>
          <a:xfrm>
            <a:off x="548640" y="457200"/>
            <a:ext cx="3291840" cy="384048"/>
          </a:xfrm>
          <a:prstGeom prst="rect">
            <a:avLst/>
          </a:prstGeom>
          <a:noFill/>
          <a:ln/>
        </p:spPr>
        <p:txBody>
          <a:bodyPr wrap="square" rtlCol="0" anchor="ctr"/>
          <a:lstStyle/>
          <a:p>
            <a:pPr marL="0" indent="0" algn="ctr">
              <a:buNone/>
            </a:pPr>
            <a:r>
              <a:rPr lang="en-US" sz="1300" b="1" kern="0" spc="100" dirty="0">
                <a:solidFill>
                  <a:srgbClr val="0E5C56"/>
                </a:solidFill>
                <a:latin typeface="Calibri" pitchFamily="34" charset="0"/>
                <a:ea typeface="Calibri" pitchFamily="34" charset="-122"/>
                <a:cs typeface="Calibri" pitchFamily="34" charset="-120"/>
              </a:rPr>
              <a:t>QUIZ</a:t>
            </a:r>
            <a:endParaRPr lang="en-US" sz="1300" dirty="0"/>
          </a:p>
        </p:txBody>
      </p:sp>
      <p:sp>
        <p:nvSpPr>
          <p:cNvPr id="4" name="Text 2"/>
          <p:cNvSpPr/>
          <p:nvPr/>
        </p:nvSpPr>
        <p:spPr>
          <a:xfrm>
            <a:off x="548640" y="960120"/>
            <a:ext cx="11091672" cy="914400"/>
          </a:xfrm>
          <a:prstGeom prst="rect">
            <a:avLst/>
          </a:prstGeom>
          <a:noFill/>
          <a:ln/>
        </p:spPr>
        <p:txBody>
          <a:bodyPr wrap="square" rtlCol="0" anchor="t"/>
          <a:lstStyle/>
          <a:p>
            <a:pPr marL="0" indent="0" algn="l">
              <a:buNone/>
            </a:pPr>
            <a:r>
              <a:rPr lang="en-US" sz="3200" b="1" dirty="0">
                <a:solidFill>
                  <a:srgbClr val="1B2B2A"/>
                </a:solidFill>
                <a:latin typeface="Cambria" pitchFamily="34" charset="0"/>
                <a:ea typeface="Cambria" pitchFamily="34" charset="-122"/>
                <a:cs typeface="Cambria" pitchFamily="34" charset="-120"/>
              </a:rPr>
              <a:t>Quiz — Questions (Part 2 of 2)</a:t>
            </a:r>
            <a:endParaRPr lang="en-US" sz="3200" dirty="0"/>
          </a:p>
        </p:txBody>
      </p:sp>
      <p:sp>
        <p:nvSpPr>
          <p:cNvPr id="5" name="Shape 3"/>
          <p:cNvSpPr/>
          <p:nvPr/>
        </p:nvSpPr>
        <p:spPr>
          <a:xfrm>
            <a:off x="548640" y="1938528"/>
            <a:ext cx="365760" cy="365760"/>
          </a:xfrm>
          <a:prstGeom prst="ellipse">
            <a:avLst/>
          </a:prstGeom>
          <a:solidFill>
            <a:srgbClr val="F2A93B"/>
          </a:solidFill>
          <a:ln/>
        </p:spPr>
      </p:sp>
      <p:sp>
        <p:nvSpPr>
          <p:cNvPr id="6" name="Text 4"/>
          <p:cNvSpPr/>
          <p:nvPr/>
        </p:nvSpPr>
        <p:spPr>
          <a:xfrm>
            <a:off x="548640" y="1938528"/>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Q5</a:t>
            </a:r>
            <a:endParaRPr lang="en-US" sz="1000" dirty="0"/>
          </a:p>
        </p:txBody>
      </p:sp>
      <p:sp>
        <p:nvSpPr>
          <p:cNvPr id="7" name="Text 5"/>
          <p:cNvSpPr/>
          <p:nvPr/>
        </p:nvSpPr>
        <p:spPr>
          <a:xfrm>
            <a:off x="1234440" y="1920240"/>
            <a:ext cx="10360152" cy="1014984"/>
          </a:xfrm>
          <a:prstGeom prst="rect">
            <a:avLst/>
          </a:prstGeom>
          <a:noFill/>
          <a:ln/>
        </p:spPr>
        <p:txBody>
          <a:bodyPr wrap="square" rtlCol="0" anchor="t"/>
          <a:lstStyle/>
          <a:p>
            <a:pPr marL="0" indent="0">
              <a:buNone/>
            </a:pPr>
            <a:r>
              <a:rPr lang="en-US" sz="1800" dirty="0">
                <a:solidFill>
                  <a:srgbClr val="1B2B2A"/>
                </a:solidFill>
                <a:latin typeface="Calibri" pitchFamily="34" charset="0"/>
                <a:ea typeface="Calibri" pitchFamily="34" charset="-122"/>
                <a:cs typeface="Calibri" pitchFamily="34" charset="-120"/>
              </a:rPr>
              <a:t>Q5 (MCQ): Ice-cream sales and drowning are correlated because of:</a:t>
            </a:r>
            <a:endParaRPr lang="en-US" sz="1800" dirty="0"/>
          </a:p>
          <a:p>
            <a:pPr marL="0" indent="0">
              <a:buNone/>
            </a:pPr>
            <a:r>
              <a:rPr lang="en-US" sz="1800" dirty="0">
                <a:solidFill>
                  <a:srgbClr val="1B2B2A"/>
                </a:solidFill>
                <a:latin typeface="Calibri" pitchFamily="34" charset="0"/>
                <a:ea typeface="Calibri" pitchFamily="34" charset="-122"/>
                <a:cs typeface="Calibri" pitchFamily="34" charset="-120"/>
              </a:rPr>
              <a:t>(a) ice cream causing drowning (b) drowning causing sales (c) hot weather, a confounder (d) coincidence</a:t>
            </a:r>
            <a:endParaRPr lang="en-US" sz="1800" dirty="0"/>
          </a:p>
        </p:txBody>
      </p:sp>
      <p:sp>
        <p:nvSpPr>
          <p:cNvPr id="8" name="Shape 6"/>
          <p:cNvSpPr/>
          <p:nvPr/>
        </p:nvSpPr>
        <p:spPr>
          <a:xfrm>
            <a:off x="548640" y="3099816"/>
            <a:ext cx="365760" cy="365760"/>
          </a:xfrm>
          <a:prstGeom prst="ellipse">
            <a:avLst/>
          </a:prstGeom>
          <a:solidFill>
            <a:srgbClr val="F2A93B"/>
          </a:solidFill>
          <a:ln/>
        </p:spPr>
      </p:sp>
      <p:sp>
        <p:nvSpPr>
          <p:cNvPr id="9" name="Text 7"/>
          <p:cNvSpPr/>
          <p:nvPr/>
        </p:nvSpPr>
        <p:spPr>
          <a:xfrm>
            <a:off x="548640" y="3099816"/>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Q6</a:t>
            </a:r>
            <a:endParaRPr lang="en-US" sz="1000" dirty="0"/>
          </a:p>
        </p:txBody>
      </p:sp>
      <p:sp>
        <p:nvSpPr>
          <p:cNvPr id="10" name="Text 8"/>
          <p:cNvSpPr/>
          <p:nvPr/>
        </p:nvSpPr>
        <p:spPr>
          <a:xfrm>
            <a:off x="1234440" y="3081528"/>
            <a:ext cx="10360152" cy="411480"/>
          </a:xfrm>
          <a:prstGeom prst="rect">
            <a:avLst/>
          </a:prstGeom>
          <a:noFill/>
          <a:ln/>
        </p:spPr>
        <p:txBody>
          <a:bodyPr wrap="square" rtlCol="0" anchor="t"/>
          <a:lstStyle/>
          <a:p>
            <a:pPr marL="0" indent="0">
              <a:buNone/>
            </a:pPr>
            <a:r>
              <a:rPr lang="en-US" sz="1800" dirty="0">
                <a:solidFill>
                  <a:srgbClr val="1B2B2A"/>
                </a:solidFill>
                <a:latin typeface="Calibri" pitchFamily="34" charset="0"/>
                <a:ea typeface="Calibri" pitchFamily="34" charset="-122"/>
                <a:cs typeface="Calibri" pitchFamily="34" charset="-120"/>
              </a:rPr>
              <a:t>Q6 (Short answer): What does the diagonal of a correlation heatmap always equal, and why?</a:t>
            </a:r>
            <a:endParaRPr lang="en-US" sz="1800" dirty="0"/>
          </a:p>
        </p:txBody>
      </p:sp>
      <p:sp>
        <p:nvSpPr>
          <p:cNvPr id="11" name="Shape 9"/>
          <p:cNvSpPr/>
          <p:nvPr/>
        </p:nvSpPr>
        <p:spPr>
          <a:xfrm>
            <a:off x="548640" y="3657600"/>
            <a:ext cx="365760" cy="365760"/>
          </a:xfrm>
          <a:prstGeom prst="ellipse">
            <a:avLst/>
          </a:prstGeom>
          <a:solidFill>
            <a:srgbClr val="F2A93B"/>
          </a:solidFill>
          <a:ln/>
        </p:spPr>
      </p:sp>
      <p:sp>
        <p:nvSpPr>
          <p:cNvPr id="12" name="Text 10"/>
          <p:cNvSpPr/>
          <p:nvPr/>
        </p:nvSpPr>
        <p:spPr>
          <a:xfrm>
            <a:off x="548640" y="3657600"/>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Q7</a:t>
            </a:r>
            <a:endParaRPr lang="en-US" sz="1000" dirty="0"/>
          </a:p>
        </p:txBody>
      </p:sp>
      <p:sp>
        <p:nvSpPr>
          <p:cNvPr id="13" name="Text 11"/>
          <p:cNvSpPr/>
          <p:nvPr/>
        </p:nvSpPr>
        <p:spPr>
          <a:xfrm>
            <a:off x="1234440" y="3639312"/>
            <a:ext cx="10360152" cy="713232"/>
          </a:xfrm>
          <a:prstGeom prst="rect">
            <a:avLst/>
          </a:prstGeom>
          <a:noFill/>
          <a:ln/>
        </p:spPr>
        <p:txBody>
          <a:bodyPr wrap="square" rtlCol="0" anchor="t"/>
          <a:lstStyle/>
          <a:p>
            <a:pPr marL="0" indent="0">
              <a:buNone/>
            </a:pPr>
            <a:r>
              <a:rPr lang="en-US" sz="1800" dirty="0">
                <a:solidFill>
                  <a:srgbClr val="1B2B2A"/>
                </a:solidFill>
                <a:latin typeface="Calibri" pitchFamily="34" charset="0"/>
                <a:ea typeface="Calibri" pitchFamily="34" charset="-122"/>
                <a:cs typeface="Calibri" pitchFamily="34" charset="-120"/>
              </a:rPr>
              <a:t>Q7 (MCQ): Which measure is more robust to outliers?</a:t>
            </a:r>
            <a:endParaRPr lang="en-US" sz="1800" dirty="0"/>
          </a:p>
          <a:p>
            <a:pPr marL="0" indent="0">
              <a:buNone/>
            </a:pPr>
            <a:r>
              <a:rPr lang="en-US" sz="1800" dirty="0">
                <a:solidFill>
                  <a:srgbClr val="1B2B2A"/>
                </a:solidFill>
                <a:latin typeface="Calibri" pitchFamily="34" charset="0"/>
                <a:ea typeface="Calibri" pitchFamily="34" charset="-122"/>
                <a:cs typeface="Calibri" pitchFamily="34" charset="-120"/>
              </a:rPr>
              <a:t>(a) Pearson's r  (b) Spearman's rho</a:t>
            </a:r>
            <a:endParaRPr lang="en-US" sz="1800" dirty="0"/>
          </a:p>
        </p:txBody>
      </p:sp>
      <p:sp>
        <p:nvSpPr>
          <p:cNvPr id="14" name="Shape 12"/>
          <p:cNvSpPr/>
          <p:nvPr/>
        </p:nvSpPr>
        <p:spPr>
          <a:xfrm>
            <a:off x="548640" y="4517136"/>
            <a:ext cx="365760" cy="365760"/>
          </a:xfrm>
          <a:prstGeom prst="ellipse">
            <a:avLst/>
          </a:prstGeom>
          <a:solidFill>
            <a:srgbClr val="F2A93B"/>
          </a:solidFill>
          <a:ln/>
        </p:spPr>
      </p:sp>
      <p:sp>
        <p:nvSpPr>
          <p:cNvPr id="15" name="Text 13"/>
          <p:cNvSpPr/>
          <p:nvPr/>
        </p:nvSpPr>
        <p:spPr>
          <a:xfrm>
            <a:off x="548640" y="4517136"/>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Q8</a:t>
            </a:r>
            <a:endParaRPr lang="en-US" sz="1000" dirty="0"/>
          </a:p>
        </p:txBody>
      </p:sp>
      <p:sp>
        <p:nvSpPr>
          <p:cNvPr id="16" name="Text 14"/>
          <p:cNvSpPr/>
          <p:nvPr/>
        </p:nvSpPr>
        <p:spPr>
          <a:xfrm>
            <a:off x="1234440" y="4498848"/>
            <a:ext cx="10360152" cy="411480"/>
          </a:xfrm>
          <a:prstGeom prst="rect">
            <a:avLst/>
          </a:prstGeom>
          <a:noFill/>
          <a:ln/>
        </p:spPr>
        <p:txBody>
          <a:bodyPr wrap="square" rtlCol="0" anchor="t"/>
          <a:lstStyle/>
          <a:p>
            <a:pPr marL="0" indent="0">
              <a:buNone/>
            </a:pPr>
            <a:r>
              <a:rPr lang="en-US" sz="1800" dirty="0">
                <a:solidFill>
                  <a:srgbClr val="1B2B2A"/>
                </a:solidFill>
                <a:latin typeface="Calibri" pitchFamily="34" charset="0"/>
                <a:ea typeface="Calibri" pitchFamily="34" charset="-122"/>
                <a:cs typeface="Calibri" pitchFamily="34" charset="-120"/>
              </a:rPr>
              <a:t>Q8 (True/False): Simpson's Paradox means a trend can reverse when subgroups are combined.</a:t>
            </a:r>
            <a:endParaRPr lang="en-US" sz="1800" dirty="0"/>
          </a:p>
        </p:txBody>
      </p:sp>
      <p:sp>
        <p:nvSpPr>
          <p:cNvPr id="17" name="Text 15"/>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5B7370"/>
                </a:solidFill>
                <a:latin typeface="Calibri" pitchFamily="34" charset="0"/>
                <a:ea typeface="Calibri" pitchFamily="34" charset="-122"/>
                <a:cs typeface="Calibri" pitchFamily="34" charset="-120"/>
              </a:rPr>
              <a:t>Presidency University | Dept. of AI &amp; Robotics | DSC4000 | Statics for Data Science</a:t>
            </a:r>
            <a:endParaRPr lang="en-US" sz="1000" dirty="0"/>
          </a:p>
        </p:txBody>
      </p:sp>
      <p:sp>
        <p:nvSpPr>
          <p:cNvPr id="18" name="Text 16"/>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7370"/>
                </a:solidFill>
                <a:latin typeface="Calibri" pitchFamily="34" charset="0"/>
                <a:ea typeface="Calibri" pitchFamily="34" charset="-122"/>
                <a:cs typeface="Calibri" pitchFamily="34" charset="-120"/>
              </a:rPr>
              <a:t>50</a:t>
            </a:r>
            <a:endParaRPr lang="en-US" sz="1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E8F4F2"/>
        </a:solidFill>
        <a:effectLst/>
      </p:bgPr>
    </p:bg>
    <p:spTree>
      <p:nvGrpSpPr>
        <p:cNvPr id="1" name=""/>
        <p:cNvGrpSpPr/>
        <p:nvPr/>
      </p:nvGrpSpPr>
      <p:grpSpPr>
        <a:xfrm>
          <a:off x="0" y="0"/>
          <a:ext cx="0" cy="0"/>
          <a:chOff x="0" y="0"/>
          <a:chExt cx="0" cy="0"/>
        </a:xfrm>
      </p:grpSpPr>
      <p:sp>
        <p:nvSpPr>
          <p:cNvPr id="2" name="Shape 0"/>
          <p:cNvSpPr/>
          <p:nvPr/>
        </p:nvSpPr>
        <p:spPr>
          <a:xfrm>
            <a:off x="548640" y="457200"/>
            <a:ext cx="3291840" cy="384048"/>
          </a:xfrm>
          <a:prstGeom prst="roundRect">
            <a:avLst>
              <a:gd name="adj" fmla="val 19048"/>
            </a:avLst>
          </a:prstGeom>
          <a:solidFill>
            <a:srgbClr val="E8F4F2"/>
          </a:solidFill>
          <a:ln/>
        </p:spPr>
      </p:sp>
      <p:sp>
        <p:nvSpPr>
          <p:cNvPr id="3" name="Text 1"/>
          <p:cNvSpPr/>
          <p:nvPr/>
        </p:nvSpPr>
        <p:spPr>
          <a:xfrm>
            <a:off x="548640" y="457200"/>
            <a:ext cx="3291840" cy="384048"/>
          </a:xfrm>
          <a:prstGeom prst="rect">
            <a:avLst/>
          </a:prstGeom>
          <a:noFill/>
          <a:ln/>
        </p:spPr>
        <p:txBody>
          <a:bodyPr wrap="square" rtlCol="0" anchor="ctr"/>
          <a:lstStyle/>
          <a:p>
            <a:pPr marL="0" indent="0" algn="ctr">
              <a:buNone/>
            </a:pPr>
            <a:r>
              <a:rPr lang="en-US" sz="1300" b="1" kern="0" spc="100" dirty="0">
                <a:solidFill>
                  <a:srgbClr val="0E5C56"/>
                </a:solidFill>
                <a:latin typeface="Calibri" pitchFamily="34" charset="0"/>
                <a:ea typeface="Calibri" pitchFamily="34" charset="-122"/>
                <a:cs typeface="Calibri" pitchFamily="34" charset="-120"/>
              </a:rPr>
              <a:t>QUIZ — ANSWERS</a:t>
            </a:r>
            <a:endParaRPr lang="en-US" sz="1300" dirty="0"/>
          </a:p>
        </p:txBody>
      </p:sp>
      <p:sp>
        <p:nvSpPr>
          <p:cNvPr id="4" name="Text 2"/>
          <p:cNvSpPr/>
          <p:nvPr/>
        </p:nvSpPr>
        <p:spPr>
          <a:xfrm>
            <a:off x="548640" y="960120"/>
            <a:ext cx="11091672" cy="914400"/>
          </a:xfrm>
          <a:prstGeom prst="rect">
            <a:avLst/>
          </a:prstGeom>
          <a:noFill/>
          <a:ln/>
        </p:spPr>
        <p:txBody>
          <a:bodyPr wrap="square" rtlCol="0" anchor="t"/>
          <a:lstStyle/>
          <a:p>
            <a:pPr marL="0" indent="0" algn="l">
              <a:buNone/>
            </a:pPr>
            <a:r>
              <a:rPr lang="en-US" sz="3200" b="1" dirty="0">
                <a:solidFill>
                  <a:srgbClr val="1B2B2A"/>
                </a:solidFill>
                <a:latin typeface="Cambria" pitchFamily="34" charset="0"/>
                <a:ea typeface="Cambria" pitchFamily="34" charset="-122"/>
                <a:cs typeface="Cambria" pitchFamily="34" charset="-120"/>
              </a:rPr>
              <a:t>Quiz — Answers (Part 1 of 2)</a:t>
            </a:r>
            <a:endParaRPr lang="en-US" sz="3200" dirty="0"/>
          </a:p>
        </p:txBody>
      </p:sp>
      <p:sp>
        <p:nvSpPr>
          <p:cNvPr id="5" name="Shape 3"/>
          <p:cNvSpPr/>
          <p:nvPr/>
        </p:nvSpPr>
        <p:spPr>
          <a:xfrm>
            <a:off x="548640" y="1938528"/>
            <a:ext cx="365760" cy="365760"/>
          </a:xfrm>
          <a:prstGeom prst="ellipse">
            <a:avLst/>
          </a:prstGeom>
          <a:solidFill>
            <a:srgbClr val="0E5C56"/>
          </a:solidFill>
          <a:ln/>
        </p:spPr>
      </p:sp>
      <p:sp>
        <p:nvSpPr>
          <p:cNvPr id="6" name="Text 4"/>
          <p:cNvSpPr/>
          <p:nvPr/>
        </p:nvSpPr>
        <p:spPr>
          <a:xfrm>
            <a:off x="548640" y="1938528"/>
            <a:ext cx="365760" cy="36576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7" name="Text 5"/>
          <p:cNvSpPr/>
          <p:nvPr/>
        </p:nvSpPr>
        <p:spPr>
          <a:xfrm>
            <a:off x="1234440" y="1920240"/>
            <a:ext cx="10360152" cy="411480"/>
          </a:xfrm>
          <a:prstGeom prst="rect">
            <a:avLst/>
          </a:prstGeom>
          <a:noFill/>
          <a:ln/>
        </p:spPr>
        <p:txBody>
          <a:bodyPr wrap="square" rtlCol="0" anchor="t"/>
          <a:lstStyle/>
          <a:p>
            <a:pPr marL="0" indent="0">
              <a:buNone/>
            </a:pPr>
            <a:r>
              <a:rPr lang="en-US" sz="1800" dirty="0">
                <a:solidFill>
                  <a:srgbClr val="1B2B2A"/>
                </a:solidFill>
                <a:latin typeface="Calibri" pitchFamily="34" charset="0"/>
                <a:ea typeface="Calibri" pitchFamily="34" charset="-122"/>
                <a:cs typeface="Calibri" pitchFamily="34" charset="-120"/>
              </a:rPr>
              <a:t>A1: False. Covariance depends on units; correlation is unit-free and rescaled to [−1, 1].</a:t>
            </a:r>
            <a:endParaRPr lang="en-US" sz="1800" dirty="0"/>
          </a:p>
        </p:txBody>
      </p:sp>
      <p:sp>
        <p:nvSpPr>
          <p:cNvPr id="8" name="Shape 6"/>
          <p:cNvSpPr/>
          <p:nvPr/>
        </p:nvSpPr>
        <p:spPr>
          <a:xfrm>
            <a:off x="548640" y="2496312"/>
            <a:ext cx="365760" cy="365760"/>
          </a:xfrm>
          <a:prstGeom prst="ellipse">
            <a:avLst/>
          </a:prstGeom>
          <a:solidFill>
            <a:srgbClr val="0E5C56"/>
          </a:solidFill>
          <a:ln/>
        </p:spPr>
      </p:sp>
      <p:sp>
        <p:nvSpPr>
          <p:cNvPr id="9" name="Text 7"/>
          <p:cNvSpPr/>
          <p:nvPr/>
        </p:nvSpPr>
        <p:spPr>
          <a:xfrm>
            <a:off x="548640" y="2496312"/>
            <a:ext cx="365760" cy="36576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10" name="Text 8"/>
          <p:cNvSpPr/>
          <p:nvPr/>
        </p:nvSpPr>
        <p:spPr>
          <a:xfrm>
            <a:off x="1234440" y="2478024"/>
            <a:ext cx="10360152" cy="713232"/>
          </a:xfrm>
          <a:prstGeom prst="rect">
            <a:avLst/>
          </a:prstGeom>
          <a:noFill/>
          <a:ln/>
        </p:spPr>
        <p:txBody>
          <a:bodyPr wrap="square" rtlCol="0" anchor="t"/>
          <a:lstStyle/>
          <a:p>
            <a:pPr marL="0" indent="0">
              <a:buNone/>
            </a:pPr>
            <a:r>
              <a:rPr lang="en-US" sz="1800" dirty="0">
                <a:solidFill>
                  <a:srgbClr val="1B2B2A"/>
                </a:solidFill>
                <a:latin typeface="Calibri" pitchFamily="34" charset="0"/>
                <a:ea typeface="Calibri" pitchFamily="34" charset="-122"/>
                <a:cs typeface="Calibri" pitchFamily="34" charset="-120"/>
              </a:rPr>
              <a:t>A2: (b) −0.9 — its magnitude (0.9) is the largest, so it represents the strongest relationship.</a:t>
            </a:r>
            <a:endParaRPr lang="en-US" sz="1800" dirty="0"/>
          </a:p>
        </p:txBody>
      </p:sp>
      <p:sp>
        <p:nvSpPr>
          <p:cNvPr id="11" name="Shape 9"/>
          <p:cNvSpPr/>
          <p:nvPr/>
        </p:nvSpPr>
        <p:spPr>
          <a:xfrm>
            <a:off x="548640" y="3355848"/>
            <a:ext cx="365760" cy="365760"/>
          </a:xfrm>
          <a:prstGeom prst="ellipse">
            <a:avLst/>
          </a:prstGeom>
          <a:solidFill>
            <a:srgbClr val="0E5C56"/>
          </a:solidFill>
          <a:ln/>
        </p:spPr>
      </p:sp>
      <p:sp>
        <p:nvSpPr>
          <p:cNvPr id="12" name="Text 10"/>
          <p:cNvSpPr/>
          <p:nvPr/>
        </p:nvSpPr>
        <p:spPr>
          <a:xfrm>
            <a:off x="548640" y="3355848"/>
            <a:ext cx="365760" cy="36576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13" name="Text 11"/>
          <p:cNvSpPr/>
          <p:nvPr/>
        </p:nvSpPr>
        <p:spPr>
          <a:xfrm>
            <a:off x="1234440" y="3337560"/>
            <a:ext cx="10360152" cy="713232"/>
          </a:xfrm>
          <a:prstGeom prst="rect">
            <a:avLst/>
          </a:prstGeom>
          <a:noFill/>
          <a:ln/>
        </p:spPr>
        <p:txBody>
          <a:bodyPr wrap="square" rtlCol="0" anchor="t"/>
          <a:lstStyle/>
          <a:p>
            <a:pPr marL="0" indent="0">
              <a:buNone/>
            </a:pPr>
            <a:r>
              <a:rPr lang="en-US" sz="1800" dirty="0">
                <a:solidFill>
                  <a:srgbClr val="1B2B2A"/>
                </a:solidFill>
                <a:latin typeface="Calibri" pitchFamily="34" charset="0"/>
                <a:ea typeface="Calibri" pitchFamily="34" charset="-122"/>
                <a:cs typeface="Calibri" pitchFamily="34" charset="-120"/>
              </a:rPr>
              <a:t>A3: Correlation removes the effect of units and scale, so values are directly comparable across datasets.</a:t>
            </a:r>
            <a:endParaRPr lang="en-US" sz="1800" dirty="0"/>
          </a:p>
        </p:txBody>
      </p:sp>
      <p:sp>
        <p:nvSpPr>
          <p:cNvPr id="14" name="Shape 12"/>
          <p:cNvSpPr/>
          <p:nvPr/>
        </p:nvSpPr>
        <p:spPr>
          <a:xfrm>
            <a:off x="548640" y="4215384"/>
            <a:ext cx="365760" cy="365760"/>
          </a:xfrm>
          <a:prstGeom prst="ellipse">
            <a:avLst/>
          </a:prstGeom>
          <a:solidFill>
            <a:srgbClr val="0E5C56"/>
          </a:solidFill>
          <a:ln/>
        </p:spPr>
      </p:sp>
      <p:sp>
        <p:nvSpPr>
          <p:cNvPr id="15" name="Text 13"/>
          <p:cNvSpPr/>
          <p:nvPr/>
        </p:nvSpPr>
        <p:spPr>
          <a:xfrm>
            <a:off x="548640" y="4215384"/>
            <a:ext cx="365760" cy="36576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16" name="Text 14"/>
          <p:cNvSpPr/>
          <p:nvPr/>
        </p:nvSpPr>
        <p:spPr>
          <a:xfrm>
            <a:off x="1234440" y="4197096"/>
            <a:ext cx="10360152" cy="713232"/>
          </a:xfrm>
          <a:prstGeom prst="rect">
            <a:avLst/>
          </a:prstGeom>
          <a:noFill/>
          <a:ln/>
        </p:spPr>
        <p:txBody>
          <a:bodyPr wrap="square" rtlCol="0" anchor="t"/>
          <a:lstStyle/>
          <a:p>
            <a:pPr marL="0" indent="0">
              <a:buNone/>
            </a:pPr>
            <a:r>
              <a:rPr lang="en-US" sz="1800" dirty="0">
                <a:solidFill>
                  <a:srgbClr val="1B2B2A"/>
                </a:solidFill>
                <a:latin typeface="Calibri" pitchFamily="34" charset="0"/>
                <a:ea typeface="Calibri" pitchFamily="34" charset="-122"/>
                <a:cs typeface="Calibri" pitchFamily="34" charset="-120"/>
              </a:rPr>
              <a:t>A4: False. r = 0 means no LINEAR relationship — a strong non-linear (e.g. curved) relationship can still exist.</a:t>
            </a:r>
            <a:endParaRPr lang="en-US" sz="1800" dirty="0"/>
          </a:p>
        </p:txBody>
      </p:sp>
      <p:sp>
        <p:nvSpPr>
          <p:cNvPr id="17" name="Shape 15"/>
          <p:cNvSpPr/>
          <p:nvPr/>
        </p:nvSpPr>
        <p:spPr>
          <a:xfrm>
            <a:off x="548640" y="5074920"/>
            <a:ext cx="365760" cy="365760"/>
          </a:xfrm>
          <a:prstGeom prst="ellipse">
            <a:avLst/>
          </a:prstGeom>
          <a:solidFill>
            <a:srgbClr val="0E5C56"/>
          </a:solidFill>
          <a:ln/>
        </p:spPr>
      </p:sp>
      <p:sp>
        <p:nvSpPr>
          <p:cNvPr id="18" name="Text 16"/>
          <p:cNvSpPr/>
          <p:nvPr/>
        </p:nvSpPr>
        <p:spPr>
          <a:xfrm>
            <a:off x="548640" y="5074920"/>
            <a:ext cx="365760" cy="36576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19" name="Text 17"/>
          <p:cNvSpPr/>
          <p:nvPr/>
        </p:nvSpPr>
        <p:spPr>
          <a:xfrm>
            <a:off x="1234440" y="5056632"/>
            <a:ext cx="10360152" cy="713232"/>
          </a:xfrm>
          <a:prstGeom prst="rect">
            <a:avLst/>
          </a:prstGeom>
          <a:noFill/>
          <a:ln/>
        </p:spPr>
        <p:txBody>
          <a:bodyPr wrap="square" rtlCol="0" anchor="t"/>
          <a:lstStyle/>
          <a:p>
            <a:pPr marL="0" indent="0">
              <a:buNone/>
            </a:pPr>
            <a:r>
              <a:rPr lang="en-US" sz="1800" dirty="0">
                <a:solidFill>
                  <a:srgbClr val="1B2B2A"/>
                </a:solidFill>
                <a:latin typeface="Calibri" pitchFamily="34" charset="0"/>
                <a:ea typeface="Calibri" pitchFamily="34" charset="-122"/>
                <a:cs typeface="Calibri" pitchFamily="34" charset="-120"/>
              </a:rPr>
              <a:t>A5: (c) Hot weather is the confounding variable driving both ice-cream sales and swimming/drowning.</a:t>
            </a:r>
            <a:endParaRPr lang="en-US" sz="1800" dirty="0"/>
          </a:p>
        </p:txBody>
      </p:sp>
      <p:sp>
        <p:nvSpPr>
          <p:cNvPr id="20" name="Text 18"/>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5B7370"/>
                </a:solidFill>
                <a:latin typeface="Calibri" pitchFamily="34" charset="0"/>
                <a:ea typeface="Calibri" pitchFamily="34" charset="-122"/>
                <a:cs typeface="Calibri" pitchFamily="34" charset="-120"/>
              </a:rPr>
              <a:t>Presidency University | Dept. of AI &amp; Robotics | DSC4000 | Statics for Data Science</a:t>
            </a:r>
            <a:endParaRPr lang="en-US" sz="1000" dirty="0"/>
          </a:p>
        </p:txBody>
      </p:sp>
      <p:sp>
        <p:nvSpPr>
          <p:cNvPr id="21" name="Text 19"/>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7370"/>
                </a:solidFill>
                <a:latin typeface="Calibri" pitchFamily="34" charset="0"/>
                <a:ea typeface="Calibri" pitchFamily="34" charset="-122"/>
                <a:cs typeface="Calibri" pitchFamily="34" charset="-120"/>
              </a:rPr>
              <a:t>51</a:t>
            </a:r>
            <a:endParaRPr lang="en-US" sz="1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E8F4F2"/>
        </a:solidFill>
        <a:effectLst/>
      </p:bgPr>
    </p:bg>
    <p:spTree>
      <p:nvGrpSpPr>
        <p:cNvPr id="1" name=""/>
        <p:cNvGrpSpPr/>
        <p:nvPr/>
      </p:nvGrpSpPr>
      <p:grpSpPr>
        <a:xfrm>
          <a:off x="0" y="0"/>
          <a:ext cx="0" cy="0"/>
          <a:chOff x="0" y="0"/>
          <a:chExt cx="0" cy="0"/>
        </a:xfrm>
      </p:grpSpPr>
      <p:sp>
        <p:nvSpPr>
          <p:cNvPr id="2" name="Shape 0"/>
          <p:cNvSpPr/>
          <p:nvPr/>
        </p:nvSpPr>
        <p:spPr>
          <a:xfrm>
            <a:off x="548640" y="457200"/>
            <a:ext cx="3291840" cy="384048"/>
          </a:xfrm>
          <a:prstGeom prst="roundRect">
            <a:avLst>
              <a:gd name="adj" fmla="val 19048"/>
            </a:avLst>
          </a:prstGeom>
          <a:solidFill>
            <a:srgbClr val="E8F4F2"/>
          </a:solidFill>
          <a:ln/>
        </p:spPr>
      </p:sp>
      <p:sp>
        <p:nvSpPr>
          <p:cNvPr id="3" name="Text 1"/>
          <p:cNvSpPr/>
          <p:nvPr/>
        </p:nvSpPr>
        <p:spPr>
          <a:xfrm>
            <a:off x="548640" y="457200"/>
            <a:ext cx="3291840" cy="384048"/>
          </a:xfrm>
          <a:prstGeom prst="rect">
            <a:avLst/>
          </a:prstGeom>
          <a:noFill/>
          <a:ln/>
        </p:spPr>
        <p:txBody>
          <a:bodyPr wrap="square" rtlCol="0" anchor="ctr"/>
          <a:lstStyle/>
          <a:p>
            <a:pPr marL="0" indent="0" algn="ctr">
              <a:buNone/>
            </a:pPr>
            <a:r>
              <a:rPr lang="en-US" sz="1300" b="1" kern="0" spc="100" dirty="0">
                <a:solidFill>
                  <a:srgbClr val="0E5C56"/>
                </a:solidFill>
                <a:latin typeface="Calibri" pitchFamily="34" charset="0"/>
                <a:ea typeface="Calibri" pitchFamily="34" charset="-122"/>
                <a:cs typeface="Calibri" pitchFamily="34" charset="-120"/>
              </a:rPr>
              <a:t>QUIZ — ANSWERS</a:t>
            </a:r>
            <a:endParaRPr lang="en-US" sz="1300" dirty="0"/>
          </a:p>
        </p:txBody>
      </p:sp>
      <p:sp>
        <p:nvSpPr>
          <p:cNvPr id="4" name="Text 2"/>
          <p:cNvSpPr/>
          <p:nvPr/>
        </p:nvSpPr>
        <p:spPr>
          <a:xfrm>
            <a:off x="548640" y="960120"/>
            <a:ext cx="11091672" cy="914400"/>
          </a:xfrm>
          <a:prstGeom prst="rect">
            <a:avLst/>
          </a:prstGeom>
          <a:noFill/>
          <a:ln/>
        </p:spPr>
        <p:txBody>
          <a:bodyPr wrap="square" rtlCol="0" anchor="t"/>
          <a:lstStyle/>
          <a:p>
            <a:pPr marL="0" indent="0" algn="l">
              <a:buNone/>
            </a:pPr>
            <a:r>
              <a:rPr lang="en-US" sz="3200" b="1" dirty="0">
                <a:solidFill>
                  <a:srgbClr val="1B2B2A"/>
                </a:solidFill>
                <a:latin typeface="Cambria" pitchFamily="34" charset="0"/>
                <a:ea typeface="Cambria" pitchFamily="34" charset="-122"/>
                <a:cs typeface="Cambria" pitchFamily="34" charset="-120"/>
              </a:rPr>
              <a:t>Quiz — Answers (Part 2 of 2)</a:t>
            </a:r>
            <a:endParaRPr lang="en-US" sz="3200" dirty="0"/>
          </a:p>
        </p:txBody>
      </p:sp>
      <p:sp>
        <p:nvSpPr>
          <p:cNvPr id="5" name="Shape 3"/>
          <p:cNvSpPr/>
          <p:nvPr/>
        </p:nvSpPr>
        <p:spPr>
          <a:xfrm>
            <a:off x="548640" y="1938528"/>
            <a:ext cx="365760" cy="365760"/>
          </a:xfrm>
          <a:prstGeom prst="ellipse">
            <a:avLst/>
          </a:prstGeom>
          <a:solidFill>
            <a:srgbClr val="0E5C56"/>
          </a:solidFill>
          <a:ln/>
        </p:spPr>
      </p:sp>
      <p:sp>
        <p:nvSpPr>
          <p:cNvPr id="6" name="Text 4"/>
          <p:cNvSpPr/>
          <p:nvPr/>
        </p:nvSpPr>
        <p:spPr>
          <a:xfrm>
            <a:off x="548640" y="1938528"/>
            <a:ext cx="365760" cy="36576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7" name="Text 5"/>
          <p:cNvSpPr/>
          <p:nvPr/>
        </p:nvSpPr>
        <p:spPr>
          <a:xfrm>
            <a:off x="1234440" y="1920240"/>
            <a:ext cx="10360152" cy="411480"/>
          </a:xfrm>
          <a:prstGeom prst="rect">
            <a:avLst/>
          </a:prstGeom>
          <a:noFill/>
          <a:ln/>
        </p:spPr>
        <p:txBody>
          <a:bodyPr wrap="square" rtlCol="0" anchor="t"/>
          <a:lstStyle/>
          <a:p>
            <a:pPr marL="0" indent="0">
              <a:buNone/>
            </a:pPr>
            <a:r>
              <a:rPr lang="en-US" sz="1800" dirty="0">
                <a:solidFill>
                  <a:srgbClr val="1B2B2A"/>
                </a:solidFill>
                <a:latin typeface="Calibri" pitchFamily="34" charset="0"/>
                <a:ea typeface="Calibri" pitchFamily="34" charset="-122"/>
                <a:cs typeface="Calibri" pitchFamily="34" charset="-120"/>
              </a:rPr>
              <a:t>A6: Always 1.0 — every variable is perfectly correlated with itself.</a:t>
            </a:r>
            <a:endParaRPr lang="en-US" sz="1800" dirty="0"/>
          </a:p>
        </p:txBody>
      </p:sp>
      <p:sp>
        <p:nvSpPr>
          <p:cNvPr id="8" name="Shape 6"/>
          <p:cNvSpPr/>
          <p:nvPr/>
        </p:nvSpPr>
        <p:spPr>
          <a:xfrm>
            <a:off x="548640" y="2496312"/>
            <a:ext cx="365760" cy="365760"/>
          </a:xfrm>
          <a:prstGeom prst="ellipse">
            <a:avLst/>
          </a:prstGeom>
          <a:solidFill>
            <a:srgbClr val="0E5C56"/>
          </a:solidFill>
          <a:ln/>
        </p:spPr>
      </p:sp>
      <p:sp>
        <p:nvSpPr>
          <p:cNvPr id="9" name="Text 7"/>
          <p:cNvSpPr/>
          <p:nvPr/>
        </p:nvSpPr>
        <p:spPr>
          <a:xfrm>
            <a:off x="548640" y="2496312"/>
            <a:ext cx="365760" cy="36576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10" name="Text 8"/>
          <p:cNvSpPr/>
          <p:nvPr/>
        </p:nvSpPr>
        <p:spPr>
          <a:xfrm>
            <a:off x="1234440" y="2478024"/>
            <a:ext cx="10360152" cy="713232"/>
          </a:xfrm>
          <a:prstGeom prst="rect">
            <a:avLst/>
          </a:prstGeom>
          <a:noFill/>
          <a:ln/>
        </p:spPr>
        <p:txBody>
          <a:bodyPr wrap="square" rtlCol="0" anchor="t"/>
          <a:lstStyle/>
          <a:p>
            <a:pPr marL="0" indent="0">
              <a:buNone/>
            </a:pPr>
            <a:r>
              <a:rPr lang="en-US" sz="1800" dirty="0">
                <a:solidFill>
                  <a:srgbClr val="1B2B2A"/>
                </a:solidFill>
                <a:latin typeface="Calibri" pitchFamily="34" charset="0"/>
                <a:ea typeface="Calibri" pitchFamily="34" charset="-122"/>
                <a:cs typeface="Calibri" pitchFamily="34" charset="-120"/>
              </a:rPr>
              <a:t>A7: (b) Spearman's rho — because it's computed on ranks, one extreme value has much less influence.</a:t>
            </a:r>
            <a:endParaRPr lang="en-US" sz="1800" dirty="0"/>
          </a:p>
        </p:txBody>
      </p:sp>
      <p:sp>
        <p:nvSpPr>
          <p:cNvPr id="11" name="Shape 9"/>
          <p:cNvSpPr/>
          <p:nvPr/>
        </p:nvSpPr>
        <p:spPr>
          <a:xfrm>
            <a:off x="548640" y="3355848"/>
            <a:ext cx="365760" cy="365760"/>
          </a:xfrm>
          <a:prstGeom prst="ellipse">
            <a:avLst/>
          </a:prstGeom>
          <a:solidFill>
            <a:srgbClr val="0E5C56"/>
          </a:solidFill>
          <a:ln/>
        </p:spPr>
      </p:sp>
      <p:sp>
        <p:nvSpPr>
          <p:cNvPr id="12" name="Text 10"/>
          <p:cNvSpPr/>
          <p:nvPr/>
        </p:nvSpPr>
        <p:spPr>
          <a:xfrm>
            <a:off x="548640" y="3355848"/>
            <a:ext cx="365760" cy="36576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13" name="Text 11"/>
          <p:cNvSpPr/>
          <p:nvPr/>
        </p:nvSpPr>
        <p:spPr>
          <a:xfrm>
            <a:off x="1234440" y="3337560"/>
            <a:ext cx="10360152" cy="713232"/>
          </a:xfrm>
          <a:prstGeom prst="rect">
            <a:avLst/>
          </a:prstGeom>
          <a:noFill/>
          <a:ln/>
        </p:spPr>
        <p:txBody>
          <a:bodyPr wrap="square" rtlCol="0" anchor="t"/>
          <a:lstStyle/>
          <a:p>
            <a:pPr marL="0" indent="0">
              <a:buNone/>
            </a:pPr>
            <a:r>
              <a:rPr lang="en-US" sz="1800" dirty="0">
                <a:solidFill>
                  <a:srgbClr val="1B2B2A"/>
                </a:solidFill>
                <a:latin typeface="Calibri" pitchFamily="34" charset="0"/>
                <a:ea typeface="Calibri" pitchFamily="34" charset="-122"/>
                <a:cs typeface="Calibri" pitchFamily="34" charset="-120"/>
              </a:rPr>
              <a:t>A8: True. Simpson's Paradox shows why we must check trends within subgroups, not just the combined dataset.</a:t>
            </a:r>
            <a:endParaRPr lang="en-US" sz="1800" dirty="0"/>
          </a:p>
        </p:txBody>
      </p:sp>
      <p:sp>
        <p:nvSpPr>
          <p:cNvPr id="14" name="Text 12"/>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5B7370"/>
                </a:solidFill>
                <a:latin typeface="Calibri" pitchFamily="34" charset="0"/>
                <a:ea typeface="Calibri" pitchFamily="34" charset="-122"/>
                <a:cs typeface="Calibri" pitchFamily="34" charset="-120"/>
              </a:rPr>
              <a:t>Presidency University | Dept. of AI &amp; Robotics | DSC4000 | Statics for Data Science</a:t>
            </a:r>
            <a:endParaRPr lang="en-US" sz="1000" dirty="0"/>
          </a:p>
        </p:txBody>
      </p:sp>
      <p:sp>
        <p:nvSpPr>
          <p:cNvPr id="15" name="Text 13"/>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7370"/>
                </a:solidFill>
                <a:latin typeface="Calibri" pitchFamily="34" charset="0"/>
                <a:ea typeface="Calibri" pitchFamily="34" charset="-122"/>
                <a:cs typeface="Calibri" pitchFamily="34" charset="-120"/>
              </a:rPr>
              <a:t>52</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3291840" cy="384048"/>
          </a:xfrm>
          <a:prstGeom prst="roundRect">
            <a:avLst>
              <a:gd name="adj" fmla="val 19048"/>
            </a:avLst>
          </a:prstGeom>
          <a:solidFill>
            <a:srgbClr val="E8F4F2"/>
          </a:solidFill>
          <a:ln/>
        </p:spPr>
      </p:sp>
      <p:sp>
        <p:nvSpPr>
          <p:cNvPr id="3" name="Text 1"/>
          <p:cNvSpPr/>
          <p:nvPr/>
        </p:nvSpPr>
        <p:spPr>
          <a:xfrm>
            <a:off x="548640" y="457200"/>
            <a:ext cx="3291840" cy="384048"/>
          </a:xfrm>
          <a:prstGeom prst="rect">
            <a:avLst/>
          </a:prstGeom>
          <a:noFill/>
          <a:ln/>
        </p:spPr>
        <p:txBody>
          <a:bodyPr wrap="square" rtlCol="0" anchor="ctr"/>
          <a:lstStyle/>
          <a:p>
            <a:pPr marL="0" indent="0" algn="ctr">
              <a:buNone/>
            </a:pPr>
            <a:r>
              <a:rPr lang="en-US" sz="1300" b="1" kern="0" spc="100" dirty="0">
                <a:solidFill>
                  <a:srgbClr val="0E5C56"/>
                </a:solidFill>
                <a:latin typeface="Calibri" pitchFamily="34" charset="0"/>
                <a:ea typeface="Calibri" pitchFamily="34" charset="-122"/>
                <a:cs typeface="Calibri" pitchFamily="34" charset="-120"/>
              </a:rPr>
              <a:t>BEFORE NEXT CLASS</a:t>
            </a:r>
            <a:endParaRPr lang="en-US" sz="1300" dirty="0"/>
          </a:p>
        </p:txBody>
      </p:sp>
      <p:sp>
        <p:nvSpPr>
          <p:cNvPr id="4" name="Text 2"/>
          <p:cNvSpPr/>
          <p:nvPr/>
        </p:nvSpPr>
        <p:spPr>
          <a:xfrm>
            <a:off x="548640" y="960120"/>
            <a:ext cx="11091672" cy="914400"/>
          </a:xfrm>
          <a:prstGeom prst="rect">
            <a:avLst/>
          </a:prstGeom>
          <a:noFill/>
          <a:ln/>
        </p:spPr>
        <p:txBody>
          <a:bodyPr wrap="square" rtlCol="0" anchor="t"/>
          <a:lstStyle/>
          <a:p>
            <a:pPr marL="0" indent="0" algn="l">
              <a:buNone/>
            </a:pPr>
            <a:r>
              <a:rPr lang="en-US" sz="3200" b="1" dirty="0">
                <a:solidFill>
                  <a:srgbClr val="1B2B2A"/>
                </a:solidFill>
                <a:latin typeface="Cambria" pitchFamily="34" charset="0"/>
                <a:ea typeface="Cambria" pitchFamily="34" charset="-122"/>
                <a:cs typeface="Cambria" pitchFamily="34" charset="-120"/>
              </a:rPr>
              <a:t>Assignment &amp; Further Reading</a:t>
            </a:r>
            <a:endParaRPr lang="en-US" sz="3200" dirty="0"/>
          </a:p>
        </p:txBody>
      </p:sp>
      <p:sp>
        <p:nvSpPr>
          <p:cNvPr id="5" name="Shape 3"/>
          <p:cNvSpPr/>
          <p:nvPr/>
        </p:nvSpPr>
        <p:spPr>
          <a:xfrm>
            <a:off x="548640" y="1993392"/>
            <a:ext cx="365760" cy="365760"/>
          </a:xfrm>
          <a:prstGeom prst="ellipse">
            <a:avLst/>
          </a:prstGeom>
          <a:solidFill>
            <a:srgbClr val="F2A93B"/>
          </a:solidFill>
          <a:ln/>
        </p:spPr>
      </p:sp>
      <p:sp>
        <p:nvSpPr>
          <p:cNvPr id="6" name="Text 4"/>
          <p:cNvSpPr/>
          <p:nvPr/>
        </p:nvSpPr>
        <p:spPr>
          <a:xfrm>
            <a:off x="548640" y="1993392"/>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7" name="Text 5"/>
          <p:cNvSpPr/>
          <p:nvPr/>
        </p:nvSpPr>
        <p:spPr>
          <a:xfrm>
            <a:off x="1143000" y="1965960"/>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Assignment: pick any small dataset (5-10 rows, 2 numeric columns) and compute covariance and Pearson's r by hand.</a:t>
            </a:r>
            <a:endParaRPr lang="en-US" sz="2000" dirty="0"/>
          </a:p>
        </p:txBody>
      </p:sp>
      <p:sp>
        <p:nvSpPr>
          <p:cNvPr id="8" name="Shape 6"/>
          <p:cNvSpPr/>
          <p:nvPr/>
        </p:nvSpPr>
        <p:spPr>
          <a:xfrm>
            <a:off x="548640" y="3246120"/>
            <a:ext cx="365760" cy="365760"/>
          </a:xfrm>
          <a:prstGeom prst="ellipse">
            <a:avLst/>
          </a:prstGeom>
          <a:solidFill>
            <a:srgbClr val="F2A93B"/>
          </a:solidFill>
          <a:ln/>
        </p:spPr>
      </p:sp>
      <p:sp>
        <p:nvSpPr>
          <p:cNvPr id="9" name="Text 7"/>
          <p:cNvSpPr/>
          <p:nvPr/>
        </p:nvSpPr>
        <p:spPr>
          <a:xfrm>
            <a:off x="548640" y="3246120"/>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0" name="Text 8"/>
          <p:cNvSpPr/>
          <p:nvPr/>
        </p:nvSpPr>
        <p:spPr>
          <a:xfrm>
            <a:off x="1143000" y="3218688"/>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Reading: look up 'Anscombe's Quartet' and be ready to explain why it matters in one sentence.</a:t>
            </a:r>
            <a:endParaRPr lang="en-US" sz="2000" dirty="0"/>
          </a:p>
        </p:txBody>
      </p:sp>
      <p:sp>
        <p:nvSpPr>
          <p:cNvPr id="11" name="Shape 9"/>
          <p:cNvSpPr/>
          <p:nvPr/>
        </p:nvSpPr>
        <p:spPr>
          <a:xfrm>
            <a:off x="548640" y="4498848"/>
            <a:ext cx="365760" cy="365760"/>
          </a:xfrm>
          <a:prstGeom prst="ellipse">
            <a:avLst/>
          </a:prstGeom>
          <a:solidFill>
            <a:srgbClr val="F2A93B"/>
          </a:solidFill>
          <a:ln/>
        </p:spPr>
      </p:sp>
      <p:sp>
        <p:nvSpPr>
          <p:cNvPr id="12" name="Text 10"/>
          <p:cNvSpPr/>
          <p:nvPr/>
        </p:nvSpPr>
        <p:spPr>
          <a:xfrm>
            <a:off x="548640" y="4498848"/>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3" name="Text 11"/>
          <p:cNvSpPr/>
          <p:nvPr/>
        </p:nvSpPr>
        <p:spPr>
          <a:xfrm>
            <a:off x="1143000" y="4471416"/>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Optional challenge: find one real 'spurious correlation' example online and bring it to share next class.</a:t>
            </a:r>
            <a:endParaRPr lang="en-US" sz="2000" dirty="0"/>
          </a:p>
        </p:txBody>
      </p:sp>
      <p:sp>
        <p:nvSpPr>
          <p:cNvPr id="14" name="Shape 12"/>
          <p:cNvSpPr/>
          <p:nvPr/>
        </p:nvSpPr>
        <p:spPr>
          <a:xfrm>
            <a:off x="548640" y="5751576"/>
            <a:ext cx="365760" cy="365760"/>
          </a:xfrm>
          <a:prstGeom prst="ellipse">
            <a:avLst/>
          </a:prstGeom>
          <a:solidFill>
            <a:srgbClr val="F2A93B"/>
          </a:solidFill>
          <a:ln/>
        </p:spPr>
      </p:sp>
      <p:sp>
        <p:nvSpPr>
          <p:cNvPr id="15" name="Text 13"/>
          <p:cNvSpPr/>
          <p:nvPr/>
        </p:nvSpPr>
        <p:spPr>
          <a:xfrm>
            <a:off x="548640" y="5751576"/>
            <a:ext cx="365760" cy="365760"/>
          </a:xfrm>
          <a:prstGeom prst="rect">
            <a:avLst/>
          </a:prstGeom>
          <a:noFill/>
          <a:ln/>
        </p:spPr>
        <p:txBody>
          <a:bodyPr wrap="square" rtlCol="0" anchor="ctr"/>
          <a:lstStyle/>
          <a:p>
            <a:pPr marL="0" indent="0" algn="ctr">
              <a:buNone/>
            </a:pPr>
            <a:r>
              <a:rPr lang="en-US" sz="1000" b="1" dirty="0">
                <a:solidFill>
                  <a:srgbClr val="073B37"/>
                </a:solidFill>
                <a:latin typeface="Calibri" pitchFamily="34" charset="0"/>
                <a:ea typeface="Calibri" pitchFamily="34" charset="-122"/>
                <a:cs typeface="Calibri" pitchFamily="34" charset="-120"/>
              </a:rPr>
              <a:t>›</a:t>
            </a:r>
            <a:endParaRPr lang="en-US" sz="1000" dirty="0"/>
          </a:p>
        </p:txBody>
      </p:sp>
      <p:sp>
        <p:nvSpPr>
          <p:cNvPr id="16" name="Text 14"/>
          <p:cNvSpPr/>
          <p:nvPr/>
        </p:nvSpPr>
        <p:spPr>
          <a:xfrm>
            <a:off x="1143000" y="5724144"/>
            <a:ext cx="10497312" cy="996696"/>
          </a:xfrm>
          <a:prstGeom prst="rect">
            <a:avLst/>
          </a:prstGeom>
          <a:noFill/>
          <a:ln/>
        </p:spPr>
        <p:txBody>
          <a:bodyPr wrap="square" rtlCol="0" anchor="t"/>
          <a:lstStyle/>
          <a:p>
            <a:pPr marL="0" indent="0" algn="l">
              <a:buNone/>
            </a:pPr>
            <a:r>
              <a:rPr lang="en-US" sz="2000" dirty="0">
                <a:solidFill>
                  <a:srgbClr val="1B2B2A"/>
                </a:solidFill>
                <a:latin typeface="Calibri" pitchFamily="34" charset="0"/>
                <a:ea typeface="Calibri" pitchFamily="34" charset="-122"/>
                <a:cs typeface="Calibri" pitchFamily="34" charset="-120"/>
              </a:rPr>
              <a:t>Next session will build on today's correlation foundation to introduce simple linear regression.</a:t>
            </a:r>
            <a:endParaRPr lang="en-US" sz="2000" dirty="0"/>
          </a:p>
        </p:txBody>
      </p:sp>
      <p:sp>
        <p:nvSpPr>
          <p:cNvPr id="17" name="Text 15"/>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5B7370"/>
                </a:solidFill>
                <a:latin typeface="Calibri" pitchFamily="34" charset="0"/>
                <a:ea typeface="Calibri" pitchFamily="34" charset="-122"/>
                <a:cs typeface="Calibri" pitchFamily="34" charset="-120"/>
              </a:rPr>
              <a:t>Presidency University | Dept. of AI &amp; Robotics | DSC4000 | Statics for Data Science</a:t>
            </a:r>
            <a:endParaRPr lang="en-US" sz="1000" dirty="0"/>
          </a:p>
        </p:txBody>
      </p:sp>
      <p:sp>
        <p:nvSpPr>
          <p:cNvPr id="18" name="Text 16"/>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7370"/>
                </a:solidFill>
                <a:latin typeface="Calibri" pitchFamily="34" charset="0"/>
                <a:ea typeface="Calibri" pitchFamily="34" charset="-122"/>
                <a:cs typeface="Calibri" pitchFamily="34" charset="-120"/>
              </a:rPr>
              <a:t>53</a:t>
            </a:r>
            <a:endParaRPr lang="en-US" sz="1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073B37"/>
        </a:solidFill>
        <a:effectLst/>
      </p:bgPr>
    </p:bg>
    <p:spTree>
      <p:nvGrpSpPr>
        <p:cNvPr id="1" name=""/>
        <p:cNvGrpSpPr/>
        <p:nvPr/>
      </p:nvGrpSpPr>
      <p:grpSpPr>
        <a:xfrm>
          <a:off x="0" y="0"/>
          <a:ext cx="0" cy="0"/>
          <a:chOff x="0" y="0"/>
          <a:chExt cx="0" cy="0"/>
        </a:xfrm>
      </p:grpSpPr>
      <p:sp>
        <p:nvSpPr>
          <p:cNvPr id="2" name="Shape 0"/>
          <p:cNvSpPr/>
          <p:nvPr/>
        </p:nvSpPr>
        <p:spPr>
          <a:xfrm>
            <a:off x="-1463040" y="-1463040"/>
            <a:ext cx="4114800" cy="4114800"/>
          </a:xfrm>
          <a:prstGeom prst="ellipse">
            <a:avLst/>
          </a:prstGeom>
          <a:solidFill>
            <a:srgbClr val="0E5C56"/>
          </a:solidFill>
          <a:ln/>
        </p:spPr>
      </p:sp>
      <p:sp>
        <p:nvSpPr>
          <p:cNvPr id="3" name="Text 1"/>
          <p:cNvSpPr/>
          <p:nvPr/>
        </p:nvSpPr>
        <p:spPr>
          <a:xfrm>
            <a:off x="640080" y="914400"/>
            <a:ext cx="10058400" cy="91440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Thank You!</a:t>
            </a:r>
            <a:endParaRPr lang="en-US" sz="3400" dirty="0"/>
          </a:p>
        </p:txBody>
      </p:sp>
      <p:sp>
        <p:nvSpPr>
          <p:cNvPr id="4" name="Text 2"/>
          <p:cNvSpPr/>
          <p:nvPr/>
        </p:nvSpPr>
        <p:spPr>
          <a:xfrm>
            <a:off x="640080" y="1737360"/>
            <a:ext cx="10058400" cy="548640"/>
          </a:xfrm>
          <a:prstGeom prst="rect">
            <a:avLst/>
          </a:prstGeom>
          <a:noFill/>
          <a:ln/>
        </p:spPr>
        <p:txBody>
          <a:bodyPr wrap="square" rtlCol="0" anchor="ctr"/>
          <a:lstStyle/>
          <a:p>
            <a:pPr marL="0" indent="0">
              <a:buNone/>
            </a:pPr>
            <a:r>
              <a:rPr lang="en-US" sz="1800" dirty="0">
                <a:solidFill>
                  <a:srgbClr val="F2A93B"/>
                </a:solidFill>
                <a:latin typeface="Calibri" pitchFamily="34" charset="0"/>
                <a:ea typeface="Calibri" pitchFamily="34" charset="-122"/>
                <a:cs typeface="Calibri" pitchFamily="34" charset="-120"/>
              </a:rPr>
              <a:t>Next Session: From Correlation to Simple Linear Regression</a:t>
            </a:r>
            <a:endParaRPr lang="en-US" sz="1800" dirty="0"/>
          </a:p>
        </p:txBody>
      </p:sp>
      <p:sp>
        <p:nvSpPr>
          <p:cNvPr id="5" name="Shape 3"/>
          <p:cNvSpPr/>
          <p:nvPr/>
        </p:nvSpPr>
        <p:spPr>
          <a:xfrm>
            <a:off x="640080" y="2651760"/>
            <a:ext cx="384048" cy="384048"/>
          </a:xfrm>
          <a:prstGeom prst="ellipse">
            <a:avLst/>
          </a:prstGeom>
          <a:solidFill>
            <a:srgbClr val="F2A93B"/>
          </a:solidFill>
          <a:ln/>
        </p:spPr>
      </p:sp>
      <p:sp>
        <p:nvSpPr>
          <p:cNvPr id="6" name="Text 4"/>
          <p:cNvSpPr/>
          <p:nvPr/>
        </p:nvSpPr>
        <p:spPr>
          <a:xfrm>
            <a:off x="640080" y="2651760"/>
            <a:ext cx="384048" cy="384048"/>
          </a:xfrm>
          <a:prstGeom prst="rect">
            <a:avLst/>
          </a:prstGeom>
          <a:noFill/>
          <a:ln/>
        </p:spPr>
        <p:txBody>
          <a:bodyPr wrap="square" rtlCol="0" anchor="ctr"/>
          <a:lstStyle/>
          <a:p>
            <a:pPr marL="0" indent="0" algn="ctr">
              <a:buNone/>
            </a:pPr>
            <a:r>
              <a:rPr lang="en-US" sz="1100" b="1" dirty="0">
                <a:solidFill>
                  <a:srgbClr val="073B37"/>
                </a:solidFill>
                <a:latin typeface="Calibri" pitchFamily="34" charset="0"/>
                <a:ea typeface="Calibri" pitchFamily="34" charset="-122"/>
                <a:cs typeface="Calibri" pitchFamily="34" charset="-120"/>
              </a:rPr>
              <a:t>›</a:t>
            </a:r>
            <a:endParaRPr lang="en-US" sz="1100" dirty="0"/>
          </a:p>
        </p:txBody>
      </p:sp>
      <p:sp>
        <p:nvSpPr>
          <p:cNvPr id="7" name="Text 5"/>
          <p:cNvSpPr/>
          <p:nvPr/>
        </p:nvSpPr>
        <p:spPr>
          <a:xfrm>
            <a:off x="1280160" y="2624328"/>
            <a:ext cx="9601200" cy="548640"/>
          </a:xfrm>
          <a:prstGeom prst="rect">
            <a:avLst/>
          </a:prstGeom>
          <a:noFill/>
          <a:ln/>
        </p:spPr>
        <p:txBody>
          <a:bodyPr wrap="square" rtlCol="0" anchor="ctr"/>
          <a:lstStyle/>
          <a:p>
            <a:pPr marL="0" indent="0">
              <a:buNone/>
            </a:pPr>
            <a:r>
              <a:rPr lang="en-US" sz="2000" dirty="0">
                <a:solidFill>
                  <a:srgbClr val="FFFFFF"/>
                </a:solidFill>
                <a:latin typeface="Calibri" pitchFamily="34" charset="0"/>
                <a:ea typeface="Calibri" pitchFamily="34" charset="-122"/>
                <a:cs typeface="Calibri" pitchFamily="34" charset="-120"/>
              </a:rPr>
              <a:t>Questions? Reach out during office hours or via the course discussion forum.</a:t>
            </a:r>
            <a:endParaRPr lang="en-US" sz="2000" dirty="0"/>
          </a:p>
        </p:txBody>
      </p:sp>
      <p:sp>
        <p:nvSpPr>
          <p:cNvPr id="8" name="Shape 6"/>
          <p:cNvSpPr/>
          <p:nvPr/>
        </p:nvSpPr>
        <p:spPr>
          <a:xfrm>
            <a:off x="640080" y="3364992"/>
            <a:ext cx="384048" cy="384048"/>
          </a:xfrm>
          <a:prstGeom prst="ellipse">
            <a:avLst/>
          </a:prstGeom>
          <a:solidFill>
            <a:srgbClr val="F2A93B"/>
          </a:solidFill>
          <a:ln/>
        </p:spPr>
      </p:sp>
      <p:sp>
        <p:nvSpPr>
          <p:cNvPr id="9" name="Text 7"/>
          <p:cNvSpPr/>
          <p:nvPr/>
        </p:nvSpPr>
        <p:spPr>
          <a:xfrm>
            <a:off x="640080" y="3364992"/>
            <a:ext cx="384048" cy="384048"/>
          </a:xfrm>
          <a:prstGeom prst="rect">
            <a:avLst/>
          </a:prstGeom>
          <a:noFill/>
          <a:ln/>
        </p:spPr>
        <p:txBody>
          <a:bodyPr wrap="square" rtlCol="0" anchor="ctr"/>
          <a:lstStyle/>
          <a:p>
            <a:pPr marL="0" indent="0" algn="ctr">
              <a:buNone/>
            </a:pPr>
            <a:r>
              <a:rPr lang="en-US" sz="1100" b="1" dirty="0">
                <a:solidFill>
                  <a:srgbClr val="073B37"/>
                </a:solidFill>
                <a:latin typeface="Calibri" pitchFamily="34" charset="0"/>
                <a:ea typeface="Calibri" pitchFamily="34" charset="-122"/>
                <a:cs typeface="Calibri" pitchFamily="34" charset="-120"/>
              </a:rPr>
              <a:t>›</a:t>
            </a:r>
            <a:endParaRPr lang="en-US" sz="1100" dirty="0"/>
          </a:p>
        </p:txBody>
      </p:sp>
      <p:sp>
        <p:nvSpPr>
          <p:cNvPr id="10" name="Text 8"/>
          <p:cNvSpPr/>
          <p:nvPr/>
        </p:nvSpPr>
        <p:spPr>
          <a:xfrm>
            <a:off x="1280160" y="3337560"/>
            <a:ext cx="9601200" cy="548640"/>
          </a:xfrm>
          <a:prstGeom prst="rect">
            <a:avLst/>
          </a:prstGeom>
          <a:noFill/>
          <a:ln/>
        </p:spPr>
        <p:txBody>
          <a:bodyPr wrap="square" rtlCol="0" anchor="ctr"/>
          <a:lstStyle/>
          <a:p>
            <a:pPr marL="0" indent="0">
              <a:buNone/>
            </a:pPr>
            <a:r>
              <a:rPr lang="en-US" sz="2000" dirty="0">
                <a:solidFill>
                  <a:srgbClr val="FFFFFF"/>
                </a:solidFill>
                <a:latin typeface="Calibri" pitchFamily="34" charset="0"/>
                <a:ea typeface="Calibri" pitchFamily="34" charset="-122"/>
                <a:cs typeface="Calibri" pitchFamily="34" charset="-120"/>
              </a:rPr>
              <a:t>Review today's summary slide and attempt the take-home assignment before next class.</a:t>
            </a:r>
            <a:endParaRPr lang="en-US" sz="2000" dirty="0"/>
          </a:p>
        </p:txBody>
      </p:sp>
      <p:sp>
        <p:nvSpPr>
          <p:cNvPr id="11" name="Shape 9"/>
          <p:cNvSpPr/>
          <p:nvPr/>
        </p:nvSpPr>
        <p:spPr>
          <a:xfrm>
            <a:off x="640080" y="4078224"/>
            <a:ext cx="384048" cy="384048"/>
          </a:xfrm>
          <a:prstGeom prst="ellipse">
            <a:avLst/>
          </a:prstGeom>
          <a:solidFill>
            <a:srgbClr val="F2A93B"/>
          </a:solidFill>
          <a:ln/>
        </p:spPr>
      </p:sp>
      <p:sp>
        <p:nvSpPr>
          <p:cNvPr id="12" name="Text 10"/>
          <p:cNvSpPr/>
          <p:nvPr/>
        </p:nvSpPr>
        <p:spPr>
          <a:xfrm>
            <a:off x="640080" y="4078224"/>
            <a:ext cx="384048" cy="384048"/>
          </a:xfrm>
          <a:prstGeom prst="rect">
            <a:avLst/>
          </a:prstGeom>
          <a:noFill/>
          <a:ln/>
        </p:spPr>
        <p:txBody>
          <a:bodyPr wrap="square" rtlCol="0" anchor="ctr"/>
          <a:lstStyle/>
          <a:p>
            <a:pPr marL="0" indent="0" algn="ctr">
              <a:buNone/>
            </a:pPr>
            <a:r>
              <a:rPr lang="en-US" sz="1100" b="1" dirty="0">
                <a:solidFill>
                  <a:srgbClr val="073B37"/>
                </a:solidFill>
                <a:latin typeface="Calibri" pitchFamily="34" charset="0"/>
                <a:ea typeface="Calibri" pitchFamily="34" charset="-122"/>
                <a:cs typeface="Calibri" pitchFamily="34" charset="-120"/>
              </a:rPr>
              <a:t>›</a:t>
            </a:r>
            <a:endParaRPr lang="en-US" sz="1100" dirty="0"/>
          </a:p>
        </p:txBody>
      </p:sp>
      <p:sp>
        <p:nvSpPr>
          <p:cNvPr id="13" name="Text 11"/>
          <p:cNvSpPr/>
          <p:nvPr/>
        </p:nvSpPr>
        <p:spPr>
          <a:xfrm>
            <a:off x="1280160" y="4050792"/>
            <a:ext cx="9601200" cy="548640"/>
          </a:xfrm>
          <a:prstGeom prst="rect">
            <a:avLst/>
          </a:prstGeom>
          <a:noFill/>
          <a:ln/>
        </p:spPr>
        <p:txBody>
          <a:bodyPr wrap="square" rtlCol="0" anchor="ctr"/>
          <a:lstStyle/>
          <a:p>
            <a:pPr marL="0" indent="0">
              <a:buNone/>
            </a:pPr>
            <a:r>
              <a:rPr lang="en-US" sz="2000" dirty="0">
                <a:solidFill>
                  <a:srgbClr val="FFFFFF"/>
                </a:solidFill>
                <a:latin typeface="Calibri" pitchFamily="34" charset="0"/>
                <a:ea typeface="Calibri" pitchFamily="34" charset="-122"/>
                <a:cs typeface="Calibri" pitchFamily="34" charset="-120"/>
              </a:rPr>
              <a:t>See you next session — we'll turn today's correlation into a predictive line!</a:t>
            </a:r>
            <a:endParaRPr lang="en-US" sz="2000" dirty="0"/>
          </a:p>
        </p:txBody>
      </p:sp>
      <p:sp>
        <p:nvSpPr>
          <p:cNvPr id="14" name="Text 12"/>
          <p:cNvSpPr/>
          <p:nvPr/>
        </p:nvSpPr>
        <p:spPr>
          <a:xfrm>
            <a:off x="457200" y="6473952"/>
            <a:ext cx="8229600" cy="274320"/>
          </a:xfrm>
          <a:prstGeom prst="rect">
            <a:avLst/>
          </a:prstGeom>
          <a:noFill/>
          <a:ln/>
        </p:spPr>
        <p:txBody>
          <a:bodyPr wrap="square" rtlCol="0" anchor="ctr"/>
          <a:lstStyle/>
          <a:p>
            <a:pPr marL="0" indent="0" algn="l">
              <a:buNone/>
            </a:pPr>
            <a:r>
              <a:rPr lang="en-US" sz="1000" dirty="0">
                <a:solidFill>
                  <a:srgbClr val="5B7370"/>
                </a:solidFill>
                <a:latin typeface="Calibri" pitchFamily="34" charset="0"/>
                <a:ea typeface="Calibri" pitchFamily="34" charset="-122"/>
                <a:cs typeface="Calibri" pitchFamily="34" charset="-120"/>
              </a:rPr>
              <a:t>Presidency University | Dept. of AI &amp; Robotics | DSC4000 | Statics for Data Science</a:t>
            </a:r>
            <a:endParaRPr lang="en-US" sz="1000" dirty="0"/>
          </a:p>
        </p:txBody>
      </p:sp>
      <p:sp>
        <p:nvSpPr>
          <p:cNvPr id="15" name="Text 13"/>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7370"/>
                </a:solidFill>
                <a:latin typeface="Calibri" pitchFamily="34" charset="0"/>
                <a:ea typeface="Calibri" pitchFamily="34" charset="-122"/>
                <a:cs typeface="Calibri" pitchFamily="34" charset="-120"/>
              </a:rPr>
              <a:t>54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1198</TotalTime>
  <Words>9238</Words>
  <Application>Microsoft Office PowerPoint</Application>
  <PresentationFormat>Widescreen</PresentationFormat>
  <Paragraphs>787</Paragraphs>
  <Slides>54</Slides>
  <Notes>54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54</vt:i4>
      </vt:variant>
    </vt:vector>
  </HeadingPairs>
  <TitlesOfParts>
    <vt:vector size="58"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Manoj  Sagar K - Assistant Professor - SAIAC</cp:lastModifiedBy>
  <cp:revision>3</cp:revision>
  <dcterms:created xsi:type="dcterms:W3CDTF">2026-09-24T04:52:55Z</dcterms:created>
  <dcterms:modified xsi:type="dcterms:W3CDTF">2026-09-25T04:16:22Z</dcterms:modified>
</cp:coreProperties>
</file>